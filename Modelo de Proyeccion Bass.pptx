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ags/tag2.xml" ContentType="application/vnd.openxmlformats-officedocument.presentationml.tags+xml"/>
  <Override PartName="/ppt/charts/chart1.xml" ContentType="application/vnd.openxmlformats-officedocument.drawingml.chart+xml"/>
  <Override PartName="/ppt/charts/chart2.xml" ContentType="application/vnd.openxmlformats-officedocument.drawingml.char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notesMasterIdLst>
    <p:notesMasterId r:id="rId16"/>
  </p:notesMasterIdLst>
  <p:sldIdLst>
    <p:sldId id="1231" r:id="rId5"/>
    <p:sldId id="256" r:id="rId6"/>
    <p:sldId id="1232" r:id="rId7"/>
    <p:sldId id="1242" r:id="rId8"/>
    <p:sldId id="1243" r:id="rId9"/>
    <p:sldId id="258" r:id="rId10"/>
    <p:sldId id="259" r:id="rId11"/>
    <p:sldId id="260" r:id="rId12"/>
    <p:sldId id="1240" r:id="rId13"/>
    <p:sldId id="1241" r:id="rId14"/>
    <p:sldId id="1245" r:id="rId15"/>
  </p:sldIdLst>
  <p:sldSz cx="9144000" cy="6858000" type="screen4x3"/>
  <p:notesSz cx="6858000" cy="9144000"/>
  <p:custDataLst>
    <p:tags r:id="rId17"/>
  </p:custDataLst>
  <p:defaultTex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E5CC"/>
    <a:srgbClr val="FFFFFF"/>
    <a:srgbClr val="7FFF7F"/>
    <a:srgbClr val="FFCCE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940675A-B579-460E-94D1-54222C63F5DA}" styleName="Sin estilo, cuadrícula de la tabla">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413" autoAdjust="0"/>
    <p:restoredTop sz="94660"/>
  </p:normalViewPr>
  <p:slideViewPr>
    <p:cSldViewPr snapToGrid="0">
      <p:cViewPr varScale="1">
        <p:scale>
          <a:sx n="72" d="100"/>
          <a:sy n="72" d="100"/>
        </p:scale>
        <p:origin x="1332" y="66"/>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tableStyles" Target="tableStyle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tags" Target="tags/tag1.xml"/><Relationship Id="rId2" Type="http://schemas.openxmlformats.org/officeDocument/2006/relationships/customXml" Target="../customXml/item2.xml"/><Relationship Id="rId16" Type="http://schemas.openxmlformats.org/officeDocument/2006/relationships/notesMaster" Target="notesMasters/notesMaster1.xml"/><Relationship Id="rId20"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10" Type="http://schemas.openxmlformats.org/officeDocument/2006/relationships/slide" Target="slides/slide6.xml"/><Relationship Id="rId19"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s>
</file>

<file path=ppt/charts/_rels/chart1.xml.rels><?xml version="1.0" encoding="UTF-8" standalone="yes"?>
<Relationships xmlns="http://schemas.openxmlformats.org/package/2006/relationships"><Relationship Id="rId1" Type="http://schemas.openxmlformats.org/officeDocument/2006/relationships/oleObject" Target="file:///C:\Users\elkin\Google%20Drive\Dropbox%20Full\2020-2\Gerencia%20Proyectos%20Mercadeo%20149\Modelo%20Bass%20Para%20Ventas.xlsx" TargetMode="External"/></Relationships>
</file>

<file path=ppt/charts/_rels/chart2.xml.rels><?xml version="1.0" encoding="UTF-8" standalone="yes"?>
<Relationships xmlns="http://schemas.openxmlformats.org/package/2006/relationships"><Relationship Id="rId1" Type="http://schemas.openxmlformats.org/officeDocument/2006/relationships/oleObject" Target="file:///C:\Users\elkin\Google%20Drive\Dropbox%20Full\2020-2\Gerencia%20Proyectos%20Mercadeo%20149\Modelo%20Bass%20Para%20Ventas.xlsx" TargetMode="Externa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a:lstStyle/>
          <a:p>
            <a:pPr>
              <a:defRPr sz="1725" b="1" i="0" u="none" strike="noStrike" baseline="0">
                <a:solidFill>
                  <a:srgbClr val="000000"/>
                </a:solidFill>
                <a:latin typeface="Arial"/>
                <a:ea typeface="Arial"/>
                <a:cs typeface="Arial"/>
              </a:defRPr>
            </a:pPr>
            <a:r>
              <a:rPr lang="es-ES"/>
              <a:t>Impacto</a:t>
            </a:r>
            <a:r>
              <a:rPr lang="es-ES" baseline="0"/>
              <a:t> de </a:t>
            </a:r>
            <a:r>
              <a:rPr lang="es-ES"/>
              <a:t>"P" y "Q"</a:t>
            </a:r>
          </a:p>
        </c:rich>
      </c:tx>
      <c:layout>
        <c:manualLayout>
          <c:xMode val="edge"/>
          <c:yMode val="edge"/>
          <c:x val="0.33001445396852075"/>
          <c:y val="2.9661047633333507E-2"/>
        </c:manualLayout>
      </c:layout>
      <c:overlay val="0"/>
      <c:spPr>
        <a:noFill/>
        <a:ln w="25400">
          <a:noFill/>
        </a:ln>
      </c:spPr>
    </c:title>
    <c:autoTitleDeleted val="0"/>
    <c:plotArea>
      <c:layout>
        <c:manualLayout>
          <c:layoutTarget val="inner"/>
          <c:xMode val="edge"/>
          <c:yMode val="edge"/>
          <c:x val="0.1266003724275791"/>
          <c:y val="0.16163500607067671"/>
          <c:w val="0.62203163982682819"/>
          <c:h val="0.7154846654241136"/>
        </c:manualLayout>
      </c:layout>
      <c:lineChart>
        <c:grouping val="standard"/>
        <c:varyColors val="1"/>
        <c:ser>
          <c:idx val="1"/>
          <c:order val="0"/>
          <c:tx>
            <c:strRef>
              <c:f>'Data-1'!$B$8</c:f>
              <c:strCache>
                <c:ptCount val="1"/>
                <c:pt idx="0">
                  <c:v>Ventas</c:v>
                </c:pt>
              </c:strCache>
            </c:strRef>
          </c:tx>
          <c:spPr>
            <a:ln w="38100">
              <a:solidFill>
                <a:srgbClr val="FF0000"/>
              </a:solidFill>
              <a:prstDash val="solid"/>
            </a:ln>
          </c:spPr>
          <c:marker>
            <c:symbol val="square"/>
            <c:size val="2"/>
            <c:spPr>
              <a:solidFill>
                <a:srgbClr val="FF6600"/>
              </a:solidFill>
              <a:ln>
                <a:solidFill>
                  <a:srgbClr val="FF6600"/>
                </a:solidFill>
                <a:prstDash val="solid"/>
              </a:ln>
            </c:spPr>
          </c:marker>
          <c:dPt>
            <c:idx val="0"/>
            <c:bubble3D val="0"/>
            <c:extLst>
              <c:ext xmlns:c16="http://schemas.microsoft.com/office/drawing/2014/chart" uri="{C3380CC4-5D6E-409C-BE32-E72D297353CC}">
                <c16:uniqueId val="{00000000-4973-49A7-B156-BDF1C68768A0}"/>
              </c:ext>
            </c:extLst>
          </c:dPt>
          <c:dPt>
            <c:idx val="1"/>
            <c:bubble3D val="0"/>
            <c:extLst>
              <c:ext xmlns:c16="http://schemas.microsoft.com/office/drawing/2014/chart" uri="{C3380CC4-5D6E-409C-BE32-E72D297353CC}">
                <c16:uniqueId val="{00000001-4973-49A7-B156-BDF1C68768A0}"/>
              </c:ext>
            </c:extLst>
          </c:dPt>
          <c:dPt>
            <c:idx val="2"/>
            <c:bubble3D val="0"/>
            <c:extLst>
              <c:ext xmlns:c16="http://schemas.microsoft.com/office/drawing/2014/chart" uri="{C3380CC4-5D6E-409C-BE32-E72D297353CC}">
                <c16:uniqueId val="{00000002-4973-49A7-B156-BDF1C68768A0}"/>
              </c:ext>
            </c:extLst>
          </c:dPt>
          <c:dPt>
            <c:idx val="3"/>
            <c:bubble3D val="0"/>
            <c:extLst>
              <c:ext xmlns:c16="http://schemas.microsoft.com/office/drawing/2014/chart" uri="{C3380CC4-5D6E-409C-BE32-E72D297353CC}">
                <c16:uniqueId val="{00000003-4973-49A7-B156-BDF1C68768A0}"/>
              </c:ext>
            </c:extLst>
          </c:dPt>
          <c:dPt>
            <c:idx val="4"/>
            <c:bubble3D val="0"/>
            <c:extLst>
              <c:ext xmlns:c16="http://schemas.microsoft.com/office/drawing/2014/chart" uri="{C3380CC4-5D6E-409C-BE32-E72D297353CC}">
                <c16:uniqueId val="{00000004-4973-49A7-B156-BDF1C68768A0}"/>
              </c:ext>
            </c:extLst>
          </c:dPt>
          <c:dPt>
            <c:idx val="5"/>
            <c:bubble3D val="0"/>
            <c:extLst>
              <c:ext xmlns:c16="http://schemas.microsoft.com/office/drawing/2014/chart" uri="{C3380CC4-5D6E-409C-BE32-E72D297353CC}">
                <c16:uniqueId val="{00000005-4973-49A7-B156-BDF1C68768A0}"/>
              </c:ext>
            </c:extLst>
          </c:dPt>
          <c:dPt>
            <c:idx val="6"/>
            <c:bubble3D val="0"/>
            <c:extLst>
              <c:ext xmlns:c16="http://schemas.microsoft.com/office/drawing/2014/chart" uri="{C3380CC4-5D6E-409C-BE32-E72D297353CC}">
                <c16:uniqueId val="{00000006-4973-49A7-B156-BDF1C68768A0}"/>
              </c:ext>
            </c:extLst>
          </c:dPt>
          <c:dPt>
            <c:idx val="7"/>
            <c:bubble3D val="0"/>
            <c:extLst>
              <c:ext xmlns:c16="http://schemas.microsoft.com/office/drawing/2014/chart" uri="{C3380CC4-5D6E-409C-BE32-E72D297353CC}">
                <c16:uniqueId val="{00000007-4973-49A7-B156-BDF1C68768A0}"/>
              </c:ext>
            </c:extLst>
          </c:dPt>
          <c:dPt>
            <c:idx val="8"/>
            <c:bubble3D val="0"/>
            <c:extLst>
              <c:ext xmlns:c16="http://schemas.microsoft.com/office/drawing/2014/chart" uri="{C3380CC4-5D6E-409C-BE32-E72D297353CC}">
                <c16:uniqueId val="{00000008-4973-49A7-B156-BDF1C68768A0}"/>
              </c:ext>
            </c:extLst>
          </c:dPt>
          <c:dPt>
            <c:idx val="9"/>
            <c:bubble3D val="0"/>
            <c:extLst>
              <c:ext xmlns:c16="http://schemas.microsoft.com/office/drawing/2014/chart" uri="{C3380CC4-5D6E-409C-BE32-E72D297353CC}">
                <c16:uniqueId val="{00000009-4973-49A7-B156-BDF1C68768A0}"/>
              </c:ext>
            </c:extLst>
          </c:dPt>
          <c:dPt>
            <c:idx val="10"/>
            <c:bubble3D val="0"/>
            <c:extLst>
              <c:ext xmlns:c16="http://schemas.microsoft.com/office/drawing/2014/chart" uri="{C3380CC4-5D6E-409C-BE32-E72D297353CC}">
                <c16:uniqueId val="{0000000A-4973-49A7-B156-BDF1C68768A0}"/>
              </c:ext>
            </c:extLst>
          </c:dPt>
          <c:dPt>
            <c:idx val="11"/>
            <c:bubble3D val="0"/>
            <c:extLst>
              <c:ext xmlns:c16="http://schemas.microsoft.com/office/drawing/2014/chart" uri="{C3380CC4-5D6E-409C-BE32-E72D297353CC}">
                <c16:uniqueId val="{0000000B-4973-49A7-B156-BDF1C68768A0}"/>
              </c:ext>
            </c:extLst>
          </c:dPt>
          <c:dPt>
            <c:idx val="12"/>
            <c:bubble3D val="0"/>
            <c:extLst>
              <c:ext xmlns:c16="http://schemas.microsoft.com/office/drawing/2014/chart" uri="{C3380CC4-5D6E-409C-BE32-E72D297353CC}">
                <c16:uniqueId val="{0000000C-4973-49A7-B156-BDF1C68768A0}"/>
              </c:ext>
            </c:extLst>
          </c:dPt>
          <c:dPt>
            <c:idx val="13"/>
            <c:bubble3D val="0"/>
            <c:extLst>
              <c:ext xmlns:c16="http://schemas.microsoft.com/office/drawing/2014/chart" uri="{C3380CC4-5D6E-409C-BE32-E72D297353CC}">
                <c16:uniqueId val="{0000000D-4973-49A7-B156-BDF1C68768A0}"/>
              </c:ext>
            </c:extLst>
          </c:dPt>
          <c:dPt>
            <c:idx val="14"/>
            <c:bubble3D val="0"/>
            <c:extLst>
              <c:ext xmlns:c16="http://schemas.microsoft.com/office/drawing/2014/chart" uri="{C3380CC4-5D6E-409C-BE32-E72D297353CC}">
                <c16:uniqueId val="{0000000E-4973-49A7-B156-BDF1C68768A0}"/>
              </c:ext>
            </c:extLst>
          </c:dPt>
          <c:dPt>
            <c:idx val="15"/>
            <c:bubble3D val="0"/>
            <c:extLst>
              <c:ext xmlns:c16="http://schemas.microsoft.com/office/drawing/2014/chart" uri="{C3380CC4-5D6E-409C-BE32-E72D297353CC}">
                <c16:uniqueId val="{0000000F-4973-49A7-B156-BDF1C68768A0}"/>
              </c:ext>
            </c:extLst>
          </c:dPt>
          <c:dPt>
            <c:idx val="16"/>
            <c:bubble3D val="0"/>
            <c:extLst>
              <c:ext xmlns:c16="http://schemas.microsoft.com/office/drawing/2014/chart" uri="{C3380CC4-5D6E-409C-BE32-E72D297353CC}">
                <c16:uniqueId val="{00000010-4973-49A7-B156-BDF1C68768A0}"/>
              </c:ext>
            </c:extLst>
          </c:dPt>
          <c:dPt>
            <c:idx val="17"/>
            <c:bubble3D val="0"/>
            <c:extLst>
              <c:ext xmlns:c16="http://schemas.microsoft.com/office/drawing/2014/chart" uri="{C3380CC4-5D6E-409C-BE32-E72D297353CC}">
                <c16:uniqueId val="{00000011-4973-49A7-B156-BDF1C68768A0}"/>
              </c:ext>
            </c:extLst>
          </c:dPt>
          <c:dPt>
            <c:idx val="18"/>
            <c:bubble3D val="0"/>
            <c:extLst>
              <c:ext xmlns:c16="http://schemas.microsoft.com/office/drawing/2014/chart" uri="{C3380CC4-5D6E-409C-BE32-E72D297353CC}">
                <c16:uniqueId val="{00000012-4973-49A7-B156-BDF1C68768A0}"/>
              </c:ext>
            </c:extLst>
          </c:dPt>
          <c:dPt>
            <c:idx val="19"/>
            <c:bubble3D val="0"/>
            <c:extLst>
              <c:ext xmlns:c16="http://schemas.microsoft.com/office/drawing/2014/chart" uri="{C3380CC4-5D6E-409C-BE32-E72D297353CC}">
                <c16:uniqueId val="{00000013-4973-49A7-B156-BDF1C68768A0}"/>
              </c:ext>
            </c:extLst>
          </c:dPt>
          <c:dPt>
            <c:idx val="20"/>
            <c:bubble3D val="0"/>
            <c:extLst>
              <c:ext xmlns:c16="http://schemas.microsoft.com/office/drawing/2014/chart" uri="{C3380CC4-5D6E-409C-BE32-E72D297353CC}">
                <c16:uniqueId val="{00000014-4973-49A7-B156-BDF1C68768A0}"/>
              </c:ext>
            </c:extLst>
          </c:dPt>
          <c:dPt>
            <c:idx val="21"/>
            <c:bubble3D val="0"/>
            <c:extLst>
              <c:ext xmlns:c16="http://schemas.microsoft.com/office/drawing/2014/chart" uri="{C3380CC4-5D6E-409C-BE32-E72D297353CC}">
                <c16:uniqueId val="{00000015-4973-49A7-B156-BDF1C68768A0}"/>
              </c:ext>
            </c:extLst>
          </c:dPt>
          <c:dPt>
            <c:idx val="22"/>
            <c:bubble3D val="0"/>
            <c:extLst>
              <c:ext xmlns:c16="http://schemas.microsoft.com/office/drawing/2014/chart" uri="{C3380CC4-5D6E-409C-BE32-E72D297353CC}">
                <c16:uniqueId val="{00000016-4973-49A7-B156-BDF1C68768A0}"/>
              </c:ext>
            </c:extLst>
          </c:dPt>
          <c:dPt>
            <c:idx val="23"/>
            <c:bubble3D val="0"/>
            <c:extLst>
              <c:ext xmlns:c16="http://schemas.microsoft.com/office/drawing/2014/chart" uri="{C3380CC4-5D6E-409C-BE32-E72D297353CC}">
                <c16:uniqueId val="{00000017-4973-49A7-B156-BDF1C68768A0}"/>
              </c:ext>
            </c:extLst>
          </c:dPt>
          <c:dPt>
            <c:idx val="24"/>
            <c:bubble3D val="0"/>
            <c:extLst>
              <c:ext xmlns:c16="http://schemas.microsoft.com/office/drawing/2014/chart" uri="{C3380CC4-5D6E-409C-BE32-E72D297353CC}">
                <c16:uniqueId val="{00000018-4973-49A7-B156-BDF1C68768A0}"/>
              </c:ext>
            </c:extLst>
          </c:dPt>
          <c:dPt>
            <c:idx val="25"/>
            <c:bubble3D val="0"/>
            <c:extLst>
              <c:ext xmlns:c16="http://schemas.microsoft.com/office/drawing/2014/chart" uri="{C3380CC4-5D6E-409C-BE32-E72D297353CC}">
                <c16:uniqueId val="{00000019-4973-49A7-B156-BDF1C68768A0}"/>
              </c:ext>
            </c:extLst>
          </c:dPt>
          <c:cat>
            <c:strRef>
              <c:f>'Data-1'!$A$8:$A$34</c:f>
              <c:strCache>
                <c:ptCount val="27"/>
                <c:pt idx="0">
                  <c:v>Años</c:v>
                </c:pt>
                <c:pt idx="1">
                  <c:v>2020</c:v>
                </c:pt>
                <c:pt idx="2">
                  <c:v>2021</c:v>
                </c:pt>
                <c:pt idx="3">
                  <c:v>2022</c:v>
                </c:pt>
                <c:pt idx="4">
                  <c:v>2023</c:v>
                </c:pt>
                <c:pt idx="5">
                  <c:v>2024</c:v>
                </c:pt>
                <c:pt idx="6">
                  <c:v>2025</c:v>
                </c:pt>
                <c:pt idx="7">
                  <c:v>2026</c:v>
                </c:pt>
                <c:pt idx="8">
                  <c:v>2027</c:v>
                </c:pt>
                <c:pt idx="9">
                  <c:v>2028</c:v>
                </c:pt>
                <c:pt idx="10">
                  <c:v>2029</c:v>
                </c:pt>
                <c:pt idx="11">
                  <c:v>2030</c:v>
                </c:pt>
                <c:pt idx="12">
                  <c:v>2031</c:v>
                </c:pt>
                <c:pt idx="13">
                  <c:v>2032</c:v>
                </c:pt>
                <c:pt idx="14">
                  <c:v>2033</c:v>
                </c:pt>
                <c:pt idx="15">
                  <c:v>2034</c:v>
                </c:pt>
                <c:pt idx="16">
                  <c:v>2035</c:v>
                </c:pt>
                <c:pt idx="17">
                  <c:v>2036</c:v>
                </c:pt>
                <c:pt idx="18">
                  <c:v>2037</c:v>
                </c:pt>
                <c:pt idx="19">
                  <c:v>2038</c:v>
                </c:pt>
                <c:pt idx="20">
                  <c:v>2039</c:v>
                </c:pt>
                <c:pt idx="21">
                  <c:v>2040</c:v>
                </c:pt>
                <c:pt idx="22">
                  <c:v>2041</c:v>
                </c:pt>
                <c:pt idx="23">
                  <c:v>2042</c:v>
                </c:pt>
                <c:pt idx="24">
                  <c:v>2043</c:v>
                </c:pt>
                <c:pt idx="25">
                  <c:v>2044</c:v>
                </c:pt>
                <c:pt idx="26">
                  <c:v>2045</c:v>
                </c:pt>
              </c:strCache>
            </c:strRef>
          </c:cat>
          <c:val>
            <c:numRef>
              <c:f>'Data-1'!$B$9:$B$34</c:f>
              <c:numCache>
                <c:formatCode>_(* #,##0_);_(* \(#,##0\);_(* "-"??_);_(@_)</c:formatCode>
                <c:ptCount val="26"/>
                <c:pt idx="0" formatCode="General">
                  <c:v>0</c:v>
                </c:pt>
                <c:pt idx="1">
                  <c:v>360000</c:v>
                </c:pt>
                <c:pt idx="2">
                  <c:v>644112</c:v>
                </c:pt>
                <c:pt idx="3">
                  <c:v>1143821.7158860802</c:v>
                </c:pt>
                <c:pt idx="4">
                  <c:v>2003944.4471090119</c:v>
                </c:pt>
                <c:pt idx="5">
                  <c:v>3426750.031013363</c:v>
                </c:pt>
                <c:pt idx="6">
                  <c:v>5611622.7153357826</c:v>
                </c:pt>
                <c:pt idx="7">
                  <c:v>8513289.6346665714</c:v>
                </c:pt>
                <c:pt idx="8">
                  <c:v>11312028.896670971</c:v>
                </c:pt>
                <c:pt idx="9">
                  <c:v>12040657.796001593</c:v>
                </c:pt>
                <c:pt idx="10">
                  <c:v>9067129.5885446146</c:v>
                </c:pt>
                <c:pt idx="11">
                  <c:v>4276108.5988183096</c:v>
                </c:pt>
                <c:pt idx="12">
                  <c:v>1255874.7225010395</c:v>
                </c:pt>
                <c:pt idx="13">
                  <c:v>276211.96968841553</c:v>
                </c:pt>
                <c:pt idx="14">
                  <c:v>55106.526143424213</c:v>
                </c:pt>
                <c:pt idx="15">
                  <c:v>10750.7610180825</c:v>
                </c:pt>
                <c:pt idx="16">
                  <c:v>2087.9313792660832</c:v>
                </c:pt>
                <c:pt idx="17">
                  <c:v>405.14480116218328</c:v>
                </c:pt>
                <c:pt idx="18">
                  <c:v>78.60133358091116</c:v>
                </c:pt>
                <c:pt idx="19">
                  <c:v>15.248780742287636</c:v>
                </c:pt>
                <c:pt idx="20">
                  <c:v>2.9582680612802505</c:v>
                </c:pt>
                <c:pt idx="21">
                  <c:v>0.57390417903661728</c:v>
                </c:pt>
                <c:pt idx="22">
                  <c:v>0.11133740842342377</c:v>
                </c:pt>
                <c:pt idx="23">
                  <c:v>2.1599464118480682E-2</c:v>
                </c:pt>
                <c:pt idx="24">
                  <c:v>4.190295934677124E-3</c:v>
                </c:pt>
                <c:pt idx="25">
                  <c:v>8.1291794776916504E-4</c:v>
                </c:pt>
              </c:numCache>
            </c:numRef>
          </c:val>
          <c:smooth val="0"/>
          <c:extLst>
            <c:ext xmlns:c16="http://schemas.microsoft.com/office/drawing/2014/chart" uri="{C3380CC4-5D6E-409C-BE32-E72D297353CC}">
              <c16:uniqueId val="{0000001A-4973-49A7-B156-BDF1C68768A0}"/>
            </c:ext>
          </c:extLst>
        </c:ser>
        <c:dLbls>
          <c:showLegendKey val="0"/>
          <c:showVal val="0"/>
          <c:showCatName val="0"/>
          <c:showSerName val="0"/>
          <c:showPercent val="0"/>
          <c:showBubbleSize val="0"/>
        </c:dLbls>
        <c:marker val="1"/>
        <c:smooth val="0"/>
        <c:axId val="633455728"/>
        <c:axId val="1"/>
      </c:lineChart>
      <c:lineChart>
        <c:grouping val="standard"/>
        <c:varyColors val="1"/>
        <c:ser>
          <c:idx val="2"/>
          <c:order val="1"/>
          <c:tx>
            <c:strRef>
              <c:f>'Data-1'!$C$8</c:f>
              <c:strCache>
                <c:ptCount val="1"/>
                <c:pt idx="0">
                  <c:v>Ventas Acumuladas</c:v>
                </c:pt>
              </c:strCache>
            </c:strRef>
          </c:tx>
          <c:spPr>
            <a:ln w="38100">
              <a:solidFill>
                <a:srgbClr val="000000"/>
              </a:solidFill>
              <a:prstDash val="solid"/>
            </a:ln>
          </c:spPr>
          <c:marker>
            <c:symbol val="triangle"/>
            <c:size val="2"/>
            <c:spPr>
              <a:solidFill>
                <a:srgbClr val="008000"/>
              </a:solidFill>
              <a:ln>
                <a:solidFill>
                  <a:srgbClr val="008080"/>
                </a:solidFill>
                <a:prstDash val="solid"/>
              </a:ln>
            </c:spPr>
          </c:marker>
          <c:dPt>
            <c:idx val="0"/>
            <c:bubble3D val="0"/>
            <c:extLst>
              <c:ext xmlns:c16="http://schemas.microsoft.com/office/drawing/2014/chart" uri="{C3380CC4-5D6E-409C-BE32-E72D297353CC}">
                <c16:uniqueId val="{0000001B-4973-49A7-B156-BDF1C68768A0}"/>
              </c:ext>
            </c:extLst>
          </c:dPt>
          <c:dPt>
            <c:idx val="1"/>
            <c:bubble3D val="0"/>
            <c:extLst>
              <c:ext xmlns:c16="http://schemas.microsoft.com/office/drawing/2014/chart" uri="{C3380CC4-5D6E-409C-BE32-E72D297353CC}">
                <c16:uniqueId val="{0000001C-4973-49A7-B156-BDF1C68768A0}"/>
              </c:ext>
            </c:extLst>
          </c:dPt>
          <c:dPt>
            <c:idx val="2"/>
            <c:bubble3D val="0"/>
            <c:extLst>
              <c:ext xmlns:c16="http://schemas.microsoft.com/office/drawing/2014/chart" uri="{C3380CC4-5D6E-409C-BE32-E72D297353CC}">
                <c16:uniqueId val="{0000001D-4973-49A7-B156-BDF1C68768A0}"/>
              </c:ext>
            </c:extLst>
          </c:dPt>
          <c:dPt>
            <c:idx val="3"/>
            <c:bubble3D val="0"/>
            <c:extLst>
              <c:ext xmlns:c16="http://schemas.microsoft.com/office/drawing/2014/chart" uri="{C3380CC4-5D6E-409C-BE32-E72D297353CC}">
                <c16:uniqueId val="{0000001E-4973-49A7-B156-BDF1C68768A0}"/>
              </c:ext>
            </c:extLst>
          </c:dPt>
          <c:dPt>
            <c:idx val="4"/>
            <c:bubble3D val="0"/>
            <c:extLst>
              <c:ext xmlns:c16="http://schemas.microsoft.com/office/drawing/2014/chart" uri="{C3380CC4-5D6E-409C-BE32-E72D297353CC}">
                <c16:uniqueId val="{0000001F-4973-49A7-B156-BDF1C68768A0}"/>
              </c:ext>
            </c:extLst>
          </c:dPt>
          <c:dPt>
            <c:idx val="5"/>
            <c:bubble3D val="0"/>
            <c:extLst>
              <c:ext xmlns:c16="http://schemas.microsoft.com/office/drawing/2014/chart" uri="{C3380CC4-5D6E-409C-BE32-E72D297353CC}">
                <c16:uniqueId val="{00000020-4973-49A7-B156-BDF1C68768A0}"/>
              </c:ext>
            </c:extLst>
          </c:dPt>
          <c:dPt>
            <c:idx val="6"/>
            <c:bubble3D val="0"/>
            <c:extLst>
              <c:ext xmlns:c16="http://schemas.microsoft.com/office/drawing/2014/chart" uri="{C3380CC4-5D6E-409C-BE32-E72D297353CC}">
                <c16:uniqueId val="{00000021-4973-49A7-B156-BDF1C68768A0}"/>
              </c:ext>
            </c:extLst>
          </c:dPt>
          <c:dPt>
            <c:idx val="7"/>
            <c:bubble3D val="0"/>
            <c:extLst>
              <c:ext xmlns:c16="http://schemas.microsoft.com/office/drawing/2014/chart" uri="{C3380CC4-5D6E-409C-BE32-E72D297353CC}">
                <c16:uniqueId val="{00000022-4973-49A7-B156-BDF1C68768A0}"/>
              </c:ext>
            </c:extLst>
          </c:dPt>
          <c:dPt>
            <c:idx val="8"/>
            <c:bubble3D val="0"/>
            <c:extLst>
              <c:ext xmlns:c16="http://schemas.microsoft.com/office/drawing/2014/chart" uri="{C3380CC4-5D6E-409C-BE32-E72D297353CC}">
                <c16:uniqueId val="{00000023-4973-49A7-B156-BDF1C68768A0}"/>
              </c:ext>
            </c:extLst>
          </c:dPt>
          <c:dPt>
            <c:idx val="9"/>
            <c:bubble3D val="0"/>
            <c:extLst>
              <c:ext xmlns:c16="http://schemas.microsoft.com/office/drawing/2014/chart" uri="{C3380CC4-5D6E-409C-BE32-E72D297353CC}">
                <c16:uniqueId val="{00000024-4973-49A7-B156-BDF1C68768A0}"/>
              </c:ext>
            </c:extLst>
          </c:dPt>
          <c:dPt>
            <c:idx val="10"/>
            <c:bubble3D val="0"/>
            <c:extLst>
              <c:ext xmlns:c16="http://schemas.microsoft.com/office/drawing/2014/chart" uri="{C3380CC4-5D6E-409C-BE32-E72D297353CC}">
                <c16:uniqueId val="{00000025-4973-49A7-B156-BDF1C68768A0}"/>
              </c:ext>
            </c:extLst>
          </c:dPt>
          <c:dPt>
            <c:idx val="11"/>
            <c:bubble3D val="0"/>
            <c:extLst>
              <c:ext xmlns:c16="http://schemas.microsoft.com/office/drawing/2014/chart" uri="{C3380CC4-5D6E-409C-BE32-E72D297353CC}">
                <c16:uniqueId val="{00000026-4973-49A7-B156-BDF1C68768A0}"/>
              </c:ext>
            </c:extLst>
          </c:dPt>
          <c:dPt>
            <c:idx val="12"/>
            <c:bubble3D val="0"/>
            <c:extLst>
              <c:ext xmlns:c16="http://schemas.microsoft.com/office/drawing/2014/chart" uri="{C3380CC4-5D6E-409C-BE32-E72D297353CC}">
                <c16:uniqueId val="{00000027-4973-49A7-B156-BDF1C68768A0}"/>
              </c:ext>
            </c:extLst>
          </c:dPt>
          <c:dPt>
            <c:idx val="13"/>
            <c:bubble3D val="0"/>
            <c:extLst>
              <c:ext xmlns:c16="http://schemas.microsoft.com/office/drawing/2014/chart" uri="{C3380CC4-5D6E-409C-BE32-E72D297353CC}">
                <c16:uniqueId val="{00000028-4973-49A7-B156-BDF1C68768A0}"/>
              </c:ext>
            </c:extLst>
          </c:dPt>
          <c:dPt>
            <c:idx val="14"/>
            <c:bubble3D val="0"/>
            <c:extLst>
              <c:ext xmlns:c16="http://schemas.microsoft.com/office/drawing/2014/chart" uri="{C3380CC4-5D6E-409C-BE32-E72D297353CC}">
                <c16:uniqueId val="{00000029-4973-49A7-B156-BDF1C68768A0}"/>
              </c:ext>
            </c:extLst>
          </c:dPt>
          <c:dPt>
            <c:idx val="15"/>
            <c:bubble3D val="0"/>
            <c:extLst>
              <c:ext xmlns:c16="http://schemas.microsoft.com/office/drawing/2014/chart" uri="{C3380CC4-5D6E-409C-BE32-E72D297353CC}">
                <c16:uniqueId val="{0000002A-4973-49A7-B156-BDF1C68768A0}"/>
              </c:ext>
            </c:extLst>
          </c:dPt>
          <c:dPt>
            <c:idx val="16"/>
            <c:bubble3D val="0"/>
            <c:extLst>
              <c:ext xmlns:c16="http://schemas.microsoft.com/office/drawing/2014/chart" uri="{C3380CC4-5D6E-409C-BE32-E72D297353CC}">
                <c16:uniqueId val="{0000002B-4973-49A7-B156-BDF1C68768A0}"/>
              </c:ext>
            </c:extLst>
          </c:dPt>
          <c:dPt>
            <c:idx val="17"/>
            <c:bubble3D val="0"/>
            <c:extLst>
              <c:ext xmlns:c16="http://schemas.microsoft.com/office/drawing/2014/chart" uri="{C3380CC4-5D6E-409C-BE32-E72D297353CC}">
                <c16:uniqueId val="{0000002C-4973-49A7-B156-BDF1C68768A0}"/>
              </c:ext>
            </c:extLst>
          </c:dPt>
          <c:dPt>
            <c:idx val="18"/>
            <c:bubble3D val="0"/>
            <c:extLst>
              <c:ext xmlns:c16="http://schemas.microsoft.com/office/drawing/2014/chart" uri="{C3380CC4-5D6E-409C-BE32-E72D297353CC}">
                <c16:uniqueId val="{0000002D-4973-49A7-B156-BDF1C68768A0}"/>
              </c:ext>
            </c:extLst>
          </c:dPt>
          <c:dPt>
            <c:idx val="19"/>
            <c:bubble3D val="0"/>
            <c:extLst>
              <c:ext xmlns:c16="http://schemas.microsoft.com/office/drawing/2014/chart" uri="{C3380CC4-5D6E-409C-BE32-E72D297353CC}">
                <c16:uniqueId val="{0000002E-4973-49A7-B156-BDF1C68768A0}"/>
              </c:ext>
            </c:extLst>
          </c:dPt>
          <c:dPt>
            <c:idx val="20"/>
            <c:bubble3D val="0"/>
            <c:extLst>
              <c:ext xmlns:c16="http://schemas.microsoft.com/office/drawing/2014/chart" uri="{C3380CC4-5D6E-409C-BE32-E72D297353CC}">
                <c16:uniqueId val="{0000002F-4973-49A7-B156-BDF1C68768A0}"/>
              </c:ext>
            </c:extLst>
          </c:dPt>
          <c:dPt>
            <c:idx val="21"/>
            <c:bubble3D val="0"/>
            <c:extLst>
              <c:ext xmlns:c16="http://schemas.microsoft.com/office/drawing/2014/chart" uri="{C3380CC4-5D6E-409C-BE32-E72D297353CC}">
                <c16:uniqueId val="{00000030-4973-49A7-B156-BDF1C68768A0}"/>
              </c:ext>
            </c:extLst>
          </c:dPt>
          <c:dPt>
            <c:idx val="22"/>
            <c:bubble3D val="0"/>
            <c:extLst>
              <c:ext xmlns:c16="http://schemas.microsoft.com/office/drawing/2014/chart" uri="{C3380CC4-5D6E-409C-BE32-E72D297353CC}">
                <c16:uniqueId val="{00000031-4973-49A7-B156-BDF1C68768A0}"/>
              </c:ext>
            </c:extLst>
          </c:dPt>
          <c:dPt>
            <c:idx val="23"/>
            <c:bubble3D val="0"/>
            <c:extLst>
              <c:ext xmlns:c16="http://schemas.microsoft.com/office/drawing/2014/chart" uri="{C3380CC4-5D6E-409C-BE32-E72D297353CC}">
                <c16:uniqueId val="{00000032-4973-49A7-B156-BDF1C68768A0}"/>
              </c:ext>
            </c:extLst>
          </c:dPt>
          <c:dPt>
            <c:idx val="24"/>
            <c:bubble3D val="0"/>
            <c:extLst>
              <c:ext xmlns:c16="http://schemas.microsoft.com/office/drawing/2014/chart" uri="{C3380CC4-5D6E-409C-BE32-E72D297353CC}">
                <c16:uniqueId val="{00000033-4973-49A7-B156-BDF1C68768A0}"/>
              </c:ext>
            </c:extLst>
          </c:dPt>
          <c:dPt>
            <c:idx val="25"/>
            <c:bubble3D val="0"/>
            <c:extLst>
              <c:ext xmlns:c16="http://schemas.microsoft.com/office/drawing/2014/chart" uri="{C3380CC4-5D6E-409C-BE32-E72D297353CC}">
                <c16:uniqueId val="{00000034-4973-49A7-B156-BDF1C68768A0}"/>
              </c:ext>
            </c:extLst>
          </c:dPt>
          <c:cat>
            <c:strRef>
              <c:f>'Data-1'!$A$8:$A$34</c:f>
              <c:strCache>
                <c:ptCount val="27"/>
                <c:pt idx="0">
                  <c:v>Años</c:v>
                </c:pt>
                <c:pt idx="1">
                  <c:v>2020</c:v>
                </c:pt>
                <c:pt idx="2">
                  <c:v>2021</c:v>
                </c:pt>
                <c:pt idx="3">
                  <c:v>2022</c:v>
                </c:pt>
                <c:pt idx="4">
                  <c:v>2023</c:v>
                </c:pt>
                <c:pt idx="5">
                  <c:v>2024</c:v>
                </c:pt>
                <c:pt idx="6">
                  <c:v>2025</c:v>
                </c:pt>
                <c:pt idx="7">
                  <c:v>2026</c:v>
                </c:pt>
                <c:pt idx="8">
                  <c:v>2027</c:v>
                </c:pt>
                <c:pt idx="9">
                  <c:v>2028</c:v>
                </c:pt>
                <c:pt idx="10">
                  <c:v>2029</c:v>
                </c:pt>
                <c:pt idx="11">
                  <c:v>2030</c:v>
                </c:pt>
                <c:pt idx="12">
                  <c:v>2031</c:v>
                </c:pt>
                <c:pt idx="13">
                  <c:v>2032</c:v>
                </c:pt>
                <c:pt idx="14">
                  <c:v>2033</c:v>
                </c:pt>
                <c:pt idx="15">
                  <c:v>2034</c:v>
                </c:pt>
                <c:pt idx="16">
                  <c:v>2035</c:v>
                </c:pt>
                <c:pt idx="17">
                  <c:v>2036</c:v>
                </c:pt>
                <c:pt idx="18">
                  <c:v>2037</c:v>
                </c:pt>
                <c:pt idx="19">
                  <c:v>2038</c:v>
                </c:pt>
                <c:pt idx="20">
                  <c:v>2039</c:v>
                </c:pt>
                <c:pt idx="21">
                  <c:v>2040</c:v>
                </c:pt>
                <c:pt idx="22">
                  <c:v>2041</c:v>
                </c:pt>
                <c:pt idx="23">
                  <c:v>2042</c:v>
                </c:pt>
                <c:pt idx="24">
                  <c:v>2043</c:v>
                </c:pt>
                <c:pt idx="25">
                  <c:v>2044</c:v>
                </c:pt>
                <c:pt idx="26">
                  <c:v>2045</c:v>
                </c:pt>
              </c:strCache>
            </c:strRef>
          </c:cat>
          <c:val>
            <c:numRef>
              <c:f>'Data-1'!$C$9:$C$34</c:f>
              <c:numCache>
                <c:formatCode>_(* #,##0_);_(* \(#,##0\);_(* "-"??_);_(@_)</c:formatCode>
                <c:ptCount val="26"/>
                <c:pt idx="0" formatCode="General">
                  <c:v>0</c:v>
                </c:pt>
                <c:pt idx="1">
                  <c:v>360000</c:v>
                </c:pt>
                <c:pt idx="2">
                  <c:v>1004112</c:v>
                </c:pt>
                <c:pt idx="3">
                  <c:v>2147933.7158860802</c:v>
                </c:pt>
                <c:pt idx="4">
                  <c:v>4151878.1629950921</c:v>
                </c:pt>
                <c:pt idx="5">
                  <c:v>7578628.1940084547</c:v>
                </c:pt>
                <c:pt idx="6">
                  <c:v>13190250.909344237</c:v>
                </c:pt>
                <c:pt idx="7">
                  <c:v>21703540.544010811</c:v>
                </c:pt>
                <c:pt idx="8">
                  <c:v>33015569.440681782</c:v>
                </c:pt>
                <c:pt idx="9">
                  <c:v>45056227.236683376</c:v>
                </c:pt>
                <c:pt idx="10">
                  <c:v>54123356.825227991</c:v>
                </c:pt>
                <c:pt idx="11">
                  <c:v>58399465.4240463</c:v>
                </c:pt>
                <c:pt idx="12">
                  <c:v>59655340.14654734</c:v>
                </c:pt>
                <c:pt idx="13">
                  <c:v>59931552.116235755</c:v>
                </c:pt>
                <c:pt idx="14">
                  <c:v>59986658.64237918</c:v>
                </c:pt>
                <c:pt idx="15">
                  <c:v>59997409.403397262</c:v>
                </c:pt>
                <c:pt idx="16">
                  <c:v>59999497.334776528</c:v>
                </c:pt>
                <c:pt idx="17">
                  <c:v>59999902.47957769</c:v>
                </c:pt>
                <c:pt idx="18">
                  <c:v>59999981.080911271</c:v>
                </c:pt>
                <c:pt idx="19">
                  <c:v>59999996.329692014</c:v>
                </c:pt>
                <c:pt idx="20">
                  <c:v>59999999.287960075</c:v>
                </c:pt>
                <c:pt idx="21">
                  <c:v>59999999.861864254</c:v>
                </c:pt>
                <c:pt idx="22">
                  <c:v>59999999.973201662</c:v>
                </c:pt>
                <c:pt idx="23">
                  <c:v>59999999.994801126</c:v>
                </c:pt>
                <c:pt idx="24">
                  <c:v>59999999.998991422</c:v>
                </c:pt>
                <c:pt idx="25">
                  <c:v>59999999.99980434</c:v>
                </c:pt>
              </c:numCache>
            </c:numRef>
          </c:val>
          <c:smooth val="0"/>
          <c:extLst>
            <c:ext xmlns:c16="http://schemas.microsoft.com/office/drawing/2014/chart" uri="{C3380CC4-5D6E-409C-BE32-E72D297353CC}">
              <c16:uniqueId val="{00000035-4973-49A7-B156-BDF1C68768A0}"/>
            </c:ext>
          </c:extLst>
        </c:ser>
        <c:dLbls>
          <c:showLegendKey val="0"/>
          <c:showVal val="0"/>
          <c:showCatName val="0"/>
          <c:showSerName val="0"/>
          <c:showPercent val="0"/>
          <c:showBubbleSize val="0"/>
        </c:dLbls>
        <c:marker val="1"/>
        <c:smooth val="0"/>
        <c:axId val="3"/>
        <c:axId val="4"/>
      </c:lineChart>
      <c:catAx>
        <c:axId val="633455728"/>
        <c:scaling>
          <c:orientation val="minMax"/>
        </c:scaling>
        <c:delete val="0"/>
        <c:axPos val="b"/>
        <c:title>
          <c:tx>
            <c:rich>
              <a:bodyPr/>
              <a:lstStyle/>
              <a:p>
                <a:pPr>
                  <a:defRPr sz="1450" b="1" i="0" u="none" strike="noStrike" baseline="0">
                    <a:solidFill>
                      <a:srgbClr val="000000"/>
                    </a:solidFill>
                    <a:latin typeface="Arial"/>
                    <a:ea typeface="Arial"/>
                    <a:cs typeface="Arial"/>
                  </a:defRPr>
                </a:pPr>
                <a:r>
                  <a:rPr lang="es-ES"/>
                  <a:t>Años</a:t>
                </a:r>
              </a:p>
            </c:rich>
          </c:tx>
          <c:layout>
            <c:manualLayout>
              <c:xMode val="edge"/>
              <c:yMode val="edge"/>
              <c:x val="0.47510701562709456"/>
              <c:y val="0.92372976915238636"/>
            </c:manualLayout>
          </c:layout>
          <c:overlay val="0"/>
          <c:spPr>
            <a:noFill/>
            <a:ln w="25400">
              <a:noFill/>
            </a:ln>
          </c:spPr>
        </c:title>
        <c:numFmt formatCode="General" sourceLinked="1"/>
        <c:majorTickMark val="out"/>
        <c:minorTickMark val="none"/>
        <c:tickLblPos val="nextTo"/>
        <c:spPr>
          <a:ln w="3175">
            <a:solidFill>
              <a:srgbClr val="000000"/>
            </a:solidFill>
            <a:prstDash val="solid"/>
          </a:ln>
        </c:spPr>
        <c:txPr>
          <a:bodyPr rot="0" vert="horz"/>
          <a:lstStyle/>
          <a:p>
            <a:pPr>
              <a:defRPr sz="900" b="0" i="0" u="none" strike="noStrike" baseline="0">
                <a:solidFill>
                  <a:srgbClr val="000000"/>
                </a:solidFill>
                <a:latin typeface="Arial"/>
                <a:ea typeface="Arial"/>
                <a:cs typeface="Arial"/>
              </a:defRPr>
            </a:pPr>
            <a:endParaRPr lang="es-CO"/>
          </a:p>
        </c:txPr>
        <c:crossAx val="1"/>
        <c:crosses val="autoZero"/>
        <c:auto val="1"/>
        <c:lblAlgn val="ctr"/>
        <c:lblOffset val="100"/>
        <c:tickLblSkip val="2"/>
        <c:tickMarkSkip val="1"/>
        <c:noMultiLvlLbl val="0"/>
      </c:catAx>
      <c:valAx>
        <c:axId val="1"/>
        <c:scaling>
          <c:orientation val="minMax"/>
        </c:scaling>
        <c:delete val="0"/>
        <c:axPos val="l"/>
        <c:majorGridlines>
          <c:spPr>
            <a:ln w="3175">
              <a:solidFill>
                <a:srgbClr val="000000"/>
              </a:solidFill>
              <a:prstDash val="solid"/>
            </a:ln>
          </c:spPr>
        </c:majorGridlines>
        <c:title>
          <c:tx>
            <c:rich>
              <a:bodyPr/>
              <a:lstStyle/>
              <a:p>
                <a:pPr>
                  <a:defRPr sz="1450" b="1" i="0" u="none" strike="noStrike" baseline="0">
                    <a:solidFill>
                      <a:srgbClr val="000000"/>
                    </a:solidFill>
                    <a:latin typeface="Arial"/>
                    <a:ea typeface="Arial"/>
                    <a:cs typeface="Arial"/>
                  </a:defRPr>
                </a:pPr>
                <a:r>
                  <a:rPr lang="es-ES"/>
                  <a:t>Ventas</a:t>
                </a:r>
              </a:p>
            </c:rich>
          </c:tx>
          <c:layout>
            <c:manualLayout>
              <c:xMode val="edge"/>
              <c:yMode val="edge"/>
              <c:x val="2.4182093609762298E-2"/>
              <c:y val="0.43432248320238348"/>
            </c:manualLayout>
          </c:layout>
          <c:overlay val="0"/>
          <c:spPr>
            <a:noFill/>
            <a:ln w="25400">
              <a:noFill/>
            </a:ln>
          </c:spPr>
        </c:title>
        <c:numFmt formatCode="General" sourceLinked="1"/>
        <c:majorTickMark val="out"/>
        <c:minorTickMark val="none"/>
        <c:tickLblPos val="nextTo"/>
        <c:spPr>
          <a:ln w="3175">
            <a:solidFill>
              <a:srgbClr val="000000"/>
            </a:solidFill>
            <a:prstDash val="solid"/>
          </a:ln>
        </c:spPr>
        <c:txPr>
          <a:bodyPr rot="0" vert="horz"/>
          <a:lstStyle/>
          <a:p>
            <a:pPr>
              <a:defRPr sz="1450" b="0" i="0" u="none" strike="noStrike" baseline="0">
                <a:solidFill>
                  <a:srgbClr val="000000"/>
                </a:solidFill>
                <a:latin typeface="Arial"/>
                <a:ea typeface="Arial"/>
                <a:cs typeface="Arial"/>
              </a:defRPr>
            </a:pPr>
            <a:endParaRPr lang="es-CO"/>
          </a:p>
        </c:txPr>
        <c:crossAx val="633455728"/>
        <c:crosses val="autoZero"/>
        <c:crossBetween val="between"/>
        <c:dispUnits>
          <c:builtInUnit val="millions"/>
        </c:dispUnits>
      </c:valAx>
      <c:catAx>
        <c:axId val="3"/>
        <c:scaling>
          <c:orientation val="minMax"/>
        </c:scaling>
        <c:delete val="1"/>
        <c:axPos val="b"/>
        <c:numFmt formatCode="General" sourceLinked="1"/>
        <c:majorTickMark val="out"/>
        <c:minorTickMark val="none"/>
        <c:tickLblPos val="nextTo"/>
        <c:crossAx val="4"/>
        <c:crosses val="autoZero"/>
        <c:auto val="1"/>
        <c:lblAlgn val="ctr"/>
        <c:lblOffset val="100"/>
        <c:noMultiLvlLbl val="0"/>
      </c:catAx>
      <c:valAx>
        <c:axId val="4"/>
        <c:scaling>
          <c:orientation val="minMax"/>
        </c:scaling>
        <c:delete val="0"/>
        <c:axPos val="r"/>
        <c:numFmt formatCode="General" sourceLinked="1"/>
        <c:majorTickMark val="cross"/>
        <c:minorTickMark val="none"/>
        <c:tickLblPos val="nextTo"/>
        <c:spPr>
          <a:ln w="3175">
            <a:solidFill>
              <a:srgbClr val="000000"/>
            </a:solidFill>
            <a:prstDash val="solid"/>
          </a:ln>
        </c:spPr>
        <c:txPr>
          <a:bodyPr rot="0" vert="horz"/>
          <a:lstStyle/>
          <a:p>
            <a:pPr>
              <a:defRPr sz="1450" b="0" i="0" u="none" strike="noStrike" baseline="0">
                <a:solidFill>
                  <a:srgbClr val="000000"/>
                </a:solidFill>
                <a:latin typeface="Arial"/>
                <a:ea typeface="Arial"/>
                <a:cs typeface="Arial"/>
              </a:defRPr>
            </a:pPr>
            <a:endParaRPr lang="es-CO"/>
          </a:p>
        </c:txPr>
        <c:crossAx val="3"/>
        <c:crosses val="max"/>
        <c:crossBetween val="between"/>
        <c:dispUnits>
          <c:builtInUnit val="millions"/>
        </c:dispUnits>
      </c:valAx>
      <c:spPr>
        <a:solidFill>
          <a:srgbClr val="C0C0C0"/>
        </a:solidFill>
        <a:ln w="12700">
          <a:solidFill>
            <a:srgbClr val="808080"/>
          </a:solidFill>
          <a:prstDash val="solid"/>
        </a:ln>
      </c:spPr>
    </c:plotArea>
    <c:legend>
      <c:legendPos val="r"/>
      <c:layout>
        <c:manualLayout>
          <c:xMode val="edge"/>
          <c:yMode val="edge"/>
          <c:x val="0.81780950027091492"/>
          <c:y val="0.494098832787013"/>
          <c:w val="0.17186227230563364"/>
          <c:h val="6.3559387785714655E-2"/>
        </c:manualLayout>
      </c:layout>
      <c:overlay val="0"/>
      <c:spPr>
        <a:solidFill>
          <a:srgbClr val="FFFFFF"/>
        </a:solidFill>
        <a:ln w="3175">
          <a:solidFill>
            <a:srgbClr val="000000"/>
          </a:solidFill>
          <a:prstDash val="solid"/>
        </a:ln>
      </c:spPr>
      <c:txPr>
        <a:bodyPr/>
        <a:lstStyle/>
        <a:p>
          <a:pPr>
            <a:defRPr sz="1330" b="0" i="0" u="none" strike="noStrike" baseline="0">
              <a:solidFill>
                <a:srgbClr val="000000"/>
              </a:solidFill>
              <a:latin typeface="Arial"/>
              <a:ea typeface="Arial"/>
              <a:cs typeface="Arial"/>
            </a:defRPr>
          </a:pPr>
          <a:endParaRPr lang="es-CO"/>
        </a:p>
      </c:txPr>
    </c:legend>
    <c:plotVisOnly val="1"/>
    <c:dispBlanksAs val="gap"/>
    <c:showDLblsOverMax val="0"/>
  </c:chart>
  <c:spPr>
    <a:solidFill>
      <a:srgbClr val="FFFFFF"/>
    </a:solidFill>
    <a:ln w="3175">
      <a:solidFill>
        <a:srgbClr val="000000"/>
      </a:solidFill>
      <a:prstDash val="solid"/>
    </a:ln>
  </c:spPr>
  <c:txPr>
    <a:bodyPr/>
    <a:lstStyle/>
    <a:p>
      <a:pPr>
        <a:defRPr sz="1450" b="0" i="0" u="none" strike="noStrike" baseline="0">
          <a:solidFill>
            <a:srgbClr val="000000"/>
          </a:solidFill>
          <a:latin typeface="Arial"/>
          <a:ea typeface="Arial"/>
          <a:cs typeface="Arial"/>
        </a:defRPr>
      </a:pPr>
      <a:endParaRPr lang="es-CO"/>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a:lstStyle/>
          <a:p>
            <a:pPr>
              <a:defRPr sz="1725" b="1" i="0" u="none" strike="noStrike" baseline="0">
                <a:solidFill>
                  <a:srgbClr val="000000"/>
                </a:solidFill>
                <a:latin typeface="Arial"/>
                <a:ea typeface="Arial"/>
                <a:cs typeface="Arial"/>
              </a:defRPr>
            </a:pPr>
            <a:r>
              <a:rPr lang="es-ES" sz="1800" b="1" i="0" baseline="0">
                <a:effectLst/>
              </a:rPr>
              <a:t>Impacto de "P" y "Q"</a:t>
            </a:r>
            <a:endParaRPr lang="es-ES">
              <a:effectLst/>
            </a:endParaRPr>
          </a:p>
        </c:rich>
      </c:tx>
      <c:layout>
        <c:manualLayout>
          <c:xMode val="edge"/>
          <c:yMode val="edge"/>
          <c:x val="0.33001445396852075"/>
          <c:y val="2.9661047633333507E-2"/>
        </c:manualLayout>
      </c:layout>
      <c:overlay val="0"/>
      <c:spPr>
        <a:noFill/>
        <a:ln w="25400">
          <a:noFill/>
        </a:ln>
      </c:spPr>
    </c:title>
    <c:autoTitleDeleted val="0"/>
    <c:plotArea>
      <c:layout>
        <c:manualLayout>
          <c:layoutTarget val="inner"/>
          <c:xMode val="edge"/>
          <c:yMode val="edge"/>
          <c:x val="0.1266003724275791"/>
          <c:y val="0.19403021308304497"/>
          <c:w val="0.59120447976147528"/>
          <c:h val="0.68308923772712915"/>
        </c:manualLayout>
      </c:layout>
      <c:lineChart>
        <c:grouping val="standard"/>
        <c:varyColors val="1"/>
        <c:ser>
          <c:idx val="1"/>
          <c:order val="0"/>
          <c:tx>
            <c:strRef>
              <c:f>'Data-1'!$B$8</c:f>
              <c:strCache>
                <c:ptCount val="1"/>
                <c:pt idx="0">
                  <c:v>Ventas</c:v>
                </c:pt>
              </c:strCache>
            </c:strRef>
          </c:tx>
          <c:spPr>
            <a:ln w="38100">
              <a:solidFill>
                <a:srgbClr val="FF0000"/>
              </a:solidFill>
              <a:prstDash val="solid"/>
            </a:ln>
          </c:spPr>
          <c:marker>
            <c:symbol val="square"/>
            <c:size val="2"/>
            <c:spPr>
              <a:solidFill>
                <a:srgbClr val="FF6600"/>
              </a:solidFill>
              <a:ln>
                <a:solidFill>
                  <a:srgbClr val="FF6600"/>
                </a:solidFill>
                <a:prstDash val="solid"/>
              </a:ln>
            </c:spPr>
          </c:marker>
          <c:dPt>
            <c:idx val="0"/>
            <c:bubble3D val="0"/>
            <c:extLst>
              <c:ext xmlns:c16="http://schemas.microsoft.com/office/drawing/2014/chart" uri="{C3380CC4-5D6E-409C-BE32-E72D297353CC}">
                <c16:uniqueId val="{00000000-AFEF-4CDE-84C4-A1B52E06088F}"/>
              </c:ext>
            </c:extLst>
          </c:dPt>
          <c:dPt>
            <c:idx val="1"/>
            <c:bubble3D val="0"/>
            <c:extLst>
              <c:ext xmlns:c16="http://schemas.microsoft.com/office/drawing/2014/chart" uri="{C3380CC4-5D6E-409C-BE32-E72D297353CC}">
                <c16:uniqueId val="{00000001-AFEF-4CDE-84C4-A1B52E06088F}"/>
              </c:ext>
            </c:extLst>
          </c:dPt>
          <c:dPt>
            <c:idx val="2"/>
            <c:bubble3D val="0"/>
            <c:extLst>
              <c:ext xmlns:c16="http://schemas.microsoft.com/office/drawing/2014/chart" uri="{C3380CC4-5D6E-409C-BE32-E72D297353CC}">
                <c16:uniqueId val="{00000002-AFEF-4CDE-84C4-A1B52E06088F}"/>
              </c:ext>
            </c:extLst>
          </c:dPt>
          <c:dPt>
            <c:idx val="3"/>
            <c:bubble3D val="0"/>
            <c:extLst>
              <c:ext xmlns:c16="http://schemas.microsoft.com/office/drawing/2014/chart" uri="{C3380CC4-5D6E-409C-BE32-E72D297353CC}">
                <c16:uniqueId val="{00000003-AFEF-4CDE-84C4-A1B52E06088F}"/>
              </c:ext>
            </c:extLst>
          </c:dPt>
          <c:dPt>
            <c:idx val="4"/>
            <c:bubble3D val="0"/>
            <c:extLst>
              <c:ext xmlns:c16="http://schemas.microsoft.com/office/drawing/2014/chart" uri="{C3380CC4-5D6E-409C-BE32-E72D297353CC}">
                <c16:uniqueId val="{00000004-AFEF-4CDE-84C4-A1B52E06088F}"/>
              </c:ext>
            </c:extLst>
          </c:dPt>
          <c:dPt>
            <c:idx val="5"/>
            <c:bubble3D val="0"/>
            <c:extLst>
              <c:ext xmlns:c16="http://schemas.microsoft.com/office/drawing/2014/chart" uri="{C3380CC4-5D6E-409C-BE32-E72D297353CC}">
                <c16:uniqueId val="{00000005-AFEF-4CDE-84C4-A1B52E06088F}"/>
              </c:ext>
            </c:extLst>
          </c:dPt>
          <c:dPt>
            <c:idx val="6"/>
            <c:bubble3D val="0"/>
            <c:extLst>
              <c:ext xmlns:c16="http://schemas.microsoft.com/office/drawing/2014/chart" uri="{C3380CC4-5D6E-409C-BE32-E72D297353CC}">
                <c16:uniqueId val="{00000006-AFEF-4CDE-84C4-A1B52E06088F}"/>
              </c:ext>
            </c:extLst>
          </c:dPt>
          <c:dPt>
            <c:idx val="7"/>
            <c:bubble3D val="0"/>
            <c:extLst>
              <c:ext xmlns:c16="http://schemas.microsoft.com/office/drawing/2014/chart" uri="{C3380CC4-5D6E-409C-BE32-E72D297353CC}">
                <c16:uniqueId val="{00000007-AFEF-4CDE-84C4-A1B52E06088F}"/>
              </c:ext>
            </c:extLst>
          </c:dPt>
          <c:dPt>
            <c:idx val="8"/>
            <c:bubble3D val="0"/>
            <c:extLst>
              <c:ext xmlns:c16="http://schemas.microsoft.com/office/drawing/2014/chart" uri="{C3380CC4-5D6E-409C-BE32-E72D297353CC}">
                <c16:uniqueId val="{00000008-AFEF-4CDE-84C4-A1B52E06088F}"/>
              </c:ext>
            </c:extLst>
          </c:dPt>
          <c:dPt>
            <c:idx val="9"/>
            <c:bubble3D val="0"/>
            <c:extLst>
              <c:ext xmlns:c16="http://schemas.microsoft.com/office/drawing/2014/chart" uri="{C3380CC4-5D6E-409C-BE32-E72D297353CC}">
                <c16:uniqueId val="{00000009-AFEF-4CDE-84C4-A1B52E06088F}"/>
              </c:ext>
            </c:extLst>
          </c:dPt>
          <c:dPt>
            <c:idx val="10"/>
            <c:bubble3D val="0"/>
            <c:extLst>
              <c:ext xmlns:c16="http://schemas.microsoft.com/office/drawing/2014/chart" uri="{C3380CC4-5D6E-409C-BE32-E72D297353CC}">
                <c16:uniqueId val="{0000000A-AFEF-4CDE-84C4-A1B52E06088F}"/>
              </c:ext>
            </c:extLst>
          </c:dPt>
          <c:dPt>
            <c:idx val="11"/>
            <c:bubble3D val="0"/>
            <c:extLst>
              <c:ext xmlns:c16="http://schemas.microsoft.com/office/drawing/2014/chart" uri="{C3380CC4-5D6E-409C-BE32-E72D297353CC}">
                <c16:uniqueId val="{0000000B-AFEF-4CDE-84C4-A1B52E06088F}"/>
              </c:ext>
            </c:extLst>
          </c:dPt>
          <c:dPt>
            <c:idx val="12"/>
            <c:bubble3D val="0"/>
            <c:extLst>
              <c:ext xmlns:c16="http://schemas.microsoft.com/office/drawing/2014/chart" uri="{C3380CC4-5D6E-409C-BE32-E72D297353CC}">
                <c16:uniqueId val="{0000000C-AFEF-4CDE-84C4-A1B52E06088F}"/>
              </c:ext>
            </c:extLst>
          </c:dPt>
          <c:dPt>
            <c:idx val="13"/>
            <c:bubble3D val="0"/>
            <c:extLst>
              <c:ext xmlns:c16="http://schemas.microsoft.com/office/drawing/2014/chart" uri="{C3380CC4-5D6E-409C-BE32-E72D297353CC}">
                <c16:uniqueId val="{0000000D-AFEF-4CDE-84C4-A1B52E06088F}"/>
              </c:ext>
            </c:extLst>
          </c:dPt>
          <c:dPt>
            <c:idx val="14"/>
            <c:bubble3D val="0"/>
            <c:extLst>
              <c:ext xmlns:c16="http://schemas.microsoft.com/office/drawing/2014/chart" uri="{C3380CC4-5D6E-409C-BE32-E72D297353CC}">
                <c16:uniqueId val="{0000000E-AFEF-4CDE-84C4-A1B52E06088F}"/>
              </c:ext>
            </c:extLst>
          </c:dPt>
          <c:dPt>
            <c:idx val="15"/>
            <c:bubble3D val="0"/>
            <c:extLst>
              <c:ext xmlns:c16="http://schemas.microsoft.com/office/drawing/2014/chart" uri="{C3380CC4-5D6E-409C-BE32-E72D297353CC}">
                <c16:uniqueId val="{0000000F-AFEF-4CDE-84C4-A1B52E06088F}"/>
              </c:ext>
            </c:extLst>
          </c:dPt>
          <c:dPt>
            <c:idx val="16"/>
            <c:bubble3D val="0"/>
            <c:extLst>
              <c:ext xmlns:c16="http://schemas.microsoft.com/office/drawing/2014/chart" uri="{C3380CC4-5D6E-409C-BE32-E72D297353CC}">
                <c16:uniqueId val="{00000010-AFEF-4CDE-84C4-A1B52E06088F}"/>
              </c:ext>
            </c:extLst>
          </c:dPt>
          <c:dPt>
            <c:idx val="17"/>
            <c:bubble3D val="0"/>
            <c:extLst>
              <c:ext xmlns:c16="http://schemas.microsoft.com/office/drawing/2014/chart" uri="{C3380CC4-5D6E-409C-BE32-E72D297353CC}">
                <c16:uniqueId val="{00000011-AFEF-4CDE-84C4-A1B52E06088F}"/>
              </c:ext>
            </c:extLst>
          </c:dPt>
          <c:dPt>
            <c:idx val="18"/>
            <c:bubble3D val="0"/>
            <c:extLst>
              <c:ext xmlns:c16="http://schemas.microsoft.com/office/drawing/2014/chart" uri="{C3380CC4-5D6E-409C-BE32-E72D297353CC}">
                <c16:uniqueId val="{00000012-AFEF-4CDE-84C4-A1B52E06088F}"/>
              </c:ext>
            </c:extLst>
          </c:dPt>
          <c:dPt>
            <c:idx val="19"/>
            <c:bubble3D val="0"/>
            <c:extLst>
              <c:ext xmlns:c16="http://schemas.microsoft.com/office/drawing/2014/chart" uri="{C3380CC4-5D6E-409C-BE32-E72D297353CC}">
                <c16:uniqueId val="{00000013-AFEF-4CDE-84C4-A1B52E06088F}"/>
              </c:ext>
            </c:extLst>
          </c:dPt>
          <c:dPt>
            <c:idx val="20"/>
            <c:bubble3D val="0"/>
            <c:extLst>
              <c:ext xmlns:c16="http://schemas.microsoft.com/office/drawing/2014/chart" uri="{C3380CC4-5D6E-409C-BE32-E72D297353CC}">
                <c16:uniqueId val="{00000014-AFEF-4CDE-84C4-A1B52E06088F}"/>
              </c:ext>
            </c:extLst>
          </c:dPt>
          <c:dPt>
            <c:idx val="21"/>
            <c:bubble3D val="0"/>
            <c:extLst>
              <c:ext xmlns:c16="http://schemas.microsoft.com/office/drawing/2014/chart" uri="{C3380CC4-5D6E-409C-BE32-E72D297353CC}">
                <c16:uniqueId val="{00000015-AFEF-4CDE-84C4-A1B52E06088F}"/>
              </c:ext>
            </c:extLst>
          </c:dPt>
          <c:dPt>
            <c:idx val="22"/>
            <c:bubble3D val="0"/>
            <c:extLst>
              <c:ext xmlns:c16="http://schemas.microsoft.com/office/drawing/2014/chart" uri="{C3380CC4-5D6E-409C-BE32-E72D297353CC}">
                <c16:uniqueId val="{00000016-AFEF-4CDE-84C4-A1B52E06088F}"/>
              </c:ext>
            </c:extLst>
          </c:dPt>
          <c:dPt>
            <c:idx val="23"/>
            <c:bubble3D val="0"/>
            <c:extLst>
              <c:ext xmlns:c16="http://schemas.microsoft.com/office/drawing/2014/chart" uri="{C3380CC4-5D6E-409C-BE32-E72D297353CC}">
                <c16:uniqueId val="{00000017-AFEF-4CDE-84C4-A1B52E06088F}"/>
              </c:ext>
            </c:extLst>
          </c:dPt>
          <c:dPt>
            <c:idx val="24"/>
            <c:bubble3D val="0"/>
            <c:extLst>
              <c:ext xmlns:c16="http://schemas.microsoft.com/office/drawing/2014/chart" uri="{C3380CC4-5D6E-409C-BE32-E72D297353CC}">
                <c16:uniqueId val="{00000018-AFEF-4CDE-84C4-A1B52E06088F}"/>
              </c:ext>
            </c:extLst>
          </c:dPt>
          <c:dPt>
            <c:idx val="25"/>
            <c:bubble3D val="0"/>
            <c:extLst>
              <c:ext xmlns:c16="http://schemas.microsoft.com/office/drawing/2014/chart" uri="{C3380CC4-5D6E-409C-BE32-E72D297353CC}">
                <c16:uniqueId val="{00000019-AFEF-4CDE-84C4-A1B52E06088F}"/>
              </c:ext>
            </c:extLst>
          </c:dPt>
          <c:cat>
            <c:strRef>
              <c:f>'Data-1'!$Q$8:$Q$34</c:f>
              <c:strCache>
                <c:ptCount val="27"/>
                <c:pt idx="0">
                  <c:v>Años</c:v>
                </c:pt>
                <c:pt idx="1">
                  <c:v>2020</c:v>
                </c:pt>
                <c:pt idx="2">
                  <c:v>2021</c:v>
                </c:pt>
                <c:pt idx="3">
                  <c:v>2022</c:v>
                </c:pt>
                <c:pt idx="4">
                  <c:v>2023</c:v>
                </c:pt>
                <c:pt idx="5">
                  <c:v>2024</c:v>
                </c:pt>
                <c:pt idx="6">
                  <c:v>2025</c:v>
                </c:pt>
                <c:pt idx="7">
                  <c:v>2026</c:v>
                </c:pt>
                <c:pt idx="8">
                  <c:v>2027</c:v>
                </c:pt>
                <c:pt idx="9">
                  <c:v>2028</c:v>
                </c:pt>
                <c:pt idx="10">
                  <c:v>2029</c:v>
                </c:pt>
                <c:pt idx="11">
                  <c:v>2030</c:v>
                </c:pt>
                <c:pt idx="12">
                  <c:v>2031</c:v>
                </c:pt>
                <c:pt idx="13">
                  <c:v>2032</c:v>
                </c:pt>
                <c:pt idx="14">
                  <c:v>2033</c:v>
                </c:pt>
                <c:pt idx="15">
                  <c:v>2034</c:v>
                </c:pt>
                <c:pt idx="16">
                  <c:v>2035</c:v>
                </c:pt>
                <c:pt idx="17">
                  <c:v>2036</c:v>
                </c:pt>
                <c:pt idx="18">
                  <c:v>2037</c:v>
                </c:pt>
                <c:pt idx="19">
                  <c:v>2038</c:v>
                </c:pt>
                <c:pt idx="20">
                  <c:v>2039</c:v>
                </c:pt>
                <c:pt idx="21">
                  <c:v>2040</c:v>
                </c:pt>
                <c:pt idx="22">
                  <c:v>2041</c:v>
                </c:pt>
                <c:pt idx="23">
                  <c:v>2042</c:v>
                </c:pt>
                <c:pt idx="24">
                  <c:v>2043</c:v>
                </c:pt>
                <c:pt idx="25">
                  <c:v>2044</c:v>
                </c:pt>
                <c:pt idx="26">
                  <c:v>2045</c:v>
                </c:pt>
              </c:strCache>
            </c:strRef>
          </c:cat>
          <c:val>
            <c:numRef>
              <c:f>'Data-1'!$R$9:$R$34</c:f>
              <c:numCache>
                <c:formatCode>_(* #,##0_);_(* \(#,##0\);_(* "-"??_);_(@_)</c:formatCode>
                <c:ptCount val="26"/>
                <c:pt idx="0" formatCode="General">
                  <c:v>0</c:v>
                </c:pt>
                <c:pt idx="1">
                  <c:v>600</c:v>
                </c:pt>
                <c:pt idx="2">
                  <c:v>899.91000000000008</c:v>
                </c:pt>
                <c:pt idx="3">
                  <c:v>1349.6175314993252</c:v>
                </c:pt>
                <c:pt idx="4">
                  <c:v>2023.8021624004484</c:v>
                </c:pt>
                <c:pt idx="5">
                  <c:v>3034.1984021217095</c:v>
                </c:pt>
                <c:pt idx="6">
                  <c:v>4547.7625451520262</c:v>
                </c:pt>
                <c:pt idx="7">
                  <c:v>6813.4719361096286</c:v>
                </c:pt>
                <c:pt idx="8">
                  <c:v>10201.513978112198</c:v>
                </c:pt>
                <c:pt idx="9">
                  <c:v>15259.816483354505</c:v>
                </c:pt>
                <c:pt idx="10">
                  <c:v>22793.841741466444</c:v>
                </c:pt>
                <c:pt idx="11">
                  <c:v>33975.258182613215</c:v>
                </c:pt>
                <c:pt idx="12">
                  <c:v>50480.93938110966</c:v>
                </c:pt>
                <c:pt idx="13">
                  <c:v>74650.038106461754</c:v>
                </c:pt>
                <c:pt idx="14">
                  <c:v>109612.31936162393</c:v>
                </c:pt>
                <c:pt idx="15">
                  <c:v>159266.03632744879</c:v>
                </c:pt>
                <c:pt idx="16">
                  <c:v>227843.98726071345</c:v>
                </c:pt>
                <c:pt idx="17">
                  <c:v>318600.68322855624</c:v>
                </c:pt>
                <c:pt idx="18">
                  <c:v>431000.19766430405</c:v>
                </c:pt>
                <c:pt idx="19">
                  <c:v>556130.09332714358</c:v>
                </c:pt>
                <c:pt idx="20">
                  <c:v>671840.51881692372</c:v>
                </c:pt>
                <c:pt idx="21">
                  <c:v>742876.03677222063</c:v>
                </c:pt>
                <c:pt idx="22">
                  <c:v>733842.41346629488</c:v>
                </c:pt>
                <c:pt idx="23">
                  <c:v>634612.08944058139</c:v>
                </c:pt>
                <c:pt idx="24">
                  <c:v>476429.89621881512</c:v>
                </c:pt>
                <c:pt idx="25">
                  <c:v>313564.75850690017</c:v>
                </c:pt>
              </c:numCache>
            </c:numRef>
          </c:val>
          <c:smooth val="0"/>
          <c:extLst>
            <c:ext xmlns:c16="http://schemas.microsoft.com/office/drawing/2014/chart" uri="{C3380CC4-5D6E-409C-BE32-E72D297353CC}">
              <c16:uniqueId val="{0000001A-AFEF-4CDE-84C4-A1B52E06088F}"/>
            </c:ext>
          </c:extLst>
        </c:ser>
        <c:dLbls>
          <c:showLegendKey val="0"/>
          <c:showVal val="0"/>
          <c:showCatName val="0"/>
          <c:showSerName val="0"/>
          <c:showPercent val="0"/>
          <c:showBubbleSize val="0"/>
        </c:dLbls>
        <c:marker val="1"/>
        <c:smooth val="0"/>
        <c:axId val="633455728"/>
        <c:axId val="1"/>
      </c:lineChart>
      <c:lineChart>
        <c:grouping val="standard"/>
        <c:varyColors val="1"/>
        <c:ser>
          <c:idx val="2"/>
          <c:order val="1"/>
          <c:tx>
            <c:strRef>
              <c:f>'Data-1'!$C$8</c:f>
              <c:strCache>
                <c:ptCount val="1"/>
                <c:pt idx="0">
                  <c:v>Ventas Acumuladas</c:v>
                </c:pt>
              </c:strCache>
            </c:strRef>
          </c:tx>
          <c:spPr>
            <a:ln w="38100">
              <a:solidFill>
                <a:srgbClr val="000000"/>
              </a:solidFill>
              <a:prstDash val="solid"/>
            </a:ln>
          </c:spPr>
          <c:marker>
            <c:symbol val="triangle"/>
            <c:size val="2"/>
            <c:spPr>
              <a:solidFill>
                <a:srgbClr val="008000"/>
              </a:solidFill>
              <a:ln>
                <a:solidFill>
                  <a:srgbClr val="008080"/>
                </a:solidFill>
                <a:prstDash val="solid"/>
              </a:ln>
            </c:spPr>
          </c:marker>
          <c:dPt>
            <c:idx val="0"/>
            <c:bubble3D val="0"/>
            <c:extLst>
              <c:ext xmlns:c16="http://schemas.microsoft.com/office/drawing/2014/chart" uri="{C3380CC4-5D6E-409C-BE32-E72D297353CC}">
                <c16:uniqueId val="{0000001B-AFEF-4CDE-84C4-A1B52E06088F}"/>
              </c:ext>
            </c:extLst>
          </c:dPt>
          <c:dPt>
            <c:idx val="1"/>
            <c:bubble3D val="0"/>
            <c:extLst>
              <c:ext xmlns:c16="http://schemas.microsoft.com/office/drawing/2014/chart" uri="{C3380CC4-5D6E-409C-BE32-E72D297353CC}">
                <c16:uniqueId val="{0000001C-AFEF-4CDE-84C4-A1B52E06088F}"/>
              </c:ext>
            </c:extLst>
          </c:dPt>
          <c:dPt>
            <c:idx val="2"/>
            <c:bubble3D val="0"/>
            <c:extLst>
              <c:ext xmlns:c16="http://schemas.microsoft.com/office/drawing/2014/chart" uri="{C3380CC4-5D6E-409C-BE32-E72D297353CC}">
                <c16:uniqueId val="{0000001D-AFEF-4CDE-84C4-A1B52E06088F}"/>
              </c:ext>
            </c:extLst>
          </c:dPt>
          <c:dPt>
            <c:idx val="3"/>
            <c:bubble3D val="0"/>
            <c:extLst>
              <c:ext xmlns:c16="http://schemas.microsoft.com/office/drawing/2014/chart" uri="{C3380CC4-5D6E-409C-BE32-E72D297353CC}">
                <c16:uniqueId val="{0000001E-AFEF-4CDE-84C4-A1B52E06088F}"/>
              </c:ext>
            </c:extLst>
          </c:dPt>
          <c:dPt>
            <c:idx val="4"/>
            <c:bubble3D val="0"/>
            <c:extLst>
              <c:ext xmlns:c16="http://schemas.microsoft.com/office/drawing/2014/chart" uri="{C3380CC4-5D6E-409C-BE32-E72D297353CC}">
                <c16:uniqueId val="{0000001F-AFEF-4CDE-84C4-A1B52E06088F}"/>
              </c:ext>
            </c:extLst>
          </c:dPt>
          <c:dPt>
            <c:idx val="5"/>
            <c:bubble3D val="0"/>
            <c:extLst>
              <c:ext xmlns:c16="http://schemas.microsoft.com/office/drawing/2014/chart" uri="{C3380CC4-5D6E-409C-BE32-E72D297353CC}">
                <c16:uniqueId val="{00000020-AFEF-4CDE-84C4-A1B52E06088F}"/>
              </c:ext>
            </c:extLst>
          </c:dPt>
          <c:dPt>
            <c:idx val="6"/>
            <c:bubble3D val="0"/>
            <c:extLst>
              <c:ext xmlns:c16="http://schemas.microsoft.com/office/drawing/2014/chart" uri="{C3380CC4-5D6E-409C-BE32-E72D297353CC}">
                <c16:uniqueId val="{00000021-AFEF-4CDE-84C4-A1B52E06088F}"/>
              </c:ext>
            </c:extLst>
          </c:dPt>
          <c:dPt>
            <c:idx val="7"/>
            <c:bubble3D val="0"/>
            <c:extLst>
              <c:ext xmlns:c16="http://schemas.microsoft.com/office/drawing/2014/chart" uri="{C3380CC4-5D6E-409C-BE32-E72D297353CC}">
                <c16:uniqueId val="{00000022-AFEF-4CDE-84C4-A1B52E06088F}"/>
              </c:ext>
            </c:extLst>
          </c:dPt>
          <c:dPt>
            <c:idx val="8"/>
            <c:bubble3D val="0"/>
            <c:extLst>
              <c:ext xmlns:c16="http://schemas.microsoft.com/office/drawing/2014/chart" uri="{C3380CC4-5D6E-409C-BE32-E72D297353CC}">
                <c16:uniqueId val="{00000023-AFEF-4CDE-84C4-A1B52E06088F}"/>
              </c:ext>
            </c:extLst>
          </c:dPt>
          <c:dPt>
            <c:idx val="9"/>
            <c:bubble3D val="0"/>
            <c:extLst>
              <c:ext xmlns:c16="http://schemas.microsoft.com/office/drawing/2014/chart" uri="{C3380CC4-5D6E-409C-BE32-E72D297353CC}">
                <c16:uniqueId val="{00000024-AFEF-4CDE-84C4-A1B52E06088F}"/>
              </c:ext>
            </c:extLst>
          </c:dPt>
          <c:dPt>
            <c:idx val="10"/>
            <c:bubble3D val="0"/>
            <c:extLst>
              <c:ext xmlns:c16="http://schemas.microsoft.com/office/drawing/2014/chart" uri="{C3380CC4-5D6E-409C-BE32-E72D297353CC}">
                <c16:uniqueId val="{00000025-AFEF-4CDE-84C4-A1B52E06088F}"/>
              </c:ext>
            </c:extLst>
          </c:dPt>
          <c:dPt>
            <c:idx val="11"/>
            <c:bubble3D val="0"/>
            <c:extLst>
              <c:ext xmlns:c16="http://schemas.microsoft.com/office/drawing/2014/chart" uri="{C3380CC4-5D6E-409C-BE32-E72D297353CC}">
                <c16:uniqueId val="{00000026-AFEF-4CDE-84C4-A1B52E06088F}"/>
              </c:ext>
            </c:extLst>
          </c:dPt>
          <c:dPt>
            <c:idx val="12"/>
            <c:bubble3D val="0"/>
            <c:extLst>
              <c:ext xmlns:c16="http://schemas.microsoft.com/office/drawing/2014/chart" uri="{C3380CC4-5D6E-409C-BE32-E72D297353CC}">
                <c16:uniqueId val="{00000027-AFEF-4CDE-84C4-A1B52E06088F}"/>
              </c:ext>
            </c:extLst>
          </c:dPt>
          <c:dPt>
            <c:idx val="13"/>
            <c:bubble3D val="0"/>
            <c:extLst>
              <c:ext xmlns:c16="http://schemas.microsoft.com/office/drawing/2014/chart" uri="{C3380CC4-5D6E-409C-BE32-E72D297353CC}">
                <c16:uniqueId val="{00000028-AFEF-4CDE-84C4-A1B52E06088F}"/>
              </c:ext>
            </c:extLst>
          </c:dPt>
          <c:dPt>
            <c:idx val="14"/>
            <c:bubble3D val="0"/>
            <c:extLst>
              <c:ext xmlns:c16="http://schemas.microsoft.com/office/drawing/2014/chart" uri="{C3380CC4-5D6E-409C-BE32-E72D297353CC}">
                <c16:uniqueId val="{00000029-AFEF-4CDE-84C4-A1B52E06088F}"/>
              </c:ext>
            </c:extLst>
          </c:dPt>
          <c:dPt>
            <c:idx val="15"/>
            <c:bubble3D val="0"/>
            <c:extLst>
              <c:ext xmlns:c16="http://schemas.microsoft.com/office/drawing/2014/chart" uri="{C3380CC4-5D6E-409C-BE32-E72D297353CC}">
                <c16:uniqueId val="{0000002A-AFEF-4CDE-84C4-A1B52E06088F}"/>
              </c:ext>
            </c:extLst>
          </c:dPt>
          <c:dPt>
            <c:idx val="16"/>
            <c:bubble3D val="0"/>
            <c:extLst>
              <c:ext xmlns:c16="http://schemas.microsoft.com/office/drawing/2014/chart" uri="{C3380CC4-5D6E-409C-BE32-E72D297353CC}">
                <c16:uniqueId val="{0000002B-AFEF-4CDE-84C4-A1B52E06088F}"/>
              </c:ext>
            </c:extLst>
          </c:dPt>
          <c:dPt>
            <c:idx val="17"/>
            <c:bubble3D val="0"/>
            <c:extLst>
              <c:ext xmlns:c16="http://schemas.microsoft.com/office/drawing/2014/chart" uri="{C3380CC4-5D6E-409C-BE32-E72D297353CC}">
                <c16:uniqueId val="{0000002C-AFEF-4CDE-84C4-A1B52E06088F}"/>
              </c:ext>
            </c:extLst>
          </c:dPt>
          <c:dPt>
            <c:idx val="18"/>
            <c:bubble3D val="0"/>
            <c:extLst>
              <c:ext xmlns:c16="http://schemas.microsoft.com/office/drawing/2014/chart" uri="{C3380CC4-5D6E-409C-BE32-E72D297353CC}">
                <c16:uniqueId val="{0000002D-AFEF-4CDE-84C4-A1B52E06088F}"/>
              </c:ext>
            </c:extLst>
          </c:dPt>
          <c:dPt>
            <c:idx val="19"/>
            <c:bubble3D val="0"/>
            <c:extLst>
              <c:ext xmlns:c16="http://schemas.microsoft.com/office/drawing/2014/chart" uri="{C3380CC4-5D6E-409C-BE32-E72D297353CC}">
                <c16:uniqueId val="{0000002E-AFEF-4CDE-84C4-A1B52E06088F}"/>
              </c:ext>
            </c:extLst>
          </c:dPt>
          <c:dPt>
            <c:idx val="20"/>
            <c:bubble3D val="0"/>
            <c:extLst>
              <c:ext xmlns:c16="http://schemas.microsoft.com/office/drawing/2014/chart" uri="{C3380CC4-5D6E-409C-BE32-E72D297353CC}">
                <c16:uniqueId val="{0000002F-AFEF-4CDE-84C4-A1B52E06088F}"/>
              </c:ext>
            </c:extLst>
          </c:dPt>
          <c:dPt>
            <c:idx val="21"/>
            <c:bubble3D val="0"/>
            <c:extLst>
              <c:ext xmlns:c16="http://schemas.microsoft.com/office/drawing/2014/chart" uri="{C3380CC4-5D6E-409C-BE32-E72D297353CC}">
                <c16:uniqueId val="{00000030-AFEF-4CDE-84C4-A1B52E06088F}"/>
              </c:ext>
            </c:extLst>
          </c:dPt>
          <c:dPt>
            <c:idx val="22"/>
            <c:bubble3D val="0"/>
            <c:extLst>
              <c:ext xmlns:c16="http://schemas.microsoft.com/office/drawing/2014/chart" uri="{C3380CC4-5D6E-409C-BE32-E72D297353CC}">
                <c16:uniqueId val="{00000031-AFEF-4CDE-84C4-A1B52E06088F}"/>
              </c:ext>
            </c:extLst>
          </c:dPt>
          <c:dPt>
            <c:idx val="23"/>
            <c:bubble3D val="0"/>
            <c:extLst>
              <c:ext xmlns:c16="http://schemas.microsoft.com/office/drawing/2014/chart" uri="{C3380CC4-5D6E-409C-BE32-E72D297353CC}">
                <c16:uniqueId val="{00000032-AFEF-4CDE-84C4-A1B52E06088F}"/>
              </c:ext>
            </c:extLst>
          </c:dPt>
          <c:dPt>
            <c:idx val="24"/>
            <c:bubble3D val="0"/>
            <c:extLst>
              <c:ext xmlns:c16="http://schemas.microsoft.com/office/drawing/2014/chart" uri="{C3380CC4-5D6E-409C-BE32-E72D297353CC}">
                <c16:uniqueId val="{00000033-AFEF-4CDE-84C4-A1B52E06088F}"/>
              </c:ext>
            </c:extLst>
          </c:dPt>
          <c:dPt>
            <c:idx val="25"/>
            <c:bubble3D val="0"/>
            <c:extLst>
              <c:ext xmlns:c16="http://schemas.microsoft.com/office/drawing/2014/chart" uri="{C3380CC4-5D6E-409C-BE32-E72D297353CC}">
                <c16:uniqueId val="{00000034-AFEF-4CDE-84C4-A1B52E06088F}"/>
              </c:ext>
            </c:extLst>
          </c:dPt>
          <c:cat>
            <c:strRef>
              <c:f>'Data-1'!$Q$8:$Q$34</c:f>
              <c:strCache>
                <c:ptCount val="27"/>
                <c:pt idx="0">
                  <c:v>Años</c:v>
                </c:pt>
                <c:pt idx="1">
                  <c:v>2020</c:v>
                </c:pt>
                <c:pt idx="2">
                  <c:v>2021</c:v>
                </c:pt>
                <c:pt idx="3">
                  <c:v>2022</c:v>
                </c:pt>
                <c:pt idx="4">
                  <c:v>2023</c:v>
                </c:pt>
                <c:pt idx="5">
                  <c:v>2024</c:v>
                </c:pt>
                <c:pt idx="6">
                  <c:v>2025</c:v>
                </c:pt>
                <c:pt idx="7">
                  <c:v>2026</c:v>
                </c:pt>
                <c:pt idx="8">
                  <c:v>2027</c:v>
                </c:pt>
                <c:pt idx="9">
                  <c:v>2028</c:v>
                </c:pt>
                <c:pt idx="10">
                  <c:v>2029</c:v>
                </c:pt>
                <c:pt idx="11">
                  <c:v>2030</c:v>
                </c:pt>
                <c:pt idx="12">
                  <c:v>2031</c:v>
                </c:pt>
                <c:pt idx="13">
                  <c:v>2032</c:v>
                </c:pt>
                <c:pt idx="14">
                  <c:v>2033</c:v>
                </c:pt>
                <c:pt idx="15">
                  <c:v>2034</c:v>
                </c:pt>
                <c:pt idx="16">
                  <c:v>2035</c:v>
                </c:pt>
                <c:pt idx="17">
                  <c:v>2036</c:v>
                </c:pt>
                <c:pt idx="18">
                  <c:v>2037</c:v>
                </c:pt>
                <c:pt idx="19">
                  <c:v>2038</c:v>
                </c:pt>
                <c:pt idx="20">
                  <c:v>2039</c:v>
                </c:pt>
                <c:pt idx="21">
                  <c:v>2040</c:v>
                </c:pt>
                <c:pt idx="22">
                  <c:v>2041</c:v>
                </c:pt>
                <c:pt idx="23">
                  <c:v>2042</c:v>
                </c:pt>
                <c:pt idx="24">
                  <c:v>2043</c:v>
                </c:pt>
                <c:pt idx="25">
                  <c:v>2044</c:v>
                </c:pt>
                <c:pt idx="26">
                  <c:v>2045</c:v>
                </c:pt>
              </c:strCache>
            </c:strRef>
          </c:cat>
          <c:val>
            <c:numRef>
              <c:f>'Data-1'!$S$9:$S$34</c:f>
              <c:numCache>
                <c:formatCode>_(* #,##0_);_(* \(#,##0\);_(* "-"??_);_(@_)</c:formatCode>
                <c:ptCount val="26"/>
                <c:pt idx="0" formatCode="General">
                  <c:v>0</c:v>
                </c:pt>
                <c:pt idx="1">
                  <c:v>600</c:v>
                </c:pt>
                <c:pt idx="2">
                  <c:v>1499.91</c:v>
                </c:pt>
                <c:pt idx="3">
                  <c:v>2849.5275314993251</c:v>
                </c:pt>
                <c:pt idx="4">
                  <c:v>4873.3296938997737</c:v>
                </c:pt>
                <c:pt idx="5">
                  <c:v>7907.5280960214832</c:v>
                </c:pt>
                <c:pt idx="6">
                  <c:v>12455.290641173509</c:v>
                </c:pt>
                <c:pt idx="7">
                  <c:v>19268.762577283138</c:v>
                </c:pt>
                <c:pt idx="8">
                  <c:v>29470.276555395336</c:v>
                </c:pt>
                <c:pt idx="9">
                  <c:v>44730.093038749837</c:v>
                </c:pt>
                <c:pt idx="10">
                  <c:v>67523.934780216281</c:v>
                </c:pt>
                <c:pt idx="11">
                  <c:v>101499.19296282949</c:v>
                </c:pt>
                <c:pt idx="12">
                  <c:v>151980.13234393916</c:v>
                </c:pt>
                <c:pt idx="13">
                  <c:v>226630.17045040091</c:v>
                </c:pt>
                <c:pt idx="14">
                  <c:v>336242.48981202487</c:v>
                </c:pt>
                <c:pt idx="15">
                  <c:v>495508.52613947366</c:v>
                </c:pt>
                <c:pt idx="16">
                  <c:v>723352.51340018713</c:v>
                </c:pt>
                <c:pt idx="17">
                  <c:v>1041953.1966287433</c:v>
                </c:pt>
                <c:pt idx="18">
                  <c:v>1472953.3942930475</c:v>
                </c:pt>
                <c:pt idx="19">
                  <c:v>2029083.4876201912</c:v>
                </c:pt>
                <c:pt idx="20">
                  <c:v>2700924.0064371149</c:v>
                </c:pt>
                <c:pt idx="21">
                  <c:v>3443800.0432093358</c:v>
                </c:pt>
                <c:pt idx="22">
                  <c:v>4177642.4566756305</c:v>
                </c:pt>
                <c:pt idx="23">
                  <c:v>4812254.5461162124</c:v>
                </c:pt>
                <c:pt idx="24">
                  <c:v>5288684.4423350273</c:v>
                </c:pt>
                <c:pt idx="25">
                  <c:v>5602249.2008419279</c:v>
                </c:pt>
              </c:numCache>
            </c:numRef>
          </c:val>
          <c:smooth val="0"/>
          <c:extLst>
            <c:ext xmlns:c16="http://schemas.microsoft.com/office/drawing/2014/chart" uri="{C3380CC4-5D6E-409C-BE32-E72D297353CC}">
              <c16:uniqueId val="{00000035-AFEF-4CDE-84C4-A1B52E06088F}"/>
            </c:ext>
          </c:extLst>
        </c:ser>
        <c:dLbls>
          <c:showLegendKey val="0"/>
          <c:showVal val="0"/>
          <c:showCatName val="0"/>
          <c:showSerName val="0"/>
          <c:showPercent val="0"/>
          <c:showBubbleSize val="0"/>
        </c:dLbls>
        <c:marker val="1"/>
        <c:smooth val="0"/>
        <c:axId val="3"/>
        <c:axId val="4"/>
      </c:lineChart>
      <c:catAx>
        <c:axId val="633455728"/>
        <c:scaling>
          <c:orientation val="minMax"/>
        </c:scaling>
        <c:delete val="0"/>
        <c:axPos val="b"/>
        <c:title>
          <c:tx>
            <c:rich>
              <a:bodyPr/>
              <a:lstStyle/>
              <a:p>
                <a:pPr>
                  <a:defRPr sz="1450" b="1" i="0" u="none" strike="noStrike" baseline="0">
                    <a:solidFill>
                      <a:srgbClr val="000000"/>
                    </a:solidFill>
                    <a:latin typeface="Arial"/>
                    <a:ea typeface="Arial"/>
                    <a:cs typeface="Arial"/>
                  </a:defRPr>
                </a:pPr>
                <a:r>
                  <a:rPr lang="es-ES"/>
                  <a:t>Años</a:t>
                </a:r>
              </a:p>
            </c:rich>
          </c:tx>
          <c:layout>
            <c:manualLayout>
              <c:xMode val="edge"/>
              <c:yMode val="edge"/>
              <c:x val="0.47510701562709456"/>
              <c:y val="0.92372976915238636"/>
            </c:manualLayout>
          </c:layout>
          <c:overlay val="0"/>
          <c:spPr>
            <a:noFill/>
            <a:ln w="25400">
              <a:noFill/>
            </a:ln>
          </c:spPr>
        </c:title>
        <c:numFmt formatCode="General" sourceLinked="1"/>
        <c:majorTickMark val="out"/>
        <c:minorTickMark val="none"/>
        <c:tickLblPos val="nextTo"/>
        <c:spPr>
          <a:ln w="3175">
            <a:solidFill>
              <a:srgbClr val="000000"/>
            </a:solidFill>
            <a:prstDash val="solid"/>
          </a:ln>
        </c:spPr>
        <c:txPr>
          <a:bodyPr rot="0" vert="horz"/>
          <a:lstStyle/>
          <a:p>
            <a:pPr>
              <a:defRPr sz="900" b="0" i="0" u="none" strike="noStrike" baseline="0">
                <a:solidFill>
                  <a:srgbClr val="000000"/>
                </a:solidFill>
                <a:latin typeface="Arial"/>
                <a:ea typeface="Arial"/>
                <a:cs typeface="Arial"/>
              </a:defRPr>
            </a:pPr>
            <a:endParaRPr lang="es-CO"/>
          </a:p>
        </c:txPr>
        <c:crossAx val="1"/>
        <c:crosses val="autoZero"/>
        <c:auto val="1"/>
        <c:lblAlgn val="ctr"/>
        <c:lblOffset val="100"/>
        <c:tickLblSkip val="2"/>
        <c:tickMarkSkip val="1"/>
        <c:noMultiLvlLbl val="0"/>
      </c:catAx>
      <c:valAx>
        <c:axId val="1"/>
        <c:scaling>
          <c:orientation val="minMax"/>
        </c:scaling>
        <c:delete val="0"/>
        <c:axPos val="l"/>
        <c:majorGridlines>
          <c:spPr>
            <a:ln w="3175">
              <a:solidFill>
                <a:srgbClr val="000000"/>
              </a:solidFill>
              <a:prstDash val="solid"/>
            </a:ln>
          </c:spPr>
        </c:majorGridlines>
        <c:title>
          <c:tx>
            <c:rich>
              <a:bodyPr/>
              <a:lstStyle/>
              <a:p>
                <a:pPr>
                  <a:defRPr sz="1450" b="1" i="0" u="none" strike="noStrike" baseline="0">
                    <a:solidFill>
                      <a:srgbClr val="000000"/>
                    </a:solidFill>
                    <a:latin typeface="Arial"/>
                    <a:ea typeface="Arial"/>
                    <a:cs typeface="Arial"/>
                  </a:defRPr>
                </a:pPr>
                <a:r>
                  <a:rPr lang="es-ES"/>
                  <a:t>Ventas</a:t>
                </a:r>
              </a:p>
            </c:rich>
          </c:tx>
          <c:layout>
            <c:manualLayout>
              <c:xMode val="edge"/>
              <c:yMode val="edge"/>
              <c:x val="2.4182093609762298E-2"/>
              <c:y val="0.43432248320238348"/>
            </c:manualLayout>
          </c:layout>
          <c:overlay val="0"/>
          <c:spPr>
            <a:noFill/>
            <a:ln w="25400">
              <a:noFill/>
            </a:ln>
          </c:spPr>
        </c:title>
        <c:numFmt formatCode="General" sourceLinked="1"/>
        <c:majorTickMark val="out"/>
        <c:minorTickMark val="none"/>
        <c:tickLblPos val="nextTo"/>
        <c:spPr>
          <a:ln w="3175">
            <a:solidFill>
              <a:srgbClr val="000000"/>
            </a:solidFill>
            <a:prstDash val="solid"/>
          </a:ln>
        </c:spPr>
        <c:txPr>
          <a:bodyPr rot="0" vert="horz"/>
          <a:lstStyle/>
          <a:p>
            <a:pPr>
              <a:defRPr sz="1450" b="0" i="0" u="none" strike="noStrike" baseline="0">
                <a:solidFill>
                  <a:srgbClr val="000000"/>
                </a:solidFill>
                <a:latin typeface="Arial"/>
                <a:ea typeface="Arial"/>
                <a:cs typeface="Arial"/>
              </a:defRPr>
            </a:pPr>
            <a:endParaRPr lang="es-CO"/>
          </a:p>
        </c:txPr>
        <c:crossAx val="633455728"/>
        <c:crosses val="autoZero"/>
        <c:crossBetween val="between"/>
        <c:dispUnits>
          <c:builtInUnit val="millions"/>
        </c:dispUnits>
      </c:valAx>
      <c:catAx>
        <c:axId val="3"/>
        <c:scaling>
          <c:orientation val="minMax"/>
        </c:scaling>
        <c:delete val="1"/>
        <c:axPos val="b"/>
        <c:numFmt formatCode="General" sourceLinked="1"/>
        <c:majorTickMark val="out"/>
        <c:minorTickMark val="none"/>
        <c:tickLblPos val="nextTo"/>
        <c:crossAx val="4"/>
        <c:crosses val="autoZero"/>
        <c:auto val="1"/>
        <c:lblAlgn val="ctr"/>
        <c:lblOffset val="100"/>
        <c:noMultiLvlLbl val="0"/>
      </c:catAx>
      <c:valAx>
        <c:axId val="4"/>
        <c:scaling>
          <c:orientation val="minMax"/>
        </c:scaling>
        <c:delete val="0"/>
        <c:axPos val="r"/>
        <c:numFmt formatCode="General" sourceLinked="1"/>
        <c:majorTickMark val="cross"/>
        <c:minorTickMark val="none"/>
        <c:tickLblPos val="nextTo"/>
        <c:spPr>
          <a:ln w="3175">
            <a:solidFill>
              <a:srgbClr val="000000"/>
            </a:solidFill>
            <a:prstDash val="solid"/>
          </a:ln>
        </c:spPr>
        <c:txPr>
          <a:bodyPr rot="0" vert="horz"/>
          <a:lstStyle/>
          <a:p>
            <a:pPr>
              <a:defRPr sz="1450" b="0" i="0" u="none" strike="noStrike" baseline="0">
                <a:solidFill>
                  <a:srgbClr val="000000"/>
                </a:solidFill>
                <a:latin typeface="Arial"/>
                <a:ea typeface="Arial"/>
                <a:cs typeface="Arial"/>
              </a:defRPr>
            </a:pPr>
            <a:endParaRPr lang="es-CO"/>
          </a:p>
        </c:txPr>
        <c:crossAx val="3"/>
        <c:crosses val="max"/>
        <c:crossBetween val="between"/>
        <c:dispUnits>
          <c:builtInUnit val="millions"/>
        </c:dispUnits>
      </c:valAx>
      <c:spPr>
        <a:solidFill>
          <a:srgbClr val="C0C0C0"/>
        </a:solidFill>
        <a:ln w="12700">
          <a:solidFill>
            <a:srgbClr val="808080"/>
          </a:solidFill>
          <a:prstDash val="solid"/>
        </a:ln>
      </c:spPr>
    </c:plotArea>
    <c:legend>
      <c:legendPos val="r"/>
      <c:layout>
        <c:manualLayout>
          <c:xMode val="edge"/>
          <c:yMode val="edge"/>
          <c:x val="0.77991974407144948"/>
          <c:y val="0.48465687436990507"/>
          <c:w val="0.19594521452502475"/>
          <c:h val="6.3559387785714655E-2"/>
        </c:manualLayout>
      </c:layout>
      <c:overlay val="0"/>
      <c:spPr>
        <a:solidFill>
          <a:srgbClr val="FFFFFF"/>
        </a:solidFill>
        <a:ln w="3175">
          <a:solidFill>
            <a:srgbClr val="000000"/>
          </a:solidFill>
          <a:prstDash val="solid"/>
        </a:ln>
      </c:spPr>
      <c:txPr>
        <a:bodyPr/>
        <a:lstStyle/>
        <a:p>
          <a:pPr>
            <a:defRPr sz="1330" b="0" i="0" u="none" strike="noStrike" baseline="0">
              <a:solidFill>
                <a:srgbClr val="000000"/>
              </a:solidFill>
              <a:latin typeface="Arial"/>
              <a:ea typeface="Arial"/>
              <a:cs typeface="Arial"/>
            </a:defRPr>
          </a:pPr>
          <a:endParaRPr lang="es-CO"/>
        </a:p>
      </c:txPr>
    </c:legend>
    <c:plotVisOnly val="1"/>
    <c:dispBlanksAs val="gap"/>
    <c:showDLblsOverMax val="0"/>
  </c:chart>
  <c:spPr>
    <a:solidFill>
      <a:srgbClr val="FFFFFF"/>
    </a:solidFill>
    <a:ln w="3175">
      <a:solidFill>
        <a:srgbClr val="000000"/>
      </a:solidFill>
      <a:prstDash val="solid"/>
    </a:ln>
  </c:spPr>
  <c:txPr>
    <a:bodyPr/>
    <a:lstStyle/>
    <a:p>
      <a:pPr>
        <a:defRPr sz="1450" b="0" i="0" u="none" strike="noStrike" baseline="0">
          <a:solidFill>
            <a:srgbClr val="000000"/>
          </a:solidFill>
          <a:latin typeface="Arial"/>
          <a:ea typeface="Arial"/>
          <a:cs typeface="Arial"/>
        </a:defRPr>
      </a:pPr>
      <a:endParaRPr lang="es-CO"/>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CO"/>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A4D0F67-31FD-4E72-85DB-0E75FCDC57C9}" type="datetimeFigureOut">
              <a:rPr lang="es-CO" smtClean="0"/>
              <a:t>11/03/2022</a:t>
            </a:fld>
            <a:endParaRPr lang="es-CO"/>
          </a:p>
        </p:txBody>
      </p:sp>
      <p:sp>
        <p:nvSpPr>
          <p:cNvPr id="4" name="Marcador de imagen de diapositiva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s-CO"/>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CO"/>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EB8C17C-74B7-4D28-83DC-B0C5B3EC3B9E}" type="slidenum">
              <a:rPr lang="es-CO" smtClean="0"/>
              <a:t>‹Nº›</a:t>
            </a:fld>
            <a:endParaRPr lang="es-CO"/>
          </a:p>
        </p:txBody>
      </p:sp>
    </p:spTree>
    <p:extLst>
      <p:ext uri="{BB962C8B-B14F-4D97-AF65-F5344CB8AC3E}">
        <p14:creationId xmlns:p14="http://schemas.microsoft.com/office/powerpoint/2010/main" val="219782101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es-ES"/>
              <a:t>Haga clic para modificar el estilo de título del patrón</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n-US" dirty="0"/>
          </a:p>
        </p:txBody>
      </p:sp>
      <p:sp>
        <p:nvSpPr>
          <p:cNvPr id="4" name="Date Placeholder 3"/>
          <p:cNvSpPr>
            <a:spLocks noGrp="1"/>
          </p:cNvSpPr>
          <p:nvPr>
            <p:ph type="dt" sz="half" idx="10"/>
          </p:nvPr>
        </p:nvSpPr>
        <p:spPr/>
        <p:txBody>
          <a:bodyPr/>
          <a:lstStyle/>
          <a:p>
            <a:fld id="{09382926-025C-4492-A007-36A806BCA0F4}" type="datetimeFigureOut">
              <a:rPr lang="es-ES" smtClean="0"/>
              <a:t>11/03/2022</a:t>
            </a:fld>
            <a:endParaRPr lang="es-ES"/>
          </a:p>
        </p:txBody>
      </p:sp>
      <p:sp>
        <p:nvSpPr>
          <p:cNvPr id="5" name="Footer Placeholder 4"/>
          <p:cNvSpPr>
            <a:spLocks noGrp="1"/>
          </p:cNvSpPr>
          <p:nvPr>
            <p:ph type="ftr" sz="quarter" idx="11"/>
          </p:nvPr>
        </p:nvSpPr>
        <p:spPr/>
        <p:txBody>
          <a:bodyPr/>
          <a:lstStyle/>
          <a:p>
            <a:endParaRPr lang="es-ES"/>
          </a:p>
        </p:txBody>
      </p:sp>
      <p:sp>
        <p:nvSpPr>
          <p:cNvPr id="6" name="Slide Number Placeholder 5"/>
          <p:cNvSpPr>
            <a:spLocks noGrp="1"/>
          </p:cNvSpPr>
          <p:nvPr>
            <p:ph type="sldNum" sz="quarter" idx="12"/>
          </p:nvPr>
        </p:nvSpPr>
        <p:spPr/>
        <p:txBody>
          <a:bodyPr/>
          <a:lstStyle/>
          <a:p>
            <a:fld id="{ECAAC946-410E-4677-B1D6-226A086D226C}" type="slidenum">
              <a:rPr lang="es-ES" smtClean="0"/>
              <a:t>‹Nº›</a:t>
            </a:fld>
            <a:endParaRPr lang="es-ES"/>
          </a:p>
        </p:txBody>
      </p:sp>
    </p:spTree>
    <p:extLst>
      <p:ext uri="{BB962C8B-B14F-4D97-AF65-F5344CB8AC3E}">
        <p14:creationId xmlns:p14="http://schemas.microsoft.com/office/powerpoint/2010/main" val="39057718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idx="1"/>
          </p:nvPr>
        </p:nvSpPr>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09382926-025C-4492-A007-36A806BCA0F4}" type="datetimeFigureOut">
              <a:rPr lang="es-ES" smtClean="0"/>
              <a:t>11/03/2022</a:t>
            </a:fld>
            <a:endParaRPr lang="es-ES"/>
          </a:p>
        </p:txBody>
      </p:sp>
      <p:sp>
        <p:nvSpPr>
          <p:cNvPr id="5" name="Footer Placeholder 4"/>
          <p:cNvSpPr>
            <a:spLocks noGrp="1"/>
          </p:cNvSpPr>
          <p:nvPr>
            <p:ph type="ftr" sz="quarter" idx="11"/>
          </p:nvPr>
        </p:nvSpPr>
        <p:spPr/>
        <p:txBody>
          <a:bodyPr/>
          <a:lstStyle/>
          <a:p>
            <a:endParaRPr lang="es-ES"/>
          </a:p>
        </p:txBody>
      </p:sp>
      <p:sp>
        <p:nvSpPr>
          <p:cNvPr id="6" name="Slide Number Placeholder 5"/>
          <p:cNvSpPr>
            <a:spLocks noGrp="1"/>
          </p:cNvSpPr>
          <p:nvPr>
            <p:ph type="sldNum" sz="quarter" idx="12"/>
          </p:nvPr>
        </p:nvSpPr>
        <p:spPr/>
        <p:txBody>
          <a:bodyPr/>
          <a:lstStyle/>
          <a:p>
            <a:fld id="{ECAAC946-410E-4677-B1D6-226A086D226C}" type="slidenum">
              <a:rPr lang="es-ES" smtClean="0"/>
              <a:t>‹Nº›</a:t>
            </a:fld>
            <a:endParaRPr lang="es-ES"/>
          </a:p>
        </p:txBody>
      </p:sp>
    </p:spTree>
    <p:extLst>
      <p:ext uri="{BB962C8B-B14F-4D97-AF65-F5344CB8AC3E}">
        <p14:creationId xmlns:p14="http://schemas.microsoft.com/office/powerpoint/2010/main" val="3685353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Haga clic para modificar el estilo de texto del patrón</a:t>
            </a:r>
          </a:p>
        </p:txBody>
      </p:sp>
      <p:sp>
        <p:nvSpPr>
          <p:cNvPr id="4" name="Date Placeholder 3"/>
          <p:cNvSpPr>
            <a:spLocks noGrp="1"/>
          </p:cNvSpPr>
          <p:nvPr>
            <p:ph type="dt" sz="half" idx="10"/>
          </p:nvPr>
        </p:nvSpPr>
        <p:spPr/>
        <p:txBody>
          <a:bodyPr/>
          <a:lstStyle/>
          <a:p>
            <a:fld id="{09382926-025C-4492-A007-36A806BCA0F4}" type="datetimeFigureOut">
              <a:rPr lang="es-ES" smtClean="0"/>
              <a:t>11/03/2022</a:t>
            </a:fld>
            <a:endParaRPr lang="es-ES"/>
          </a:p>
        </p:txBody>
      </p:sp>
      <p:sp>
        <p:nvSpPr>
          <p:cNvPr id="5" name="Footer Placeholder 4"/>
          <p:cNvSpPr>
            <a:spLocks noGrp="1"/>
          </p:cNvSpPr>
          <p:nvPr>
            <p:ph type="ftr" sz="quarter" idx="11"/>
          </p:nvPr>
        </p:nvSpPr>
        <p:spPr/>
        <p:txBody>
          <a:bodyPr/>
          <a:lstStyle/>
          <a:p>
            <a:endParaRPr lang="es-ES"/>
          </a:p>
        </p:txBody>
      </p:sp>
      <p:sp>
        <p:nvSpPr>
          <p:cNvPr id="6" name="Slide Number Placeholder 5"/>
          <p:cNvSpPr>
            <a:spLocks noGrp="1"/>
          </p:cNvSpPr>
          <p:nvPr>
            <p:ph type="sldNum" sz="quarter" idx="12"/>
          </p:nvPr>
        </p:nvSpPr>
        <p:spPr/>
        <p:txBody>
          <a:bodyPr/>
          <a:lstStyle/>
          <a:p>
            <a:fld id="{ECAAC946-410E-4677-B1D6-226A086D226C}" type="slidenum">
              <a:rPr lang="es-ES" smtClean="0"/>
              <a:t>‹Nº›</a:t>
            </a:fld>
            <a:endParaRPr lang="es-ES"/>
          </a:p>
        </p:txBody>
      </p:sp>
    </p:spTree>
    <p:extLst>
      <p:ext uri="{BB962C8B-B14F-4D97-AF65-F5344CB8AC3E}">
        <p14:creationId xmlns:p14="http://schemas.microsoft.com/office/powerpoint/2010/main" val="380674130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Date Placeholder 4"/>
          <p:cNvSpPr>
            <a:spLocks noGrp="1"/>
          </p:cNvSpPr>
          <p:nvPr>
            <p:ph type="dt" sz="half" idx="10"/>
          </p:nvPr>
        </p:nvSpPr>
        <p:spPr/>
        <p:txBody>
          <a:bodyPr/>
          <a:lstStyle/>
          <a:p>
            <a:fld id="{09382926-025C-4492-A007-36A806BCA0F4}" type="datetimeFigureOut">
              <a:rPr lang="es-ES" smtClean="0"/>
              <a:t>11/03/2022</a:t>
            </a:fld>
            <a:endParaRPr lang="es-ES"/>
          </a:p>
        </p:txBody>
      </p:sp>
      <p:sp>
        <p:nvSpPr>
          <p:cNvPr id="6" name="Footer Placeholder 5"/>
          <p:cNvSpPr>
            <a:spLocks noGrp="1"/>
          </p:cNvSpPr>
          <p:nvPr>
            <p:ph type="ftr" sz="quarter" idx="11"/>
          </p:nvPr>
        </p:nvSpPr>
        <p:spPr/>
        <p:txBody>
          <a:bodyPr/>
          <a:lstStyle/>
          <a:p>
            <a:endParaRPr lang="es-ES"/>
          </a:p>
        </p:txBody>
      </p:sp>
      <p:sp>
        <p:nvSpPr>
          <p:cNvPr id="7" name="Slide Number Placeholder 6"/>
          <p:cNvSpPr>
            <a:spLocks noGrp="1"/>
          </p:cNvSpPr>
          <p:nvPr>
            <p:ph type="sldNum" sz="quarter" idx="12"/>
          </p:nvPr>
        </p:nvSpPr>
        <p:spPr/>
        <p:txBody>
          <a:bodyPr/>
          <a:lstStyle/>
          <a:p>
            <a:fld id="{ECAAC946-410E-4677-B1D6-226A086D226C}" type="slidenum">
              <a:rPr lang="es-ES" smtClean="0"/>
              <a:t>‹Nº›</a:t>
            </a:fld>
            <a:endParaRPr lang="es-ES"/>
          </a:p>
        </p:txBody>
      </p:sp>
    </p:spTree>
    <p:extLst>
      <p:ext uri="{BB962C8B-B14F-4D97-AF65-F5344CB8AC3E}">
        <p14:creationId xmlns:p14="http://schemas.microsoft.com/office/powerpoint/2010/main" val="187240294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el estilo de texto del patrón</a:t>
            </a:r>
          </a:p>
        </p:txBody>
      </p:sp>
      <p:sp>
        <p:nvSpPr>
          <p:cNvPr id="4" name="Content Placeholder 3"/>
          <p:cNvSpPr>
            <a:spLocks noGrp="1"/>
          </p:cNvSpPr>
          <p:nvPr>
            <p:ph sz="half" idx="2"/>
          </p:nvPr>
        </p:nvSpPr>
        <p:spPr>
          <a:xfrm>
            <a:off x="629842" y="2505075"/>
            <a:ext cx="3868340" cy="3684588"/>
          </a:xfrm>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el estilo de texto del patrón</a:t>
            </a:r>
          </a:p>
        </p:txBody>
      </p:sp>
      <p:sp>
        <p:nvSpPr>
          <p:cNvPr id="6" name="Content Placeholder 5"/>
          <p:cNvSpPr>
            <a:spLocks noGrp="1"/>
          </p:cNvSpPr>
          <p:nvPr>
            <p:ph sz="quarter" idx="4"/>
          </p:nvPr>
        </p:nvSpPr>
        <p:spPr>
          <a:xfrm>
            <a:off x="4629150" y="2505075"/>
            <a:ext cx="3887391" cy="3684588"/>
          </a:xfrm>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7" name="Date Placeholder 6"/>
          <p:cNvSpPr>
            <a:spLocks noGrp="1"/>
          </p:cNvSpPr>
          <p:nvPr>
            <p:ph type="dt" sz="half" idx="10"/>
          </p:nvPr>
        </p:nvSpPr>
        <p:spPr/>
        <p:txBody>
          <a:bodyPr/>
          <a:lstStyle/>
          <a:p>
            <a:fld id="{09382926-025C-4492-A007-36A806BCA0F4}" type="datetimeFigureOut">
              <a:rPr lang="es-ES" smtClean="0"/>
              <a:t>11/03/2022</a:t>
            </a:fld>
            <a:endParaRPr lang="es-ES"/>
          </a:p>
        </p:txBody>
      </p:sp>
      <p:sp>
        <p:nvSpPr>
          <p:cNvPr id="8" name="Footer Placeholder 7"/>
          <p:cNvSpPr>
            <a:spLocks noGrp="1"/>
          </p:cNvSpPr>
          <p:nvPr>
            <p:ph type="ftr" sz="quarter" idx="11"/>
          </p:nvPr>
        </p:nvSpPr>
        <p:spPr/>
        <p:txBody>
          <a:bodyPr/>
          <a:lstStyle/>
          <a:p>
            <a:endParaRPr lang="es-ES"/>
          </a:p>
        </p:txBody>
      </p:sp>
      <p:sp>
        <p:nvSpPr>
          <p:cNvPr id="9" name="Slide Number Placeholder 8"/>
          <p:cNvSpPr>
            <a:spLocks noGrp="1"/>
          </p:cNvSpPr>
          <p:nvPr>
            <p:ph type="sldNum" sz="quarter" idx="12"/>
          </p:nvPr>
        </p:nvSpPr>
        <p:spPr/>
        <p:txBody>
          <a:bodyPr/>
          <a:lstStyle/>
          <a:p>
            <a:fld id="{ECAAC946-410E-4677-B1D6-226A086D226C}" type="slidenum">
              <a:rPr lang="es-ES" smtClean="0"/>
              <a:t>‹Nº›</a:t>
            </a:fld>
            <a:endParaRPr lang="es-ES"/>
          </a:p>
        </p:txBody>
      </p:sp>
    </p:spTree>
    <p:extLst>
      <p:ext uri="{BB962C8B-B14F-4D97-AF65-F5344CB8AC3E}">
        <p14:creationId xmlns:p14="http://schemas.microsoft.com/office/powerpoint/2010/main" val="317467224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Date Placeholder 2"/>
          <p:cNvSpPr>
            <a:spLocks noGrp="1"/>
          </p:cNvSpPr>
          <p:nvPr>
            <p:ph type="dt" sz="half" idx="10"/>
          </p:nvPr>
        </p:nvSpPr>
        <p:spPr/>
        <p:txBody>
          <a:bodyPr/>
          <a:lstStyle/>
          <a:p>
            <a:fld id="{09382926-025C-4492-A007-36A806BCA0F4}" type="datetimeFigureOut">
              <a:rPr lang="es-ES" smtClean="0"/>
              <a:t>11/03/2022</a:t>
            </a:fld>
            <a:endParaRPr lang="es-ES"/>
          </a:p>
        </p:txBody>
      </p:sp>
      <p:sp>
        <p:nvSpPr>
          <p:cNvPr id="4" name="Footer Placeholder 3"/>
          <p:cNvSpPr>
            <a:spLocks noGrp="1"/>
          </p:cNvSpPr>
          <p:nvPr>
            <p:ph type="ftr" sz="quarter" idx="11"/>
          </p:nvPr>
        </p:nvSpPr>
        <p:spPr/>
        <p:txBody>
          <a:bodyPr/>
          <a:lstStyle/>
          <a:p>
            <a:endParaRPr lang="es-ES"/>
          </a:p>
        </p:txBody>
      </p:sp>
      <p:sp>
        <p:nvSpPr>
          <p:cNvPr id="5" name="Slide Number Placeholder 4"/>
          <p:cNvSpPr>
            <a:spLocks noGrp="1"/>
          </p:cNvSpPr>
          <p:nvPr>
            <p:ph type="sldNum" sz="quarter" idx="12"/>
          </p:nvPr>
        </p:nvSpPr>
        <p:spPr/>
        <p:txBody>
          <a:bodyPr/>
          <a:lstStyle/>
          <a:p>
            <a:fld id="{ECAAC946-410E-4677-B1D6-226A086D226C}" type="slidenum">
              <a:rPr lang="es-ES" smtClean="0"/>
              <a:t>‹Nº›</a:t>
            </a:fld>
            <a:endParaRPr lang="es-ES"/>
          </a:p>
        </p:txBody>
      </p:sp>
    </p:spTree>
    <p:extLst>
      <p:ext uri="{BB962C8B-B14F-4D97-AF65-F5344CB8AC3E}">
        <p14:creationId xmlns:p14="http://schemas.microsoft.com/office/powerpoint/2010/main" val="197887679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9382926-025C-4492-A007-36A806BCA0F4}" type="datetimeFigureOut">
              <a:rPr lang="es-ES" smtClean="0"/>
              <a:t>11/03/2022</a:t>
            </a:fld>
            <a:endParaRPr lang="es-ES"/>
          </a:p>
        </p:txBody>
      </p:sp>
      <p:sp>
        <p:nvSpPr>
          <p:cNvPr id="3" name="Footer Placeholder 2"/>
          <p:cNvSpPr>
            <a:spLocks noGrp="1"/>
          </p:cNvSpPr>
          <p:nvPr>
            <p:ph type="ftr" sz="quarter" idx="11"/>
          </p:nvPr>
        </p:nvSpPr>
        <p:spPr/>
        <p:txBody>
          <a:bodyPr/>
          <a:lstStyle/>
          <a:p>
            <a:endParaRPr lang="es-ES"/>
          </a:p>
        </p:txBody>
      </p:sp>
      <p:sp>
        <p:nvSpPr>
          <p:cNvPr id="4" name="Slide Number Placeholder 3"/>
          <p:cNvSpPr>
            <a:spLocks noGrp="1"/>
          </p:cNvSpPr>
          <p:nvPr>
            <p:ph type="sldNum" sz="quarter" idx="12"/>
          </p:nvPr>
        </p:nvSpPr>
        <p:spPr/>
        <p:txBody>
          <a:bodyPr/>
          <a:lstStyle/>
          <a:p>
            <a:fld id="{ECAAC946-410E-4677-B1D6-226A086D226C}" type="slidenum">
              <a:rPr lang="es-ES" smtClean="0"/>
              <a:t>‹Nº›</a:t>
            </a:fld>
            <a:endParaRPr lang="es-ES"/>
          </a:p>
        </p:txBody>
      </p:sp>
    </p:spTree>
    <p:extLst>
      <p:ext uri="{BB962C8B-B14F-4D97-AF65-F5344CB8AC3E}">
        <p14:creationId xmlns:p14="http://schemas.microsoft.com/office/powerpoint/2010/main" val="367503488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s-ES"/>
              <a:t>Haga clic para modificar el estilo de título del patrón</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el estilo de texto del patrón</a:t>
            </a:r>
          </a:p>
        </p:txBody>
      </p:sp>
      <p:sp>
        <p:nvSpPr>
          <p:cNvPr id="5" name="Date Placeholder 4"/>
          <p:cNvSpPr>
            <a:spLocks noGrp="1"/>
          </p:cNvSpPr>
          <p:nvPr>
            <p:ph type="dt" sz="half" idx="10"/>
          </p:nvPr>
        </p:nvSpPr>
        <p:spPr/>
        <p:txBody>
          <a:bodyPr/>
          <a:lstStyle/>
          <a:p>
            <a:fld id="{09382926-025C-4492-A007-36A806BCA0F4}" type="datetimeFigureOut">
              <a:rPr lang="es-ES" smtClean="0"/>
              <a:t>11/03/2022</a:t>
            </a:fld>
            <a:endParaRPr lang="es-ES"/>
          </a:p>
        </p:txBody>
      </p:sp>
      <p:sp>
        <p:nvSpPr>
          <p:cNvPr id="6" name="Footer Placeholder 5"/>
          <p:cNvSpPr>
            <a:spLocks noGrp="1"/>
          </p:cNvSpPr>
          <p:nvPr>
            <p:ph type="ftr" sz="quarter" idx="11"/>
          </p:nvPr>
        </p:nvSpPr>
        <p:spPr/>
        <p:txBody>
          <a:bodyPr/>
          <a:lstStyle/>
          <a:p>
            <a:endParaRPr lang="es-ES"/>
          </a:p>
        </p:txBody>
      </p:sp>
      <p:sp>
        <p:nvSpPr>
          <p:cNvPr id="7" name="Slide Number Placeholder 6"/>
          <p:cNvSpPr>
            <a:spLocks noGrp="1"/>
          </p:cNvSpPr>
          <p:nvPr>
            <p:ph type="sldNum" sz="quarter" idx="12"/>
          </p:nvPr>
        </p:nvSpPr>
        <p:spPr/>
        <p:txBody>
          <a:bodyPr/>
          <a:lstStyle/>
          <a:p>
            <a:fld id="{ECAAC946-410E-4677-B1D6-226A086D226C}" type="slidenum">
              <a:rPr lang="es-ES" smtClean="0"/>
              <a:t>‹Nº›</a:t>
            </a:fld>
            <a:endParaRPr lang="es-ES"/>
          </a:p>
        </p:txBody>
      </p:sp>
    </p:spTree>
    <p:extLst>
      <p:ext uri="{BB962C8B-B14F-4D97-AF65-F5344CB8AC3E}">
        <p14:creationId xmlns:p14="http://schemas.microsoft.com/office/powerpoint/2010/main" val="361497922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s-ES"/>
              <a:t>Haga clic para modificar el estilo de título del patrón</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s-ES"/>
              <a:t>Haga clic en el icono para agregar una imagen</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el estilo de texto del patrón</a:t>
            </a:r>
          </a:p>
        </p:txBody>
      </p:sp>
      <p:sp>
        <p:nvSpPr>
          <p:cNvPr id="5" name="Date Placeholder 4"/>
          <p:cNvSpPr>
            <a:spLocks noGrp="1"/>
          </p:cNvSpPr>
          <p:nvPr>
            <p:ph type="dt" sz="half" idx="10"/>
          </p:nvPr>
        </p:nvSpPr>
        <p:spPr/>
        <p:txBody>
          <a:bodyPr/>
          <a:lstStyle/>
          <a:p>
            <a:fld id="{09382926-025C-4492-A007-36A806BCA0F4}" type="datetimeFigureOut">
              <a:rPr lang="es-ES" smtClean="0"/>
              <a:t>11/03/2022</a:t>
            </a:fld>
            <a:endParaRPr lang="es-ES"/>
          </a:p>
        </p:txBody>
      </p:sp>
      <p:sp>
        <p:nvSpPr>
          <p:cNvPr id="6" name="Footer Placeholder 5"/>
          <p:cNvSpPr>
            <a:spLocks noGrp="1"/>
          </p:cNvSpPr>
          <p:nvPr>
            <p:ph type="ftr" sz="quarter" idx="11"/>
          </p:nvPr>
        </p:nvSpPr>
        <p:spPr/>
        <p:txBody>
          <a:bodyPr/>
          <a:lstStyle/>
          <a:p>
            <a:endParaRPr lang="es-ES"/>
          </a:p>
        </p:txBody>
      </p:sp>
      <p:sp>
        <p:nvSpPr>
          <p:cNvPr id="7" name="Slide Number Placeholder 6"/>
          <p:cNvSpPr>
            <a:spLocks noGrp="1"/>
          </p:cNvSpPr>
          <p:nvPr>
            <p:ph type="sldNum" sz="quarter" idx="12"/>
          </p:nvPr>
        </p:nvSpPr>
        <p:spPr/>
        <p:txBody>
          <a:bodyPr/>
          <a:lstStyle/>
          <a:p>
            <a:fld id="{ECAAC946-410E-4677-B1D6-226A086D226C}" type="slidenum">
              <a:rPr lang="es-ES" smtClean="0"/>
              <a:t>‹Nº›</a:t>
            </a:fld>
            <a:endParaRPr lang="es-ES"/>
          </a:p>
        </p:txBody>
      </p:sp>
    </p:spTree>
    <p:extLst>
      <p:ext uri="{BB962C8B-B14F-4D97-AF65-F5344CB8AC3E}">
        <p14:creationId xmlns:p14="http://schemas.microsoft.com/office/powerpoint/2010/main" val="18193723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p:txBody>
          <a:bodyPr vert="eaVert"/>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09382926-025C-4492-A007-36A806BCA0F4}" type="datetimeFigureOut">
              <a:rPr lang="es-ES" smtClean="0"/>
              <a:t>11/03/2022</a:t>
            </a:fld>
            <a:endParaRPr lang="es-ES"/>
          </a:p>
        </p:txBody>
      </p:sp>
      <p:sp>
        <p:nvSpPr>
          <p:cNvPr id="5" name="Footer Placeholder 4"/>
          <p:cNvSpPr>
            <a:spLocks noGrp="1"/>
          </p:cNvSpPr>
          <p:nvPr>
            <p:ph type="ftr" sz="quarter" idx="11"/>
          </p:nvPr>
        </p:nvSpPr>
        <p:spPr/>
        <p:txBody>
          <a:bodyPr/>
          <a:lstStyle/>
          <a:p>
            <a:endParaRPr lang="es-ES"/>
          </a:p>
        </p:txBody>
      </p:sp>
      <p:sp>
        <p:nvSpPr>
          <p:cNvPr id="6" name="Slide Number Placeholder 5"/>
          <p:cNvSpPr>
            <a:spLocks noGrp="1"/>
          </p:cNvSpPr>
          <p:nvPr>
            <p:ph type="sldNum" sz="quarter" idx="12"/>
          </p:nvPr>
        </p:nvSpPr>
        <p:spPr/>
        <p:txBody>
          <a:bodyPr/>
          <a:lstStyle/>
          <a:p>
            <a:fld id="{ECAAC946-410E-4677-B1D6-226A086D226C}" type="slidenum">
              <a:rPr lang="es-ES" smtClean="0"/>
              <a:t>‹Nº›</a:t>
            </a:fld>
            <a:endParaRPr lang="es-ES"/>
          </a:p>
        </p:txBody>
      </p:sp>
    </p:spTree>
    <p:extLst>
      <p:ext uri="{BB962C8B-B14F-4D97-AF65-F5344CB8AC3E}">
        <p14:creationId xmlns:p14="http://schemas.microsoft.com/office/powerpoint/2010/main" val="130673829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09382926-025C-4492-A007-36A806BCA0F4}" type="datetimeFigureOut">
              <a:rPr lang="es-ES" smtClean="0"/>
              <a:t>11/03/2022</a:t>
            </a:fld>
            <a:endParaRPr lang="es-ES"/>
          </a:p>
        </p:txBody>
      </p:sp>
      <p:sp>
        <p:nvSpPr>
          <p:cNvPr id="5" name="Footer Placeholder 4"/>
          <p:cNvSpPr>
            <a:spLocks noGrp="1"/>
          </p:cNvSpPr>
          <p:nvPr>
            <p:ph type="ftr" sz="quarter" idx="11"/>
          </p:nvPr>
        </p:nvSpPr>
        <p:spPr/>
        <p:txBody>
          <a:bodyPr/>
          <a:lstStyle/>
          <a:p>
            <a:endParaRPr lang="es-ES"/>
          </a:p>
        </p:txBody>
      </p:sp>
      <p:sp>
        <p:nvSpPr>
          <p:cNvPr id="6" name="Slide Number Placeholder 5"/>
          <p:cNvSpPr>
            <a:spLocks noGrp="1"/>
          </p:cNvSpPr>
          <p:nvPr>
            <p:ph type="sldNum" sz="quarter" idx="12"/>
          </p:nvPr>
        </p:nvSpPr>
        <p:spPr/>
        <p:txBody>
          <a:bodyPr/>
          <a:lstStyle/>
          <a:p>
            <a:fld id="{ECAAC946-410E-4677-B1D6-226A086D226C}" type="slidenum">
              <a:rPr lang="es-ES" smtClean="0"/>
              <a:t>‹Nº›</a:t>
            </a:fld>
            <a:endParaRPr lang="es-ES"/>
          </a:p>
        </p:txBody>
      </p:sp>
    </p:spTree>
    <p:extLst>
      <p:ext uri="{BB962C8B-B14F-4D97-AF65-F5344CB8AC3E}">
        <p14:creationId xmlns:p14="http://schemas.microsoft.com/office/powerpoint/2010/main" val="340139191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9382926-025C-4492-A007-36A806BCA0F4}" type="datetimeFigureOut">
              <a:rPr lang="es-ES" smtClean="0"/>
              <a:t>11/03/2022</a:t>
            </a:fld>
            <a:endParaRPr lang="es-ES"/>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ES"/>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CAAC946-410E-4677-B1D6-226A086D226C}" type="slidenum">
              <a:rPr lang="es-ES" smtClean="0"/>
              <a:t>‹Nº›</a:t>
            </a:fld>
            <a:endParaRPr lang="es-ES"/>
          </a:p>
        </p:txBody>
      </p:sp>
    </p:spTree>
    <p:extLst>
      <p:ext uri="{BB962C8B-B14F-4D97-AF65-F5344CB8AC3E}">
        <p14:creationId xmlns:p14="http://schemas.microsoft.com/office/powerpoint/2010/main" val="228136592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slideLayout" Target="../slideLayouts/slideLayout1.xml"/><Relationship Id="rId1" Type="http://schemas.openxmlformats.org/officeDocument/2006/relationships/tags" Target="../tags/tag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chart" Target="../charts/chart2.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ctrTitle"/>
          </p:nvPr>
        </p:nvSpPr>
        <p:spPr>
          <a:xfrm>
            <a:off x="752057" y="2065079"/>
            <a:ext cx="7772400" cy="1655762"/>
          </a:xfrm>
        </p:spPr>
        <p:txBody>
          <a:bodyPr>
            <a:normAutofit/>
          </a:bodyPr>
          <a:lstStyle/>
          <a:p>
            <a:r>
              <a:rPr lang="es-CO" sz="3600" dirty="0"/>
              <a:t>Análisis de Riesgos</a:t>
            </a:r>
          </a:p>
        </p:txBody>
      </p:sp>
      <p:sp>
        <p:nvSpPr>
          <p:cNvPr id="3" name="2 Subtítulo"/>
          <p:cNvSpPr>
            <a:spLocks noGrp="1"/>
          </p:cNvSpPr>
          <p:nvPr>
            <p:ph type="subTitle" idx="1"/>
          </p:nvPr>
        </p:nvSpPr>
        <p:spPr>
          <a:xfrm>
            <a:off x="752060" y="832849"/>
            <a:ext cx="7639883" cy="1655762"/>
          </a:xfrm>
        </p:spPr>
        <p:txBody>
          <a:bodyPr>
            <a:normAutofit/>
          </a:bodyPr>
          <a:lstStyle/>
          <a:p>
            <a:pPr marL="180340" algn="ctr">
              <a:lnSpc>
                <a:spcPct val="115000"/>
              </a:lnSpc>
              <a:spcBef>
                <a:spcPts val="1000"/>
              </a:spcBef>
              <a:spcAft>
                <a:spcPts val="0"/>
              </a:spcAft>
            </a:pPr>
            <a:r>
              <a:rPr lang="es-CO" sz="3600" dirty="0"/>
              <a:t>Maestría en Gerencia Proyectos</a:t>
            </a:r>
          </a:p>
          <a:p>
            <a:r>
              <a:rPr lang="es-CO" sz="3600" dirty="0"/>
              <a:t>Profesor: Elkin Gómez Salazar</a:t>
            </a:r>
          </a:p>
        </p:txBody>
      </p:sp>
      <p:pic>
        <p:nvPicPr>
          <p:cNvPr id="4" name="Imagen 3">
            <a:extLst>
              <a:ext uri="{FF2B5EF4-FFF2-40B4-BE49-F238E27FC236}">
                <a16:creationId xmlns:a16="http://schemas.microsoft.com/office/drawing/2014/main" id="{E6987D2B-DD8B-459E-B1BF-7F3E0C90F416}"/>
              </a:ext>
            </a:extLst>
          </p:cNvPr>
          <p:cNvPicPr>
            <a:picLocks noChangeAspect="1"/>
          </p:cNvPicPr>
          <p:nvPr/>
        </p:nvPicPr>
        <p:blipFill>
          <a:blip r:embed="rId3"/>
          <a:stretch>
            <a:fillRect/>
          </a:stretch>
        </p:blipFill>
        <p:spPr>
          <a:xfrm>
            <a:off x="0" y="4125190"/>
            <a:ext cx="9144000" cy="2047009"/>
          </a:xfrm>
          <a:prstGeom prst="rect">
            <a:avLst/>
          </a:prstGeom>
          <a:effectLst>
            <a:reflection stA="0" endPos="90000" dir="5400000" sy="-100000" algn="bl" rotWithShape="0"/>
            <a:softEdge rad="317500"/>
          </a:effectLst>
        </p:spPr>
      </p:pic>
    </p:spTree>
    <p:custDataLst>
      <p:tags r:id="rId1"/>
    </p:custData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163CABD-F66C-4324-811A-72F6423508D0}"/>
              </a:ext>
            </a:extLst>
          </p:cNvPr>
          <p:cNvSpPr>
            <a:spLocks noGrp="1"/>
          </p:cNvSpPr>
          <p:nvPr>
            <p:ph type="ctrTitle"/>
          </p:nvPr>
        </p:nvSpPr>
        <p:spPr/>
        <p:txBody>
          <a:bodyPr>
            <a:noAutofit/>
          </a:bodyPr>
          <a:lstStyle/>
          <a:p>
            <a:r>
              <a:rPr lang="es-ES" sz="3000" dirty="0"/>
              <a:t>ESTIMACIÓN DE LA DEMANDA MEDIANTE EL MODELO DE BASS</a:t>
            </a:r>
          </a:p>
        </p:txBody>
      </p:sp>
    </p:spTree>
    <p:extLst>
      <p:ext uri="{BB962C8B-B14F-4D97-AF65-F5344CB8AC3E}">
        <p14:creationId xmlns:p14="http://schemas.microsoft.com/office/powerpoint/2010/main" val="224095955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DD69BD2-6BA8-45B4-88C5-47542D3F03CD}"/>
              </a:ext>
            </a:extLst>
          </p:cNvPr>
          <p:cNvSpPr>
            <a:spLocks noGrp="1"/>
          </p:cNvSpPr>
          <p:nvPr>
            <p:ph type="title"/>
          </p:nvPr>
        </p:nvSpPr>
        <p:spPr>
          <a:xfrm>
            <a:off x="427315" y="365126"/>
            <a:ext cx="7886700" cy="1325563"/>
          </a:xfrm>
        </p:spPr>
        <p:txBody>
          <a:bodyPr/>
          <a:lstStyle/>
          <a:p>
            <a:pPr algn="ctr"/>
            <a:r>
              <a:rPr lang="es-ES" dirty="0"/>
              <a:t>MODELO DE BASS</a:t>
            </a:r>
          </a:p>
        </p:txBody>
      </p:sp>
      <p:sp>
        <p:nvSpPr>
          <p:cNvPr id="3" name="Marcador de contenido 2">
            <a:extLst>
              <a:ext uri="{FF2B5EF4-FFF2-40B4-BE49-F238E27FC236}">
                <a16:creationId xmlns:a16="http://schemas.microsoft.com/office/drawing/2014/main" id="{4020696F-3965-412E-9DDB-2B2A1FD6CB66}"/>
              </a:ext>
            </a:extLst>
          </p:cNvPr>
          <p:cNvSpPr>
            <a:spLocks noGrp="1"/>
          </p:cNvSpPr>
          <p:nvPr>
            <p:ph idx="1"/>
          </p:nvPr>
        </p:nvSpPr>
        <p:spPr>
          <a:xfrm>
            <a:off x="628650" y="1514520"/>
            <a:ext cx="7886700" cy="4351338"/>
          </a:xfrm>
        </p:spPr>
        <p:txBody>
          <a:bodyPr>
            <a:normAutofit/>
          </a:bodyPr>
          <a:lstStyle/>
          <a:p>
            <a:r>
              <a:rPr lang="es-ES" sz="2400" dirty="0"/>
              <a:t>A finales de la década de los años 60, Frank Bass desarrolló un modelo matemático conocido como el modelo de difusión de Bass, que ha sido la piedra angular de las distintas técnicas de estimación de la demanda de nuevos productos a lo largo de los últimos 40 años. Su utilización, desde su nacimiento, ha tenido una inmensa influencia sobre la prospectiva y el </a:t>
            </a:r>
            <a:r>
              <a:rPr lang="es-ES" sz="2400" i="1" dirty="0" err="1"/>
              <a:t>management</a:t>
            </a:r>
            <a:r>
              <a:rPr lang="es-ES" sz="2400" i="1" dirty="0"/>
              <a:t>, </a:t>
            </a:r>
            <a:r>
              <a:rPr lang="es-ES" sz="2400" dirty="0"/>
              <a:t>particularmente en los últimos 10 años, dado el notable acortamiento del ciclo de vida de los productos como consecuencia del incesante y creciente flujo de innovación tecnológica (</a:t>
            </a:r>
            <a:r>
              <a:rPr lang="es-ES" sz="2400" dirty="0" err="1"/>
              <a:t>Ofek</a:t>
            </a:r>
            <a:r>
              <a:rPr lang="es-ES" sz="2400" dirty="0"/>
              <a:t>, 2005).</a:t>
            </a:r>
          </a:p>
        </p:txBody>
      </p:sp>
    </p:spTree>
    <p:extLst>
      <p:ext uri="{BB962C8B-B14F-4D97-AF65-F5344CB8AC3E}">
        <p14:creationId xmlns:p14="http://schemas.microsoft.com/office/powerpoint/2010/main" val="395529644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DD69BD2-6BA8-45B4-88C5-47542D3F03CD}"/>
              </a:ext>
            </a:extLst>
          </p:cNvPr>
          <p:cNvSpPr>
            <a:spLocks noGrp="1"/>
          </p:cNvSpPr>
          <p:nvPr>
            <p:ph type="title"/>
          </p:nvPr>
        </p:nvSpPr>
        <p:spPr>
          <a:xfrm>
            <a:off x="427315" y="365126"/>
            <a:ext cx="7886700" cy="1325563"/>
          </a:xfrm>
        </p:spPr>
        <p:txBody>
          <a:bodyPr/>
          <a:lstStyle/>
          <a:p>
            <a:pPr algn="ctr"/>
            <a:r>
              <a:rPr lang="es-ES" dirty="0"/>
              <a:t>MODELO DE BASS</a:t>
            </a:r>
          </a:p>
        </p:txBody>
      </p:sp>
      <p:sp>
        <p:nvSpPr>
          <p:cNvPr id="3" name="Marcador de contenido 2">
            <a:extLst>
              <a:ext uri="{FF2B5EF4-FFF2-40B4-BE49-F238E27FC236}">
                <a16:creationId xmlns:a16="http://schemas.microsoft.com/office/drawing/2014/main" id="{4020696F-3965-412E-9DDB-2B2A1FD6CB66}"/>
              </a:ext>
            </a:extLst>
          </p:cNvPr>
          <p:cNvSpPr>
            <a:spLocks noGrp="1"/>
          </p:cNvSpPr>
          <p:nvPr>
            <p:ph idx="1"/>
          </p:nvPr>
        </p:nvSpPr>
        <p:spPr>
          <a:xfrm>
            <a:off x="628650" y="1690689"/>
            <a:ext cx="7886700" cy="4351338"/>
          </a:xfrm>
        </p:spPr>
        <p:txBody>
          <a:bodyPr>
            <a:normAutofit/>
          </a:bodyPr>
          <a:lstStyle/>
          <a:p>
            <a:r>
              <a:rPr lang="es-ES" dirty="0"/>
              <a:t>De acuerdo con el modelo de Bass, el número de consumidores que compran un nuevo producto en un momento determinado del tiempo es función de la </a:t>
            </a:r>
            <a:r>
              <a:rPr lang="es-ES" dirty="0">
                <a:highlight>
                  <a:srgbClr val="FFFF00"/>
                </a:highlight>
              </a:rPr>
              <a:t>demanda de los individuos innovadores</a:t>
            </a:r>
            <a:r>
              <a:rPr lang="es-ES" dirty="0"/>
              <a:t>, es decir, los que adquieren el nuevo producto independientemente de lo que hagan otros consumidores, y de la </a:t>
            </a:r>
            <a:r>
              <a:rPr lang="es-ES" dirty="0">
                <a:highlight>
                  <a:srgbClr val="FFFF00"/>
                </a:highlight>
              </a:rPr>
              <a:t>demanda de los imitadores </a:t>
            </a:r>
            <a:r>
              <a:rPr lang="es-ES" dirty="0"/>
              <a:t>o los que consumen un producto porque los demás lo hacen.</a:t>
            </a:r>
          </a:p>
        </p:txBody>
      </p:sp>
    </p:spTree>
    <p:extLst>
      <p:ext uri="{BB962C8B-B14F-4D97-AF65-F5344CB8AC3E}">
        <p14:creationId xmlns:p14="http://schemas.microsoft.com/office/powerpoint/2010/main" val="49316881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881007F-C340-4AF6-BFCF-95A487381668}"/>
              </a:ext>
            </a:extLst>
          </p:cNvPr>
          <p:cNvSpPr>
            <a:spLocks noGrp="1"/>
          </p:cNvSpPr>
          <p:nvPr>
            <p:ph type="title"/>
          </p:nvPr>
        </p:nvSpPr>
        <p:spPr>
          <a:xfrm>
            <a:off x="628650" y="365126"/>
            <a:ext cx="7886700" cy="1153091"/>
          </a:xfrm>
        </p:spPr>
        <p:txBody>
          <a:bodyPr/>
          <a:lstStyle/>
          <a:p>
            <a:pPr algn="ctr"/>
            <a:r>
              <a:rPr lang="es-ES" dirty="0"/>
              <a:t>MODELO DE BASS</a:t>
            </a:r>
          </a:p>
        </p:txBody>
      </p:sp>
      <p:pic>
        <p:nvPicPr>
          <p:cNvPr id="4" name="Imagen 3">
            <a:extLst>
              <a:ext uri="{FF2B5EF4-FFF2-40B4-BE49-F238E27FC236}">
                <a16:creationId xmlns:a16="http://schemas.microsoft.com/office/drawing/2014/main" id="{491BC62F-DD2D-470C-92DF-5227BDA32CAA}"/>
              </a:ext>
            </a:extLst>
          </p:cNvPr>
          <p:cNvPicPr>
            <a:picLocks noChangeAspect="1"/>
          </p:cNvPicPr>
          <p:nvPr/>
        </p:nvPicPr>
        <p:blipFill>
          <a:blip r:embed="rId2"/>
          <a:stretch>
            <a:fillRect/>
          </a:stretch>
        </p:blipFill>
        <p:spPr>
          <a:xfrm>
            <a:off x="1533809" y="1604453"/>
            <a:ext cx="6529387" cy="3649094"/>
          </a:xfrm>
          <a:prstGeom prst="rect">
            <a:avLst/>
          </a:prstGeom>
        </p:spPr>
      </p:pic>
    </p:spTree>
    <p:extLst>
      <p:ext uri="{BB962C8B-B14F-4D97-AF65-F5344CB8AC3E}">
        <p14:creationId xmlns:p14="http://schemas.microsoft.com/office/powerpoint/2010/main" val="66845272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B996019-3DF9-4ED8-8825-755802577BAC}"/>
              </a:ext>
            </a:extLst>
          </p:cNvPr>
          <p:cNvSpPr>
            <a:spLocks noGrp="1"/>
          </p:cNvSpPr>
          <p:nvPr>
            <p:ph type="title"/>
          </p:nvPr>
        </p:nvSpPr>
        <p:spPr/>
        <p:txBody>
          <a:bodyPr/>
          <a:lstStyle/>
          <a:p>
            <a:pPr algn="ctr"/>
            <a:r>
              <a:rPr lang="es-ES" dirty="0"/>
              <a:t>MODELO DE BASS</a:t>
            </a:r>
          </a:p>
        </p:txBody>
      </p:sp>
      <p:sp>
        <p:nvSpPr>
          <p:cNvPr id="3" name="Marcador de contenido 2">
            <a:extLst>
              <a:ext uri="{FF2B5EF4-FFF2-40B4-BE49-F238E27FC236}">
                <a16:creationId xmlns:a16="http://schemas.microsoft.com/office/drawing/2014/main" id="{45C618FD-D062-4618-BE08-1C5ADD7FF1AD}"/>
              </a:ext>
            </a:extLst>
          </p:cNvPr>
          <p:cNvSpPr>
            <a:spLocks noGrp="1"/>
          </p:cNvSpPr>
          <p:nvPr>
            <p:ph idx="1"/>
          </p:nvPr>
        </p:nvSpPr>
        <p:spPr>
          <a:xfrm>
            <a:off x="536371" y="1606799"/>
            <a:ext cx="7886700" cy="4173216"/>
          </a:xfrm>
        </p:spPr>
        <p:txBody>
          <a:bodyPr>
            <a:normAutofit/>
          </a:bodyPr>
          <a:lstStyle/>
          <a:p>
            <a:pPr algn="ctr"/>
            <a:r>
              <a:rPr lang="es-ES" dirty="0"/>
              <a:t>Matemáticamente, el modelo de Bass se define de la siguiente manera:</a:t>
            </a:r>
          </a:p>
          <a:p>
            <a:pPr algn="ctr"/>
            <a:endParaRPr lang="es-ES" dirty="0"/>
          </a:p>
          <a:p>
            <a:pPr marL="0" indent="0" algn="ctr">
              <a:buNone/>
            </a:pPr>
            <a:r>
              <a:rPr lang="fr-FR" dirty="0"/>
              <a:t>S(t+1) = p*N + (q-p)*Q(t) - (q/N)*Q(t)^2</a:t>
            </a:r>
            <a:endParaRPr lang="es-ES" dirty="0"/>
          </a:p>
        </p:txBody>
      </p:sp>
    </p:spTree>
    <p:extLst>
      <p:ext uri="{BB962C8B-B14F-4D97-AF65-F5344CB8AC3E}">
        <p14:creationId xmlns:p14="http://schemas.microsoft.com/office/powerpoint/2010/main" val="163570240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2D29F32-F45F-4F01-AEC5-B413978D49C3}"/>
              </a:ext>
            </a:extLst>
          </p:cNvPr>
          <p:cNvSpPr>
            <a:spLocks noGrp="1"/>
          </p:cNvSpPr>
          <p:nvPr>
            <p:ph type="title"/>
          </p:nvPr>
        </p:nvSpPr>
        <p:spPr>
          <a:xfrm>
            <a:off x="628650" y="163790"/>
            <a:ext cx="7886700" cy="1325563"/>
          </a:xfrm>
        </p:spPr>
        <p:txBody>
          <a:bodyPr/>
          <a:lstStyle/>
          <a:p>
            <a:pPr algn="ctr"/>
            <a:r>
              <a:rPr lang="es-ES" dirty="0"/>
              <a:t>MODELO DE BASS</a:t>
            </a:r>
          </a:p>
        </p:txBody>
      </p:sp>
      <p:sp>
        <p:nvSpPr>
          <p:cNvPr id="3" name="Marcador de contenido 2">
            <a:extLst>
              <a:ext uri="{FF2B5EF4-FFF2-40B4-BE49-F238E27FC236}">
                <a16:creationId xmlns:a16="http://schemas.microsoft.com/office/drawing/2014/main" id="{25486189-73E5-4688-B75D-AA0BA1EC00A2}"/>
              </a:ext>
            </a:extLst>
          </p:cNvPr>
          <p:cNvSpPr>
            <a:spLocks noGrp="1"/>
          </p:cNvSpPr>
          <p:nvPr>
            <p:ph idx="1"/>
          </p:nvPr>
        </p:nvSpPr>
        <p:spPr>
          <a:xfrm>
            <a:off x="628650" y="1414564"/>
            <a:ext cx="7886700" cy="4351338"/>
          </a:xfrm>
        </p:spPr>
        <p:txBody>
          <a:bodyPr>
            <a:normAutofit fontScale="85000" lnSpcReduction="20000"/>
          </a:bodyPr>
          <a:lstStyle/>
          <a:p>
            <a:pPr marL="0" indent="0">
              <a:buNone/>
            </a:pPr>
            <a:r>
              <a:rPr lang="es-ES" dirty="0"/>
              <a:t>Los parámetros del modelo son:</a:t>
            </a:r>
          </a:p>
          <a:p>
            <a:r>
              <a:rPr lang="es-ES" dirty="0"/>
              <a:t>N: máximo número de consumidores que pueden adquirir el producto (lo que no significa toda la población del país o región bajo análisis, sino solo los potenciales compradores).</a:t>
            </a:r>
          </a:p>
          <a:p>
            <a:r>
              <a:rPr lang="es-ES" dirty="0"/>
              <a:t>P: coeficiente de innovación. Es la probabilidad que un innovador compre o adopte el producto en el periodo «t» (puede interpretarse como la tasa a la que un consumidor compra espontáneamente el producto).</a:t>
            </a:r>
          </a:p>
          <a:p>
            <a:r>
              <a:rPr lang="es-ES" dirty="0"/>
              <a:t>Q: coeficiente de imitación. Es la probabilidad que un imitador adopte el nuevo producto. Este coeficiente captura el efecto </a:t>
            </a:r>
            <a:r>
              <a:rPr lang="es-ES" i="1" dirty="0"/>
              <a:t>boca en boca</a:t>
            </a:r>
            <a:r>
              <a:rPr lang="es-ES" dirty="0"/>
              <a:t>, es decir, la comunicación que hay entre los innovadores y los imitadores, por lo cual estos últimos aprenden y copian a los primeros (también llamado efecto contagio).</a:t>
            </a:r>
          </a:p>
        </p:txBody>
      </p:sp>
    </p:spTree>
    <p:extLst>
      <p:ext uri="{BB962C8B-B14F-4D97-AF65-F5344CB8AC3E}">
        <p14:creationId xmlns:p14="http://schemas.microsoft.com/office/powerpoint/2010/main" val="332586017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E1CBB86-B7F3-4760-AB9F-5033DE9D8B34}"/>
              </a:ext>
            </a:extLst>
          </p:cNvPr>
          <p:cNvSpPr>
            <a:spLocks noGrp="1"/>
          </p:cNvSpPr>
          <p:nvPr>
            <p:ph type="title"/>
          </p:nvPr>
        </p:nvSpPr>
        <p:spPr/>
        <p:txBody>
          <a:bodyPr/>
          <a:lstStyle/>
          <a:p>
            <a:pPr algn="ctr"/>
            <a:r>
              <a:rPr lang="es-ES" dirty="0"/>
              <a:t>MODELO DE BASS</a:t>
            </a:r>
          </a:p>
        </p:txBody>
      </p:sp>
      <p:pic>
        <p:nvPicPr>
          <p:cNvPr id="4" name="Marcador de contenido 3">
            <a:extLst>
              <a:ext uri="{FF2B5EF4-FFF2-40B4-BE49-F238E27FC236}">
                <a16:creationId xmlns:a16="http://schemas.microsoft.com/office/drawing/2014/main" id="{8B78B988-B744-46FB-A3A0-44185F23F5F9}"/>
              </a:ext>
            </a:extLst>
          </p:cNvPr>
          <p:cNvPicPr>
            <a:picLocks noGrp="1" noChangeAspect="1"/>
          </p:cNvPicPr>
          <p:nvPr>
            <p:ph idx="1"/>
          </p:nvPr>
        </p:nvPicPr>
        <p:blipFill>
          <a:blip r:embed="rId2"/>
          <a:stretch>
            <a:fillRect/>
          </a:stretch>
        </p:blipFill>
        <p:spPr>
          <a:xfrm>
            <a:off x="2234609" y="1690689"/>
            <a:ext cx="4674781" cy="3153050"/>
          </a:xfrm>
          <a:prstGeom prst="rect">
            <a:avLst/>
          </a:prstGeom>
        </p:spPr>
      </p:pic>
    </p:spTree>
    <p:extLst>
      <p:ext uri="{BB962C8B-B14F-4D97-AF65-F5344CB8AC3E}">
        <p14:creationId xmlns:p14="http://schemas.microsoft.com/office/powerpoint/2010/main" val="120613410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E9BF6FB-6FEA-4FC4-B4BA-36DEC7340524}"/>
              </a:ext>
            </a:extLst>
          </p:cNvPr>
          <p:cNvSpPr>
            <a:spLocks noGrp="1"/>
          </p:cNvSpPr>
          <p:nvPr>
            <p:ph type="title"/>
          </p:nvPr>
        </p:nvSpPr>
        <p:spPr/>
        <p:txBody>
          <a:bodyPr/>
          <a:lstStyle/>
          <a:p>
            <a:pPr algn="ctr"/>
            <a:r>
              <a:rPr lang="es-ES" dirty="0"/>
              <a:t>Modelo de alta Innovación Baja Imitación</a:t>
            </a:r>
          </a:p>
        </p:txBody>
      </p:sp>
      <p:graphicFrame>
        <p:nvGraphicFramePr>
          <p:cNvPr id="5" name="Gráfico 4">
            <a:extLst>
              <a:ext uri="{FF2B5EF4-FFF2-40B4-BE49-F238E27FC236}">
                <a16:creationId xmlns:a16="http://schemas.microsoft.com/office/drawing/2014/main" id="{8B8DBB48-F714-43F8-82CE-276ABAFAA69E}"/>
              </a:ext>
            </a:extLst>
          </p:cNvPr>
          <p:cNvGraphicFramePr>
            <a:graphicFrameLocks/>
          </p:cNvGraphicFramePr>
          <p:nvPr>
            <p:extLst>
              <p:ext uri="{D42A27DB-BD31-4B8C-83A1-F6EECF244321}">
                <p14:modId xmlns:p14="http://schemas.microsoft.com/office/powerpoint/2010/main" val="3569606844"/>
              </p:ext>
            </p:extLst>
          </p:nvPr>
        </p:nvGraphicFramePr>
        <p:xfrm>
          <a:off x="1640280" y="1795245"/>
          <a:ext cx="5863439" cy="3673627"/>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95660746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0AD7BAA-EFB2-41FD-A2B7-8BDA068D7C2C}"/>
              </a:ext>
            </a:extLst>
          </p:cNvPr>
          <p:cNvSpPr>
            <a:spLocks noGrp="1"/>
          </p:cNvSpPr>
          <p:nvPr>
            <p:ph type="title"/>
          </p:nvPr>
        </p:nvSpPr>
        <p:spPr/>
        <p:txBody>
          <a:bodyPr/>
          <a:lstStyle/>
          <a:p>
            <a:pPr algn="ctr"/>
            <a:r>
              <a:rPr lang="es-ES" dirty="0"/>
              <a:t>Modelo de baja Innovación Alta Imitación</a:t>
            </a:r>
          </a:p>
        </p:txBody>
      </p:sp>
      <p:graphicFrame>
        <p:nvGraphicFramePr>
          <p:cNvPr id="4" name="Gráfico 3">
            <a:extLst>
              <a:ext uri="{FF2B5EF4-FFF2-40B4-BE49-F238E27FC236}">
                <a16:creationId xmlns:a16="http://schemas.microsoft.com/office/drawing/2014/main" id="{B39266AF-585F-4D1B-A716-4316FED0ED11}"/>
              </a:ext>
            </a:extLst>
          </p:cNvPr>
          <p:cNvGraphicFramePr>
            <a:graphicFrameLocks/>
          </p:cNvGraphicFramePr>
          <p:nvPr>
            <p:extLst>
              <p:ext uri="{D42A27DB-BD31-4B8C-83A1-F6EECF244321}">
                <p14:modId xmlns:p14="http://schemas.microsoft.com/office/powerpoint/2010/main" val="3258977193"/>
              </p:ext>
            </p:extLst>
          </p:nvPr>
        </p:nvGraphicFramePr>
        <p:xfrm>
          <a:off x="1589246" y="1828800"/>
          <a:ext cx="5965508" cy="3799399"/>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6004228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ítulo 1">
            <a:extLst>
              <a:ext uri="{FF2B5EF4-FFF2-40B4-BE49-F238E27FC236}">
                <a16:creationId xmlns:a16="http://schemas.microsoft.com/office/drawing/2014/main" id="{F7C8F6A4-86CE-426D-AABB-033D2A32A078}"/>
              </a:ext>
            </a:extLst>
          </p:cNvPr>
          <p:cNvSpPr txBox="1">
            <a:spLocks/>
          </p:cNvSpPr>
          <p:nvPr/>
        </p:nvSpPr>
        <p:spPr>
          <a:xfrm>
            <a:off x="628650" y="289068"/>
            <a:ext cx="7886700" cy="616944"/>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s-ES" dirty="0"/>
              <a:t>EJERCICIO</a:t>
            </a:r>
          </a:p>
        </p:txBody>
      </p:sp>
      <p:sp>
        <p:nvSpPr>
          <p:cNvPr id="5" name="Rectángulo 4">
            <a:extLst>
              <a:ext uri="{FF2B5EF4-FFF2-40B4-BE49-F238E27FC236}">
                <a16:creationId xmlns:a16="http://schemas.microsoft.com/office/drawing/2014/main" id="{7B68FC0A-EB35-40C7-B3B7-AA807C289F1A}"/>
              </a:ext>
            </a:extLst>
          </p:cNvPr>
          <p:cNvSpPr/>
          <p:nvPr/>
        </p:nvSpPr>
        <p:spPr>
          <a:xfrm>
            <a:off x="410625" y="1496355"/>
            <a:ext cx="8104725" cy="973600"/>
          </a:xfrm>
          <a:prstGeom prst="rect">
            <a:avLst/>
          </a:prstGeom>
        </p:spPr>
        <p:txBody>
          <a:bodyPr wrap="square">
            <a:spAutoFit/>
          </a:bodyPr>
          <a:lstStyle/>
          <a:p>
            <a:pPr algn="just">
              <a:lnSpc>
                <a:spcPct val="107000"/>
              </a:lnSpc>
              <a:spcAft>
                <a:spcPts val="800"/>
              </a:spcAft>
            </a:pPr>
            <a:r>
              <a:rPr lang="es-ES" sz="1600" dirty="0">
                <a:latin typeface="Calibri" panose="020F0502020204030204" pitchFamily="34" charset="0"/>
                <a:ea typeface="Calibri" panose="020F0502020204030204" pitchFamily="34" charset="0"/>
                <a:cs typeface="Times New Roman" panose="02020603050405020304" pitchFamily="18" charset="0"/>
              </a:rPr>
              <a:t>La empresa tecnológica HI-TEC  necesita hacer la proyección de demanda para un dispositivo WIFI  5G  en algunos países de Suramérica. Según estudios, ellos tienen la siguiente información</a:t>
            </a:r>
          </a:p>
          <a:p>
            <a:pPr algn="just">
              <a:lnSpc>
                <a:spcPct val="107000"/>
              </a:lnSpc>
              <a:spcAft>
                <a:spcPts val="800"/>
              </a:spcAft>
            </a:pPr>
            <a:endParaRPr lang="es-ES" sz="1600" dirty="0">
              <a:latin typeface="Calibri" panose="020F0502020204030204" pitchFamily="34" charset="0"/>
              <a:ea typeface="Calibri" panose="020F0502020204030204" pitchFamily="34" charset="0"/>
              <a:cs typeface="Times New Roman" panose="02020603050405020304" pitchFamily="18" charset="0"/>
            </a:endParaRPr>
          </a:p>
        </p:txBody>
      </p:sp>
      <p:graphicFrame>
        <p:nvGraphicFramePr>
          <p:cNvPr id="6" name="Tabla 5">
            <a:extLst>
              <a:ext uri="{FF2B5EF4-FFF2-40B4-BE49-F238E27FC236}">
                <a16:creationId xmlns:a16="http://schemas.microsoft.com/office/drawing/2014/main" id="{60B88B91-E2E8-4F16-8B45-84FC3298C709}"/>
              </a:ext>
            </a:extLst>
          </p:cNvPr>
          <p:cNvGraphicFramePr>
            <a:graphicFrameLocks noGrp="1"/>
          </p:cNvGraphicFramePr>
          <p:nvPr>
            <p:extLst>
              <p:ext uri="{D42A27DB-BD31-4B8C-83A1-F6EECF244321}">
                <p14:modId xmlns:p14="http://schemas.microsoft.com/office/powerpoint/2010/main" val="1622057097"/>
              </p:ext>
            </p:extLst>
          </p:nvPr>
        </p:nvGraphicFramePr>
        <p:xfrm>
          <a:off x="1048624" y="2357787"/>
          <a:ext cx="6875113" cy="1154430"/>
        </p:xfrm>
        <a:graphic>
          <a:graphicData uri="http://schemas.openxmlformats.org/drawingml/2006/table">
            <a:tbl>
              <a:tblPr>
                <a:tableStyleId>{5C22544A-7EE6-4342-B048-85BDC9FD1C3A}</a:tableStyleId>
              </a:tblPr>
              <a:tblGrid>
                <a:gridCol w="740652">
                  <a:extLst>
                    <a:ext uri="{9D8B030D-6E8A-4147-A177-3AD203B41FA5}">
                      <a16:colId xmlns:a16="http://schemas.microsoft.com/office/drawing/2014/main" val="2562275803"/>
                    </a:ext>
                  </a:extLst>
                </a:gridCol>
                <a:gridCol w="1247203">
                  <a:extLst>
                    <a:ext uri="{9D8B030D-6E8A-4147-A177-3AD203B41FA5}">
                      <a16:colId xmlns:a16="http://schemas.microsoft.com/office/drawing/2014/main" val="1874794398"/>
                    </a:ext>
                  </a:extLst>
                </a:gridCol>
                <a:gridCol w="1345583">
                  <a:extLst>
                    <a:ext uri="{9D8B030D-6E8A-4147-A177-3AD203B41FA5}">
                      <a16:colId xmlns:a16="http://schemas.microsoft.com/office/drawing/2014/main" val="2734075260"/>
                    </a:ext>
                  </a:extLst>
                </a:gridCol>
                <a:gridCol w="1827961">
                  <a:extLst>
                    <a:ext uri="{9D8B030D-6E8A-4147-A177-3AD203B41FA5}">
                      <a16:colId xmlns:a16="http://schemas.microsoft.com/office/drawing/2014/main" val="2384192189"/>
                    </a:ext>
                  </a:extLst>
                </a:gridCol>
                <a:gridCol w="1713714">
                  <a:extLst>
                    <a:ext uri="{9D8B030D-6E8A-4147-A177-3AD203B41FA5}">
                      <a16:colId xmlns:a16="http://schemas.microsoft.com/office/drawing/2014/main" val="54867142"/>
                    </a:ext>
                  </a:extLst>
                </a:gridCol>
              </a:tblGrid>
              <a:tr h="190500">
                <a:tc>
                  <a:txBody>
                    <a:bodyPr/>
                    <a:lstStyle/>
                    <a:p>
                      <a:pPr algn="l" fontAlgn="b"/>
                      <a:r>
                        <a:rPr lang="es-ES" sz="1200" u="none" strike="noStrike" dirty="0">
                          <a:effectLst/>
                        </a:rPr>
                        <a:t>País</a:t>
                      </a:r>
                      <a:endParaRPr lang="es-ES" sz="1200" b="0" i="0" u="none" strike="noStrike" dirty="0">
                        <a:effectLst/>
                        <a:latin typeface="Arial" panose="020B0604020202020204" pitchFamily="34" charset="0"/>
                      </a:endParaRPr>
                    </a:p>
                  </a:txBody>
                  <a:tcPr marL="9525" marR="9525" marT="9525" marB="0" anchor="b"/>
                </a:tc>
                <a:tc>
                  <a:txBody>
                    <a:bodyPr/>
                    <a:lstStyle/>
                    <a:p>
                      <a:pPr algn="ctr" fontAlgn="b"/>
                      <a:r>
                        <a:rPr lang="es-ES" sz="1200" u="none" strike="noStrike" dirty="0">
                          <a:effectLst/>
                        </a:rPr>
                        <a:t>No de Habitantes</a:t>
                      </a:r>
                      <a:endParaRPr lang="es-ES" sz="1200" b="0" i="0" u="none" strike="noStrike" dirty="0">
                        <a:effectLst/>
                        <a:latin typeface="Arial" panose="020B0604020202020204" pitchFamily="34" charset="0"/>
                      </a:endParaRPr>
                    </a:p>
                  </a:txBody>
                  <a:tcPr marL="9525" marR="9525" marT="9525" marB="0" anchor="b"/>
                </a:tc>
                <a:tc>
                  <a:txBody>
                    <a:bodyPr/>
                    <a:lstStyle/>
                    <a:p>
                      <a:pPr algn="ctr" fontAlgn="b"/>
                      <a:r>
                        <a:rPr lang="es-ES" sz="1200" u="none" strike="noStrike">
                          <a:effectLst/>
                        </a:rPr>
                        <a:t>Mercado Potencial</a:t>
                      </a:r>
                      <a:endParaRPr lang="es-ES" sz="1200" b="0" i="0" u="none" strike="noStrike">
                        <a:effectLst/>
                        <a:latin typeface="Arial" panose="020B0604020202020204" pitchFamily="34" charset="0"/>
                      </a:endParaRPr>
                    </a:p>
                  </a:txBody>
                  <a:tcPr marL="9525" marR="9525" marT="9525" marB="0" anchor="b"/>
                </a:tc>
                <a:tc>
                  <a:txBody>
                    <a:bodyPr/>
                    <a:lstStyle/>
                    <a:p>
                      <a:pPr algn="ctr" fontAlgn="b"/>
                      <a:r>
                        <a:rPr lang="es-ES" sz="1200" u="none" strike="noStrike">
                          <a:effectLst/>
                        </a:rPr>
                        <a:t>Coeficiente de innovación</a:t>
                      </a:r>
                      <a:endParaRPr lang="es-ES" sz="1200" b="0" i="0" u="none" strike="noStrike">
                        <a:effectLst/>
                        <a:latin typeface="Arial" panose="020B0604020202020204" pitchFamily="34" charset="0"/>
                      </a:endParaRPr>
                    </a:p>
                  </a:txBody>
                  <a:tcPr marL="9525" marR="9525" marT="9525" marB="0" anchor="b"/>
                </a:tc>
                <a:tc>
                  <a:txBody>
                    <a:bodyPr/>
                    <a:lstStyle/>
                    <a:p>
                      <a:pPr algn="ctr" fontAlgn="b"/>
                      <a:r>
                        <a:rPr lang="es-ES" sz="1200" u="none" strike="noStrike">
                          <a:effectLst/>
                        </a:rPr>
                        <a:t>Coeficiente de imitación</a:t>
                      </a:r>
                      <a:endParaRPr lang="es-ES" sz="1200" b="0" i="0" u="none" strike="noStrike">
                        <a:effectLst/>
                        <a:latin typeface="Arial" panose="020B0604020202020204" pitchFamily="34" charset="0"/>
                      </a:endParaRPr>
                    </a:p>
                  </a:txBody>
                  <a:tcPr marL="9525" marR="9525" marT="9525" marB="0" anchor="b"/>
                </a:tc>
                <a:extLst>
                  <a:ext uri="{0D108BD9-81ED-4DB2-BD59-A6C34878D82A}">
                    <a16:rowId xmlns:a16="http://schemas.microsoft.com/office/drawing/2014/main" val="25100304"/>
                  </a:ext>
                </a:extLst>
              </a:tr>
              <a:tr h="190500">
                <a:tc>
                  <a:txBody>
                    <a:bodyPr/>
                    <a:lstStyle/>
                    <a:p>
                      <a:pPr algn="l" fontAlgn="b"/>
                      <a:r>
                        <a:rPr lang="es-ES" sz="1200" u="none" strike="noStrike">
                          <a:effectLst/>
                        </a:rPr>
                        <a:t>Colombia</a:t>
                      </a:r>
                      <a:endParaRPr lang="es-ES" sz="1200" b="0" i="0" u="none" strike="noStrike">
                        <a:effectLst/>
                        <a:latin typeface="Arial" panose="020B0604020202020204" pitchFamily="34" charset="0"/>
                      </a:endParaRPr>
                    </a:p>
                  </a:txBody>
                  <a:tcPr marL="9525" marR="9525" marT="9525" marB="0" anchor="b"/>
                </a:tc>
                <a:tc>
                  <a:txBody>
                    <a:bodyPr/>
                    <a:lstStyle/>
                    <a:p>
                      <a:pPr algn="ctr" fontAlgn="b"/>
                      <a:r>
                        <a:rPr lang="es-ES" sz="1200" u="none" strike="noStrike" dirty="0">
                          <a:effectLst/>
                        </a:rPr>
                        <a:t>          49.650.000 </a:t>
                      </a:r>
                      <a:endParaRPr lang="es-ES" sz="1200" b="0" i="0" u="none" strike="noStrike" dirty="0">
                        <a:effectLst/>
                        <a:latin typeface="Arial" panose="020B0604020202020204" pitchFamily="34" charset="0"/>
                      </a:endParaRPr>
                    </a:p>
                  </a:txBody>
                  <a:tcPr marL="9525" marR="9525" marT="9525" marB="0" anchor="b"/>
                </a:tc>
                <a:tc>
                  <a:txBody>
                    <a:bodyPr/>
                    <a:lstStyle/>
                    <a:p>
                      <a:pPr algn="ctr" fontAlgn="b"/>
                      <a:r>
                        <a:rPr lang="es-ES" sz="1200" u="none" strike="noStrike" dirty="0">
                          <a:effectLst/>
                        </a:rPr>
                        <a:t>0,45</a:t>
                      </a:r>
                      <a:endParaRPr lang="es-ES" sz="1200" b="0" i="0" u="none" strike="noStrike" dirty="0">
                        <a:effectLst/>
                        <a:latin typeface="Arial" panose="020B0604020202020204" pitchFamily="34" charset="0"/>
                      </a:endParaRPr>
                    </a:p>
                  </a:txBody>
                  <a:tcPr marL="9525" marR="9525" marT="9525" marB="0" anchor="b"/>
                </a:tc>
                <a:tc>
                  <a:txBody>
                    <a:bodyPr/>
                    <a:lstStyle/>
                    <a:p>
                      <a:pPr algn="ctr" fontAlgn="b"/>
                      <a:r>
                        <a:rPr lang="es-ES" sz="1200" u="none" strike="noStrike">
                          <a:effectLst/>
                        </a:rPr>
                        <a:t>20,0%</a:t>
                      </a:r>
                      <a:endParaRPr lang="es-ES" sz="1200" b="0" i="0" u="none" strike="noStrike">
                        <a:effectLst/>
                        <a:latin typeface="Arial" panose="020B0604020202020204" pitchFamily="34" charset="0"/>
                      </a:endParaRPr>
                    </a:p>
                  </a:txBody>
                  <a:tcPr marL="9525" marR="9525" marT="9525" marB="0" anchor="b"/>
                </a:tc>
                <a:tc>
                  <a:txBody>
                    <a:bodyPr/>
                    <a:lstStyle/>
                    <a:p>
                      <a:pPr algn="ctr" fontAlgn="b"/>
                      <a:r>
                        <a:rPr lang="es-ES" sz="1200" u="none" strike="noStrike">
                          <a:effectLst/>
                        </a:rPr>
                        <a:t>30,0%</a:t>
                      </a:r>
                      <a:endParaRPr lang="es-ES" sz="1200" b="0" i="0" u="none" strike="noStrike">
                        <a:effectLst/>
                        <a:latin typeface="Arial" panose="020B0604020202020204" pitchFamily="34" charset="0"/>
                      </a:endParaRPr>
                    </a:p>
                  </a:txBody>
                  <a:tcPr marL="9525" marR="9525" marT="9525" marB="0" anchor="b"/>
                </a:tc>
                <a:extLst>
                  <a:ext uri="{0D108BD9-81ED-4DB2-BD59-A6C34878D82A}">
                    <a16:rowId xmlns:a16="http://schemas.microsoft.com/office/drawing/2014/main" val="142021257"/>
                  </a:ext>
                </a:extLst>
              </a:tr>
              <a:tr h="190500">
                <a:tc>
                  <a:txBody>
                    <a:bodyPr/>
                    <a:lstStyle/>
                    <a:p>
                      <a:pPr algn="l" fontAlgn="b"/>
                      <a:r>
                        <a:rPr lang="es-ES" sz="1200" u="none" strike="noStrike">
                          <a:effectLst/>
                        </a:rPr>
                        <a:t>Venezuela</a:t>
                      </a:r>
                      <a:endParaRPr lang="es-ES" sz="1200" b="0" i="0" u="none" strike="noStrike">
                        <a:effectLst/>
                        <a:latin typeface="Arial" panose="020B0604020202020204" pitchFamily="34" charset="0"/>
                      </a:endParaRPr>
                    </a:p>
                  </a:txBody>
                  <a:tcPr marL="9525" marR="9525" marT="9525" marB="0" anchor="b"/>
                </a:tc>
                <a:tc>
                  <a:txBody>
                    <a:bodyPr/>
                    <a:lstStyle/>
                    <a:p>
                      <a:pPr algn="ctr" fontAlgn="b"/>
                      <a:r>
                        <a:rPr lang="es-ES" sz="1200" u="none" strike="noStrike" dirty="0">
                          <a:effectLst/>
                        </a:rPr>
                        <a:t>          28.870.000 </a:t>
                      </a:r>
                      <a:endParaRPr lang="es-ES" sz="1200" b="0" i="0" u="none" strike="noStrike" dirty="0">
                        <a:effectLst/>
                        <a:latin typeface="Arial" panose="020B0604020202020204" pitchFamily="34" charset="0"/>
                      </a:endParaRPr>
                    </a:p>
                  </a:txBody>
                  <a:tcPr marL="9525" marR="9525" marT="9525" marB="0" anchor="b"/>
                </a:tc>
                <a:tc>
                  <a:txBody>
                    <a:bodyPr/>
                    <a:lstStyle/>
                    <a:p>
                      <a:pPr algn="ctr" fontAlgn="b"/>
                      <a:r>
                        <a:rPr lang="es-ES" sz="1200" u="none" strike="noStrike" dirty="0">
                          <a:effectLst/>
                        </a:rPr>
                        <a:t>0,12</a:t>
                      </a:r>
                      <a:endParaRPr lang="es-ES" sz="1200" b="0" i="0" u="none" strike="noStrike" dirty="0">
                        <a:effectLst/>
                        <a:latin typeface="Arial" panose="020B0604020202020204" pitchFamily="34" charset="0"/>
                      </a:endParaRPr>
                    </a:p>
                  </a:txBody>
                  <a:tcPr marL="9525" marR="9525" marT="9525" marB="0" anchor="b"/>
                </a:tc>
                <a:tc>
                  <a:txBody>
                    <a:bodyPr/>
                    <a:lstStyle/>
                    <a:p>
                      <a:pPr algn="ctr" fontAlgn="b"/>
                      <a:r>
                        <a:rPr lang="es-ES" sz="1200" u="none" strike="noStrike">
                          <a:effectLst/>
                        </a:rPr>
                        <a:t>0,1%</a:t>
                      </a:r>
                      <a:endParaRPr lang="es-ES" sz="1200" b="0" i="0" u="none" strike="noStrike">
                        <a:effectLst/>
                        <a:latin typeface="Arial" panose="020B0604020202020204" pitchFamily="34" charset="0"/>
                      </a:endParaRPr>
                    </a:p>
                  </a:txBody>
                  <a:tcPr marL="9525" marR="9525" marT="9525" marB="0" anchor="b"/>
                </a:tc>
                <a:tc>
                  <a:txBody>
                    <a:bodyPr/>
                    <a:lstStyle/>
                    <a:p>
                      <a:pPr algn="ctr" fontAlgn="b"/>
                      <a:r>
                        <a:rPr lang="es-ES" sz="1200" u="none" strike="noStrike">
                          <a:effectLst/>
                        </a:rPr>
                        <a:t>20,0%</a:t>
                      </a:r>
                      <a:endParaRPr lang="es-ES" sz="1200" b="0" i="0" u="none" strike="noStrike">
                        <a:effectLst/>
                        <a:latin typeface="Arial" panose="020B0604020202020204" pitchFamily="34" charset="0"/>
                      </a:endParaRPr>
                    </a:p>
                  </a:txBody>
                  <a:tcPr marL="9525" marR="9525" marT="9525" marB="0" anchor="b"/>
                </a:tc>
                <a:extLst>
                  <a:ext uri="{0D108BD9-81ED-4DB2-BD59-A6C34878D82A}">
                    <a16:rowId xmlns:a16="http://schemas.microsoft.com/office/drawing/2014/main" val="699625208"/>
                  </a:ext>
                </a:extLst>
              </a:tr>
              <a:tr h="190500">
                <a:tc>
                  <a:txBody>
                    <a:bodyPr/>
                    <a:lstStyle/>
                    <a:p>
                      <a:pPr algn="l" fontAlgn="b"/>
                      <a:r>
                        <a:rPr lang="es-ES" sz="1200" u="none" strike="noStrike">
                          <a:effectLst/>
                        </a:rPr>
                        <a:t>Perú</a:t>
                      </a:r>
                      <a:endParaRPr lang="es-ES" sz="1200" b="0" i="0" u="none" strike="noStrike">
                        <a:effectLst/>
                        <a:latin typeface="Arial" panose="020B0604020202020204" pitchFamily="34" charset="0"/>
                      </a:endParaRPr>
                    </a:p>
                  </a:txBody>
                  <a:tcPr marL="9525" marR="9525" marT="9525" marB="0" anchor="b"/>
                </a:tc>
                <a:tc>
                  <a:txBody>
                    <a:bodyPr/>
                    <a:lstStyle/>
                    <a:p>
                      <a:pPr algn="ctr" fontAlgn="b"/>
                      <a:r>
                        <a:rPr lang="es-ES" sz="1200" u="none" strike="noStrike" dirty="0">
                          <a:effectLst/>
                        </a:rPr>
                        <a:t>          31.990.000 </a:t>
                      </a:r>
                      <a:endParaRPr lang="es-ES" sz="1200" b="0" i="0" u="none" strike="noStrike" dirty="0">
                        <a:effectLst/>
                        <a:latin typeface="Arial" panose="020B0604020202020204" pitchFamily="34" charset="0"/>
                      </a:endParaRPr>
                    </a:p>
                  </a:txBody>
                  <a:tcPr marL="9525" marR="9525" marT="9525" marB="0" anchor="b"/>
                </a:tc>
                <a:tc>
                  <a:txBody>
                    <a:bodyPr/>
                    <a:lstStyle/>
                    <a:p>
                      <a:pPr algn="ctr" fontAlgn="b"/>
                      <a:r>
                        <a:rPr lang="es-ES" sz="1200" u="none" strike="noStrike" dirty="0">
                          <a:effectLst/>
                        </a:rPr>
                        <a:t>0,38</a:t>
                      </a:r>
                      <a:endParaRPr lang="es-ES" sz="1200" b="0" i="0" u="none" strike="noStrike" dirty="0">
                        <a:effectLst/>
                        <a:latin typeface="Arial" panose="020B0604020202020204" pitchFamily="34" charset="0"/>
                      </a:endParaRPr>
                    </a:p>
                  </a:txBody>
                  <a:tcPr marL="9525" marR="9525" marT="9525" marB="0" anchor="b"/>
                </a:tc>
                <a:tc>
                  <a:txBody>
                    <a:bodyPr/>
                    <a:lstStyle/>
                    <a:p>
                      <a:pPr algn="ctr" fontAlgn="b"/>
                      <a:r>
                        <a:rPr lang="es-ES" sz="1200" u="none" strike="noStrike">
                          <a:effectLst/>
                        </a:rPr>
                        <a:t>15,0%</a:t>
                      </a:r>
                      <a:endParaRPr lang="es-ES" sz="1200" b="0" i="0" u="none" strike="noStrike">
                        <a:effectLst/>
                        <a:latin typeface="Arial" panose="020B0604020202020204" pitchFamily="34" charset="0"/>
                      </a:endParaRPr>
                    </a:p>
                  </a:txBody>
                  <a:tcPr marL="9525" marR="9525" marT="9525" marB="0" anchor="b"/>
                </a:tc>
                <a:tc>
                  <a:txBody>
                    <a:bodyPr/>
                    <a:lstStyle/>
                    <a:p>
                      <a:pPr algn="ctr" fontAlgn="b"/>
                      <a:r>
                        <a:rPr lang="es-ES" sz="1200" u="none" strike="noStrike">
                          <a:effectLst/>
                        </a:rPr>
                        <a:t>50,0%</a:t>
                      </a:r>
                      <a:endParaRPr lang="es-ES" sz="1200" b="0" i="0" u="none" strike="noStrike">
                        <a:effectLst/>
                        <a:latin typeface="Arial" panose="020B0604020202020204" pitchFamily="34" charset="0"/>
                      </a:endParaRPr>
                    </a:p>
                  </a:txBody>
                  <a:tcPr marL="9525" marR="9525" marT="9525" marB="0" anchor="b"/>
                </a:tc>
                <a:extLst>
                  <a:ext uri="{0D108BD9-81ED-4DB2-BD59-A6C34878D82A}">
                    <a16:rowId xmlns:a16="http://schemas.microsoft.com/office/drawing/2014/main" val="3421857543"/>
                  </a:ext>
                </a:extLst>
              </a:tr>
              <a:tr h="190500">
                <a:tc>
                  <a:txBody>
                    <a:bodyPr/>
                    <a:lstStyle/>
                    <a:p>
                      <a:pPr algn="l" fontAlgn="b"/>
                      <a:r>
                        <a:rPr lang="es-ES" sz="1200" u="none" strike="noStrike">
                          <a:effectLst/>
                        </a:rPr>
                        <a:t>Argentina</a:t>
                      </a:r>
                      <a:endParaRPr lang="es-ES" sz="1200" b="0" i="0" u="none" strike="noStrike">
                        <a:effectLst/>
                        <a:latin typeface="Arial" panose="020B0604020202020204" pitchFamily="34" charset="0"/>
                      </a:endParaRPr>
                    </a:p>
                  </a:txBody>
                  <a:tcPr marL="9525" marR="9525" marT="9525" marB="0" anchor="b"/>
                </a:tc>
                <a:tc>
                  <a:txBody>
                    <a:bodyPr/>
                    <a:lstStyle/>
                    <a:p>
                      <a:pPr algn="ctr" fontAlgn="b"/>
                      <a:r>
                        <a:rPr lang="es-ES" sz="1200" u="none" strike="noStrike" dirty="0">
                          <a:effectLst/>
                        </a:rPr>
                        <a:t>          44.490.000 </a:t>
                      </a:r>
                      <a:endParaRPr lang="es-ES" sz="1200" b="0" i="0" u="none" strike="noStrike" dirty="0">
                        <a:effectLst/>
                        <a:latin typeface="Arial" panose="020B0604020202020204" pitchFamily="34" charset="0"/>
                      </a:endParaRPr>
                    </a:p>
                  </a:txBody>
                  <a:tcPr marL="9525" marR="9525" marT="9525" marB="0" anchor="b"/>
                </a:tc>
                <a:tc>
                  <a:txBody>
                    <a:bodyPr/>
                    <a:lstStyle/>
                    <a:p>
                      <a:pPr algn="ctr" fontAlgn="b"/>
                      <a:r>
                        <a:rPr lang="es-ES" sz="1200" u="none" strike="noStrike" dirty="0">
                          <a:effectLst/>
                        </a:rPr>
                        <a:t>0,59</a:t>
                      </a:r>
                      <a:endParaRPr lang="es-ES" sz="1200" b="0" i="0" u="none" strike="noStrike" dirty="0">
                        <a:effectLst/>
                        <a:latin typeface="Arial" panose="020B0604020202020204" pitchFamily="34" charset="0"/>
                      </a:endParaRPr>
                    </a:p>
                  </a:txBody>
                  <a:tcPr marL="9525" marR="9525" marT="9525" marB="0" anchor="b"/>
                </a:tc>
                <a:tc>
                  <a:txBody>
                    <a:bodyPr/>
                    <a:lstStyle/>
                    <a:p>
                      <a:pPr algn="ctr" fontAlgn="b"/>
                      <a:r>
                        <a:rPr lang="es-ES" sz="1200" u="none" strike="noStrike" dirty="0">
                          <a:effectLst/>
                        </a:rPr>
                        <a:t>30,0%</a:t>
                      </a:r>
                      <a:endParaRPr lang="es-ES" sz="1200" b="0" i="0" u="none" strike="noStrike" dirty="0">
                        <a:effectLst/>
                        <a:latin typeface="Arial" panose="020B0604020202020204" pitchFamily="34" charset="0"/>
                      </a:endParaRPr>
                    </a:p>
                  </a:txBody>
                  <a:tcPr marL="9525" marR="9525" marT="9525" marB="0" anchor="b"/>
                </a:tc>
                <a:tc>
                  <a:txBody>
                    <a:bodyPr/>
                    <a:lstStyle/>
                    <a:p>
                      <a:pPr algn="ctr" fontAlgn="b"/>
                      <a:r>
                        <a:rPr lang="es-ES" sz="1200" u="none" strike="noStrike">
                          <a:effectLst/>
                        </a:rPr>
                        <a:t>38,0%</a:t>
                      </a:r>
                      <a:endParaRPr lang="es-ES" sz="1200" b="0" i="0" u="none" strike="noStrike">
                        <a:effectLst/>
                        <a:latin typeface="Arial" panose="020B0604020202020204" pitchFamily="34" charset="0"/>
                      </a:endParaRPr>
                    </a:p>
                  </a:txBody>
                  <a:tcPr marL="9525" marR="9525" marT="9525" marB="0" anchor="b"/>
                </a:tc>
                <a:extLst>
                  <a:ext uri="{0D108BD9-81ED-4DB2-BD59-A6C34878D82A}">
                    <a16:rowId xmlns:a16="http://schemas.microsoft.com/office/drawing/2014/main" val="1267515653"/>
                  </a:ext>
                </a:extLst>
              </a:tr>
              <a:tr h="190500">
                <a:tc>
                  <a:txBody>
                    <a:bodyPr/>
                    <a:lstStyle/>
                    <a:p>
                      <a:pPr algn="l" fontAlgn="b"/>
                      <a:r>
                        <a:rPr lang="es-ES" sz="1200" u="none" strike="noStrike">
                          <a:effectLst/>
                        </a:rPr>
                        <a:t>Chile</a:t>
                      </a:r>
                      <a:endParaRPr lang="es-ES" sz="1200" b="0" i="0" u="none" strike="noStrike">
                        <a:effectLst/>
                        <a:latin typeface="Arial" panose="020B0604020202020204" pitchFamily="34" charset="0"/>
                      </a:endParaRPr>
                    </a:p>
                  </a:txBody>
                  <a:tcPr marL="9525" marR="9525" marT="9525" marB="0" anchor="b"/>
                </a:tc>
                <a:tc>
                  <a:txBody>
                    <a:bodyPr/>
                    <a:lstStyle/>
                    <a:p>
                      <a:pPr algn="ctr" fontAlgn="b"/>
                      <a:r>
                        <a:rPr lang="es-ES" sz="1200" u="none" strike="noStrike" dirty="0">
                          <a:effectLst/>
                        </a:rPr>
                        <a:t>          18.730.000 </a:t>
                      </a:r>
                      <a:endParaRPr lang="es-ES" sz="1200" b="0" i="0" u="none" strike="noStrike" dirty="0">
                        <a:effectLst/>
                        <a:latin typeface="Arial" panose="020B0604020202020204" pitchFamily="34" charset="0"/>
                      </a:endParaRPr>
                    </a:p>
                  </a:txBody>
                  <a:tcPr marL="9525" marR="9525" marT="9525" marB="0" anchor="b"/>
                </a:tc>
                <a:tc>
                  <a:txBody>
                    <a:bodyPr/>
                    <a:lstStyle/>
                    <a:p>
                      <a:pPr algn="ctr" fontAlgn="b"/>
                      <a:r>
                        <a:rPr lang="es-ES" sz="1200" u="none" strike="noStrike" dirty="0">
                          <a:effectLst/>
                        </a:rPr>
                        <a:t>0,65</a:t>
                      </a:r>
                      <a:endParaRPr lang="es-ES" sz="1200" b="0" i="0" u="none" strike="noStrike" dirty="0">
                        <a:effectLst/>
                        <a:latin typeface="Arial" panose="020B0604020202020204" pitchFamily="34" charset="0"/>
                      </a:endParaRPr>
                    </a:p>
                  </a:txBody>
                  <a:tcPr marL="9525" marR="9525" marT="9525" marB="0" anchor="b"/>
                </a:tc>
                <a:tc>
                  <a:txBody>
                    <a:bodyPr/>
                    <a:lstStyle/>
                    <a:p>
                      <a:pPr algn="ctr" fontAlgn="b"/>
                      <a:r>
                        <a:rPr lang="es-ES" sz="1200" u="none" strike="noStrike" dirty="0">
                          <a:effectLst/>
                        </a:rPr>
                        <a:t>48,0%</a:t>
                      </a:r>
                      <a:endParaRPr lang="es-ES" sz="1200" b="0" i="0" u="none" strike="noStrike" dirty="0">
                        <a:effectLst/>
                        <a:latin typeface="Arial" panose="020B0604020202020204" pitchFamily="34" charset="0"/>
                      </a:endParaRPr>
                    </a:p>
                  </a:txBody>
                  <a:tcPr marL="9525" marR="9525" marT="9525" marB="0" anchor="b"/>
                </a:tc>
                <a:tc>
                  <a:txBody>
                    <a:bodyPr/>
                    <a:lstStyle/>
                    <a:p>
                      <a:pPr algn="ctr" fontAlgn="b"/>
                      <a:r>
                        <a:rPr lang="es-ES" sz="1200" u="none" strike="noStrike" dirty="0">
                          <a:effectLst/>
                        </a:rPr>
                        <a:t>20,0%</a:t>
                      </a:r>
                      <a:endParaRPr lang="es-ES" sz="1200" b="0" i="0" u="none" strike="noStrike" dirty="0">
                        <a:effectLst/>
                        <a:latin typeface="Arial" panose="020B0604020202020204" pitchFamily="34" charset="0"/>
                      </a:endParaRPr>
                    </a:p>
                  </a:txBody>
                  <a:tcPr marL="9525" marR="9525" marT="9525" marB="0" anchor="b"/>
                </a:tc>
                <a:extLst>
                  <a:ext uri="{0D108BD9-81ED-4DB2-BD59-A6C34878D82A}">
                    <a16:rowId xmlns:a16="http://schemas.microsoft.com/office/drawing/2014/main" val="3867873559"/>
                  </a:ext>
                </a:extLst>
              </a:tr>
            </a:tbl>
          </a:graphicData>
        </a:graphic>
      </p:graphicFrame>
      <p:sp>
        <p:nvSpPr>
          <p:cNvPr id="7" name="Rectángulo 6">
            <a:extLst>
              <a:ext uri="{FF2B5EF4-FFF2-40B4-BE49-F238E27FC236}">
                <a16:creationId xmlns:a16="http://schemas.microsoft.com/office/drawing/2014/main" id="{B45B3655-5D77-41A9-B289-7408B7BA38AE}"/>
              </a:ext>
            </a:extLst>
          </p:cNvPr>
          <p:cNvSpPr/>
          <p:nvPr/>
        </p:nvSpPr>
        <p:spPr>
          <a:xfrm>
            <a:off x="410624" y="3886849"/>
            <a:ext cx="8104725" cy="973600"/>
          </a:xfrm>
          <a:prstGeom prst="rect">
            <a:avLst/>
          </a:prstGeom>
        </p:spPr>
        <p:txBody>
          <a:bodyPr wrap="square">
            <a:spAutoFit/>
          </a:bodyPr>
          <a:lstStyle/>
          <a:p>
            <a:pPr algn="just">
              <a:lnSpc>
                <a:spcPct val="107000"/>
              </a:lnSpc>
              <a:spcAft>
                <a:spcPts val="800"/>
              </a:spcAft>
            </a:pPr>
            <a:r>
              <a:rPr lang="es-ES" sz="1600" dirty="0">
                <a:latin typeface="Calibri" panose="020F0502020204030204" pitchFamily="34" charset="0"/>
                <a:ea typeface="Calibri" panose="020F0502020204030204" pitchFamily="34" charset="0"/>
                <a:cs typeface="Times New Roman" panose="02020603050405020304" pitchFamily="18" charset="0"/>
              </a:rPr>
              <a:t>Calcule las ventas proyectadas y acumuladas para los próximos 20 mes, grafique los resultados y analice</a:t>
            </a:r>
          </a:p>
          <a:p>
            <a:pPr algn="just">
              <a:lnSpc>
                <a:spcPct val="107000"/>
              </a:lnSpc>
              <a:spcAft>
                <a:spcPts val="800"/>
              </a:spcAft>
            </a:pPr>
            <a:endParaRPr lang="es-ES" sz="1600" dirty="0">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42684252"/>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PVERSION" val="5"/>
  <p:tag name="TPFULLVERSION" val="5.3.1.3337"/>
  <p:tag name="PPTVERSION" val="15"/>
  <p:tag name="TPOS" val="2"/>
</p:tagLst>
</file>

<file path=ppt/tags/tag2.xml><?xml version="1.0" encoding="utf-8"?>
<p:tagLst xmlns:a="http://schemas.openxmlformats.org/drawingml/2006/main" xmlns:r="http://schemas.openxmlformats.org/officeDocument/2006/relationships" xmlns:p="http://schemas.openxmlformats.org/presentationml/2006/main">
  <p:tag name="NOPREFERENCE" val="False"/>
</p:tagLst>
</file>

<file path=ppt/theme/theme1.xml><?xml version="1.0" encoding="utf-8"?>
<a:theme xmlns:a="http://schemas.openxmlformats.org/drawingml/2006/main" name="Tema de Office">
  <a:themeElements>
    <a:clrScheme name="Tema de 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Tema de 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Tema de 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o" ma:contentTypeID="0x010100715917811DA3BE429B694EB7A5BC53A2" ma:contentTypeVersion="0" ma:contentTypeDescription="Crear nuevo documento." ma:contentTypeScope="" ma:versionID="f8ca4cfb092ddfb1aed4d8b3637e1628">
  <xsd:schema xmlns:xsd="http://www.w3.org/2001/XMLSchema" xmlns:xs="http://www.w3.org/2001/XMLSchema" xmlns:p="http://schemas.microsoft.com/office/2006/metadata/properties" targetNamespace="http://schemas.microsoft.com/office/2006/metadata/properties" ma:root="true" ma:fieldsID="ebba8a198e9bb40c3eeca6d0bd41257a">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ipo de contenido"/>
        <xsd:element ref="dc:title" minOccurs="0" maxOccurs="1" ma:index="4" ma:displayName="Título"/>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2231D0C5-0CEC-4280-87CA-DF12A40267F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openxmlformats.org/package/2006/metadata/core-properties"/>
    <ds:schemaRef ds:uri="http://purl.org/dc/elements/1.1/"/>
    <ds:schemaRef ds:uri="http://purl.org/dc/terms/"/>
    <ds:schemaRef ds:uri="http://schemas.microsoft.com/internal/obd"/>
    <ds:schemaRef ds:uri="http://schemas.microsoft.com/office/infopath/2007/PartnerControls"/>
  </ds:schemaRefs>
</ds:datastoreItem>
</file>

<file path=customXml/itemProps2.xml><?xml version="1.0" encoding="utf-8"?>
<ds:datastoreItem xmlns:ds="http://schemas.openxmlformats.org/officeDocument/2006/customXml" ds:itemID="{E0F96B63-6CA0-4BAE-B7A3-CB5D9F3EF43C}">
  <ds:schemaRefs>
    <ds:schemaRef ds:uri="http://schemas.microsoft.com/sharepoint/v3/contenttype/forms"/>
  </ds:schemaRefs>
</ds:datastoreItem>
</file>

<file path=customXml/itemProps3.xml><?xml version="1.0" encoding="utf-8"?>
<ds:datastoreItem xmlns:ds="http://schemas.openxmlformats.org/officeDocument/2006/customXml" ds:itemID="{492CC2F8-0011-4F85-A090-98897AFED4B1}">
  <ds:schemaRefs>
    <ds:schemaRef ds:uri="http://www.w3.org/XML/1998/namespace"/>
    <ds:schemaRef ds:uri="http://schemas.microsoft.com/office/2006/metadata/properties"/>
    <ds:schemaRef ds:uri="http://purl.org/dc/elements/1.1/"/>
    <ds:schemaRef ds:uri="http://schemas.openxmlformats.org/package/2006/metadata/core-properties"/>
    <ds:schemaRef ds:uri="http://schemas.microsoft.com/office/2006/documentManagement/types"/>
    <ds:schemaRef ds:uri="http://purl.org/dc/dcmitype/"/>
    <ds:schemaRef ds:uri="http://schemas.microsoft.com/office/infopath/2007/PartnerControls"/>
    <ds:schemaRef ds:uri="http://purl.org/dc/terms/"/>
  </ds:schemaRefs>
</ds:datastoreItem>
</file>

<file path=docProps/app.xml><?xml version="1.0" encoding="utf-8"?>
<Properties xmlns="http://schemas.openxmlformats.org/officeDocument/2006/extended-properties" xmlns:vt="http://schemas.openxmlformats.org/officeDocument/2006/docPropsVTypes">
  <Template>Office Theme</Template>
  <TotalTime>7517</TotalTime>
  <Words>521</Words>
  <Application>Microsoft Office PowerPoint</Application>
  <PresentationFormat>Presentación en pantalla (4:3)</PresentationFormat>
  <Paragraphs>60</Paragraphs>
  <Slides>11</Slides>
  <Notes>0</Notes>
  <HiddenSlides>0</HiddenSlides>
  <MMClips>0</MMClips>
  <ScaleCrop>false</ScaleCrop>
  <HeadingPairs>
    <vt:vector size="6" baseType="variant">
      <vt:variant>
        <vt:lpstr>Fuentes usadas</vt:lpstr>
      </vt:variant>
      <vt:variant>
        <vt:i4>3</vt:i4>
      </vt:variant>
      <vt:variant>
        <vt:lpstr>Tema</vt:lpstr>
      </vt:variant>
      <vt:variant>
        <vt:i4>1</vt:i4>
      </vt:variant>
      <vt:variant>
        <vt:lpstr>Títulos de diapositiva</vt:lpstr>
      </vt:variant>
      <vt:variant>
        <vt:i4>11</vt:i4>
      </vt:variant>
    </vt:vector>
  </HeadingPairs>
  <TitlesOfParts>
    <vt:vector size="15" baseType="lpstr">
      <vt:lpstr>Arial</vt:lpstr>
      <vt:lpstr>Calibri</vt:lpstr>
      <vt:lpstr>Calibri Light</vt:lpstr>
      <vt:lpstr>Tema de Office</vt:lpstr>
      <vt:lpstr>Análisis de Riesgos</vt:lpstr>
      <vt:lpstr>ESTIMACIÓN DE LA DEMANDA MEDIANTE EL MODELO DE BASS</vt:lpstr>
      <vt:lpstr>MODELO DE BASS</vt:lpstr>
      <vt:lpstr>MODELO DE BASS</vt:lpstr>
      <vt:lpstr>MODELO DE BASS</vt:lpstr>
      <vt:lpstr>MODELO DE BASS</vt:lpstr>
      <vt:lpstr>MODELO DE BASS</vt:lpstr>
      <vt:lpstr>MODELO DE BASS</vt:lpstr>
      <vt:lpstr>Modelo de alta Innovación Baja Imitación</vt:lpstr>
      <vt:lpstr>Modelo de baja Innovación Alta Imitación</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Claudia Patricia Giraldo Ramirez</dc:creator>
  <cp:lastModifiedBy>Elkin Arcesio Gómez Salazar</cp:lastModifiedBy>
  <cp:revision>324</cp:revision>
  <dcterms:created xsi:type="dcterms:W3CDTF">2015-01-20T20:40:07Z</dcterms:created>
  <dcterms:modified xsi:type="dcterms:W3CDTF">2022-03-11T22:26:39Z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0x010100715917811DA3BE429B694EB7A5BC53A2</vt:lpwstr>
  </property>
</Properties>
</file>