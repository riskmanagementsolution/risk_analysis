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86" r:id="rId4"/>
  </p:sldMasterIdLst>
  <p:notesMasterIdLst>
    <p:notesMasterId r:id="rId173"/>
  </p:notesMasterIdLst>
  <p:sldIdLst>
    <p:sldId id="761" r:id="rId5"/>
    <p:sldId id="257" r:id="rId6"/>
    <p:sldId id="762" r:id="rId7"/>
    <p:sldId id="763" r:id="rId8"/>
    <p:sldId id="579" r:id="rId9"/>
    <p:sldId id="580" r:id="rId10"/>
    <p:sldId id="395" r:id="rId11"/>
    <p:sldId id="396" r:id="rId12"/>
    <p:sldId id="764" r:id="rId13"/>
    <p:sldId id="400" r:id="rId14"/>
    <p:sldId id="408" r:id="rId15"/>
    <p:sldId id="410" r:id="rId16"/>
    <p:sldId id="765" r:id="rId17"/>
    <p:sldId id="412" r:id="rId18"/>
    <p:sldId id="766" r:id="rId19"/>
    <p:sldId id="770" r:id="rId20"/>
    <p:sldId id="760" r:id="rId21"/>
    <p:sldId id="420" r:id="rId22"/>
    <p:sldId id="769" r:id="rId23"/>
    <p:sldId id="768" r:id="rId24"/>
    <p:sldId id="585" r:id="rId25"/>
    <p:sldId id="771" r:id="rId26"/>
    <p:sldId id="772" r:id="rId27"/>
    <p:sldId id="422" r:id="rId28"/>
    <p:sldId id="773" r:id="rId29"/>
    <p:sldId id="261" r:id="rId30"/>
    <p:sldId id="774" r:id="rId31"/>
    <p:sldId id="751" r:id="rId32"/>
    <p:sldId id="754" r:id="rId33"/>
    <p:sldId id="757" r:id="rId34"/>
    <p:sldId id="423" r:id="rId35"/>
    <p:sldId id="775" r:id="rId36"/>
    <p:sldId id="429" r:id="rId37"/>
    <p:sldId id="276" r:id="rId38"/>
    <p:sldId id="730" r:id="rId39"/>
    <p:sldId id="776" r:id="rId40"/>
    <p:sldId id="777" r:id="rId41"/>
    <p:sldId id="778" r:id="rId42"/>
    <p:sldId id="602" r:id="rId43"/>
    <p:sldId id="779" r:id="rId44"/>
    <p:sldId id="608" r:id="rId45"/>
    <p:sldId id="609" r:id="rId46"/>
    <p:sldId id="610" r:id="rId47"/>
    <p:sldId id="780" r:id="rId48"/>
    <p:sldId id="612" r:id="rId49"/>
    <p:sldId id="273" r:id="rId50"/>
    <p:sldId id="781" r:id="rId51"/>
    <p:sldId id="278" r:id="rId52"/>
    <p:sldId id="734" r:id="rId53"/>
    <p:sldId id="590" r:id="rId54"/>
    <p:sldId id="786" r:id="rId55"/>
    <p:sldId id="787" r:id="rId56"/>
    <p:sldId id="788" r:id="rId57"/>
    <p:sldId id="789" r:id="rId58"/>
    <p:sldId id="790" r:id="rId59"/>
    <p:sldId id="791" r:id="rId60"/>
    <p:sldId id="633" r:id="rId61"/>
    <p:sldId id="782" r:id="rId62"/>
    <p:sldId id="783" r:id="rId63"/>
    <p:sldId id="784" r:id="rId64"/>
    <p:sldId id="785" r:id="rId65"/>
    <p:sldId id="639" r:id="rId66"/>
    <p:sldId id="638" r:id="rId67"/>
    <p:sldId id="597" r:id="rId68"/>
    <p:sldId id="281" r:id="rId69"/>
    <p:sldId id="613" r:id="rId70"/>
    <p:sldId id="614" r:id="rId71"/>
    <p:sldId id="615" r:id="rId72"/>
    <p:sldId id="616" r:id="rId73"/>
    <p:sldId id="617" r:id="rId74"/>
    <p:sldId id="618" r:id="rId75"/>
    <p:sldId id="619" r:id="rId76"/>
    <p:sldId id="620" r:id="rId77"/>
    <p:sldId id="621" r:id="rId78"/>
    <p:sldId id="622" r:id="rId79"/>
    <p:sldId id="623" r:id="rId80"/>
    <p:sldId id="624" r:id="rId81"/>
    <p:sldId id="625" r:id="rId82"/>
    <p:sldId id="626" r:id="rId83"/>
    <p:sldId id="627" r:id="rId84"/>
    <p:sldId id="628" r:id="rId85"/>
    <p:sldId id="629" r:id="rId86"/>
    <p:sldId id="390" r:id="rId87"/>
    <p:sldId id="631" r:id="rId88"/>
    <p:sldId id="632" r:id="rId89"/>
    <p:sldId id="701" r:id="rId90"/>
    <p:sldId id="704" r:id="rId91"/>
    <p:sldId id="705" r:id="rId92"/>
    <p:sldId id="792" r:id="rId93"/>
    <p:sldId id="731" r:id="rId94"/>
    <p:sldId id="598" r:id="rId95"/>
    <p:sldId id="640" r:id="rId96"/>
    <p:sldId id="641" r:id="rId97"/>
    <p:sldId id="642" r:id="rId98"/>
    <p:sldId id="643" r:id="rId99"/>
    <p:sldId id="644" r:id="rId100"/>
    <p:sldId id="645" r:id="rId101"/>
    <p:sldId id="646" r:id="rId102"/>
    <p:sldId id="647" r:id="rId103"/>
    <p:sldId id="648" r:id="rId104"/>
    <p:sldId id="649" r:id="rId105"/>
    <p:sldId id="650" r:id="rId106"/>
    <p:sldId id="651" r:id="rId107"/>
    <p:sldId id="652" r:id="rId108"/>
    <p:sldId id="653" r:id="rId109"/>
    <p:sldId id="654" r:id="rId110"/>
    <p:sldId id="655" r:id="rId111"/>
    <p:sldId id="656" r:id="rId112"/>
    <p:sldId id="657" r:id="rId113"/>
    <p:sldId id="658" r:id="rId114"/>
    <p:sldId id="659" r:id="rId115"/>
    <p:sldId id="660" r:id="rId116"/>
    <p:sldId id="661" r:id="rId117"/>
    <p:sldId id="662" r:id="rId118"/>
    <p:sldId id="599" r:id="rId119"/>
    <p:sldId id="663" r:id="rId120"/>
    <p:sldId id="664" r:id="rId121"/>
    <p:sldId id="317" r:id="rId122"/>
    <p:sldId id="666" r:id="rId123"/>
    <p:sldId id="685" r:id="rId124"/>
    <p:sldId id="670" r:id="rId125"/>
    <p:sldId id="303" r:id="rId126"/>
    <p:sldId id="690" r:id="rId127"/>
    <p:sldId id="793" r:id="rId128"/>
    <p:sldId id="794" r:id="rId129"/>
    <p:sldId id="443" r:id="rId130"/>
    <p:sldId id="695" r:id="rId131"/>
    <p:sldId id="795" r:id="rId132"/>
    <p:sldId id="796" r:id="rId133"/>
    <p:sldId id="797" r:id="rId134"/>
    <p:sldId id="694" r:id="rId135"/>
    <p:sldId id="474" r:id="rId136"/>
    <p:sldId id="570" r:id="rId137"/>
    <p:sldId id="506" r:id="rId138"/>
    <p:sldId id="507" r:id="rId139"/>
    <p:sldId id="508" r:id="rId140"/>
    <p:sldId id="509" r:id="rId141"/>
    <p:sldId id="510" r:id="rId142"/>
    <p:sldId id="737" r:id="rId143"/>
    <p:sldId id="741" r:id="rId144"/>
    <p:sldId id="742" r:id="rId145"/>
    <p:sldId id="743" r:id="rId146"/>
    <p:sldId id="744" r:id="rId147"/>
    <p:sldId id="745" r:id="rId148"/>
    <p:sldId id="746" r:id="rId149"/>
    <p:sldId id="747" r:id="rId150"/>
    <p:sldId id="686" r:id="rId151"/>
    <p:sldId id="697" r:id="rId152"/>
    <p:sldId id="696" r:id="rId153"/>
    <p:sldId id="698" r:id="rId154"/>
    <p:sldId id="699" r:id="rId155"/>
    <p:sldId id="700" r:id="rId156"/>
    <p:sldId id="707" r:id="rId157"/>
    <p:sldId id="709" r:id="rId158"/>
    <p:sldId id="712" r:id="rId159"/>
    <p:sldId id="717" r:id="rId160"/>
    <p:sldId id="718" r:id="rId161"/>
    <p:sldId id="719" r:id="rId162"/>
    <p:sldId id="720" r:id="rId163"/>
    <p:sldId id="721" r:id="rId164"/>
    <p:sldId id="722" r:id="rId165"/>
    <p:sldId id="723" r:id="rId166"/>
    <p:sldId id="713" r:id="rId167"/>
    <p:sldId id="714" r:id="rId168"/>
    <p:sldId id="715" r:id="rId169"/>
    <p:sldId id="716" r:id="rId170"/>
    <p:sldId id="710" r:id="rId171"/>
    <p:sldId id="750" r:id="rId172"/>
  </p:sldIdLst>
  <p:sldSz cx="9144000" cy="6858000" type="screen4x3"/>
  <p:notesSz cx="6858000" cy="9144000"/>
  <p:custDataLst>
    <p:tags r:id="rId174"/>
  </p:custData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E5CC"/>
    <a:srgbClr val="7FFF7F"/>
    <a:srgbClr val="FFCC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1EA67A-E0B0-4238-977F-A5D6324B9C64}" v="8" dt="2026-09-07T22:43:39.019"/>
  </p1510:revLst>
</p1510:revInfo>
</file>

<file path=ppt/tableStyles.xml><?xml version="1.0" encoding="utf-8"?>
<a:tblStyleLst xmlns:a="http://schemas.openxmlformats.org/drawingml/2006/main" def="{5C22544A-7EE6-4342-B048-85BDC9FD1C3A}">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413" autoAdjust="0"/>
    <p:restoredTop sz="94660"/>
  </p:normalViewPr>
  <p:slideViewPr>
    <p:cSldViewPr snapToGrid="0">
      <p:cViewPr varScale="1">
        <p:scale>
          <a:sx n="107" d="100"/>
          <a:sy n="107" d="100"/>
        </p:scale>
        <p:origin x="702"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77" Type="http://schemas.openxmlformats.org/officeDocument/2006/relationships/theme" Target="theme/theme1.xml"/><Relationship Id="rId172" Type="http://schemas.openxmlformats.org/officeDocument/2006/relationships/slide" Target="slides/slide168.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tableStyles" Target="tableStyles.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notesMaster" Target="notesMasters/notesMaster1.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tags" Target="tags/tag1.xml"/><Relationship Id="rId179" Type="http://schemas.microsoft.com/office/2016/11/relationships/changesInfo" Target="changesInfos/changesInfo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4" Type="http://schemas.openxmlformats.org/officeDocument/2006/relationships/slideMaster" Target="slideMasters/slideMaster1.xml"/><Relationship Id="rId9" Type="http://schemas.openxmlformats.org/officeDocument/2006/relationships/slide" Target="slides/slide5.xml"/><Relationship Id="rId180" Type="http://schemas.microsoft.com/office/2015/10/relationships/revisionInfo" Target="revisionInfo.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presProps" Target="presProps.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viewProps" Target="viewProps.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 Type="http://schemas.openxmlformats.org/officeDocument/2006/relationships/customXml" Target="../customXml/item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kin Gómez" userId="385c81511b083e44" providerId="LiveId" clId="{28FC696F-35B8-4250-866E-37577D9724C4}"/>
    <pc:docChg chg="undo custSel addSld delSld modSld modNotesMaster">
      <pc:chgData name="Elkin Gómez" userId="385c81511b083e44" providerId="LiveId" clId="{28FC696F-35B8-4250-866E-37577D9724C4}" dt="2026-09-07T23:19:29.036" v="273" actId="26606"/>
      <pc:docMkLst>
        <pc:docMk/>
      </pc:docMkLst>
      <pc:sldChg chg="modSp mod">
        <pc:chgData name="Elkin Gómez" userId="385c81511b083e44" providerId="LiveId" clId="{28FC696F-35B8-4250-866E-37577D9724C4}" dt="2026-09-07T21:05:32.184" v="18" actId="26606"/>
        <pc:sldMkLst>
          <pc:docMk/>
          <pc:sldMk cId="2958937043" sldId="261"/>
        </pc:sldMkLst>
        <pc:picChg chg="mod">
          <ac:chgData name="Elkin Gómez" userId="385c81511b083e44" providerId="LiveId" clId="{28FC696F-35B8-4250-866E-37577D9724C4}" dt="2026-09-07T21:05:32.184" v="18" actId="26606"/>
          <ac:picMkLst>
            <pc:docMk/>
            <pc:sldMk cId="2958937043" sldId="261"/>
            <ac:picMk id="5" creationId="{00000000-0000-0000-0000-000000000000}"/>
          </ac:picMkLst>
        </pc:picChg>
        <pc:picChg chg="mod">
          <ac:chgData name="Elkin Gómez" userId="385c81511b083e44" providerId="LiveId" clId="{28FC696F-35B8-4250-866E-37577D9724C4}" dt="2026-09-07T21:05:32.184" v="18" actId="26606"/>
          <ac:picMkLst>
            <pc:docMk/>
            <pc:sldMk cId="2958937043" sldId="261"/>
            <ac:picMk id="3076" creationId="{00000000-0000-0000-0000-000000000000}"/>
          </ac:picMkLst>
        </pc:picChg>
      </pc:sldChg>
      <pc:sldChg chg="modSp mod">
        <pc:chgData name="Elkin Gómez" userId="385c81511b083e44" providerId="LiveId" clId="{28FC696F-35B8-4250-866E-37577D9724C4}" dt="2026-09-07T21:27:04.114" v="55" actId="20577"/>
        <pc:sldMkLst>
          <pc:docMk/>
          <pc:sldMk cId="2475498234" sldId="276"/>
        </pc:sldMkLst>
        <pc:spChg chg="mod">
          <ac:chgData name="Elkin Gómez" userId="385c81511b083e44" providerId="LiveId" clId="{28FC696F-35B8-4250-866E-37577D9724C4}" dt="2026-09-07T21:27:04.114" v="55" actId="20577"/>
          <ac:spMkLst>
            <pc:docMk/>
            <pc:sldMk cId="2475498234" sldId="276"/>
            <ac:spMk id="2" creationId="{00000000-0000-0000-0000-000000000000}"/>
          </ac:spMkLst>
        </pc:spChg>
      </pc:sldChg>
      <pc:sldChg chg="add del">
        <pc:chgData name="Elkin Gómez" userId="385c81511b083e44" providerId="LiveId" clId="{28FC696F-35B8-4250-866E-37577D9724C4}" dt="2026-09-07T22:27:46.976" v="207" actId="26606"/>
        <pc:sldMkLst>
          <pc:docMk/>
          <pc:sldMk cId="3932079641" sldId="281"/>
        </pc:sldMkLst>
      </pc:sldChg>
      <pc:sldChg chg="modSp mod">
        <pc:chgData name="Elkin Gómez" userId="385c81511b083e44" providerId="LiveId" clId="{28FC696F-35B8-4250-866E-37577D9724C4}" dt="2026-09-07T21:05:32.184" v="18" actId="26606"/>
        <pc:sldMkLst>
          <pc:docMk/>
          <pc:sldMk cId="320974953" sldId="390"/>
        </pc:sldMkLst>
        <pc:picChg chg="mod">
          <ac:chgData name="Elkin Gómez" userId="385c81511b083e44" providerId="LiveId" clId="{28FC696F-35B8-4250-866E-37577D9724C4}" dt="2026-09-07T21:05:32.184" v="18" actId="26606"/>
          <ac:picMkLst>
            <pc:docMk/>
            <pc:sldMk cId="320974953" sldId="390"/>
            <ac:picMk id="4" creationId="{00000000-0000-0000-0000-000000000000}"/>
          </ac:picMkLst>
        </pc:picChg>
      </pc:sldChg>
      <pc:sldChg chg="modSp mod">
        <pc:chgData name="Elkin Gómez" userId="385c81511b083e44" providerId="LiveId" clId="{28FC696F-35B8-4250-866E-37577D9724C4}" dt="2026-09-07T21:05:32.184" v="18" actId="26606"/>
        <pc:sldMkLst>
          <pc:docMk/>
          <pc:sldMk cId="145557137" sldId="412"/>
        </pc:sldMkLst>
        <pc:picChg chg="mod">
          <ac:chgData name="Elkin Gómez" userId="385c81511b083e44" providerId="LiveId" clId="{28FC696F-35B8-4250-866E-37577D9724C4}" dt="2026-09-07T21:05:32.184" v="18" actId="26606"/>
          <ac:picMkLst>
            <pc:docMk/>
            <pc:sldMk cId="145557137" sldId="412"/>
            <ac:picMk id="5" creationId="{00000000-0000-0000-0000-000000000000}"/>
          </ac:picMkLst>
        </pc:picChg>
      </pc:sldChg>
      <pc:sldChg chg="addSp delSp modSp mod">
        <pc:chgData name="Elkin Gómez" userId="385c81511b083e44" providerId="LiveId" clId="{28FC696F-35B8-4250-866E-37577D9724C4}" dt="2026-09-07T21:34:48.439" v="57" actId="26606"/>
        <pc:sldMkLst>
          <pc:docMk/>
          <pc:sldMk cId="1101783226" sldId="429"/>
        </pc:sldMkLst>
        <pc:spChg chg="mod">
          <ac:chgData name="Elkin Gómez" userId="385c81511b083e44" providerId="LiveId" clId="{28FC696F-35B8-4250-866E-37577D9724C4}" dt="2026-09-07T21:24:25.230" v="49" actId="20577"/>
          <ac:spMkLst>
            <pc:docMk/>
            <pc:sldMk cId="1101783226" sldId="429"/>
            <ac:spMk id="5" creationId="{797A080D-D632-4141-9A1B-757A05D3F9DB}"/>
          </ac:spMkLst>
        </pc:spChg>
        <pc:spChg chg="add del">
          <ac:chgData name="Elkin Gómez" userId="385c81511b083e44" providerId="LiveId" clId="{28FC696F-35B8-4250-866E-37577D9724C4}" dt="2026-09-07T21:21:47.700" v="25" actId="26606"/>
          <ac:spMkLst>
            <pc:docMk/>
            <pc:sldMk cId="1101783226" sldId="429"/>
            <ac:spMk id="7" creationId="{00000000-0000-0000-0000-000000000000}"/>
          </ac:spMkLst>
        </pc:spChg>
        <pc:spChg chg="add del">
          <ac:chgData name="Elkin Gómez" userId="385c81511b083e44" providerId="LiveId" clId="{28FC696F-35B8-4250-866E-37577D9724C4}" dt="2026-09-07T21:21:47.700" v="25" actId="26606"/>
          <ac:spMkLst>
            <pc:docMk/>
            <pc:sldMk cId="1101783226" sldId="429"/>
            <ac:spMk id="8" creationId="{00000000-0000-0000-0000-000000000000}"/>
          </ac:spMkLst>
        </pc:spChg>
        <pc:spChg chg="add del">
          <ac:chgData name="Elkin Gómez" userId="385c81511b083e44" providerId="LiveId" clId="{28FC696F-35B8-4250-866E-37577D9724C4}" dt="2026-09-07T21:21:47.700" v="25" actId="26606"/>
          <ac:spMkLst>
            <pc:docMk/>
            <pc:sldMk cId="1101783226" sldId="429"/>
            <ac:spMk id="9" creationId="{00000000-0000-0000-0000-000000000000}"/>
          </ac:spMkLst>
        </pc:spChg>
        <pc:graphicFrameChg chg="add del">
          <ac:chgData name="Elkin Gómez" userId="385c81511b083e44" providerId="LiveId" clId="{28FC696F-35B8-4250-866E-37577D9724C4}" dt="2026-09-07T21:21:47.700" v="25" actId="26606"/>
          <ac:graphicFrameMkLst>
            <pc:docMk/>
            <pc:sldMk cId="1101783226" sldId="429"/>
            <ac:graphicFrameMk id="6" creationId="{00000000-0000-0000-0000-000000000000}"/>
          </ac:graphicFrameMkLst>
        </pc:graphicFrameChg>
        <pc:picChg chg="add del mod">
          <ac:chgData name="Elkin Gómez" userId="385c81511b083e44" providerId="LiveId" clId="{28FC696F-35B8-4250-866E-37577D9724C4}" dt="2026-09-07T21:23:45.174" v="26" actId="478"/>
          <ac:picMkLst>
            <pc:docMk/>
            <pc:sldMk cId="1101783226" sldId="429"/>
            <ac:picMk id="3" creationId="{D321A66B-5BA9-6353-F5C1-04838CF9A24A}"/>
          </ac:picMkLst>
        </pc:picChg>
        <pc:picChg chg="mod">
          <ac:chgData name="Elkin Gómez" userId="385c81511b083e44" providerId="LiveId" clId="{28FC696F-35B8-4250-866E-37577D9724C4}" dt="2026-09-07T21:34:48.439" v="57" actId="26606"/>
          <ac:picMkLst>
            <pc:docMk/>
            <pc:sldMk cId="1101783226" sldId="429"/>
            <ac:picMk id="10" creationId="{C6BD036A-1BAF-84EE-6764-62DE91ED069A}"/>
          </ac:picMkLst>
        </pc:picChg>
      </pc:sldChg>
      <pc:sldChg chg="modSp mod">
        <pc:chgData name="Elkin Gómez" userId="385c81511b083e44" providerId="LiveId" clId="{28FC696F-35B8-4250-866E-37577D9724C4}" dt="2026-09-07T21:05:32.184" v="18" actId="26606"/>
        <pc:sldMkLst>
          <pc:docMk/>
          <pc:sldMk cId="622083027" sldId="570"/>
        </pc:sldMkLst>
        <pc:grpChg chg="add mod">
          <ac:chgData name="Elkin Gómez" userId="385c81511b083e44" providerId="LiveId" clId="{28FC696F-35B8-4250-866E-37577D9724C4}" dt="2026-09-07T21:05:32.184" v="18" actId="26606"/>
          <ac:grpSpMkLst>
            <pc:docMk/>
            <pc:sldMk cId="622083027" sldId="570"/>
            <ac:grpSpMk id="27" creationId="{00000000-0000-0000-0000-000000000000}"/>
          </ac:grpSpMkLst>
        </pc:grpChg>
      </pc:sldChg>
      <pc:sldChg chg="addSp delSp mod">
        <pc:chgData name="Elkin Gómez" userId="385c81511b083e44" providerId="LiveId" clId="{28FC696F-35B8-4250-866E-37577D9724C4}" dt="2026-09-07T21:05:32.184" v="18" actId="26606"/>
        <pc:sldMkLst>
          <pc:docMk/>
          <pc:sldMk cId="203614799" sldId="579"/>
        </pc:sldMkLst>
        <pc:spChg chg="add">
          <ac:chgData name="Elkin Gómez" userId="385c81511b083e44" providerId="LiveId" clId="{28FC696F-35B8-4250-866E-37577D9724C4}" dt="2026-09-07T21:05:32.184" v="18" actId="26606"/>
          <ac:spMkLst>
            <pc:docMk/>
            <pc:sldMk cId="203614799" sldId="579"/>
            <ac:spMk id="5" creationId="{00000000-0000-0000-0000-000000000000}"/>
          </ac:spMkLst>
        </pc:spChg>
        <pc:graphicFrameChg chg="add">
          <ac:chgData name="Elkin Gómez" userId="385c81511b083e44" providerId="LiveId" clId="{28FC696F-35B8-4250-866E-37577D9724C4}" dt="2026-09-07T21:05:32.184" v="18" actId="26606"/>
          <ac:graphicFrameMkLst>
            <pc:docMk/>
            <pc:sldMk cId="203614799" sldId="579"/>
            <ac:graphicFrameMk id="6" creationId="{00000000-0000-0000-0000-000000000000}"/>
          </ac:graphicFrameMkLst>
        </pc:graphicFrameChg>
        <pc:picChg chg="del">
          <ac:chgData name="Elkin Gómez" userId="385c81511b083e44" providerId="LiveId" clId="{28FC696F-35B8-4250-866E-37577D9724C4}" dt="2026-09-07T21:05:32.184" v="18" actId="26606"/>
          <ac:picMkLst>
            <pc:docMk/>
            <pc:sldMk cId="203614799" sldId="579"/>
            <ac:picMk id="38914" creationId="{00000000-0000-0000-0000-000000000000}"/>
          </ac:picMkLst>
        </pc:picChg>
      </pc:sldChg>
      <pc:sldChg chg="addSp delSp modSp mod">
        <pc:chgData name="Elkin Gómez" userId="385c81511b083e44" providerId="LiveId" clId="{28FC696F-35B8-4250-866E-37577D9724C4}" dt="2026-09-07T21:08:47.280" v="20" actId="26606"/>
        <pc:sldMkLst>
          <pc:docMk/>
          <pc:sldMk cId="1869650091" sldId="580"/>
        </pc:sldMkLst>
        <pc:graphicFrameChg chg="add">
          <ac:chgData name="Elkin Gómez" userId="385c81511b083e44" providerId="LiveId" clId="{28FC696F-35B8-4250-866E-37577D9724C4}" dt="2026-09-07T21:08:47.280" v="20" actId="26606"/>
          <ac:graphicFrameMkLst>
            <pc:docMk/>
            <pc:sldMk cId="1869650091" sldId="580"/>
            <ac:graphicFrameMk id="5" creationId="{00000000-0000-0000-0000-000000000000}"/>
          </ac:graphicFrameMkLst>
        </pc:graphicFrameChg>
        <pc:picChg chg="del mod">
          <ac:chgData name="Elkin Gómez" userId="385c81511b083e44" providerId="LiveId" clId="{28FC696F-35B8-4250-866E-37577D9724C4}" dt="2026-09-07T21:08:47.280" v="20" actId="26606"/>
          <ac:picMkLst>
            <pc:docMk/>
            <pc:sldMk cId="1869650091" sldId="580"/>
            <ac:picMk id="39937" creationId="{00000000-0000-0000-0000-000000000000}"/>
          </ac:picMkLst>
        </pc:picChg>
      </pc:sldChg>
      <pc:sldChg chg="addSp delSp modSp mod">
        <pc:chgData name="Elkin Gómez" userId="385c81511b083e44" providerId="LiveId" clId="{28FC696F-35B8-4250-866E-37577D9724C4}" dt="2026-09-07T22:23:54.449" v="205" actId="1076"/>
        <pc:sldMkLst>
          <pc:docMk/>
          <pc:sldMk cId="1876089954" sldId="597"/>
        </pc:sldMkLst>
        <pc:spChg chg="mod">
          <ac:chgData name="Elkin Gómez" userId="385c81511b083e44" providerId="LiveId" clId="{28FC696F-35B8-4250-866E-37577D9724C4}" dt="2026-09-07T22:03:56.797" v="177" actId="20577"/>
          <ac:spMkLst>
            <pc:docMk/>
            <pc:sldMk cId="1876089954" sldId="597"/>
            <ac:spMk id="2" creationId="{00000000-0000-0000-0000-000000000000}"/>
          </ac:spMkLst>
        </pc:spChg>
        <pc:spChg chg="del mod">
          <ac:chgData name="Elkin Gómez" userId="385c81511b083e44" providerId="LiveId" clId="{28FC696F-35B8-4250-866E-37577D9724C4}" dt="2026-09-07T22:02:54.589" v="146" actId="478"/>
          <ac:spMkLst>
            <pc:docMk/>
            <pc:sldMk cId="1876089954" sldId="597"/>
            <ac:spMk id="5" creationId="{2DECFA2B-4091-4381-8915-448C0AB44B6A}"/>
          </ac:spMkLst>
        </pc:spChg>
        <pc:spChg chg="mod">
          <ac:chgData name="Elkin Gómez" userId="385c81511b083e44" providerId="LiveId" clId="{28FC696F-35B8-4250-866E-37577D9724C4}" dt="2026-09-07T22:04:20.356" v="188" actId="1076"/>
          <ac:spMkLst>
            <pc:docMk/>
            <pc:sldMk cId="1876089954" sldId="597"/>
            <ac:spMk id="6" creationId="{00000000-0000-0000-0000-000000000000}"/>
          </ac:spMkLst>
        </pc:spChg>
        <pc:spChg chg="del mod ord">
          <ac:chgData name="Elkin Gómez" userId="385c81511b083e44" providerId="LiveId" clId="{28FC696F-35B8-4250-866E-37577D9724C4}" dt="2026-09-07T22:02:54.589" v="146" actId="478"/>
          <ac:spMkLst>
            <pc:docMk/>
            <pc:sldMk cId="1876089954" sldId="597"/>
            <ac:spMk id="7"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8"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10"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12"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13"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14"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15"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17"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18" creationId="{00000000-0000-0000-0000-000000000000}"/>
          </ac:spMkLst>
        </pc:spChg>
        <pc:spChg chg="add del">
          <ac:chgData name="Elkin Gómez" userId="385c81511b083e44" providerId="LiveId" clId="{28FC696F-35B8-4250-866E-37577D9724C4}" dt="2026-09-07T21:58:58.503" v="139" actId="26606"/>
          <ac:spMkLst>
            <pc:docMk/>
            <pc:sldMk cId="1876089954" sldId="597"/>
            <ac:spMk id="19" creationId="{00000000-0000-0000-0000-000000000000}"/>
          </ac:spMkLst>
        </pc:spChg>
        <pc:picChg chg="add del mod">
          <ac:chgData name="Elkin Gómez" userId="385c81511b083e44" providerId="LiveId" clId="{28FC696F-35B8-4250-866E-37577D9724C4}" dt="2026-09-07T22:22:53.730" v="190" actId="478"/>
          <ac:picMkLst>
            <pc:docMk/>
            <pc:sldMk cId="1876089954" sldId="597"/>
            <ac:picMk id="22" creationId="{3B3F3A5D-3142-E1E9-035E-7A11A46EEFC0}"/>
          </ac:picMkLst>
        </pc:picChg>
        <pc:picChg chg="add del mod">
          <ac:chgData name="Elkin Gómez" userId="385c81511b083e44" providerId="LiveId" clId="{28FC696F-35B8-4250-866E-37577D9724C4}" dt="2026-09-07T22:23:44.342" v="198" actId="478"/>
          <ac:picMkLst>
            <pc:docMk/>
            <pc:sldMk cId="1876089954" sldId="597"/>
            <ac:picMk id="24" creationId="{144C0598-C8CF-2C32-8CA6-A502B67EE25F}"/>
          </ac:picMkLst>
        </pc:picChg>
        <pc:picChg chg="add mod">
          <ac:chgData name="Elkin Gómez" userId="385c81511b083e44" providerId="LiveId" clId="{28FC696F-35B8-4250-866E-37577D9724C4}" dt="2026-09-07T22:23:54.449" v="205" actId="1076"/>
          <ac:picMkLst>
            <pc:docMk/>
            <pc:sldMk cId="1876089954" sldId="597"/>
            <ac:picMk id="26" creationId="{BEEE445A-CC6E-C3A9-B0C2-ADB35C90D1D9}"/>
          </ac:picMkLst>
        </pc:picChg>
      </pc:sldChg>
      <pc:sldChg chg="modSp mod">
        <pc:chgData name="Elkin Gómez" userId="385c81511b083e44" providerId="LiveId" clId="{28FC696F-35B8-4250-866E-37577D9724C4}" dt="2026-09-07T21:05:32.184" v="18" actId="26606"/>
        <pc:sldMkLst>
          <pc:docMk/>
          <pc:sldMk cId="3725222477" sldId="598"/>
        </pc:sldMkLst>
        <pc:picChg chg="mod">
          <ac:chgData name="Elkin Gómez" userId="385c81511b083e44" providerId="LiveId" clId="{28FC696F-35B8-4250-866E-37577D9724C4}" dt="2026-09-07T21:05:32.184" v="18" actId="26606"/>
          <ac:picMkLst>
            <pc:docMk/>
            <pc:sldMk cId="3725222477" sldId="598"/>
            <ac:picMk id="32770" creationId="{00000000-0000-0000-0000-000000000000}"/>
          </ac:picMkLst>
        </pc:picChg>
        <pc:picChg chg="mod">
          <ac:chgData name="Elkin Gómez" userId="385c81511b083e44" providerId="LiveId" clId="{28FC696F-35B8-4250-866E-37577D9724C4}" dt="2026-09-07T21:05:32.184" v="18" actId="26606"/>
          <ac:picMkLst>
            <pc:docMk/>
            <pc:sldMk cId="3725222477" sldId="598"/>
            <ac:picMk id="32772" creationId="{00000000-0000-0000-0000-000000000000}"/>
          </ac:picMkLst>
        </pc:picChg>
      </pc:sldChg>
      <pc:sldChg chg="modNotes">
        <pc:chgData name="Elkin Gómez" userId="385c81511b083e44" providerId="LiveId" clId="{28FC696F-35B8-4250-866E-37577D9724C4}" dt="2026-09-07T21:05:32.184" v="18" actId="26606"/>
        <pc:sldMkLst>
          <pc:docMk/>
          <pc:sldMk cId="2858514441" sldId="612"/>
        </pc:sldMkLst>
      </pc:sldChg>
      <pc:sldChg chg="modSp mod">
        <pc:chgData name="Elkin Gómez" userId="385c81511b083e44" providerId="LiveId" clId="{28FC696F-35B8-4250-866E-37577D9724C4}" dt="2026-09-07T22:32:03.858" v="235" actId="20577"/>
        <pc:sldMkLst>
          <pc:docMk/>
          <pc:sldMk cId="277183307" sldId="615"/>
        </pc:sldMkLst>
        <pc:spChg chg="mod">
          <ac:chgData name="Elkin Gómez" userId="385c81511b083e44" providerId="LiveId" clId="{28FC696F-35B8-4250-866E-37577D9724C4}" dt="2026-09-07T22:31:10.699" v="209" actId="26606"/>
          <ac:spMkLst>
            <pc:docMk/>
            <pc:sldMk cId="277183307" sldId="615"/>
            <ac:spMk id="8" creationId="{607C45AF-6518-4D39-B298-B7964B1E1139}"/>
          </ac:spMkLst>
        </pc:spChg>
        <pc:graphicFrameChg chg="add mod modGraphic">
          <ac:chgData name="Elkin Gómez" userId="385c81511b083e44" providerId="LiveId" clId="{28FC696F-35B8-4250-866E-37577D9724C4}" dt="2026-09-07T22:32:03.858" v="235" actId="20577"/>
          <ac:graphicFrameMkLst>
            <pc:docMk/>
            <pc:sldMk cId="277183307" sldId="615"/>
            <ac:graphicFrameMk id="7" creationId="{8758DF64-AEC4-414B-8513-FBCF1F07D7DB}"/>
          </ac:graphicFrameMkLst>
        </pc:graphicFrameChg>
      </pc:sldChg>
      <pc:sldChg chg="modSp mod">
        <pc:chgData name="Elkin Gómez" userId="385c81511b083e44" providerId="LiveId" clId="{28FC696F-35B8-4250-866E-37577D9724C4}" dt="2026-09-07T22:43:39.019" v="258"/>
        <pc:sldMkLst>
          <pc:docMk/>
          <pc:sldMk cId="290272249" sldId="616"/>
        </pc:sldMkLst>
        <pc:spChg chg="mod">
          <ac:chgData name="Elkin Gómez" userId="385c81511b083e44" providerId="LiveId" clId="{28FC696F-35B8-4250-866E-37577D9724C4}" dt="2026-09-07T22:31:10.699" v="209" actId="26606"/>
          <ac:spMkLst>
            <pc:docMk/>
            <pc:sldMk cId="290272249" sldId="616"/>
            <ac:spMk id="8" creationId="{BBD107C4-ED6E-41B3-8EDE-B518874B7A24}"/>
          </ac:spMkLst>
        </pc:spChg>
        <pc:graphicFrameChg chg="add mod modGraphic">
          <ac:chgData name="Elkin Gómez" userId="385c81511b083e44" providerId="LiveId" clId="{28FC696F-35B8-4250-866E-37577D9724C4}" dt="2026-09-07T22:43:39.019" v="258"/>
          <ac:graphicFrameMkLst>
            <pc:docMk/>
            <pc:sldMk cId="290272249" sldId="616"/>
            <ac:graphicFrameMk id="7" creationId="{7DBF94FA-8F99-411E-9ED7-C090A872AE88}"/>
          </ac:graphicFrameMkLst>
        </pc:graphicFrameChg>
      </pc:sldChg>
      <pc:sldChg chg="addSp delSp modSp mod">
        <pc:chgData name="Elkin Gómez" userId="385c81511b083e44" providerId="LiveId" clId="{28FC696F-35B8-4250-866E-37577D9724C4}" dt="2026-09-07T22:36:24.355" v="257" actId="26606"/>
        <pc:sldMkLst>
          <pc:docMk/>
          <pc:sldMk cId="2871140186" sldId="618"/>
        </pc:sldMkLst>
        <pc:spChg chg="add">
          <ac:chgData name="Elkin Gómez" userId="385c81511b083e44" providerId="LiveId" clId="{28FC696F-35B8-4250-866E-37577D9724C4}" dt="2026-09-07T22:36:24.355" v="257" actId="26606"/>
          <ac:spMkLst>
            <pc:docMk/>
            <pc:sldMk cId="2871140186" sldId="618"/>
            <ac:spMk id="10" creationId="{00000000-0000-0000-0000-000000000000}"/>
          </ac:spMkLst>
        </pc:spChg>
        <pc:spChg chg="add">
          <ac:chgData name="Elkin Gómez" userId="385c81511b083e44" providerId="LiveId" clId="{28FC696F-35B8-4250-866E-37577D9724C4}" dt="2026-09-07T22:36:24.355" v="257" actId="26606"/>
          <ac:spMkLst>
            <pc:docMk/>
            <pc:sldMk cId="2871140186" sldId="618"/>
            <ac:spMk id="11" creationId="{00000000-0000-0000-0000-000000000000}"/>
          </ac:spMkLst>
        </pc:spChg>
        <pc:spChg chg="add">
          <ac:chgData name="Elkin Gómez" userId="385c81511b083e44" providerId="LiveId" clId="{28FC696F-35B8-4250-866E-37577D9724C4}" dt="2026-09-07T22:36:24.355" v="257" actId="26606"/>
          <ac:spMkLst>
            <pc:docMk/>
            <pc:sldMk cId="2871140186" sldId="618"/>
            <ac:spMk id="15" creationId="{00000000-0000-0000-0000-000000000000}"/>
          </ac:spMkLst>
        </pc:spChg>
        <pc:spChg chg="add">
          <ac:chgData name="Elkin Gómez" userId="385c81511b083e44" providerId="LiveId" clId="{28FC696F-35B8-4250-866E-37577D9724C4}" dt="2026-09-07T22:36:24.355" v="257" actId="26606"/>
          <ac:spMkLst>
            <pc:docMk/>
            <pc:sldMk cId="2871140186" sldId="618"/>
            <ac:spMk id="19" creationId="{00000000-0000-0000-0000-000000000000}"/>
          </ac:spMkLst>
        </pc:spChg>
        <pc:spChg chg="add">
          <ac:chgData name="Elkin Gómez" userId="385c81511b083e44" providerId="LiveId" clId="{28FC696F-35B8-4250-866E-37577D9724C4}" dt="2026-09-07T22:36:24.355" v="257" actId="26606"/>
          <ac:spMkLst>
            <pc:docMk/>
            <pc:sldMk cId="2871140186" sldId="618"/>
            <ac:spMk id="20" creationId="{00000000-0000-0000-0000-000000000000}"/>
          </ac:spMkLst>
        </pc:spChg>
        <pc:spChg chg="add">
          <ac:chgData name="Elkin Gómez" userId="385c81511b083e44" providerId="LiveId" clId="{28FC696F-35B8-4250-866E-37577D9724C4}" dt="2026-09-07T22:36:24.355" v="257" actId="26606"/>
          <ac:spMkLst>
            <pc:docMk/>
            <pc:sldMk cId="2871140186" sldId="618"/>
            <ac:spMk id="21" creationId="{00000000-0000-0000-0000-000000000000}"/>
          </ac:spMkLst>
        </pc:spChg>
        <pc:spChg chg="add">
          <ac:chgData name="Elkin Gómez" userId="385c81511b083e44" providerId="LiveId" clId="{28FC696F-35B8-4250-866E-37577D9724C4}" dt="2026-09-07T22:36:24.355" v="257" actId="26606"/>
          <ac:spMkLst>
            <pc:docMk/>
            <pc:sldMk cId="2871140186" sldId="618"/>
            <ac:spMk id="23" creationId="{00000000-0000-0000-0000-000000000000}"/>
          </ac:spMkLst>
        </pc:spChg>
        <pc:spChg chg="add">
          <ac:chgData name="Elkin Gómez" userId="385c81511b083e44" providerId="LiveId" clId="{28FC696F-35B8-4250-866E-37577D9724C4}" dt="2026-09-07T22:36:24.355" v="257" actId="26606"/>
          <ac:spMkLst>
            <pc:docMk/>
            <pc:sldMk cId="2871140186" sldId="618"/>
            <ac:spMk id="25" creationId="{00000000-0000-0000-0000-000000000000}"/>
          </ac:spMkLst>
        </pc:spChg>
        <pc:spChg chg="add">
          <ac:chgData name="Elkin Gómez" userId="385c81511b083e44" providerId="LiveId" clId="{28FC696F-35B8-4250-866E-37577D9724C4}" dt="2026-09-07T22:36:24.355" v="257" actId="26606"/>
          <ac:spMkLst>
            <pc:docMk/>
            <pc:sldMk cId="2871140186" sldId="618"/>
            <ac:spMk id="27" creationId="{00000000-0000-0000-0000-000000000000}"/>
          </ac:spMkLst>
        </pc:spChg>
        <pc:spChg chg="add">
          <ac:chgData name="Elkin Gómez" userId="385c81511b083e44" providerId="LiveId" clId="{28FC696F-35B8-4250-866E-37577D9724C4}" dt="2026-09-07T22:36:24.355" v="257" actId="26606"/>
          <ac:spMkLst>
            <pc:docMk/>
            <pc:sldMk cId="2871140186" sldId="618"/>
            <ac:spMk id="36" creationId="{00000000-0000-0000-0000-000000000000}"/>
          </ac:spMkLst>
        </pc:spChg>
        <pc:picChg chg="mod">
          <ac:chgData name="Elkin Gómez" userId="385c81511b083e44" providerId="LiveId" clId="{28FC696F-35B8-4250-866E-37577D9724C4}" dt="2026-09-07T21:05:32.184" v="18" actId="26606"/>
          <ac:picMkLst>
            <pc:docMk/>
            <pc:sldMk cId="2871140186" sldId="618"/>
            <ac:picMk id="44034" creationId="{00000000-0000-0000-0000-000000000000}"/>
          </ac:picMkLst>
        </pc:picChg>
      </pc:sldChg>
      <pc:sldChg chg="addSp delSp modSp mod">
        <pc:chgData name="Elkin Gómez" userId="385c81511b083e44" providerId="LiveId" clId="{28FC696F-35B8-4250-866E-37577D9724C4}" dt="2026-09-07T22:47:25.033" v="260" actId="26606"/>
        <pc:sldMkLst>
          <pc:docMk/>
          <pc:sldMk cId="165907001" sldId="621"/>
        </pc:sldMkLst>
        <pc:spChg chg="add">
          <ac:chgData name="Elkin Gómez" userId="385c81511b083e44" providerId="LiveId" clId="{28FC696F-35B8-4250-866E-37577D9724C4}" dt="2026-09-07T22:47:25.033" v="260" actId="26606"/>
          <ac:spMkLst>
            <pc:docMk/>
            <pc:sldMk cId="165907001" sldId="621"/>
            <ac:spMk id="7" creationId="{00000000-0000-0000-0000-000000000000}"/>
          </ac:spMkLst>
        </pc:spChg>
        <pc:spChg chg="add">
          <ac:chgData name="Elkin Gómez" userId="385c81511b083e44" providerId="LiveId" clId="{28FC696F-35B8-4250-866E-37577D9724C4}" dt="2026-09-07T22:47:25.033" v="260" actId="26606"/>
          <ac:spMkLst>
            <pc:docMk/>
            <pc:sldMk cId="165907001" sldId="621"/>
            <ac:spMk id="8" creationId="{00000000-0000-0000-0000-000000000000}"/>
          </ac:spMkLst>
        </pc:spChg>
        <pc:spChg chg="add">
          <ac:chgData name="Elkin Gómez" userId="385c81511b083e44" providerId="LiveId" clId="{28FC696F-35B8-4250-866E-37577D9724C4}" dt="2026-09-07T22:47:25.033" v="260" actId="26606"/>
          <ac:spMkLst>
            <pc:docMk/>
            <pc:sldMk cId="165907001" sldId="621"/>
            <ac:spMk id="10" creationId="{00000000-0000-0000-0000-000000000000}"/>
          </ac:spMkLst>
        </pc:spChg>
        <pc:spChg chg="add">
          <ac:chgData name="Elkin Gómez" userId="385c81511b083e44" providerId="LiveId" clId="{28FC696F-35B8-4250-866E-37577D9724C4}" dt="2026-09-07T22:47:25.033" v="260" actId="26606"/>
          <ac:spMkLst>
            <pc:docMk/>
            <pc:sldMk cId="165907001" sldId="621"/>
            <ac:spMk id="11" creationId="{00000000-0000-0000-0000-000000000000}"/>
          </ac:spMkLst>
        </pc:spChg>
        <pc:spChg chg="add">
          <ac:chgData name="Elkin Gómez" userId="385c81511b083e44" providerId="LiveId" clId="{28FC696F-35B8-4250-866E-37577D9724C4}" dt="2026-09-07T22:47:25.033" v="260" actId="26606"/>
          <ac:spMkLst>
            <pc:docMk/>
            <pc:sldMk cId="165907001" sldId="621"/>
            <ac:spMk id="15" creationId="{00000000-0000-0000-0000-000000000000}"/>
          </ac:spMkLst>
        </pc:spChg>
        <pc:spChg chg="add">
          <ac:chgData name="Elkin Gómez" userId="385c81511b083e44" providerId="LiveId" clId="{28FC696F-35B8-4250-866E-37577D9724C4}" dt="2026-09-07T22:47:25.033" v="260" actId="26606"/>
          <ac:spMkLst>
            <pc:docMk/>
            <pc:sldMk cId="165907001" sldId="621"/>
            <ac:spMk id="16" creationId="{00000000-0000-0000-0000-000000000000}"/>
          </ac:spMkLst>
        </pc:spChg>
        <pc:spChg chg="add">
          <ac:chgData name="Elkin Gómez" userId="385c81511b083e44" providerId="LiveId" clId="{28FC696F-35B8-4250-866E-37577D9724C4}" dt="2026-09-07T22:47:25.033" v="260" actId="26606"/>
          <ac:spMkLst>
            <pc:docMk/>
            <pc:sldMk cId="165907001" sldId="621"/>
            <ac:spMk id="17" creationId="{00000000-0000-0000-0000-000000000000}"/>
          </ac:spMkLst>
        </pc:spChg>
        <pc:spChg chg="add">
          <ac:chgData name="Elkin Gómez" userId="385c81511b083e44" providerId="LiveId" clId="{28FC696F-35B8-4250-866E-37577D9724C4}" dt="2026-09-07T22:47:25.033" v="260" actId="26606"/>
          <ac:spMkLst>
            <pc:docMk/>
            <pc:sldMk cId="165907001" sldId="621"/>
            <ac:spMk id="18" creationId="{00000000-0000-0000-0000-000000000000}"/>
          </ac:spMkLst>
        </pc:spChg>
        <pc:spChg chg="add">
          <ac:chgData name="Elkin Gómez" userId="385c81511b083e44" providerId="LiveId" clId="{28FC696F-35B8-4250-866E-37577D9724C4}" dt="2026-09-07T22:47:25.033" v="260" actId="26606"/>
          <ac:spMkLst>
            <pc:docMk/>
            <pc:sldMk cId="165907001" sldId="621"/>
            <ac:spMk id="19" creationId="{00000000-0000-0000-0000-000000000000}"/>
          </ac:spMkLst>
        </pc:spChg>
        <pc:spChg chg="add">
          <ac:chgData name="Elkin Gómez" userId="385c81511b083e44" providerId="LiveId" clId="{28FC696F-35B8-4250-866E-37577D9724C4}" dt="2026-09-07T22:47:25.033" v="260" actId="26606"/>
          <ac:spMkLst>
            <pc:docMk/>
            <pc:sldMk cId="165907001" sldId="621"/>
            <ac:spMk id="20" creationId="{00000000-0000-0000-0000-000000000000}"/>
          </ac:spMkLst>
        </pc:spChg>
      </pc:sldChg>
      <pc:sldChg chg="addSp delSp modSp mod">
        <pc:chgData name="Elkin Gómez" userId="385c81511b083e44" providerId="LiveId" clId="{28FC696F-35B8-4250-866E-37577D9724C4}" dt="2026-09-07T22:51:27.103" v="262" actId="26606"/>
        <pc:sldMkLst>
          <pc:docMk/>
          <pc:sldMk cId="510360693" sldId="622"/>
        </pc:sldMkLst>
        <pc:spChg chg="add">
          <ac:chgData name="Elkin Gómez" userId="385c81511b083e44" providerId="LiveId" clId="{28FC696F-35B8-4250-866E-37577D9724C4}" dt="2026-09-07T22:51:27.103" v="262" actId="26606"/>
          <ac:spMkLst>
            <pc:docMk/>
            <pc:sldMk cId="510360693" sldId="622"/>
            <ac:spMk id="7" creationId="{00000000-0000-0000-0000-000000000000}"/>
          </ac:spMkLst>
        </pc:spChg>
        <pc:spChg chg="add">
          <ac:chgData name="Elkin Gómez" userId="385c81511b083e44" providerId="LiveId" clId="{28FC696F-35B8-4250-866E-37577D9724C4}" dt="2026-09-07T22:51:27.103" v="262" actId="26606"/>
          <ac:spMkLst>
            <pc:docMk/>
            <pc:sldMk cId="510360693" sldId="622"/>
            <ac:spMk id="8" creationId="{00000000-0000-0000-0000-000000000000}"/>
          </ac:spMkLst>
        </pc:spChg>
        <pc:spChg chg="add">
          <ac:chgData name="Elkin Gómez" userId="385c81511b083e44" providerId="LiveId" clId="{28FC696F-35B8-4250-866E-37577D9724C4}" dt="2026-09-07T22:51:27.103" v="262" actId="26606"/>
          <ac:spMkLst>
            <pc:docMk/>
            <pc:sldMk cId="510360693" sldId="622"/>
            <ac:spMk id="9" creationId="{00000000-0000-0000-0000-000000000000}"/>
          </ac:spMkLst>
        </pc:spChg>
        <pc:spChg chg="add">
          <ac:chgData name="Elkin Gómez" userId="385c81511b083e44" providerId="LiveId" clId="{28FC696F-35B8-4250-866E-37577D9724C4}" dt="2026-09-07T22:51:27.103" v="262" actId="26606"/>
          <ac:spMkLst>
            <pc:docMk/>
            <pc:sldMk cId="510360693" sldId="622"/>
            <ac:spMk id="12" creationId="{00000000-0000-0000-0000-000000000000}"/>
          </ac:spMkLst>
        </pc:spChg>
        <pc:spChg chg="add">
          <ac:chgData name="Elkin Gómez" userId="385c81511b083e44" providerId="LiveId" clId="{28FC696F-35B8-4250-866E-37577D9724C4}" dt="2026-09-07T22:51:27.103" v="262" actId="26606"/>
          <ac:spMkLst>
            <pc:docMk/>
            <pc:sldMk cId="510360693" sldId="622"/>
            <ac:spMk id="14" creationId="{00000000-0000-0000-0000-000000000000}"/>
          </ac:spMkLst>
        </pc:spChg>
        <pc:spChg chg="add">
          <ac:chgData name="Elkin Gómez" userId="385c81511b083e44" providerId="LiveId" clId="{28FC696F-35B8-4250-866E-37577D9724C4}" dt="2026-09-07T22:51:27.103" v="262" actId="26606"/>
          <ac:spMkLst>
            <pc:docMk/>
            <pc:sldMk cId="510360693" sldId="622"/>
            <ac:spMk id="15" creationId="{00000000-0000-0000-0000-000000000000}"/>
          </ac:spMkLst>
        </pc:spChg>
        <pc:spChg chg="add">
          <ac:chgData name="Elkin Gómez" userId="385c81511b083e44" providerId="LiveId" clId="{28FC696F-35B8-4250-866E-37577D9724C4}" dt="2026-09-07T22:51:27.103" v="262" actId="26606"/>
          <ac:spMkLst>
            <pc:docMk/>
            <pc:sldMk cId="510360693" sldId="622"/>
            <ac:spMk id="17" creationId="{00000000-0000-0000-0000-000000000000}"/>
          </ac:spMkLst>
        </pc:spChg>
        <pc:spChg chg="add">
          <ac:chgData name="Elkin Gómez" userId="385c81511b083e44" providerId="LiveId" clId="{28FC696F-35B8-4250-866E-37577D9724C4}" dt="2026-09-07T22:51:27.103" v="262" actId="26606"/>
          <ac:spMkLst>
            <pc:docMk/>
            <pc:sldMk cId="510360693" sldId="622"/>
            <ac:spMk id="19" creationId="{00000000-0000-0000-0000-000000000000}"/>
          </ac:spMkLst>
        </pc:spChg>
        <pc:spChg chg="add">
          <ac:chgData name="Elkin Gómez" userId="385c81511b083e44" providerId="LiveId" clId="{28FC696F-35B8-4250-866E-37577D9724C4}" dt="2026-09-07T22:51:27.103" v="262" actId="26606"/>
          <ac:spMkLst>
            <pc:docMk/>
            <pc:sldMk cId="510360693" sldId="622"/>
            <ac:spMk id="20" creationId="{00000000-0000-0000-0000-000000000000}"/>
          </ac:spMkLst>
        </pc:spChg>
        <pc:spChg chg="add">
          <ac:chgData name="Elkin Gómez" userId="385c81511b083e44" providerId="LiveId" clId="{28FC696F-35B8-4250-866E-37577D9724C4}" dt="2026-09-07T22:51:27.103" v="262" actId="26606"/>
          <ac:spMkLst>
            <pc:docMk/>
            <pc:sldMk cId="510360693" sldId="622"/>
            <ac:spMk id="21" creationId="{00000000-0000-0000-0000-000000000000}"/>
          </ac:spMkLst>
        </pc:spChg>
        <pc:picChg chg="mod">
          <ac:chgData name="Elkin Gómez" userId="385c81511b083e44" providerId="LiveId" clId="{28FC696F-35B8-4250-866E-37577D9724C4}" dt="2026-09-07T21:05:32.184" v="18" actId="26606"/>
          <ac:picMkLst>
            <pc:docMk/>
            <pc:sldMk cId="510360693" sldId="622"/>
            <ac:picMk id="47107" creationId="{00000000-0000-0000-0000-000000000000}"/>
          </ac:picMkLst>
        </pc:picChg>
      </pc:sldChg>
      <pc:sldChg chg="addSp delSp modSp mod">
        <pc:chgData name="Elkin Gómez" userId="385c81511b083e44" providerId="LiveId" clId="{28FC696F-35B8-4250-866E-37577D9724C4}" dt="2026-09-07T22:55:48.129" v="264" actId="26606"/>
        <pc:sldMkLst>
          <pc:docMk/>
          <pc:sldMk cId="479257405" sldId="623"/>
        </pc:sldMkLst>
        <pc:spChg chg="add">
          <ac:chgData name="Elkin Gómez" userId="385c81511b083e44" providerId="LiveId" clId="{28FC696F-35B8-4250-866E-37577D9724C4}" dt="2026-09-07T22:55:48.129" v="264" actId="26606"/>
          <ac:spMkLst>
            <pc:docMk/>
            <pc:sldMk cId="479257405" sldId="623"/>
            <ac:spMk id="6" creationId="{00000000-0000-0000-0000-000000000000}"/>
          </ac:spMkLst>
        </pc:spChg>
        <pc:spChg chg="add">
          <ac:chgData name="Elkin Gómez" userId="385c81511b083e44" providerId="LiveId" clId="{28FC696F-35B8-4250-866E-37577D9724C4}" dt="2026-09-07T22:55:48.129" v="264" actId="26606"/>
          <ac:spMkLst>
            <pc:docMk/>
            <pc:sldMk cId="479257405" sldId="623"/>
            <ac:spMk id="7" creationId="{00000000-0000-0000-0000-000000000000}"/>
          </ac:spMkLst>
        </pc:spChg>
        <pc:spChg chg="add">
          <ac:chgData name="Elkin Gómez" userId="385c81511b083e44" providerId="LiveId" clId="{28FC696F-35B8-4250-866E-37577D9724C4}" dt="2026-09-07T22:55:48.129" v="264" actId="26606"/>
          <ac:spMkLst>
            <pc:docMk/>
            <pc:sldMk cId="479257405" sldId="623"/>
            <ac:spMk id="9" creationId="{00000000-0000-0000-0000-000000000000}"/>
          </ac:spMkLst>
        </pc:spChg>
        <pc:spChg chg="add">
          <ac:chgData name="Elkin Gómez" userId="385c81511b083e44" providerId="LiveId" clId="{28FC696F-35B8-4250-866E-37577D9724C4}" dt="2026-09-07T22:55:48.129" v="264" actId="26606"/>
          <ac:spMkLst>
            <pc:docMk/>
            <pc:sldMk cId="479257405" sldId="623"/>
            <ac:spMk id="10" creationId="{00000000-0000-0000-0000-000000000000}"/>
          </ac:spMkLst>
        </pc:spChg>
        <pc:spChg chg="add">
          <ac:chgData name="Elkin Gómez" userId="385c81511b083e44" providerId="LiveId" clId="{28FC696F-35B8-4250-866E-37577D9724C4}" dt="2026-09-07T22:55:48.129" v="264" actId="26606"/>
          <ac:spMkLst>
            <pc:docMk/>
            <pc:sldMk cId="479257405" sldId="623"/>
            <ac:spMk id="11" creationId="{00000000-0000-0000-0000-000000000000}"/>
          </ac:spMkLst>
        </pc:spChg>
        <pc:spChg chg="add">
          <ac:chgData name="Elkin Gómez" userId="385c81511b083e44" providerId="LiveId" clId="{28FC696F-35B8-4250-866E-37577D9724C4}" dt="2026-09-07T22:55:48.129" v="264" actId="26606"/>
          <ac:spMkLst>
            <pc:docMk/>
            <pc:sldMk cId="479257405" sldId="623"/>
            <ac:spMk id="13" creationId="{00000000-0000-0000-0000-000000000000}"/>
          </ac:spMkLst>
        </pc:spChg>
        <pc:spChg chg="add">
          <ac:chgData name="Elkin Gómez" userId="385c81511b083e44" providerId="LiveId" clId="{28FC696F-35B8-4250-866E-37577D9724C4}" dt="2026-09-07T22:55:48.129" v="264" actId="26606"/>
          <ac:spMkLst>
            <pc:docMk/>
            <pc:sldMk cId="479257405" sldId="623"/>
            <ac:spMk id="14" creationId="{00000000-0000-0000-0000-000000000000}"/>
          </ac:spMkLst>
        </pc:spChg>
        <pc:spChg chg="add">
          <ac:chgData name="Elkin Gómez" userId="385c81511b083e44" providerId="LiveId" clId="{28FC696F-35B8-4250-866E-37577D9724C4}" dt="2026-09-07T22:55:48.129" v="264" actId="26606"/>
          <ac:spMkLst>
            <pc:docMk/>
            <pc:sldMk cId="479257405" sldId="623"/>
            <ac:spMk id="15" creationId="{00000000-0000-0000-0000-000000000000}"/>
          </ac:spMkLst>
        </pc:spChg>
        <pc:spChg chg="add">
          <ac:chgData name="Elkin Gómez" userId="385c81511b083e44" providerId="LiveId" clId="{28FC696F-35B8-4250-866E-37577D9724C4}" dt="2026-09-07T22:55:48.129" v="264" actId="26606"/>
          <ac:spMkLst>
            <pc:docMk/>
            <pc:sldMk cId="479257405" sldId="623"/>
            <ac:spMk id="16" creationId="{00000000-0000-0000-0000-000000000000}"/>
          </ac:spMkLst>
        </pc:spChg>
        <pc:spChg chg="add">
          <ac:chgData name="Elkin Gómez" userId="385c81511b083e44" providerId="LiveId" clId="{28FC696F-35B8-4250-866E-37577D9724C4}" dt="2026-09-07T22:55:48.129" v="264" actId="26606"/>
          <ac:spMkLst>
            <pc:docMk/>
            <pc:sldMk cId="479257405" sldId="623"/>
            <ac:spMk id="17" creationId="{00000000-0000-0000-0000-000000000000}"/>
          </ac:spMkLst>
        </pc:spChg>
      </pc:sldChg>
      <pc:sldChg chg="addSp delSp modSp mod">
        <pc:chgData name="Elkin Gómez" userId="385c81511b083e44" providerId="LiveId" clId="{28FC696F-35B8-4250-866E-37577D9724C4}" dt="2026-09-07T22:55:48.129" v="264" actId="26606"/>
        <pc:sldMkLst>
          <pc:docMk/>
          <pc:sldMk cId="2617009571" sldId="624"/>
        </pc:sldMkLst>
        <pc:spChg chg="mod">
          <ac:chgData name="Elkin Gómez" userId="385c81511b083e44" providerId="LiveId" clId="{28FC696F-35B8-4250-866E-37577D9724C4}" dt="2026-09-07T22:55:48.129" v="264" actId="26606"/>
          <ac:spMkLst>
            <pc:docMk/>
            <pc:sldMk cId="2617009571" sldId="624"/>
            <ac:spMk id="6" creationId="{92345F2F-06C0-4224-948D-A452F4E4D0A2}"/>
          </ac:spMkLst>
        </pc:spChg>
        <pc:spChg chg="add">
          <ac:chgData name="Elkin Gómez" userId="385c81511b083e44" providerId="LiveId" clId="{28FC696F-35B8-4250-866E-37577D9724C4}" dt="2026-09-07T22:55:48.129" v="264" actId="26606"/>
          <ac:spMkLst>
            <pc:docMk/>
            <pc:sldMk cId="2617009571" sldId="624"/>
            <ac:spMk id="8" creationId="{00000000-0000-0000-0000-000000000000}"/>
          </ac:spMkLst>
        </pc:spChg>
        <pc:spChg chg="add">
          <ac:chgData name="Elkin Gómez" userId="385c81511b083e44" providerId="LiveId" clId="{28FC696F-35B8-4250-866E-37577D9724C4}" dt="2026-09-07T22:55:48.129" v="264" actId="26606"/>
          <ac:spMkLst>
            <pc:docMk/>
            <pc:sldMk cId="2617009571" sldId="624"/>
            <ac:spMk id="9" creationId="{00000000-0000-0000-0000-000000000000}"/>
          </ac:spMkLst>
        </pc:spChg>
        <pc:spChg chg="add">
          <ac:chgData name="Elkin Gómez" userId="385c81511b083e44" providerId="LiveId" clId="{28FC696F-35B8-4250-866E-37577D9724C4}" dt="2026-09-07T22:55:48.129" v="264" actId="26606"/>
          <ac:spMkLst>
            <pc:docMk/>
            <pc:sldMk cId="2617009571" sldId="624"/>
            <ac:spMk id="10" creationId="{00000000-0000-0000-0000-000000000000}"/>
          </ac:spMkLst>
        </pc:spChg>
        <pc:spChg chg="add">
          <ac:chgData name="Elkin Gómez" userId="385c81511b083e44" providerId="LiveId" clId="{28FC696F-35B8-4250-866E-37577D9724C4}" dt="2026-09-07T22:55:48.129" v="264" actId="26606"/>
          <ac:spMkLst>
            <pc:docMk/>
            <pc:sldMk cId="2617009571" sldId="624"/>
            <ac:spMk id="11" creationId="{00000000-0000-0000-0000-000000000000}"/>
          </ac:spMkLst>
        </pc:spChg>
        <pc:spChg chg="add">
          <ac:chgData name="Elkin Gómez" userId="385c81511b083e44" providerId="LiveId" clId="{28FC696F-35B8-4250-866E-37577D9724C4}" dt="2026-09-07T22:55:48.129" v="264" actId="26606"/>
          <ac:spMkLst>
            <pc:docMk/>
            <pc:sldMk cId="2617009571" sldId="624"/>
            <ac:spMk id="12" creationId="{00000000-0000-0000-0000-000000000000}"/>
          </ac:spMkLst>
        </pc:spChg>
        <pc:spChg chg="add">
          <ac:chgData name="Elkin Gómez" userId="385c81511b083e44" providerId="LiveId" clId="{28FC696F-35B8-4250-866E-37577D9724C4}" dt="2026-09-07T22:55:48.129" v="264" actId="26606"/>
          <ac:spMkLst>
            <pc:docMk/>
            <pc:sldMk cId="2617009571" sldId="624"/>
            <ac:spMk id="13" creationId="{00000000-0000-0000-0000-000000000000}"/>
          </ac:spMkLst>
        </pc:spChg>
        <pc:spChg chg="add">
          <ac:chgData name="Elkin Gómez" userId="385c81511b083e44" providerId="LiveId" clId="{28FC696F-35B8-4250-866E-37577D9724C4}" dt="2026-09-07T22:55:48.129" v="264" actId="26606"/>
          <ac:spMkLst>
            <pc:docMk/>
            <pc:sldMk cId="2617009571" sldId="624"/>
            <ac:spMk id="14" creationId="{00000000-0000-0000-0000-000000000000}"/>
          </ac:spMkLst>
        </pc:spChg>
        <pc:spChg chg="add">
          <ac:chgData name="Elkin Gómez" userId="385c81511b083e44" providerId="LiveId" clId="{28FC696F-35B8-4250-866E-37577D9724C4}" dt="2026-09-07T22:55:48.129" v="264" actId="26606"/>
          <ac:spMkLst>
            <pc:docMk/>
            <pc:sldMk cId="2617009571" sldId="624"/>
            <ac:spMk id="17" creationId="{00000000-0000-0000-0000-000000000000}"/>
          </ac:spMkLst>
        </pc:spChg>
        <pc:spChg chg="add">
          <ac:chgData name="Elkin Gómez" userId="385c81511b083e44" providerId="LiveId" clId="{28FC696F-35B8-4250-866E-37577D9724C4}" dt="2026-09-07T22:55:48.129" v="264" actId="26606"/>
          <ac:spMkLst>
            <pc:docMk/>
            <pc:sldMk cId="2617009571" sldId="624"/>
            <ac:spMk id="18" creationId="{00000000-0000-0000-0000-000000000000}"/>
          </ac:spMkLst>
        </pc:spChg>
        <pc:picChg chg="mod">
          <ac:chgData name="Elkin Gómez" userId="385c81511b083e44" providerId="LiveId" clId="{28FC696F-35B8-4250-866E-37577D9724C4}" dt="2026-09-07T21:05:32.184" v="18" actId="26606"/>
          <ac:picMkLst>
            <pc:docMk/>
            <pc:sldMk cId="2617009571" sldId="624"/>
            <ac:picMk id="49154" creationId="{00000000-0000-0000-0000-000000000000}"/>
          </ac:picMkLst>
        </pc:picChg>
      </pc:sldChg>
      <pc:sldChg chg="addSp delSp modSp mod">
        <pc:chgData name="Elkin Gómez" userId="385c81511b083e44" providerId="LiveId" clId="{28FC696F-35B8-4250-866E-37577D9724C4}" dt="2026-09-07T22:59:26.285" v="266" actId="26606"/>
        <pc:sldMkLst>
          <pc:docMk/>
          <pc:sldMk cId="935808247" sldId="627"/>
        </pc:sldMkLst>
        <pc:spChg chg="add">
          <ac:chgData name="Elkin Gómez" userId="385c81511b083e44" providerId="LiveId" clId="{28FC696F-35B8-4250-866E-37577D9724C4}" dt="2026-09-07T22:59:26.285" v="266" actId="26606"/>
          <ac:spMkLst>
            <pc:docMk/>
            <pc:sldMk cId="935808247" sldId="627"/>
            <ac:spMk id="7" creationId="{00000000-0000-0000-0000-000000000000}"/>
          </ac:spMkLst>
        </pc:spChg>
        <pc:spChg chg="add">
          <ac:chgData name="Elkin Gómez" userId="385c81511b083e44" providerId="LiveId" clId="{28FC696F-35B8-4250-866E-37577D9724C4}" dt="2026-09-07T22:59:26.285" v="266" actId="26606"/>
          <ac:spMkLst>
            <pc:docMk/>
            <pc:sldMk cId="935808247" sldId="627"/>
            <ac:spMk id="8" creationId="{00000000-0000-0000-0000-000000000000}"/>
          </ac:spMkLst>
        </pc:spChg>
        <pc:spChg chg="add">
          <ac:chgData name="Elkin Gómez" userId="385c81511b083e44" providerId="LiveId" clId="{28FC696F-35B8-4250-866E-37577D9724C4}" dt="2026-09-07T22:59:26.285" v="266" actId="26606"/>
          <ac:spMkLst>
            <pc:docMk/>
            <pc:sldMk cId="935808247" sldId="627"/>
            <ac:spMk id="9" creationId="{00000000-0000-0000-0000-000000000000}"/>
          </ac:spMkLst>
        </pc:spChg>
        <pc:spChg chg="add">
          <ac:chgData name="Elkin Gómez" userId="385c81511b083e44" providerId="LiveId" clId="{28FC696F-35B8-4250-866E-37577D9724C4}" dt="2026-09-07T22:59:26.285" v="266" actId="26606"/>
          <ac:spMkLst>
            <pc:docMk/>
            <pc:sldMk cId="935808247" sldId="627"/>
            <ac:spMk id="10" creationId="{00000000-0000-0000-0000-000000000000}"/>
          </ac:spMkLst>
        </pc:spChg>
        <pc:spChg chg="add">
          <ac:chgData name="Elkin Gómez" userId="385c81511b083e44" providerId="LiveId" clId="{28FC696F-35B8-4250-866E-37577D9724C4}" dt="2026-09-07T22:59:26.285" v="266" actId="26606"/>
          <ac:spMkLst>
            <pc:docMk/>
            <pc:sldMk cId="935808247" sldId="627"/>
            <ac:spMk id="12" creationId="{00000000-0000-0000-0000-000000000000}"/>
          </ac:spMkLst>
        </pc:spChg>
        <pc:spChg chg="add">
          <ac:chgData name="Elkin Gómez" userId="385c81511b083e44" providerId="LiveId" clId="{28FC696F-35B8-4250-866E-37577D9724C4}" dt="2026-09-07T22:59:26.285" v="266" actId="26606"/>
          <ac:spMkLst>
            <pc:docMk/>
            <pc:sldMk cId="935808247" sldId="627"/>
            <ac:spMk id="13" creationId="{00000000-0000-0000-0000-000000000000}"/>
          </ac:spMkLst>
        </pc:spChg>
        <pc:spChg chg="add">
          <ac:chgData name="Elkin Gómez" userId="385c81511b083e44" providerId="LiveId" clId="{28FC696F-35B8-4250-866E-37577D9724C4}" dt="2026-09-07T22:59:26.285" v="266" actId="26606"/>
          <ac:spMkLst>
            <pc:docMk/>
            <pc:sldMk cId="935808247" sldId="627"/>
            <ac:spMk id="16" creationId="{00000000-0000-0000-0000-000000000000}"/>
          </ac:spMkLst>
        </pc:spChg>
        <pc:spChg chg="add">
          <ac:chgData name="Elkin Gómez" userId="385c81511b083e44" providerId="LiveId" clId="{28FC696F-35B8-4250-866E-37577D9724C4}" dt="2026-09-07T22:59:26.285" v="266" actId="26606"/>
          <ac:spMkLst>
            <pc:docMk/>
            <pc:sldMk cId="935808247" sldId="627"/>
            <ac:spMk id="18" creationId="{00000000-0000-0000-0000-000000000000}"/>
          </ac:spMkLst>
        </pc:spChg>
        <pc:spChg chg="add">
          <ac:chgData name="Elkin Gómez" userId="385c81511b083e44" providerId="LiveId" clId="{28FC696F-35B8-4250-866E-37577D9724C4}" dt="2026-09-07T22:59:26.285" v="266" actId="26606"/>
          <ac:spMkLst>
            <pc:docMk/>
            <pc:sldMk cId="935808247" sldId="627"/>
            <ac:spMk id="19" creationId="{00000000-0000-0000-0000-000000000000}"/>
          </ac:spMkLst>
        </pc:spChg>
        <pc:spChg chg="add">
          <ac:chgData name="Elkin Gómez" userId="385c81511b083e44" providerId="LiveId" clId="{28FC696F-35B8-4250-866E-37577D9724C4}" dt="2026-09-07T22:59:26.285" v="266" actId="26606"/>
          <ac:spMkLst>
            <pc:docMk/>
            <pc:sldMk cId="935808247" sldId="627"/>
            <ac:spMk id="22" creationId="{00000000-0000-0000-0000-000000000000}"/>
          </ac:spMkLst>
        </pc:spChg>
        <pc:picChg chg="mod">
          <ac:chgData name="Elkin Gómez" userId="385c81511b083e44" providerId="LiveId" clId="{28FC696F-35B8-4250-866E-37577D9724C4}" dt="2026-09-07T21:05:32.184" v="18" actId="26606"/>
          <ac:picMkLst>
            <pc:docMk/>
            <pc:sldMk cId="935808247" sldId="627"/>
            <ac:picMk id="60418" creationId="{00000000-0000-0000-0000-000000000000}"/>
          </ac:picMkLst>
        </pc:picChg>
      </pc:sldChg>
      <pc:sldChg chg="addSp delSp modSp mod">
        <pc:chgData name="Elkin Gómez" userId="385c81511b083e44" providerId="LiveId" clId="{28FC696F-35B8-4250-866E-37577D9724C4}" dt="2026-09-07T23:04:17.724" v="268" actId="26606"/>
        <pc:sldMkLst>
          <pc:docMk/>
          <pc:sldMk cId="2955927537" sldId="629"/>
        </pc:sldMkLst>
        <pc:spChg chg="mod">
          <ac:chgData name="Elkin Gómez" userId="385c81511b083e44" providerId="LiveId" clId="{28FC696F-35B8-4250-866E-37577D9724C4}" dt="2026-09-07T23:04:17.724" v="268" actId="26606"/>
          <ac:spMkLst>
            <pc:docMk/>
            <pc:sldMk cId="2955927537" sldId="629"/>
            <ac:spMk id="6" creationId="{3BF1A817-9791-4BB4-9603-10D8123EB2D0}"/>
          </ac:spMkLst>
        </pc:spChg>
        <pc:spChg chg="add">
          <ac:chgData name="Elkin Gómez" userId="385c81511b083e44" providerId="LiveId" clId="{28FC696F-35B8-4250-866E-37577D9724C4}" dt="2026-09-07T23:04:17.724" v="268" actId="26606"/>
          <ac:spMkLst>
            <pc:docMk/>
            <pc:sldMk cId="2955927537" sldId="629"/>
            <ac:spMk id="62467" creationId="{00000000-0000-0000-0000-000000000000}"/>
          </ac:spMkLst>
        </pc:spChg>
        <pc:spChg chg="add">
          <ac:chgData name="Elkin Gómez" userId="385c81511b083e44" providerId="LiveId" clId="{28FC696F-35B8-4250-866E-37577D9724C4}" dt="2026-09-07T23:04:17.724" v="268" actId="26606"/>
          <ac:spMkLst>
            <pc:docMk/>
            <pc:sldMk cId="2955927537" sldId="629"/>
            <ac:spMk id="62468" creationId="{00000000-0000-0000-0000-000000000000}"/>
          </ac:spMkLst>
        </pc:spChg>
        <pc:spChg chg="add">
          <ac:chgData name="Elkin Gómez" userId="385c81511b083e44" providerId="LiveId" clId="{28FC696F-35B8-4250-866E-37577D9724C4}" dt="2026-09-07T23:04:17.724" v="268" actId="26606"/>
          <ac:spMkLst>
            <pc:docMk/>
            <pc:sldMk cId="2955927537" sldId="629"/>
            <ac:spMk id="62469" creationId="{00000000-0000-0000-0000-000000000000}"/>
          </ac:spMkLst>
        </pc:spChg>
        <pc:spChg chg="add">
          <ac:chgData name="Elkin Gómez" userId="385c81511b083e44" providerId="LiveId" clId="{28FC696F-35B8-4250-866E-37577D9724C4}" dt="2026-09-07T23:04:17.724" v="268" actId="26606"/>
          <ac:spMkLst>
            <pc:docMk/>
            <pc:sldMk cId="2955927537" sldId="629"/>
            <ac:spMk id="62471" creationId="{00000000-0000-0000-0000-000000000000}"/>
          </ac:spMkLst>
        </pc:spChg>
        <pc:spChg chg="add">
          <ac:chgData name="Elkin Gómez" userId="385c81511b083e44" providerId="LiveId" clId="{28FC696F-35B8-4250-866E-37577D9724C4}" dt="2026-09-07T23:04:17.724" v="268" actId="26606"/>
          <ac:spMkLst>
            <pc:docMk/>
            <pc:sldMk cId="2955927537" sldId="629"/>
            <ac:spMk id="62472" creationId="{00000000-0000-0000-0000-000000000000}"/>
          </ac:spMkLst>
        </pc:spChg>
        <pc:spChg chg="add">
          <ac:chgData name="Elkin Gómez" userId="385c81511b083e44" providerId="LiveId" clId="{28FC696F-35B8-4250-866E-37577D9724C4}" dt="2026-09-07T23:04:17.724" v="268" actId="26606"/>
          <ac:spMkLst>
            <pc:docMk/>
            <pc:sldMk cId="2955927537" sldId="629"/>
            <ac:spMk id="62474" creationId="{00000000-0000-0000-0000-000000000000}"/>
          </ac:spMkLst>
        </pc:spChg>
        <pc:spChg chg="add">
          <ac:chgData name="Elkin Gómez" userId="385c81511b083e44" providerId="LiveId" clId="{28FC696F-35B8-4250-866E-37577D9724C4}" dt="2026-09-07T23:04:17.724" v="268" actId="26606"/>
          <ac:spMkLst>
            <pc:docMk/>
            <pc:sldMk cId="2955927537" sldId="629"/>
            <ac:spMk id="62475" creationId="{00000000-0000-0000-0000-000000000000}"/>
          </ac:spMkLst>
        </pc:spChg>
        <pc:spChg chg="add">
          <ac:chgData name="Elkin Gómez" userId="385c81511b083e44" providerId="LiveId" clId="{28FC696F-35B8-4250-866E-37577D9724C4}" dt="2026-09-07T23:04:17.724" v="268" actId="26606"/>
          <ac:spMkLst>
            <pc:docMk/>
            <pc:sldMk cId="2955927537" sldId="629"/>
            <ac:spMk id="62478" creationId="{00000000-0000-0000-0000-000000000000}"/>
          </ac:spMkLst>
        </pc:spChg>
        <pc:spChg chg="add">
          <ac:chgData name="Elkin Gómez" userId="385c81511b083e44" providerId="LiveId" clId="{28FC696F-35B8-4250-866E-37577D9724C4}" dt="2026-09-07T23:04:17.724" v="268" actId="26606"/>
          <ac:spMkLst>
            <pc:docMk/>
            <pc:sldMk cId="2955927537" sldId="629"/>
            <ac:spMk id="62479" creationId="{00000000-0000-0000-0000-000000000000}"/>
          </ac:spMkLst>
        </pc:spChg>
      </pc:sldChg>
      <pc:sldChg chg="addSp delSp modSp mod">
        <pc:chgData name="Elkin Gómez" userId="385c81511b083e44" providerId="LiveId" clId="{28FC696F-35B8-4250-866E-37577D9724C4}" dt="2026-09-07T23:16:38.456" v="271" actId="26606"/>
        <pc:sldMkLst>
          <pc:docMk/>
          <pc:sldMk cId="2904443109" sldId="631"/>
        </pc:sldMkLst>
        <pc:spChg chg="mod">
          <ac:chgData name="Elkin Gómez" userId="385c81511b083e44" providerId="LiveId" clId="{28FC696F-35B8-4250-866E-37577D9724C4}" dt="2026-09-07T23:16:38.456" v="271" actId="26606"/>
          <ac:spMkLst>
            <pc:docMk/>
            <pc:sldMk cId="2904443109" sldId="631"/>
            <ac:spMk id="6" creationId="{8C182686-9B54-42C1-A93B-372E1C38CB9C}"/>
          </ac:spMkLst>
        </pc:spChg>
        <pc:spChg chg="mod">
          <ac:chgData name="Elkin Gómez" userId="385c81511b083e44" providerId="LiveId" clId="{28FC696F-35B8-4250-866E-37577D9724C4}" dt="2026-09-07T23:16:38.456" v="271" actId="26606"/>
          <ac:spMkLst>
            <pc:docMk/>
            <pc:sldMk cId="2904443109" sldId="631"/>
            <ac:spMk id="63490" creationId="{00000000-0000-0000-0000-000000000000}"/>
          </ac:spMkLst>
        </pc:spChg>
        <pc:spChg chg="add del">
          <ac:chgData name="Elkin Gómez" userId="385c81511b083e44" providerId="LiveId" clId="{28FC696F-35B8-4250-866E-37577D9724C4}" dt="2026-09-07T23:16:38.456" v="271" actId="26606"/>
          <ac:spMkLst>
            <pc:docMk/>
            <pc:sldMk cId="2904443109" sldId="631"/>
            <ac:spMk id="63492" creationId="{00000000-0000-0000-0000-000000000000}"/>
          </ac:spMkLst>
        </pc:spChg>
        <pc:spChg chg="add del">
          <ac:chgData name="Elkin Gómez" userId="385c81511b083e44" providerId="LiveId" clId="{28FC696F-35B8-4250-866E-37577D9724C4}" dt="2026-09-07T23:16:38.456" v="271" actId="26606"/>
          <ac:spMkLst>
            <pc:docMk/>
            <pc:sldMk cId="2904443109" sldId="631"/>
            <ac:spMk id="63495" creationId="{00000000-0000-0000-0000-000000000000}"/>
          </ac:spMkLst>
        </pc:spChg>
        <pc:spChg chg="add del">
          <ac:chgData name="Elkin Gómez" userId="385c81511b083e44" providerId="LiveId" clId="{28FC696F-35B8-4250-866E-37577D9724C4}" dt="2026-09-07T23:16:38.456" v="271" actId="26606"/>
          <ac:spMkLst>
            <pc:docMk/>
            <pc:sldMk cId="2904443109" sldId="631"/>
            <ac:spMk id="63498" creationId="{00000000-0000-0000-0000-000000000000}"/>
          </ac:spMkLst>
        </pc:spChg>
        <pc:spChg chg="add del">
          <ac:chgData name="Elkin Gómez" userId="385c81511b083e44" providerId="LiveId" clId="{28FC696F-35B8-4250-866E-37577D9724C4}" dt="2026-09-07T23:16:38.456" v="271" actId="26606"/>
          <ac:spMkLst>
            <pc:docMk/>
            <pc:sldMk cId="2904443109" sldId="631"/>
            <ac:spMk id="63499" creationId="{00000000-0000-0000-0000-000000000000}"/>
          </ac:spMkLst>
        </pc:spChg>
        <pc:spChg chg="add del">
          <ac:chgData name="Elkin Gómez" userId="385c81511b083e44" providerId="LiveId" clId="{28FC696F-35B8-4250-866E-37577D9724C4}" dt="2026-09-07T23:16:38.456" v="271" actId="26606"/>
          <ac:spMkLst>
            <pc:docMk/>
            <pc:sldMk cId="2904443109" sldId="631"/>
            <ac:spMk id="63501" creationId="{00000000-0000-0000-0000-000000000000}"/>
          </ac:spMkLst>
        </pc:spChg>
        <pc:spChg chg="add del">
          <ac:chgData name="Elkin Gómez" userId="385c81511b083e44" providerId="LiveId" clId="{28FC696F-35B8-4250-866E-37577D9724C4}" dt="2026-09-07T23:16:38.456" v="271" actId="26606"/>
          <ac:spMkLst>
            <pc:docMk/>
            <pc:sldMk cId="2904443109" sldId="631"/>
            <ac:spMk id="63502" creationId="{00000000-0000-0000-0000-000000000000}"/>
          </ac:spMkLst>
        </pc:spChg>
        <pc:spChg chg="add del">
          <ac:chgData name="Elkin Gómez" userId="385c81511b083e44" providerId="LiveId" clId="{28FC696F-35B8-4250-866E-37577D9724C4}" dt="2026-09-07T23:16:38.456" v="271" actId="26606"/>
          <ac:spMkLst>
            <pc:docMk/>
            <pc:sldMk cId="2904443109" sldId="631"/>
            <ac:spMk id="63503" creationId="{00000000-0000-0000-0000-000000000000}"/>
          </ac:spMkLst>
        </pc:spChg>
        <pc:spChg chg="add del">
          <ac:chgData name="Elkin Gómez" userId="385c81511b083e44" providerId="LiveId" clId="{28FC696F-35B8-4250-866E-37577D9724C4}" dt="2026-09-07T23:16:38.456" v="271" actId="26606"/>
          <ac:spMkLst>
            <pc:docMk/>
            <pc:sldMk cId="2904443109" sldId="631"/>
            <ac:spMk id="63504" creationId="{00000000-0000-0000-0000-000000000000}"/>
          </ac:spMkLst>
        </pc:spChg>
        <pc:picChg chg="mod">
          <ac:chgData name="Elkin Gómez" userId="385c81511b083e44" providerId="LiveId" clId="{28FC696F-35B8-4250-866E-37577D9724C4}" dt="2026-09-07T21:05:32.184" v="18" actId="26606"/>
          <ac:picMkLst>
            <pc:docMk/>
            <pc:sldMk cId="2904443109" sldId="631"/>
            <ac:picMk id="4" creationId="{00000000-0000-0000-0000-000000000000}"/>
          </ac:picMkLst>
        </pc:picChg>
      </pc:sldChg>
      <pc:sldChg chg="addSp modSp mod">
        <pc:chgData name="Elkin Gómez" userId="385c81511b083e44" providerId="LiveId" clId="{28FC696F-35B8-4250-866E-37577D9724C4}" dt="2026-09-07T21:55:09.321" v="135" actId="404"/>
        <pc:sldMkLst>
          <pc:docMk/>
          <pc:sldMk cId="361646681" sldId="638"/>
        </pc:sldMkLst>
        <pc:spChg chg="add">
          <ac:chgData name="Elkin Gómez" userId="385c81511b083e44" providerId="LiveId" clId="{28FC696F-35B8-4250-866E-37577D9724C4}" dt="2026-09-07T21:54:55.310" v="133" actId="26606"/>
          <ac:spMkLst>
            <pc:docMk/>
            <pc:sldMk cId="361646681" sldId="638"/>
            <ac:spMk id="66563" creationId="{00000000-0000-0000-0000-000000000000}"/>
          </ac:spMkLst>
        </pc:spChg>
        <pc:spChg chg="add mod">
          <ac:chgData name="Elkin Gómez" userId="385c81511b083e44" providerId="LiveId" clId="{28FC696F-35B8-4250-866E-37577D9724C4}" dt="2026-09-07T21:55:09.321" v="135" actId="404"/>
          <ac:spMkLst>
            <pc:docMk/>
            <pc:sldMk cId="361646681" sldId="638"/>
            <ac:spMk id="66564" creationId="{00000000-0000-0000-0000-000000000000}"/>
          </ac:spMkLst>
        </pc:spChg>
        <pc:spChg chg="add mod">
          <ac:chgData name="Elkin Gómez" userId="385c81511b083e44" providerId="LiveId" clId="{28FC696F-35B8-4250-866E-37577D9724C4}" dt="2026-09-07T21:55:05.346" v="134" actId="404"/>
          <ac:spMkLst>
            <pc:docMk/>
            <pc:sldMk cId="361646681" sldId="638"/>
            <ac:spMk id="66565" creationId="{00000000-0000-0000-0000-000000000000}"/>
          </ac:spMkLst>
        </pc:spChg>
        <pc:spChg chg="add mod">
          <ac:chgData name="Elkin Gómez" userId="385c81511b083e44" providerId="LiveId" clId="{28FC696F-35B8-4250-866E-37577D9724C4}" dt="2026-09-07T21:55:09.321" v="135" actId="404"/>
          <ac:spMkLst>
            <pc:docMk/>
            <pc:sldMk cId="361646681" sldId="638"/>
            <ac:spMk id="66566" creationId="{00000000-0000-0000-0000-000000000000}"/>
          </ac:spMkLst>
        </pc:spChg>
        <pc:spChg chg="add mod">
          <ac:chgData name="Elkin Gómez" userId="385c81511b083e44" providerId="LiveId" clId="{28FC696F-35B8-4250-866E-37577D9724C4}" dt="2026-09-07T21:55:05.346" v="134" actId="404"/>
          <ac:spMkLst>
            <pc:docMk/>
            <pc:sldMk cId="361646681" sldId="638"/>
            <ac:spMk id="66567" creationId="{00000000-0000-0000-0000-000000000000}"/>
          </ac:spMkLst>
        </pc:spChg>
        <pc:spChg chg="add mod">
          <ac:chgData name="Elkin Gómez" userId="385c81511b083e44" providerId="LiveId" clId="{28FC696F-35B8-4250-866E-37577D9724C4}" dt="2026-09-07T21:55:09.321" v="135" actId="404"/>
          <ac:spMkLst>
            <pc:docMk/>
            <pc:sldMk cId="361646681" sldId="638"/>
            <ac:spMk id="66568" creationId="{00000000-0000-0000-0000-000000000000}"/>
          </ac:spMkLst>
        </pc:spChg>
        <pc:spChg chg="add mod">
          <ac:chgData name="Elkin Gómez" userId="385c81511b083e44" providerId="LiveId" clId="{28FC696F-35B8-4250-866E-37577D9724C4}" dt="2026-09-07T21:55:05.346" v="134" actId="404"/>
          <ac:spMkLst>
            <pc:docMk/>
            <pc:sldMk cId="361646681" sldId="638"/>
            <ac:spMk id="66569" creationId="{00000000-0000-0000-0000-000000000000}"/>
          </ac:spMkLst>
        </pc:spChg>
        <pc:picChg chg="mod">
          <ac:chgData name="Elkin Gómez" userId="385c81511b083e44" providerId="LiveId" clId="{28FC696F-35B8-4250-866E-37577D9724C4}" dt="2026-09-07T21:05:32.184" v="18" actId="26606"/>
          <ac:picMkLst>
            <pc:docMk/>
            <pc:sldMk cId="361646681" sldId="638"/>
            <ac:picMk id="3" creationId="{00000000-0000-0000-0000-000000000000}"/>
          </ac:picMkLst>
        </pc:picChg>
      </pc:sldChg>
      <pc:sldChg chg="addSp modSp mod">
        <pc:chgData name="Elkin Gómez" userId="385c81511b083e44" providerId="LiveId" clId="{28FC696F-35B8-4250-866E-37577D9724C4}" dt="2026-09-07T21:53:02.329" v="131" actId="26606"/>
        <pc:sldMkLst>
          <pc:docMk/>
          <pc:sldMk cId="2347620615" sldId="639"/>
        </pc:sldMkLst>
        <pc:spChg chg="add">
          <ac:chgData name="Elkin Gómez" userId="385c81511b083e44" providerId="LiveId" clId="{28FC696F-35B8-4250-866E-37577D9724C4}" dt="2026-09-07T21:53:02.329" v="131" actId="26606"/>
          <ac:spMkLst>
            <pc:docMk/>
            <pc:sldMk cId="2347620615" sldId="639"/>
            <ac:spMk id="69635" creationId="{00000000-0000-0000-0000-000000000000}"/>
          </ac:spMkLst>
        </pc:spChg>
        <pc:spChg chg="add">
          <ac:chgData name="Elkin Gómez" userId="385c81511b083e44" providerId="LiveId" clId="{28FC696F-35B8-4250-866E-37577D9724C4}" dt="2026-09-07T21:53:02.329" v="131" actId="26606"/>
          <ac:spMkLst>
            <pc:docMk/>
            <pc:sldMk cId="2347620615" sldId="639"/>
            <ac:spMk id="69636" creationId="{00000000-0000-0000-0000-000000000000}"/>
          </ac:spMkLst>
        </pc:spChg>
        <pc:spChg chg="add">
          <ac:chgData name="Elkin Gómez" userId="385c81511b083e44" providerId="LiveId" clId="{28FC696F-35B8-4250-866E-37577D9724C4}" dt="2026-09-07T21:53:02.329" v="131" actId="26606"/>
          <ac:spMkLst>
            <pc:docMk/>
            <pc:sldMk cId="2347620615" sldId="639"/>
            <ac:spMk id="69637" creationId="{00000000-0000-0000-0000-000000000000}"/>
          </ac:spMkLst>
        </pc:spChg>
        <pc:spChg chg="add">
          <ac:chgData name="Elkin Gómez" userId="385c81511b083e44" providerId="LiveId" clId="{28FC696F-35B8-4250-866E-37577D9724C4}" dt="2026-09-07T21:53:02.329" v="131" actId="26606"/>
          <ac:spMkLst>
            <pc:docMk/>
            <pc:sldMk cId="2347620615" sldId="639"/>
            <ac:spMk id="69638" creationId="{00000000-0000-0000-0000-000000000000}"/>
          </ac:spMkLst>
        </pc:spChg>
        <pc:spChg chg="add">
          <ac:chgData name="Elkin Gómez" userId="385c81511b083e44" providerId="LiveId" clId="{28FC696F-35B8-4250-866E-37577D9724C4}" dt="2026-09-07T21:53:02.329" v="131" actId="26606"/>
          <ac:spMkLst>
            <pc:docMk/>
            <pc:sldMk cId="2347620615" sldId="639"/>
            <ac:spMk id="69639" creationId="{00000000-0000-0000-0000-000000000000}"/>
          </ac:spMkLst>
        </pc:spChg>
        <pc:spChg chg="add">
          <ac:chgData name="Elkin Gómez" userId="385c81511b083e44" providerId="LiveId" clId="{28FC696F-35B8-4250-866E-37577D9724C4}" dt="2026-09-07T21:53:02.329" v="131" actId="26606"/>
          <ac:spMkLst>
            <pc:docMk/>
            <pc:sldMk cId="2347620615" sldId="639"/>
            <ac:spMk id="69640" creationId="{00000000-0000-0000-0000-000000000000}"/>
          </ac:spMkLst>
        </pc:spChg>
        <pc:spChg chg="add">
          <ac:chgData name="Elkin Gómez" userId="385c81511b083e44" providerId="LiveId" clId="{28FC696F-35B8-4250-866E-37577D9724C4}" dt="2026-09-07T21:53:02.329" v="131" actId="26606"/>
          <ac:spMkLst>
            <pc:docMk/>
            <pc:sldMk cId="2347620615" sldId="639"/>
            <ac:spMk id="69641" creationId="{00000000-0000-0000-0000-000000000000}"/>
          </ac:spMkLst>
        </pc:spChg>
        <pc:picChg chg="mod">
          <ac:chgData name="Elkin Gómez" userId="385c81511b083e44" providerId="LiveId" clId="{28FC696F-35B8-4250-866E-37577D9724C4}" dt="2026-09-07T21:05:32.184" v="18" actId="26606"/>
          <ac:picMkLst>
            <pc:docMk/>
            <pc:sldMk cId="2347620615" sldId="639"/>
            <ac:picMk id="2" creationId="{00000000-0000-0000-0000-000000000000}"/>
          </ac:picMkLst>
        </pc:picChg>
      </pc:sldChg>
      <pc:sldChg chg="modSp mod">
        <pc:chgData name="Elkin Gómez" userId="385c81511b083e44" providerId="LiveId" clId="{28FC696F-35B8-4250-866E-37577D9724C4}" dt="2026-09-07T21:05:32.184" v="18" actId="26606"/>
        <pc:sldMkLst>
          <pc:docMk/>
          <pc:sldMk cId="3202841288" sldId="640"/>
        </pc:sldMkLst>
        <pc:picChg chg="mod">
          <ac:chgData name="Elkin Gómez" userId="385c81511b083e44" providerId="LiveId" clId="{28FC696F-35B8-4250-866E-37577D9724C4}" dt="2026-09-07T21:05:32.184" v="18" actId="26606"/>
          <ac:picMkLst>
            <pc:docMk/>
            <pc:sldMk cId="3202841288" sldId="640"/>
            <ac:picMk id="29698" creationId="{00000000-0000-0000-0000-000000000000}"/>
          </ac:picMkLst>
        </pc:picChg>
        <pc:picChg chg="mod">
          <ac:chgData name="Elkin Gómez" userId="385c81511b083e44" providerId="LiveId" clId="{28FC696F-35B8-4250-866E-37577D9724C4}" dt="2026-09-07T21:05:32.184" v="18" actId="26606"/>
          <ac:picMkLst>
            <pc:docMk/>
            <pc:sldMk cId="3202841288" sldId="640"/>
            <ac:picMk id="29700" creationId="{00000000-0000-0000-0000-000000000000}"/>
          </ac:picMkLst>
        </pc:picChg>
        <pc:picChg chg="mod">
          <ac:chgData name="Elkin Gómez" userId="385c81511b083e44" providerId="LiveId" clId="{28FC696F-35B8-4250-866E-37577D9724C4}" dt="2026-09-07T21:05:32.184" v="18" actId="26606"/>
          <ac:picMkLst>
            <pc:docMk/>
            <pc:sldMk cId="3202841288" sldId="640"/>
            <ac:picMk id="29702" creationId="{00000000-0000-0000-0000-000000000000}"/>
          </ac:picMkLst>
        </pc:picChg>
      </pc:sldChg>
      <pc:sldChg chg="modSp mod">
        <pc:chgData name="Elkin Gómez" userId="385c81511b083e44" providerId="LiveId" clId="{28FC696F-35B8-4250-866E-37577D9724C4}" dt="2026-09-07T21:05:32.184" v="18" actId="26606"/>
        <pc:sldMkLst>
          <pc:docMk/>
          <pc:sldMk cId="3025959150" sldId="644"/>
        </pc:sldMkLst>
        <pc:picChg chg="mod">
          <ac:chgData name="Elkin Gómez" userId="385c81511b083e44" providerId="LiveId" clId="{28FC696F-35B8-4250-866E-37577D9724C4}" dt="2026-09-07T21:05:32.184" v="18" actId="26606"/>
          <ac:picMkLst>
            <pc:docMk/>
            <pc:sldMk cId="3025959150" sldId="644"/>
            <ac:picMk id="3" creationId="{00000000-0000-0000-0000-000000000000}"/>
          </ac:picMkLst>
        </pc:picChg>
      </pc:sldChg>
      <pc:sldChg chg="modSp mod">
        <pc:chgData name="Elkin Gómez" userId="385c81511b083e44" providerId="LiveId" clId="{28FC696F-35B8-4250-866E-37577D9724C4}" dt="2026-09-07T21:05:32.184" v="18" actId="26606"/>
        <pc:sldMkLst>
          <pc:docMk/>
          <pc:sldMk cId="4028700038" sldId="645"/>
        </pc:sldMkLst>
        <pc:picChg chg="mod">
          <ac:chgData name="Elkin Gómez" userId="385c81511b083e44" providerId="LiveId" clId="{28FC696F-35B8-4250-866E-37577D9724C4}" dt="2026-09-07T21:05:32.184" v="18" actId="26606"/>
          <ac:picMkLst>
            <pc:docMk/>
            <pc:sldMk cId="4028700038" sldId="645"/>
            <ac:picMk id="3" creationId="{00000000-0000-0000-0000-000000000000}"/>
          </ac:picMkLst>
        </pc:picChg>
      </pc:sldChg>
      <pc:sldChg chg="modSp mod">
        <pc:chgData name="Elkin Gómez" userId="385c81511b083e44" providerId="LiveId" clId="{28FC696F-35B8-4250-866E-37577D9724C4}" dt="2026-09-07T21:05:32.184" v="18" actId="26606"/>
        <pc:sldMkLst>
          <pc:docMk/>
          <pc:sldMk cId="1771954833" sldId="646"/>
        </pc:sldMkLst>
        <pc:picChg chg="mod">
          <ac:chgData name="Elkin Gómez" userId="385c81511b083e44" providerId="LiveId" clId="{28FC696F-35B8-4250-866E-37577D9724C4}" dt="2026-09-07T21:05:32.184" v="18" actId="26606"/>
          <ac:picMkLst>
            <pc:docMk/>
            <pc:sldMk cId="1771954833" sldId="646"/>
            <ac:picMk id="3" creationId="{00000000-0000-0000-0000-000000000000}"/>
          </ac:picMkLst>
        </pc:picChg>
      </pc:sldChg>
      <pc:sldChg chg="modSp mod">
        <pc:chgData name="Elkin Gómez" userId="385c81511b083e44" providerId="LiveId" clId="{28FC696F-35B8-4250-866E-37577D9724C4}" dt="2026-09-07T21:05:32.184" v="18" actId="26606"/>
        <pc:sldMkLst>
          <pc:docMk/>
          <pc:sldMk cId="1423212566" sldId="647"/>
        </pc:sldMkLst>
        <pc:picChg chg="mod">
          <ac:chgData name="Elkin Gómez" userId="385c81511b083e44" providerId="LiveId" clId="{28FC696F-35B8-4250-866E-37577D9724C4}" dt="2026-09-07T21:05:32.184" v="18" actId="26606"/>
          <ac:picMkLst>
            <pc:docMk/>
            <pc:sldMk cId="1423212566" sldId="647"/>
            <ac:picMk id="3" creationId="{00000000-0000-0000-0000-000000000000}"/>
          </ac:picMkLst>
        </pc:picChg>
      </pc:sldChg>
      <pc:sldChg chg="modSp mod">
        <pc:chgData name="Elkin Gómez" userId="385c81511b083e44" providerId="LiveId" clId="{28FC696F-35B8-4250-866E-37577D9724C4}" dt="2026-09-07T21:05:32.184" v="18" actId="26606"/>
        <pc:sldMkLst>
          <pc:docMk/>
          <pc:sldMk cId="3179979850" sldId="659"/>
        </pc:sldMkLst>
        <pc:picChg chg="mod">
          <ac:chgData name="Elkin Gómez" userId="385c81511b083e44" providerId="LiveId" clId="{28FC696F-35B8-4250-866E-37577D9724C4}" dt="2026-09-07T21:05:32.184" v="18" actId="26606"/>
          <ac:picMkLst>
            <pc:docMk/>
            <pc:sldMk cId="3179979850" sldId="659"/>
            <ac:picMk id="2" creationId="{00000000-0000-0000-0000-000000000000}"/>
          </ac:picMkLst>
        </pc:picChg>
      </pc:sldChg>
      <pc:sldChg chg="modSp mod">
        <pc:chgData name="Elkin Gómez" userId="385c81511b083e44" providerId="LiveId" clId="{28FC696F-35B8-4250-866E-37577D9724C4}" dt="2026-09-07T21:05:32.184" v="18" actId="26606"/>
        <pc:sldMkLst>
          <pc:docMk/>
          <pc:sldMk cId="3577464853" sldId="660"/>
        </pc:sldMkLst>
        <pc:picChg chg="mod">
          <ac:chgData name="Elkin Gómez" userId="385c81511b083e44" providerId="LiveId" clId="{28FC696F-35B8-4250-866E-37577D9724C4}" dt="2026-09-07T21:05:32.184" v="18" actId="26606"/>
          <ac:picMkLst>
            <pc:docMk/>
            <pc:sldMk cId="3577464853" sldId="660"/>
            <ac:picMk id="2" creationId="{00000000-0000-0000-0000-000000000000}"/>
          </ac:picMkLst>
        </pc:picChg>
      </pc:sldChg>
      <pc:sldChg chg="modSp mod">
        <pc:chgData name="Elkin Gómez" userId="385c81511b083e44" providerId="LiveId" clId="{28FC696F-35B8-4250-866E-37577D9724C4}" dt="2026-09-07T21:05:32.184" v="18" actId="26606"/>
        <pc:sldMkLst>
          <pc:docMk/>
          <pc:sldMk cId="3525568691" sldId="662"/>
        </pc:sldMkLst>
        <pc:picChg chg="mod">
          <ac:chgData name="Elkin Gómez" userId="385c81511b083e44" providerId="LiveId" clId="{28FC696F-35B8-4250-866E-37577D9724C4}" dt="2026-09-07T21:05:32.184" v="18" actId="26606"/>
          <ac:picMkLst>
            <pc:docMk/>
            <pc:sldMk cId="3525568691" sldId="662"/>
            <ac:picMk id="2" creationId="{00000000-0000-0000-0000-000000000000}"/>
          </ac:picMkLst>
        </pc:picChg>
      </pc:sldChg>
      <pc:sldChg chg="modSp mod">
        <pc:chgData name="Elkin Gómez" userId="385c81511b083e44" providerId="LiveId" clId="{28FC696F-35B8-4250-866E-37577D9724C4}" dt="2026-09-07T21:05:32.184" v="18" actId="26606"/>
        <pc:sldMkLst>
          <pc:docMk/>
          <pc:sldMk cId="4143910758" sldId="696"/>
        </pc:sldMkLst>
        <pc:picChg chg="mod">
          <ac:chgData name="Elkin Gómez" userId="385c81511b083e44" providerId="LiveId" clId="{28FC696F-35B8-4250-866E-37577D9724C4}" dt="2026-09-07T21:05:32.184" v="18" actId="26606"/>
          <ac:picMkLst>
            <pc:docMk/>
            <pc:sldMk cId="4143910758" sldId="696"/>
            <ac:picMk id="4" creationId="{00000000-0000-0000-0000-000000000000}"/>
          </ac:picMkLst>
        </pc:picChg>
      </pc:sldChg>
      <pc:sldChg chg="modSp mod">
        <pc:chgData name="Elkin Gómez" userId="385c81511b083e44" providerId="LiveId" clId="{28FC696F-35B8-4250-866E-37577D9724C4}" dt="2026-09-07T21:05:32.184" v="18" actId="26606"/>
        <pc:sldMkLst>
          <pc:docMk/>
          <pc:sldMk cId="2667723488" sldId="697"/>
        </pc:sldMkLst>
        <pc:picChg chg="mod">
          <ac:chgData name="Elkin Gómez" userId="385c81511b083e44" providerId="LiveId" clId="{28FC696F-35B8-4250-866E-37577D9724C4}" dt="2026-09-07T21:05:32.184" v="18" actId="26606"/>
          <ac:picMkLst>
            <pc:docMk/>
            <pc:sldMk cId="2667723488" sldId="697"/>
            <ac:picMk id="4" creationId="{00000000-0000-0000-0000-000000000000}"/>
          </ac:picMkLst>
        </pc:picChg>
      </pc:sldChg>
      <pc:sldChg chg="modSp mod">
        <pc:chgData name="Elkin Gómez" userId="385c81511b083e44" providerId="LiveId" clId="{28FC696F-35B8-4250-866E-37577D9724C4}" dt="2026-09-07T21:05:32.184" v="18" actId="26606"/>
        <pc:sldMkLst>
          <pc:docMk/>
          <pc:sldMk cId="1435697065" sldId="698"/>
        </pc:sldMkLst>
        <pc:picChg chg="mod">
          <ac:chgData name="Elkin Gómez" userId="385c81511b083e44" providerId="LiveId" clId="{28FC696F-35B8-4250-866E-37577D9724C4}" dt="2026-09-07T21:05:32.184" v="18" actId="26606"/>
          <ac:picMkLst>
            <pc:docMk/>
            <pc:sldMk cId="1435697065" sldId="698"/>
            <ac:picMk id="4" creationId="{00000000-0000-0000-0000-000000000000}"/>
          </ac:picMkLst>
        </pc:picChg>
      </pc:sldChg>
      <pc:sldChg chg="modSp mod">
        <pc:chgData name="Elkin Gómez" userId="385c81511b083e44" providerId="LiveId" clId="{28FC696F-35B8-4250-866E-37577D9724C4}" dt="2026-09-07T21:05:32.184" v="18" actId="26606"/>
        <pc:sldMkLst>
          <pc:docMk/>
          <pc:sldMk cId="3899850110" sldId="700"/>
        </pc:sldMkLst>
        <pc:picChg chg="mod">
          <ac:chgData name="Elkin Gómez" userId="385c81511b083e44" providerId="LiveId" clId="{28FC696F-35B8-4250-866E-37577D9724C4}" dt="2026-09-07T21:05:32.184" v="18" actId="26606"/>
          <ac:picMkLst>
            <pc:docMk/>
            <pc:sldMk cId="3899850110" sldId="700"/>
            <ac:picMk id="4" creationId="{00000000-0000-0000-0000-000000000000}"/>
          </ac:picMkLst>
        </pc:picChg>
      </pc:sldChg>
      <pc:sldChg chg="modSp mod">
        <pc:chgData name="Elkin Gómez" userId="385c81511b083e44" providerId="LiveId" clId="{28FC696F-35B8-4250-866E-37577D9724C4}" dt="2026-09-07T21:05:32.184" v="18" actId="26606"/>
        <pc:sldMkLst>
          <pc:docMk/>
          <pc:sldMk cId="663260803" sldId="723"/>
        </pc:sldMkLst>
        <pc:picChg chg="mod">
          <ac:chgData name="Elkin Gómez" userId="385c81511b083e44" providerId="LiveId" clId="{28FC696F-35B8-4250-866E-37577D9724C4}" dt="2026-09-07T21:05:32.184" v="18" actId="26606"/>
          <ac:picMkLst>
            <pc:docMk/>
            <pc:sldMk cId="663260803" sldId="723"/>
            <ac:picMk id="4" creationId="{00000000-0000-0000-0000-000000000000}"/>
          </ac:picMkLst>
        </pc:picChg>
      </pc:sldChg>
      <pc:sldChg chg="modNotes">
        <pc:chgData name="Elkin Gómez" userId="385c81511b083e44" providerId="LiveId" clId="{28FC696F-35B8-4250-866E-37577D9724C4}" dt="2026-09-07T21:05:32.184" v="18" actId="26606"/>
        <pc:sldMkLst>
          <pc:docMk/>
          <pc:sldMk cId="3721253776" sldId="750"/>
        </pc:sldMkLst>
      </pc:sldChg>
      <pc:sldChg chg="modSp mod">
        <pc:chgData name="Elkin Gómez" userId="385c81511b083e44" providerId="LiveId" clId="{28FC696F-35B8-4250-866E-37577D9724C4}" dt="2026-09-07T23:19:29.036" v="273" actId="26606"/>
        <pc:sldMkLst>
          <pc:docMk/>
          <pc:sldMk cId="2397110408" sldId="751"/>
        </pc:sldMkLst>
        <pc:graphicFrameChg chg="add mod">
          <ac:chgData name="Elkin Gómez" userId="385c81511b083e44" providerId="LiveId" clId="{28FC696F-35B8-4250-866E-37577D9724C4}" dt="2026-09-07T23:19:29.036" v="273" actId="26606"/>
          <ac:graphicFrameMkLst>
            <pc:docMk/>
            <pc:sldMk cId="2397110408" sldId="751"/>
            <ac:graphicFrameMk id="5" creationId="{00000000-0000-0000-0000-000000000000}"/>
          </ac:graphicFrameMkLst>
        </pc:graphicFrameChg>
      </pc:sldChg>
      <pc:sldChg chg="modSp mod">
        <pc:chgData name="Elkin Gómez" userId="385c81511b083e44" providerId="LiveId" clId="{28FC696F-35B8-4250-866E-37577D9724C4}" dt="2026-09-07T21:05:32.184" v="18" actId="26606"/>
        <pc:sldMkLst>
          <pc:docMk/>
          <pc:sldMk cId="792033598" sldId="760"/>
        </pc:sldMkLst>
        <pc:picChg chg="mod">
          <ac:chgData name="Elkin Gómez" userId="385c81511b083e44" providerId="LiveId" clId="{28FC696F-35B8-4250-866E-37577D9724C4}" dt="2026-09-07T21:05:32.184" v="18" actId="26606"/>
          <ac:picMkLst>
            <pc:docMk/>
            <pc:sldMk cId="792033598" sldId="760"/>
            <ac:picMk id="6" creationId="{00000000-0000-0000-0000-000000000000}"/>
          </ac:picMkLst>
        </pc:picChg>
      </pc:sldChg>
      <pc:sldChg chg="modSp mod">
        <pc:chgData name="Elkin Gómez" userId="385c81511b083e44" providerId="LiveId" clId="{28FC696F-35B8-4250-866E-37577D9724C4}" dt="2026-09-07T21:05:32.184" v="18" actId="26606"/>
        <pc:sldMkLst>
          <pc:docMk/>
          <pc:sldMk cId="123574827" sldId="761"/>
        </pc:sldMkLst>
        <pc:picChg chg="mod">
          <ac:chgData name="Elkin Gómez" userId="385c81511b083e44" providerId="LiveId" clId="{28FC696F-35B8-4250-866E-37577D9724C4}" dt="2026-09-07T21:05:32.184" v="18" actId="26606"/>
          <ac:picMkLst>
            <pc:docMk/>
            <pc:sldMk cId="123574827" sldId="761"/>
            <ac:picMk id="3" creationId="{00000000-0000-0000-0000-000000000000}"/>
          </ac:picMkLst>
        </pc:picChg>
      </pc:sldChg>
      <pc:sldChg chg="modSp mod">
        <pc:chgData name="Elkin Gómez" userId="385c81511b083e44" providerId="LiveId" clId="{28FC696F-35B8-4250-866E-37577D9724C4}" dt="2026-09-07T21:05:32.184" v="18" actId="26606"/>
        <pc:sldMkLst>
          <pc:docMk/>
          <pc:sldMk cId="2357336580" sldId="765"/>
        </pc:sldMkLst>
        <pc:picChg chg="mod">
          <ac:chgData name="Elkin Gómez" userId="385c81511b083e44" providerId="LiveId" clId="{28FC696F-35B8-4250-866E-37577D9724C4}" dt="2026-09-07T21:05:32.184" v="18" actId="26606"/>
          <ac:picMkLst>
            <pc:docMk/>
            <pc:sldMk cId="2357336580" sldId="765"/>
            <ac:picMk id="1028" creationId="{00000000-0000-0000-0000-000000000000}"/>
          </ac:picMkLst>
        </pc:picChg>
      </pc:sldChg>
      <pc:sldChg chg="modSp mod">
        <pc:chgData name="Elkin Gómez" userId="385c81511b083e44" providerId="LiveId" clId="{28FC696F-35B8-4250-866E-37577D9724C4}" dt="2026-09-07T21:05:32.184" v="18" actId="26606"/>
        <pc:sldMkLst>
          <pc:docMk/>
          <pc:sldMk cId="3895884479" sldId="768"/>
        </pc:sldMkLst>
        <pc:picChg chg="mod">
          <ac:chgData name="Elkin Gómez" userId="385c81511b083e44" providerId="LiveId" clId="{28FC696F-35B8-4250-866E-37577D9724C4}" dt="2026-09-07T21:05:32.184" v="18" actId="26606"/>
          <ac:picMkLst>
            <pc:docMk/>
            <pc:sldMk cId="3895884479" sldId="768"/>
            <ac:picMk id="5" creationId="{9CE474AD-BB6A-484A-A466-FB6F4B6A8680}"/>
          </ac:picMkLst>
        </pc:picChg>
      </pc:sldChg>
      <pc:sldChg chg="addSp modSp mod">
        <pc:chgData name="Elkin Gómez" userId="385c81511b083e44" providerId="LiveId" clId="{28FC696F-35B8-4250-866E-37577D9724C4}" dt="2026-09-04T18:49:18.012" v="10" actId="1076"/>
        <pc:sldMkLst>
          <pc:docMk/>
          <pc:sldMk cId="4163126974" sldId="771"/>
        </pc:sldMkLst>
        <pc:spChg chg="add mod">
          <ac:chgData name="Elkin Gómez" userId="385c81511b083e44" providerId="LiveId" clId="{28FC696F-35B8-4250-866E-37577D9724C4}" dt="2026-09-04T18:49:18.012" v="10" actId="1076"/>
          <ac:spMkLst>
            <pc:docMk/>
            <pc:sldMk cId="4163126974" sldId="771"/>
            <ac:spMk id="7" creationId="{26D69E50-C00F-5CDA-E968-93A6E9B27352}"/>
          </ac:spMkLst>
        </pc:spChg>
      </pc:sldChg>
      <pc:sldChg chg="addSp modSp mod">
        <pc:chgData name="Elkin Gómez" userId="385c81511b083e44" providerId="LiveId" clId="{28FC696F-35B8-4250-866E-37577D9724C4}" dt="2026-09-04T18:49:36.196" v="17" actId="14100"/>
        <pc:sldMkLst>
          <pc:docMk/>
          <pc:sldMk cId="2823531843" sldId="772"/>
        </pc:sldMkLst>
        <pc:spChg chg="mod">
          <ac:chgData name="Elkin Gómez" userId="385c81511b083e44" providerId="LiveId" clId="{28FC696F-35B8-4250-866E-37577D9724C4}" dt="2026-09-04T18:49:26.196" v="13" actId="1076"/>
          <ac:spMkLst>
            <pc:docMk/>
            <pc:sldMk cId="2823531843" sldId="772"/>
            <ac:spMk id="5" creationId="{EDD41DF6-1E54-4689-9775-29DD73F8A389}"/>
          </ac:spMkLst>
        </pc:spChg>
        <pc:spChg chg="add mod">
          <ac:chgData name="Elkin Gómez" userId="385c81511b083e44" providerId="LiveId" clId="{28FC696F-35B8-4250-866E-37577D9724C4}" dt="2026-09-04T18:49:28.716" v="14" actId="1076"/>
          <ac:spMkLst>
            <pc:docMk/>
            <pc:sldMk cId="2823531843" sldId="772"/>
            <ac:spMk id="11" creationId="{7D904F3D-F651-A899-B880-B70BCC83C633}"/>
          </ac:spMkLst>
        </pc:spChg>
        <pc:spChg chg="add mod">
          <ac:chgData name="Elkin Gómez" userId="385c81511b083e44" providerId="LiveId" clId="{28FC696F-35B8-4250-866E-37577D9724C4}" dt="2026-09-04T18:49:36.196" v="17" actId="14100"/>
          <ac:spMkLst>
            <pc:docMk/>
            <pc:sldMk cId="2823531843" sldId="772"/>
            <ac:spMk id="13" creationId="{747416BF-05E1-163E-C550-227DB97B05C5}"/>
          </ac:spMkLst>
        </pc:spChg>
      </pc:sldChg>
      <pc:sldChg chg="modSp mod">
        <pc:chgData name="Elkin Gómez" userId="385c81511b083e44" providerId="LiveId" clId="{28FC696F-35B8-4250-866E-37577D9724C4}" dt="2026-09-07T21:05:32.184" v="18" actId="26606"/>
        <pc:sldMkLst>
          <pc:docMk/>
          <pc:sldMk cId="344866719" sldId="773"/>
        </pc:sldMkLst>
        <pc:picChg chg="mod">
          <ac:chgData name="Elkin Gómez" userId="385c81511b083e44" providerId="LiveId" clId="{28FC696F-35B8-4250-866E-37577D9724C4}" dt="2026-09-07T21:05:32.184" v="18" actId="26606"/>
          <ac:picMkLst>
            <pc:docMk/>
            <pc:sldMk cId="344866719" sldId="773"/>
            <ac:picMk id="7" creationId="{00000000-0000-0000-0000-000000000000}"/>
          </ac:picMkLst>
        </pc:picChg>
      </pc:sldChg>
      <pc:sldChg chg="addSp delSp modSp mod">
        <pc:chgData name="Elkin Gómez" userId="385c81511b083e44" providerId="LiveId" clId="{28FC696F-35B8-4250-866E-37577D9724C4}" dt="2026-09-07T21:14:57.565" v="22" actId="26606"/>
        <pc:sldMkLst>
          <pc:docMk/>
          <pc:sldMk cId="3147548149" sldId="775"/>
        </pc:sldMkLst>
        <pc:spChg chg="mod">
          <ac:chgData name="Elkin Gómez" userId="385c81511b083e44" providerId="LiveId" clId="{28FC696F-35B8-4250-866E-37577D9724C4}" dt="2026-09-07T21:14:57.565" v="22" actId="26606"/>
          <ac:spMkLst>
            <pc:docMk/>
            <pc:sldMk cId="3147548149" sldId="775"/>
            <ac:spMk id="2" creationId="{00000000-0000-0000-0000-000000000000}"/>
          </ac:spMkLst>
        </pc:spChg>
        <pc:spChg chg="mod">
          <ac:chgData name="Elkin Gómez" userId="385c81511b083e44" providerId="LiveId" clId="{28FC696F-35B8-4250-866E-37577D9724C4}" dt="2026-09-07T21:14:57.565" v="22" actId="26606"/>
          <ac:spMkLst>
            <pc:docMk/>
            <pc:sldMk cId="3147548149" sldId="775"/>
            <ac:spMk id="6" creationId="{A78A9CC3-06E5-49EC-BB15-B7A9A5B90FA4}"/>
          </ac:spMkLst>
        </pc:spChg>
        <pc:graphicFrameChg chg="del">
          <ac:chgData name="Elkin Gómez" userId="385c81511b083e44" providerId="LiveId" clId="{28FC696F-35B8-4250-866E-37577D9724C4}" dt="2026-09-07T21:14:57.565" v="22" actId="26606"/>
          <ac:graphicFrameMkLst>
            <pc:docMk/>
            <pc:sldMk cId="3147548149" sldId="775"/>
            <ac:graphicFrameMk id="3" creationId="{00000000-0000-0000-0000-000000000000}"/>
          </ac:graphicFrameMkLst>
        </pc:graphicFrameChg>
        <pc:graphicFrameChg chg="add">
          <ac:chgData name="Elkin Gómez" userId="385c81511b083e44" providerId="LiveId" clId="{28FC696F-35B8-4250-866E-37577D9724C4}" dt="2026-09-07T21:14:57.565" v="22" actId="26606"/>
          <ac:graphicFrameMkLst>
            <pc:docMk/>
            <pc:sldMk cId="3147548149" sldId="775"/>
            <ac:graphicFrameMk id="7" creationId="{00000000-0000-0000-0000-000000000000}"/>
          </ac:graphicFrameMkLst>
        </pc:graphicFrameChg>
      </pc:sldChg>
      <pc:sldChg chg="addSp delSp modSp mod">
        <pc:chgData name="Elkin Gómez" userId="385c81511b083e44" providerId="LiveId" clId="{28FC696F-35B8-4250-866E-37577D9724C4}" dt="2026-09-07T21:42:45.512" v="123" actId="1076"/>
        <pc:sldMkLst>
          <pc:docMk/>
          <pc:sldMk cId="3921940523" sldId="782"/>
        </pc:sldMkLst>
        <pc:spChg chg="add mod">
          <ac:chgData name="Elkin Gómez" userId="385c81511b083e44" providerId="LiveId" clId="{28FC696F-35B8-4250-866E-37577D9724C4}" dt="2026-09-07T21:42:45.512" v="123" actId="1076"/>
          <ac:spMkLst>
            <pc:docMk/>
            <pc:sldMk cId="3921940523" sldId="782"/>
            <ac:spMk id="11" creationId="{A0C2CE0A-8C71-D608-F08C-6EE2B032F26B}"/>
          </ac:spMkLst>
        </pc:spChg>
        <pc:spChg chg="add del">
          <ac:chgData name="Elkin Gómez" userId="385c81511b083e44" providerId="LiveId" clId="{28FC696F-35B8-4250-866E-37577D9724C4}" dt="2026-09-07T21:39:01.286" v="61" actId="478"/>
          <ac:spMkLst>
            <pc:docMk/>
            <pc:sldMk cId="3921940523" sldId="782"/>
            <ac:spMk id="66563" creationId="{00000000-0000-0000-0000-000000000000}"/>
          </ac:spMkLst>
        </pc:spChg>
        <pc:spChg chg="add del mod">
          <ac:chgData name="Elkin Gómez" userId="385c81511b083e44" providerId="LiveId" clId="{28FC696F-35B8-4250-866E-37577D9724C4}" dt="2026-09-07T21:41:59.111" v="72"/>
          <ac:spMkLst>
            <pc:docMk/>
            <pc:sldMk cId="3921940523" sldId="782"/>
            <ac:spMk id="66564" creationId="{00000000-0000-0000-0000-000000000000}"/>
          </ac:spMkLst>
        </pc:spChg>
        <pc:spChg chg="add del mod">
          <ac:chgData name="Elkin Gómez" userId="385c81511b083e44" providerId="LiveId" clId="{28FC696F-35B8-4250-866E-37577D9724C4}" dt="2026-09-07T21:41:49.978" v="68" actId="21"/>
          <ac:spMkLst>
            <pc:docMk/>
            <pc:sldMk cId="3921940523" sldId="782"/>
            <ac:spMk id="66565" creationId="{00000000-0000-0000-0000-000000000000}"/>
          </ac:spMkLst>
        </pc:spChg>
        <pc:picChg chg="mod">
          <ac:chgData name="Elkin Gómez" userId="385c81511b083e44" providerId="LiveId" clId="{28FC696F-35B8-4250-866E-37577D9724C4}" dt="2026-09-07T21:05:32.184" v="18" actId="26606"/>
          <ac:picMkLst>
            <pc:docMk/>
            <pc:sldMk cId="3921940523" sldId="782"/>
            <ac:picMk id="3" creationId="{00000000-0000-0000-0000-000000000000}"/>
          </ac:picMkLst>
        </pc:picChg>
      </pc:sldChg>
      <pc:sldChg chg="addSp mod">
        <pc:chgData name="Elkin Gómez" userId="385c81511b083e44" providerId="LiveId" clId="{28FC696F-35B8-4250-866E-37577D9724C4}" dt="2026-09-07T21:45:25.234" v="125" actId="26606"/>
        <pc:sldMkLst>
          <pc:docMk/>
          <pc:sldMk cId="4134611222" sldId="783"/>
        </pc:sldMkLst>
        <pc:spChg chg="add">
          <ac:chgData name="Elkin Gómez" userId="385c81511b083e44" providerId="LiveId" clId="{28FC696F-35B8-4250-866E-37577D9724C4}" dt="2026-09-07T21:45:25.234" v="125" actId="26606"/>
          <ac:spMkLst>
            <pc:docMk/>
            <pc:sldMk cId="4134611222" sldId="783"/>
            <ac:spMk id="67587" creationId="{00000000-0000-0000-0000-000000000000}"/>
          </ac:spMkLst>
        </pc:spChg>
        <pc:spChg chg="add">
          <ac:chgData name="Elkin Gómez" userId="385c81511b083e44" providerId="LiveId" clId="{28FC696F-35B8-4250-866E-37577D9724C4}" dt="2026-09-07T21:45:25.234" v="125" actId="26606"/>
          <ac:spMkLst>
            <pc:docMk/>
            <pc:sldMk cId="4134611222" sldId="783"/>
            <ac:spMk id="67588" creationId="{00000000-0000-0000-0000-000000000000}"/>
          </ac:spMkLst>
        </pc:spChg>
        <pc:spChg chg="add">
          <ac:chgData name="Elkin Gómez" userId="385c81511b083e44" providerId="LiveId" clId="{28FC696F-35B8-4250-866E-37577D9724C4}" dt="2026-09-07T21:45:25.234" v="125" actId="26606"/>
          <ac:spMkLst>
            <pc:docMk/>
            <pc:sldMk cId="4134611222" sldId="783"/>
            <ac:spMk id="67589" creationId="{00000000-0000-0000-0000-000000000000}"/>
          </ac:spMkLst>
        </pc:spChg>
        <pc:spChg chg="add">
          <ac:chgData name="Elkin Gómez" userId="385c81511b083e44" providerId="LiveId" clId="{28FC696F-35B8-4250-866E-37577D9724C4}" dt="2026-09-07T21:45:25.234" v="125" actId="26606"/>
          <ac:spMkLst>
            <pc:docMk/>
            <pc:sldMk cId="4134611222" sldId="783"/>
            <ac:spMk id="67590" creationId="{00000000-0000-0000-0000-000000000000}"/>
          </ac:spMkLst>
        </pc:spChg>
        <pc:spChg chg="add">
          <ac:chgData name="Elkin Gómez" userId="385c81511b083e44" providerId="LiveId" clId="{28FC696F-35B8-4250-866E-37577D9724C4}" dt="2026-09-07T21:45:25.234" v="125" actId="26606"/>
          <ac:spMkLst>
            <pc:docMk/>
            <pc:sldMk cId="4134611222" sldId="783"/>
            <ac:spMk id="67591" creationId="{00000000-0000-0000-0000-000000000000}"/>
          </ac:spMkLst>
        </pc:spChg>
        <pc:spChg chg="add">
          <ac:chgData name="Elkin Gómez" userId="385c81511b083e44" providerId="LiveId" clId="{28FC696F-35B8-4250-866E-37577D9724C4}" dt="2026-09-07T21:45:25.234" v="125" actId="26606"/>
          <ac:spMkLst>
            <pc:docMk/>
            <pc:sldMk cId="4134611222" sldId="783"/>
            <ac:spMk id="67592" creationId="{00000000-0000-0000-0000-000000000000}"/>
          </ac:spMkLst>
        </pc:spChg>
        <pc:spChg chg="add">
          <ac:chgData name="Elkin Gómez" userId="385c81511b083e44" providerId="LiveId" clId="{28FC696F-35B8-4250-866E-37577D9724C4}" dt="2026-09-07T21:45:25.234" v="125" actId="26606"/>
          <ac:spMkLst>
            <pc:docMk/>
            <pc:sldMk cId="4134611222" sldId="783"/>
            <ac:spMk id="67593" creationId="{00000000-0000-0000-0000-000000000000}"/>
          </ac:spMkLst>
        </pc:spChg>
      </pc:sldChg>
      <pc:sldChg chg="addSp mod">
        <pc:chgData name="Elkin Gómez" userId="385c81511b083e44" providerId="LiveId" clId="{28FC696F-35B8-4250-866E-37577D9724C4}" dt="2026-09-07T21:47:54.439" v="127" actId="26606"/>
        <pc:sldMkLst>
          <pc:docMk/>
          <pc:sldMk cId="2104644886" sldId="784"/>
        </pc:sldMkLst>
        <pc:spChg chg="add">
          <ac:chgData name="Elkin Gómez" userId="385c81511b083e44" providerId="LiveId" clId="{28FC696F-35B8-4250-866E-37577D9724C4}" dt="2026-09-07T21:47:54.439" v="127" actId="26606"/>
          <ac:spMkLst>
            <pc:docMk/>
            <pc:sldMk cId="2104644886" sldId="784"/>
            <ac:spMk id="70659" creationId="{00000000-0000-0000-0000-000000000000}"/>
          </ac:spMkLst>
        </pc:spChg>
        <pc:spChg chg="add">
          <ac:chgData name="Elkin Gómez" userId="385c81511b083e44" providerId="LiveId" clId="{28FC696F-35B8-4250-866E-37577D9724C4}" dt="2026-09-07T21:47:54.439" v="127" actId="26606"/>
          <ac:spMkLst>
            <pc:docMk/>
            <pc:sldMk cId="2104644886" sldId="784"/>
            <ac:spMk id="70660" creationId="{00000000-0000-0000-0000-000000000000}"/>
          </ac:spMkLst>
        </pc:spChg>
        <pc:spChg chg="add">
          <ac:chgData name="Elkin Gómez" userId="385c81511b083e44" providerId="LiveId" clId="{28FC696F-35B8-4250-866E-37577D9724C4}" dt="2026-09-07T21:47:54.439" v="127" actId="26606"/>
          <ac:spMkLst>
            <pc:docMk/>
            <pc:sldMk cId="2104644886" sldId="784"/>
            <ac:spMk id="70661" creationId="{00000000-0000-0000-0000-000000000000}"/>
          </ac:spMkLst>
        </pc:spChg>
      </pc:sldChg>
      <pc:sldChg chg="addSp mod">
        <pc:chgData name="Elkin Gómez" userId="385c81511b083e44" providerId="LiveId" clId="{28FC696F-35B8-4250-866E-37577D9724C4}" dt="2026-09-07T21:50:42.566" v="129" actId="26606"/>
        <pc:sldMkLst>
          <pc:docMk/>
          <pc:sldMk cId="1741895036" sldId="785"/>
        </pc:sldMkLst>
        <pc:spChg chg="add">
          <ac:chgData name="Elkin Gómez" userId="385c81511b083e44" providerId="LiveId" clId="{28FC696F-35B8-4250-866E-37577D9724C4}" dt="2026-09-07T21:50:42.566" v="129" actId="26606"/>
          <ac:spMkLst>
            <pc:docMk/>
            <pc:sldMk cId="1741895036" sldId="785"/>
            <ac:spMk id="71683" creationId="{00000000-0000-0000-0000-000000000000}"/>
          </ac:spMkLst>
        </pc:spChg>
        <pc:spChg chg="add">
          <ac:chgData name="Elkin Gómez" userId="385c81511b083e44" providerId="LiveId" clId="{28FC696F-35B8-4250-866E-37577D9724C4}" dt="2026-09-07T21:50:42.566" v="129" actId="26606"/>
          <ac:spMkLst>
            <pc:docMk/>
            <pc:sldMk cId="1741895036" sldId="785"/>
            <ac:spMk id="71684" creationId="{00000000-0000-0000-0000-000000000000}"/>
          </ac:spMkLst>
        </pc:spChg>
        <pc:spChg chg="add">
          <ac:chgData name="Elkin Gómez" userId="385c81511b083e44" providerId="LiveId" clId="{28FC696F-35B8-4250-866E-37577D9724C4}" dt="2026-09-07T21:50:42.566" v="129" actId="26606"/>
          <ac:spMkLst>
            <pc:docMk/>
            <pc:sldMk cId="1741895036" sldId="785"/>
            <ac:spMk id="71685" creationId="{00000000-0000-0000-0000-000000000000}"/>
          </ac:spMkLst>
        </pc:spChg>
        <pc:spChg chg="add">
          <ac:chgData name="Elkin Gómez" userId="385c81511b083e44" providerId="LiveId" clId="{28FC696F-35B8-4250-866E-37577D9724C4}" dt="2026-09-07T21:50:42.566" v="129" actId="26606"/>
          <ac:spMkLst>
            <pc:docMk/>
            <pc:sldMk cId="1741895036" sldId="785"/>
            <ac:spMk id="71686" creationId="{00000000-0000-0000-0000-000000000000}"/>
          </ac:spMkLst>
        </pc:spChg>
        <pc:spChg chg="add">
          <ac:chgData name="Elkin Gómez" userId="385c81511b083e44" providerId="LiveId" clId="{28FC696F-35B8-4250-866E-37577D9724C4}" dt="2026-09-07T21:50:42.566" v="129" actId="26606"/>
          <ac:spMkLst>
            <pc:docMk/>
            <pc:sldMk cId="1741895036" sldId="785"/>
            <ac:spMk id="71687" creationId="{00000000-0000-0000-0000-000000000000}"/>
          </ac:spMkLst>
        </pc:spChg>
        <pc:spChg chg="add">
          <ac:chgData name="Elkin Gómez" userId="385c81511b083e44" providerId="LiveId" clId="{28FC696F-35B8-4250-866E-37577D9724C4}" dt="2026-09-07T21:50:42.566" v="129" actId="26606"/>
          <ac:spMkLst>
            <pc:docMk/>
            <pc:sldMk cId="1741895036" sldId="785"/>
            <ac:spMk id="71688" creationId="{00000000-0000-0000-0000-000000000000}"/>
          </ac:spMkLst>
        </pc:spChg>
        <pc:spChg chg="add">
          <ac:chgData name="Elkin Gómez" userId="385c81511b083e44" providerId="LiveId" clId="{28FC696F-35B8-4250-866E-37577D9724C4}" dt="2026-09-07T21:50:42.566" v="129" actId="26606"/>
          <ac:spMkLst>
            <pc:docMk/>
            <pc:sldMk cId="1741895036" sldId="785"/>
            <ac:spMk id="71689" creationId="{00000000-0000-0000-0000-000000000000}"/>
          </ac:spMkLst>
        </pc:spChg>
      </pc:sldChg>
      <pc:sldChg chg="addSp modSp mod">
        <pc:chgData name="Elkin Gómez" userId="385c81511b083e44" providerId="LiveId" clId="{28FC696F-35B8-4250-866E-37577D9724C4}" dt="2026-09-07T21:35:13.643" v="58" actId="1076"/>
        <pc:sldMkLst>
          <pc:docMk/>
          <pc:sldMk cId="288255613" sldId="791"/>
        </pc:sldMkLst>
        <pc:spChg chg="mod">
          <ac:chgData name="Elkin Gómez" userId="385c81511b083e44" providerId="LiveId" clId="{28FC696F-35B8-4250-866E-37577D9724C4}" dt="2026-09-07T21:34:48.439" v="57" actId="26606"/>
          <ac:spMkLst>
            <pc:docMk/>
            <pc:sldMk cId="288255613" sldId="791"/>
            <ac:spMk id="5" creationId="{4D56093A-B5F2-4C9E-A17A-BC61322E646D}"/>
          </ac:spMkLst>
        </pc:spChg>
        <pc:spChg chg="add mod">
          <ac:chgData name="Elkin Gómez" userId="385c81511b083e44" providerId="LiveId" clId="{28FC696F-35B8-4250-866E-37577D9724C4}" dt="2026-09-07T21:35:13.643" v="58" actId="1076"/>
          <ac:spMkLst>
            <pc:docMk/>
            <pc:sldMk cId="288255613" sldId="791"/>
            <ac:spMk id="13" creationId="{00000000-0000-0000-0000-000000000000}"/>
          </ac:spMkLst>
        </pc:spChg>
      </pc:sldChg>
      <pc:sldChg chg="addSp delSp modSp mod">
        <pc:chgData name="Elkin Gómez" userId="385c81511b083e44" providerId="LiveId" clId="{28FC696F-35B8-4250-866E-37577D9724C4}" dt="2026-09-07T23:19:29.036" v="273" actId="26606"/>
        <pc:sldMkLst>
          <pc:docMk/>
          <pc:sldMk cId="3924400479" sldId="792"/>
        </pc:sldMkLst>
        <pc:spChg chg="del">
          <ac:chgData name="Elkin Gómez" userId="385c81511b083e44" providerId="LiveId" clId="{28FC696F-35B8-4250-866E-37577D9724C4}" dt="2026-09-07T23:19:29.036" v="273" actId="26606"/>
          <ac:spMkLst>
            <pc:docMk/>
            <pc:sldMk cId="3924400479" sldId="792"/>
            <ac:spMk id="8" creationId="{C0FE33BE-26A7-4F15-8EE1-0CEE012C385A}"/>
          </ac:spMkLst>
        </pc:spChg>
        <pc:spChg chg="del">
          <ac:chgData name="Elkin Gómez" userId="385c81511b083e44" providerId="LiveId" clId="{28FC696F-35B8-4250-866E-37577D9724C4}" dt="2026-09-07T23:19:29.036" v="273" actId="26606"/>
          <ac:spMkLst>
            <pc:docMk/>
            <pc:sldMk cId="3924400479" sldId="792"/>
            <ac:spMk id="9" creationId="{0F8FABB5-B6EF-4206-A55B-9B48960E1F45}"/>
          </ac:spMkLst>
        </pc:spChg>
        <pc:spChg chg="add">
          <ac:chgData name="Elkin Gómez" userId="385c81511b083e44" providerId="LiveId" clId="{28FC696F-35B8-4250-866E-37577D9724C4}" dt="2026-09-07T23:19:29.036" v="273" actId="26606"/>
          <ac:spMkLst>
            <pc:docMk/>
            <pc:sldMk cId="3924400479" sldId="792"/>
            <ac:spMk id="11" creationId="{00000000-0000-0000-0000-000000000000}"/>
          </ac:spMkLst>
        </pc:spChg>
        <pc:spChg chg="add">
          <ac:chgData name="Elkin Gómez" userId="385c81511b083e44" providerId="LiveId" clId="{28FC696F-35B8-4250-866E-37577D9724C4}" dt="2026-09-07T23:19:29.036" v="273" actId="26606"/>
          <ac:spMkLst>
            <pc:docMk/>
            <pc:sldMk cId="3924400479" sldId="792"/>
            <ac:spMk id="13" creationId="{00000000-0000-0000-0000-000000000000}"/>
          </ac:spMkLst>
        </pc:spChg>
        <pc:spChg chg="add">
          <ac:chgData name="Elkin Gómez" userId="385c81511b083e44" providerId="LiveId" clId="{28FC696F-35B8-4250-866E-37577D9724C4}" dt="2026-09-07T23:19:29.036" v="273" actId="26606"/>
          <ac:spMkLst>
            <pc:docMk/>
            <pc:sldMk cId="3924400479" sldId="792"/>
            <ac:spMk id="15" creationId="{00000000-0000-0000-0000-000000000000}"/>
          </ac:spMkLst>
        </pc:spChg>
        <pc:spChg chg="add">
          <ac:chgData name="Elkin Gómez" userId="385c81511b083e44" providerId="LiveId" clId="{28FC696F-35B8-4250-866E-37577D9724C4}" dt="2026-09-07T23:19:29.036" v="273" actId="26606"/>
          <ac:spMkLst>
            <pc:docMk/>
            <pc:sldMk cId="3924400479" sldId="792"/>
            <ac:spMk id="17" creationId="{00000000-0000-0000-0000-000000000000}"/>
          </ac:spMkLst>
        </pc:spChg>
        <pc:spChg chg="add">
          <ac:chgData name="Elkin Gómez" userId="385c81511b083e44" providerId="LiveId" clId="{28FC696F-35B8-4250-866E-37577D9724C4}" dt="2026-09-07T23:19:29.036" v="273" actId="26606"/>
          <ac:spMkLst>
            <pc:docMk/>
            <pc:sldMk cId="3924400479" sldId="792"/>
            <ac:spMk id="19" creationId="{00000000-0000-0000-0000-000000000000}"/>
          </ac:spMkLst>
        </pc:spChg>
        <pc:spChg chg="add">
          <ac:chgData name="Elkin Gómez" userId="385c81511b083e44" providerId="LiveId" clId="{28FC696F-35B8-4250-866E-37577D9724C4}" dt="2026-09-07T23:19:29.036" v="273" actId="26606"/>
          <ac:spMkLst>
            <pc:docMk/>
            <pc:sldMk cId="3924400479" sldId="792"/>
            <ac:spMk id="21" creationId="{00000000-0000-0000-0000-000000000000}"/>
          </ac:spMkLst>
        </pc:spChg>
        <pc:spChg chg="add">
          <ac:chgData name="Elkin Gómez" userId="385c81511b083e44" providerId="LiveId" clId="{28FC696F-35B8-4250-866E-37577D9724C4}" dt="2026-09-07T23:19:29.036" v="273" actId="26606"/>
          <ac:spMkLst>
            <pc:docMk/>
            <pc:sldMk cId="3924400479" sldId="792"/>
            <ac:spMk id="22" creationId="{00000000-0000-0000-0000-000000000000}"/>
          </ac:spMkLst>
        </pc:spChg>
        <pc:spChg chg="add">
          <ac:chgData name="Elkin Gómez" userId="385c81511b083e44" providerId="LiveId" clId="{28FC696F-35B8-4250-866E-37577D9724C4}" dt="2026-09-07T23:19:29.036" v="273" actId="26606"/>
          <ac:spMkLst>
            <pc:docMk/>
            <pc:sldMk cId="3924400479" sldId="792"/>
            <ac:spMk id="23" creationId="{00000000-0000-0000-0000-000000000000}"/>
          </ac:spMkLst>
        </pc:spChg>
      </pc:sldChg>
      <pc:sldChg chg="modSp mod">
        <pc:chgData name="Elkin Gómez" userId="385c81511b083e44" providerId="LiveId" clId="{28FC696F-35B8-4250-866E-37577D9724C4}" dt="2026-09-07T21:05:32.184" v="18" actId="26606"/>
        <pc:sldMkLst>
          <pc:docMk/>
          <pc:sldMk cId="3235835257" sldId="795"/>
        </pc:sldMkLst>
        <pc:picChg chg="mod">
          <ac:chgData name="Elkin Gómez" userId="385c81511b083e44" providerId="LiveId" clId="{28FC696F-35B8-4250-866E-37577D9724C4}" dt="2026-09-07T21:05:32.184" v="18" actId="26606"/>
          <ac:picMkLst>
            <pc:docMk/>
            <pc:sldMk cId="3235835257" sldId="795"/>
            <ac:picMk id="18" creationId="{00000000-0000-0000-0000-000000000000}"/>
          </ac:picMkLst>
        </pc:picChg>
        <pc:picChg chg="mod">
          <ac:chgData name="Elkin Gómez" userId="385c81511b083e44" providerId="LiveId" clId="{28FC696F-35B8-4250-866E-37577D9724C4}" dt="2026-09-07T21:05:32.184" v="18" actId="26606"/>
          <ac:picMkLst>
            <pc:docMk/>
            <pc:sldMk cId="3235835257" sldId="795"/>
            <ac:picMk id="1026" creationId="{00000000-0000-0000-0000-000000000000}"/>
          </ac:picMkLst>
        </pc:picChg>
      </pc:sldChg>
      <pc:sldChg chg="modSp mod">
        <pc:chgData name="Elkin Gómez" userId="385c81511b083e44" providerId="LiveId" clId="{28FC696F-35B8-4250-866E-37577D9724C4}" dt="2026-09-07T21:05:32.184" v="18" actId="26606"/>
        <pc:sldMkLst>
          <pc:docMk/>
          <pc:sldMk cId="4179577337" sldId="796"/>
        </pc:sldMkLst>
        <pc:picChg chg="mod">
          <ac:chgData name="Elkin Gómez" userId="385c81511b083e44" providerId="LiveId" clId="{28FC696F-35B8-4250-866E-37577D9724C4}" dt="2026-09-07T21:05:32.184" v="18" actId="26606"/>
          <ac:picMkLst>
            <pc:docMk/>
            <pc:sldMk cId="4179577337" sldId="796"/>
            <ac:picMk id="2050" creationId="{00000000-0000-0000-0000-000000000000}"/>
          </ac:picMkLst>
        </pc:picChg>
        <pc:picChg chg="mod">
          <ac:chgData name="Elkin Gómez" userId="385c81511b083e44" providerId="LiveId" clId="{28FC696F-35B8-4250-866E-37577D9724C4}" dt="2026-09-07T21:05:32.184" v="18" actId="26606"/>
          <ac:picMkLst>
            <pc:docMk/>
            <pc:sldMk cId="4179577337" sldId="796"/>
            <ac:picMk id="2052" creationId="{00000000-0000-0000-0000-000000000000}"/>
          </ac:picMkLst>
        </pc:picChg>
      </pc:sldChg>
    </pc:docChg>
  </pc:docChgLst>
</pc:chgInfo>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barChart>
        <c:barDir val="bar"/>
        <c:grouping val="clustered"/>
        <c:varyColors val="0"/>
        <c:ser>
          <c:idx val="0"/>
          <c:order val="0"/>
          <c:tx>
            <c:v>Values</c:v>
          </c:tx>
          <c:spPr>
            <a:solidFill>
              <a:srgbClr val="A6A6A6"/>
            </a:solidFill>
            <a:ln>
              <a:noFill/>
            </a:ln>
          </c:spPr>
          <c:invertIfNegative val="1"/>
          <c:dPt>
            <c:idx val="8"/>
            <c:invertIfNegative val="1"/>
            <c:bubble3D val="0"/>
            <c:spPr>
              <a:solidFill>
                <a:srgbClr val="ED7D31"/>
              </a:solidFill>
              <a:ln>
                <a:noFill/>
              </a:ln>
            </c:spPr>
            <c:extLst>
              <c:ext xmlns:c16="http://schemas.microsoft.com/office/drawing/2014/chart" uri="{C3380CC4-5D6E-409C-BE32-E72D297353CC}">
                <c16:uniqueId val="{00000001-2223-41EB-85F8-2E163E86CA0B}"/>
              </c:ext>
            </c:extLst>
          </c:dPt>
          <c:dLbls>
            <c:numFmt formatCode="#,##0&quot; bps&quot;" sourceLinked="0"/>
            <c:spPr>
              <a:noFill/>
              <a:ln>
                <a:noFill/>
              </a:ln>
              <a:effectLst/>
            </c:spPr>
            <c:txPr>
              <a:bodyPr/>
              <a:lstStyle/>
              <a:p>
                <a:pPr>
                  <a:defRPr sz="1400" b="1">
                    <a:solidFill>
                      <a:srgbClr val="40404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13"/>
              <c:pt idx="0">
                <c:v>Uruguay</c:v>
              </c:pt>
              <c:pt idx="1">
                <c:v>Perú</c:v>
              </c:pt>
              <c:pt idx="2">
                <c:v>Paraguay</c:v>
              </c:pt>
              <c:pt idx="3">
                <c:v>Guatemala</c:v>
              </c:pt>
              <c:pt idx="4">
                <c:v>Panamá</c:v>
              </c:pt>
              <c:pt idx="5">
                <c:v>Costa Rica</c:v>
              </c:pt>
              <c:pt idx="6">
                <c:v>Rep. Dominicana</c:v>
              </c:pt>
              <c:pt idx="7">
                <c:v>Brasil</c:v>
              </c:pt>
              <c:pt idx="8">
                <c:v>Colombia</c:v>
              </c:pt>
              <c:pt idx="9">
                <c:v>México</c:v>
              </c:pt>
              <c:pt idx="10">
                <c:v>Bolivia</c:v>
              </c:pt>
              <c:pt idx="11">
                <c:v>Ecuador</c:v>
              </c:pt>
              <c:pt idx="12">
                <c:v>Argentina</c:v>
              </c:pt>
            </c:strLit>
          </c:cat>
          <c:val>
            <c:numLit>
              <c:formatCode>General</c:formatCode>
              <c:ptCount val="13"/>
              <c:pt idx="0">
                <c:v>65</c:v>
              </c:pt>
              <c:pt idx="1">
                <c:v>106</c:v>
              </c:pt>
              <c:pt idx="2">
                <c:v>107</c:v>
              </c:pt>
              <c:pt idx="3">
                <c:v>110</c:v>
              </c:pt>
              <c:pt idx="4">
                <c:v>123</c:v>
              </c:pt>
              <c:pt idx="5">
                <c:v>127</c:v>
              </c:pt>
              <c:pt idx="6">
                <c:v>171</c:v>
              </c:pt>
              <c:pt idx="7">
                <c:v>174</c:v>
              </c:pt>
              <c:pt idx="8">
                <c:v>189</c:v>
              </c:pt>
              <c:pt idx="9">
                <c:v>196</c:v>
              </c:pt>
              <c:pt idx="10">
                <c:v>396</c:v>
              </c:pt>
              <c:pt idx="11">
                <c:v>400</c:v>
              </c:pt>
              <c:pt idx="12">
                <c:v>514</c:v>
              </c:pt>
            </c:numLit>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2223-41EB-85F8-2E163E86CA0B}"/>
            </c:ext>
          </c:extLst>
        </c:ser>
        <c:dLbls>
          <c:showLegendKey val="0"/>
          <c:showVal val="0"/>
          <c:showCatName val="0"/>
          <c:showSerName val="0"/>
          <c:showPercent val="0"/>
          <c:showBubbleSize val="0"/>
        </c:dLbls>
        <c:gapWidth val="50"/>
        <c:axId val="1"/>
        <c:axId val="2"/>
      </c:barChart>
      <c:catAx>
        <c:axId val="1"/>
        <c:scaling>
          <c:orientation val="minMax"/>
        </c:scaling>
        <c:delete val="0"/>
        <c:axPos val="l"/>
        <c:numFmt formatCode="General" sourceLinked="0"/>
        <c:majorTickMark val="none"/>
        <c:minorTickMark val="none"/>
        <c:tickLblPos val="nextTo"/>
        <c:spPr>
          <a:ln w="9525">
            <a:solidFill>
              <a:srgbClr val="C9C9C9"/>
            </a:solidFill>
          </a:ln>
        </c:spPr>
        <c:txPr>
          <a:bodyPr rot="0" vert="horz"/>
          <a:lstStyle/>
          <a:p>
            <a:pPr>
              <a:defRPr sz="1400" b="0">
                <a:solidFill>
                  <a:srgbClr val="404040"/>
                </a:solidFill>
                <a:latin typeface="Calibri"/>
              </a:defRPr>
            </a:pPr>
            <a:endParaRPr lang="en-US"/>
          </a:p>
        </c:txPr>
        <c:crossAx val="2"/>
        <c:crosses val="autoZero"/>
        <c:auto val="1"/>
        <c:lblAlgn val="ctr"/>
        <c:lblOffset val="100"/>
        <c:noMultiLvlLbl val="1"/>
      </c:catAx>
      <c:valAx>
        <c:axId val="2"/>
        <c:scaling>
          <c:orientation val="minMax"/>
          <c:min val="0"/>
        </c:scaling>
        <c:delete val="1"/>
        <c:axPos val="b"/>
        <c:numFmt formatCode="General" sourceLinked="1"/>
        <c:majorTickMark val="none"/>
        <c:minorTickMark val="none"/>
        <c:tickLblPos val="none"/>
        <c:crossAx val="1"/>
        <c:crosses val="autoZero"/>
        <c:crossBetween val="between"/>
      </c:valAx>
      <c:spPr>
        <a:noFill/>
        <a:ln>
          <a:noFill/>
        </a:ln>
      </c:spPr>
    </c:plotArea>
    <c:plotVisOnly val="1"/>
    <c:dispBlanksAs val="gap"/>
    <c:showDLblsOverMax val="1"/>
  </c:chart>
  <c:spPr>
    <a:noFill/>
    <a:ln>
      <a:noFill/>
    </a:ln>
  </c:spPr>
</c:chartSpace>
</file>

<file path=ppt/diagrams/_rels/data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image" Target="../media/image86.png"/></Relationships>
</file>

<file path=ppt/diagrams/_rels/drawing4.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image" Target="../media/image86.pn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17CAFD-060A-49A6-B256-73377C3E87AE}" type="doc">
      <dgm:prSet loTypeId="urn:microsoft.com/office/officeart/2005/8/layout/process5" loCatId="process" qsTypeId="urn:microsoft.com/office/officeart/2005/8/quickstyle/3d3" qsCatId="3D" csTypeId="urn:microsoft.com/office/officeart/2005/8/colors/colorful5" csCatId="colorful" phldr="1"/>
      <dgm:spPr/>
      <dgm:t>
        <a:bodyPr/>
        <a:lstStyle/>
        <a:p>
          <a:endParaRPr lang="es-CO"/>
        </a:p>
      </dgm:t>
    </dgm:pt>
    <dgm:pt modelId="{69B3CDAD-0598-4DAE-A7C5-F4355560146D}">
      <dgm:prSet phldrT="[Texto]"/>
      <dgm:spPr/>
      <dgm:t>
        <a:bodyPr/>
        <a:lstStyle/>
        <a:p>
          <a:r>
            <a:rPr lang="es-MX" dirty="0">
              <a:effectLst>
                <a:outerShdw blurRad="38100" dist="38100" dir="2700000" algn="tl">
                  <a:srgbClr val="000000"/>
                </a:outerShdw>
              </a:effectLst>
              <a:latin typeface="Verdana" pitchFamily="34" charset="0"/>
            </a:rPr>
            <a:t>Identificación de los tipos de riesgo</a:t>
          </a:r>
          <a:endParaRPr lang="es-CO" dirty="0"/>
        </a:p>
      </dgm:t>
    </dgm:pt>
    <dgm:pt modelId="{954A3054-74DC-474B-B05A-FBCB4D9EFB46}" type="parTrans" cxnId="{FB803647-3C33-445B-8352-6B6DEFA16F03}">
      <dgm:prSet/>
      <dgm:spPr/>
      <dgm:t>
        <a:bodyPr/>
        <a:lstStyle/>
        <a:p>
          <a:endParaRPr lang="es-CO"/>
        </a:p>
      </dgm:t>
    </dgm:pt>
    <dgm:pt modelId="{8AEB4AB9-6DE8-40FE-8513-23942A34A8F7}" type="sibTrans" cxnId="{FB803647-3C33-445B-8352-6B6DEFA16F03}">
      <dgm:prSet/>
      <dgm:spPr/>
      <dgm:t>
        <a:bodyPr/>
        <a:lstStyle/>
        <a:p>
          <a:endParaRPr lang="es-CO"/>
        </a:p>
      </dgm:t>
    </dgm:pt>
    <dgm:pt modelId="{66024410-3208-49AC-A41C-4F866B32746A}">
      <dgm:prSet phldrT="[Texto]"/>
      <dgm:spPr/>
      <dgm:t>
        <a:bodyPr/>
        <a:lstStyle/>
        <a:p>
          <a:r>
            <a:rPr lang="es-MX">
              <a:effectLst>
                <a:outerShdw blurRad="38100" dist="38100" dir="2700000" algn="tl">
                  <a:srgbClr val="000000"/>
                </a:outerShdw>
              </a:effectLst>
              <a:latin typeface="Verdana" pitchFamily="34" charset="0"/>
            </a:rPr>
            <a:t>Obtención de datos</a:t>
          </a:r>
          <a:endParaRPr lang="es-CO"/>
        </a:p>
      </dgm:t>
    </dgm:pt>
    <dgm:pt modelId="{F7C41F4C-0A20-493C-B2D1-F21517C12669}" type="parTrans" cxnId="{765877C2-2F7E-4162-9A0C-0D04DDD3BAE2}">
      <dgm:prSet/>
      <dgm:spPr/>
      <dgm:t>
        <a:bodyPr/>
        <a:lstStyle/>
        <a:p>
          <a:endParaRPr lang="es-CO"/>
        </a:p>
      </dgm:t>
    </dgm:pt>
    <dgm:pt modelId="{34055F81-9CA9-43FE-9011-1CC3FE8AA071}" type="sibTrans" cxnId="{765877C2-2F7E-4162-9A0C-0D04DDD3BAE2}">
      <dgm:prSet/>
      <dgm:spPr/>
      <dgm:t>
        <a:bodyPr/>
        <a:lstStyle/>
        <a:p>
          <a:endParaRPr lang="es-CO"/>
        </a:p>
      </dgm:t>
    </dgm:pt>
    <dgm:pt modelId="{71717ACF-D0FF-4742-85F0-EDA84FC01722}">
      <dgm:prSet phldrT="[Texto]"/>
      <dgm:spPr/>
      <dgm:t>
        <a:bodyPr/>
        <a:lstStyle/>
        <a:p>
          <a:r>
            <a:rPr lang="es-MX">
              <a:effectLst>
                <a:outerShdw blurRad="38100" dist="38100" dir="2700000" algn="tl">
                  <a:srgbClr val="000000"/>
                </a:outerShdw>
              </a:effectLst>
              <a:latin typeface="Verdana" pitchFamily="34" charset="0"/>
            </a:rPr>
            <a:t>Depuración, filtro y clasificación</a:t>
          </a:r>
          <a:endParaRPr lang="es-CO"/>
        </a:p>
      </dgm:t>
    </dgm:pt>
    <dgm:pt modelId="{0985CB0E-6156-42E2-9491-8BB9633E6FDF}" type="parTrans" cxnId="{35369DCB-A91A-4DBA-BF40-A5179490BEF5}">
      <dgm:prSet/>
      <dgm:spPr/>
      <dgm:t>
        <a:bodyPr/>
        <a:lstStyle/>
        <a:p>
          <a:endParaRPr lang="es-CO"/>
        </a:p>
      </dgm:t>
    </dgm:pt>
    <dgm:pt modelId="{3A526FA8-0BE4-4ED4-9CFD-807F83013A37}" type="sibTrans" cxnId="{35369DCB-A91A-4DBA-BF40-A5179490BEF5}">
      <dgm:prSet/>
      <dgm:spPr/>
      <dgm:t>
        <a:bodyPr/>
        <a:lstStyle/>
        <a:p>
          <a:endParaRPr lang="es-CO"/>
        </a:p>
      </dgm:t>
    </dgm:pt>
    <dgm:pt modelId="{828FE121-1DB5-4FC1-82F6-A8E824D511C9}">
      <dgm:prSet phldrT="[Texto]"/>
      <dgm:spPr/>
      <dgm:t>
        <a:bodyPr/>
        <a:lstStyle/>
        <a:p>
          <a:r>
            <a:rPr lang="es-MX">
              <a:effectLst>
                <a:outerShdw blurRad="38100" dist="38100" dir="2700000" algn="tl">
                  <a:srgbClr val="000000"/>
                </a:outerShdw>
              </a:effectLst>
              <a:latin typeface="Verdana" pitchFamily="34" charset="0"/>
            </a:rPr>
            <a:t>Modelación</a:t>
          </a:r>
          <a:endParaRPr lang="es-CO"/>
        </a:p>
      </dgm:t>
    </dgm:pt>
    <dgm:pt modelId="{5242539F-44F7-4175-8A14-6EDEADE83F93}" type="parTrans" cxnId="{F65FED39-8922-4245-B985-33909EAAD43A}">
      <dgm:prSet/>
      <dgm:spPr/>
      <dgm:t>
        <a:bodyPr/>
        <a:lstStyle/>
        <a:p>
          <a:endParaRPr lang="es-CO"/>
        </a:p>
      </dgm:t>
    </dgm:pt>
    <dgm:pt modelId="{E62674BC-53D8-4C6B-9B67-5C352C55CDBC}" type="sibTrans" cxnId="{F65FED39-8922-4245-B985-33909EAAD43A}">
      <dgm:prSet/>
      <dgm:spPr/>
      <dgm:t>
        <a:bodyPr/>
        <a:lstStyle/>
        <a:p>
          <a:endParaRPr lang="es-CO"/>
        </a:p>
      </dgm:t>
    </dgm:pt>
    <dgm:pt modelId="{21C3992D-EB0A-4862-B817-31DE36C245BE}">
      <dgm:prSet phldrT="[Texto]"/>
      <dgm:spPr/>
      <dgm:t>
        <a:bodyPr/>
        <a:lstStyle/>
        <a:p>
          <a:r>
            <a:rPr lang="es-MX">
              <a:effectLst>
                <a:outerShdw blurRad="38100" dist="38100" dir="2700000" algn="tl">
                  <a:srgbClr val="000000"/>
                </a:outerShdw>
              </a:effectLst>
              <a:latin typeface="Verdana" pitchFamily="34" charset="0"/>
            </a:rPr>
            <a:t>Limitaciones</a:t>
          </a:r>
          <a:endParaRPr lang="es-CO"/>
        </a:p>
      </dgm:t>
    </dgm:pt>
    <dgm:pt modelId="{9AE3F76E-0FD9-4D5D-8FF4-A937DA07D2B2}" type="parTrans" cxnId="{D9E6CFDC-E555-4037-9FE8-05038E3F2CD0}">
      <dgm:prSet/>
      <dgm:spPr/>
      <dgm:t>
        <a:bodyPr/>
        <a:lstStyle/>
        <a:p>
          <a:endParaRPr lang="es-CO"/>
        </a:p>
      </dgm:t>
    </dgm:pt>
    <dgm:pt modelId="{D0D74826-21BB-4EDB-ACAC-2C1B53A51D49}" type="sibTrans" cxnId="{D9E6CFDC-E555-4037-9FE8-05038E3F2CD0}">
      <dgm:prSet/>
      <dgm:spPr/>
      <dgm:t>
        <a:bodyPr/>
        <a:lstStyle/>
        <a:p>
          <a:endParaRPr lang="es-CO"/>
        </a:p>
      </dgm:t>
    </dgm:pt>
    <dgm:pt modelId="{31B2AF26-0284-4765-B807-434E8901773C}">
      <dgm:prSet/>
      <dgm:spPr/>
      <dgm:t>
        <a:bodyPr/>
        <a:lstStyle/>
        <a:p>
          <a:r>
            <a:rPr lang="es-MX">
              <a:effectLst>
                <a:outerShdw blurRad="38100" dist="38100" dir="2700000" algn="tl">
                  <a:srgbClr val="000000"/>
                </a:outerShdw>
              </a:effectLst>
              <a:latin typeface="Verdana" pitchFamily="34" charset="0"/>
            </a:rPr>
            <a:t>Calibración del modelo</a:t>
          </a:r>
          <a:endParaRPr lang="es-CO"/>
        </a:p>
      </dgm:t>
    </dgm:pt>
    <dgm:pt modelId="{18F516B6-43F2-41A5-9AC5-482D7CBBF2DE}" type="parTrans" cxnId="{0D0B00C7-2AF5-47EC-B25C-1A25D15403EC}">
      <dgm:prSet/>
      <dgm:spPr/>
      <dgm:t>
        <a:bodyPr/>
        <a:lstStyle/>
        <a:p>
          <a:endParaRPr lang="es-CO"/>
        </a:p>
      </dgm:t>
    </dgm:pt>
    <dgm:pt modelId="{32113C32-3BCA-4DCD-B649-9018AE79508D}" type="sibTrans" cxnId="{0D0B00C7-2AF5-47EC-B25C-1A25D15403EC}">
      <dgm:prSet/>
      <dgm:spPr/>
      <dgm:t>
        <a:bodyPr/>
        <a:lstStyle/>
        <a:p>
          <a:endParaRPr lang="es-CO"/>
        </a:p>
      </dgm:t>
    </dgm:pt>
    <dgm:pt modelId="{A573F6A1-30A0-4200-A886-D026F868B1F4}">
      <dgm:prSet phldrT="[Texto]"/>
      <dgm:spPr/>
      <dgm:t>
        <a:bodyPr/>
        <a:lstStyle/>
        <a:p>
          <a:r>
            <a:rPr lang="es-MX">
              <a:effectLst>
                <a:outerShdw blurRad="38100" dist="38100" dir="2700000" algn="tl">
                  <a:srgbClr val="000000"/>
                </a:outerShdw>
              </a:effectLst>
              <a:latin typeface="Verdana" pitchFamily="34" charset="0"/>
              <a:ea typeface="ＭＳ Ｐゴシック" charset="0"/>
              <a:cs typeface="ＭＳ Ｐゴシック" charset="0"/>
            </a:rPr>
            <a:t>Monitoreo</a:t>
          </a:r>
          <a:endParaRPr lang="es-CO"/>
        </a:p>
      </dgm:t>
    </dgm:pt>
    <dgm:pt modelId="{1210DB74-D337-4E07-AF0A-577E0BFFFE71}" type="parTrans" cxnId="{99D52C3C-FF5B-4485-AABC-313B6AA21F49}">
      <dgm:prSet/>
      <dgm:spPr/>
      <dgm:t>
        <a:bodyPr/>
        <a:lstStyle/>
        <a:p>
          <a:endParaRPr lang="es-CO"/>
        </a:p>
      </dgm:t>
    </dgm:pt>
    <dgm:pt modelId="{F3268116-4D3B-4D0C-9188-66B158CDC710}" type="sibTrans" cxnId="{99D52C3C-FF5B-4485-AABC-313B6AA21F49}">
      <dgm:prSet/>
      <dgm:spPr/>
      <dgm:t>
        <a:bodyPr/>
        <a:lstStyle/>
        <a:p>
          <a:endParaRPr lang="es-CO"/>
        </a:p>
      </dgm:t>
    </dgm:pt>
    <dgm:pt modelId="{094F8812-71C9-4A17-AE21-AAE32C175DA4}">
      <dgm:prSet phldrT="[Texto]"/>
      <dgm:spPr/>
      <dgm:t>
        <a:bodyPr/>
        <a:lstStyle/>
        <a:p>
          <a:r>
            <a:rPr lang="es-MX">
              <a:effectLst>
                <a:outerShdw blurRad="38100" dist="38100" dir="2700000" algn="tl">
                  <a:srgbClr val="000000"/>
                </a:outerShdw>
              </a:effectLst>
              <a:latin typeface="Verdana" pitchFamily="34" charset="0"/>
            </a:rPr>
            <a:t>Revelación e información</a:t>
          </a:r>
          <a:endParaRPr lang="es-CO"/>
        </a:p>
      </dgm:t>
    </dgm:pt>
    <dgm:pt modelId="{27509BD4-BAA4-4C09-AF8B-CC992949A24F}" type="parTrans" cxnId="{E9F0DBEE-D336-4DC9-9F04-9151E7BFBC2B}">
      <dgm:prSet/>
      <dgm:spPr/>
      <dgm:t>
        <a:bodyPr/>
        <a:lstStyle/>
        <a:p>
          <a:endParaRPr lang="es-CO"/>
        </a:p>
      </dgm:t>
    </dgm:pt>
    <dgm:pt modelId="{3F384C34-45DB-4671-A510-9F0292261389}" type="sibTrans" cxnId="{E9F0DBEE-D336-4DC9-9F04-9151E7BFBC2B}">
      <dgm:prSet/>
      <dgm:spPr/>
      <dgm:t>
        <a:bodyPr/>
        <a:lstStyle/>
        <a:p>
          <a:endParaRPr lang="es-CO"/>
        </a:p>
      </dgm:t>
    </dgm:pt>
    <dgm:pt modelId="{67D0AEF7-DAD2-4957-8DEA-D572B076801D}">
      <dgm:prSet phldrT="[Texto]"/>
      <dgm:spPr/>
      <dgm:t>
        <a:bodyPr/>
        <a:lstStyle/>
        <a:p>
          <a:r>
            <a:rPr lang="es-MX">
              <a:effectLst>
                <a:outerShdw blurRad="38100" dist="38100" dir="2700000" algn="tl">
                  <a:srgbClr val="000000"/>
                </a:outerShdw>
              </a:effectLst>
              <a:latin typeface="Verdana" pitchFamily="34" charset="0"/>
              <a:ea typeface="ＭＳ Ｐゴシック" charset="0"/>
              <a:cs typeface="ＭＳ Ｐゴシック" charset="0"/>
            </a:rPr>
            <a:t>Control de riesgos</a:t>
          </a:r>
          <a:endParaRPr lang="es-CO"/>
        </a:p>
      </dgm:t>
    </dgm:pt>
    <dgm:pt modelId="{CE2351BE-B7DE-4A0C-A8B0-64BC51F3E123}" type="parTrans" cxnId="{1631497F-3890-42F0-AC3E-8A1D80A14959}">
      <dgm:prSet/>
      <dgm:spPr/>
      <dgm:t>
        <a:bodyPr/>
        <a:lstStyle/>
        <a:p>
          <a:endParaRPr lang="es-CO"/>
        </a:p>
      </dgm:t>
    </dgm:pt>
    <dgm:pt modelId="{860C86E4-350B-4338-8F8E-A572E353D4A4}" type="sibTrans" cxnId="{1631497F-3890-42F0-AC3E-8A1D80A14959}">
      <dgm:prSet/>
      <dgm:spPr/>
      <dgm:t>
        <a:bodyPr/>
        <a:lstStyle/>
        <a:p>
          <a:endParaRPr lang="es-CO"/>
        </a:p>
      </dgm:t>
    </dgm:pt>
    <dgm:pt modelId="{85257F26-6139-4C1A-9E16-B8D90C067BE9}" type="pres">
      <dgm:prSet presAssocID="{E117CAFD-060A-49A6-B256-73377C3E87AE}" presName="diagram" presStyleCnt="0">
        <dgm:presLayoutVars>
          <dgm:dir/>
          <dgm:resizeHandles val="exact"/>
        </dgm:presLayoutVars>
      </dgm:prSet>
      <dgm:spPr/>
    </dgm:pt>
    <dgm:pt modelId="{7D95DF61-175F-4A67-9A41-D24CE7CFEDA2}" type="pres">
      <dgm:prSet presAssocID="{69B3CDAD-0598-4DAE-A7C5-F4355560146D}" presName="node" presStyleLbl="node1" presStyleIdx="0" presStyleCnt="9">
        <dgm:presLayoutVars>
          <dgm:bulletEnabled val="1"/>
        </dgm:presLayoutVars>
      </dgm:prSet>
      <dgm:spPr/>
    </dgm:pt>
    <dgm:pt modelId="{63E42FB3-64DA-44B7-B1A5-C8D80BB86B7F}" type="pres">
      <dgm:prSet presAssocID="{8AEB4AB9-6DE8-40FE-8513-23942A34A8F7}" presName="sibTrans" presStyleLbl="sibTrans2D1" presStyleIdx="0" presStyleCnt="8"/>
      <dgm:spPr/>
    </dgm:pt>
    <dgm:pt modelId="{831E7A62-F716-45B4-9D0E-985F04940516}" type="pres">
      <dgm:prSet presAssocID="{8AEB4AB9-6DE8-40FE-8513-23942A34A8F7}" presName="connectorText" presStyleLbl="sibTrans2D1" presStyleIdx="0" presStyleCnt="8"/>
      <dgm:spPr/>
    </dgm:pt>
    <dgm:pt modelId="{2C4B58E6-E02D-45E5-97BB-B09C89D1C0F7}" type="pres">
      <dgm:prSet presAssocID="{66024410-3208-49AC-A41C-4F866B32746A}" presName="node" presStyleLbl="node1" presStyleIdx="1" presStyleCnt="9">
        <dgm:presLayoutVars>
          <dgm:bulletEnabled val="1"/>
        </dgm:presLayoutVars>
      </dgm:prSet>
      <dgm:spPr/>
    </dgm:pt>
    <dgm:pt modelId="{F8E80D1F-9861-4020-B9B6-F26285B03C56}" type="pres">
      <dgm:prSet presAssocID="{34055F81-9CA9-43FE-9011-1CC3FE8AA071}" presName="sibTrans" presStyleLbl="sibTrans2D1" presStyleIdx="1" presStyleCnt="8"/>
      <dgm:spPr/>
    </dgm:pt>
    <dgm:pt modelId="{9212B49E-6744-45C3-B18A-6FA942452F5F}" type="pres">
      <dgm:prSet presAssocID="{34055F81-9CA9-43FE-9011-1CC3FE8AA071}" presName="connectorText" presStyleLbl="sibTrans2D1" presStyleIdx="1" presStyleCnt="8"/>
      <dgm:spPr/>
    </dgm:pt>
    <dgm:pt modelId="{ABEFAE1E-9F74-4693-BF8C-82204D9C29AF}" type="pres">
      <dgm:prSet presAssocID="{71717ACF-D0FF-4742-85F0-EDA84FC01722}" presName="node" presStyleLbl="node1" presStyleIdx="2" presStyleCnt="9">
        <dgm:presLayoutVars>
          <dgm:bulletEnabled val="1"/>
        </dgm:presLayoutVars>
      </dgm:prSet>
      <dgm:spPr/>
    </dgm:pt>
    <dgm:pt modelId="{9D7DCF7C-478E-4E9F-826D-1038C00F4777}" type="pres">
      <dgm:prSet presAssocID="{3A526FA8-0BE4-4ED4-9CFD-807F83013A37}" presName="sibTrans" presStyleLbl="sibTrans2D1" presStyleIdx="2" presStyleCnt="8"/>
      <dgm:spPr/>
    </dgm:pt>
    <dgm:pt modelId="{73C65154-AF5D-46F4-ABE2-2C19B2FFE71B}" type="pres">
      <dgm:prSet presAssocID="{3A526FA8-0BE4-4ED4-9CFD-807F83013A37}" presName="connectorText" presStyleLbl="sibTrans2D1" presStyleIdx="2" presStyleCnt="8"/>
      <dgm:spPr/>
    </dgm:pt>
    <dgm:pt modelId="{2123E613-6A23-4002-A3C6-E6EB2F8075DC}" type="pres">
      <dgm:prSet presAssocID="{828FE121-1DB5-4FC1-82F6-A8E824D511C9}" presName="node" presStyleLbl="node1" presStyleIdx="3" presStyleCnt="9">
        <dgm:presLayoutVars>
          <dgm:bulletEnabled val="1"/>
        </dgm:presLayoutVars>
      </dgm:prSet>
      <dgm:spPr/>
    </dgm:pt>
    <dgm:pt modelId="{FD788600-4316-474A-B0FB-DEF3F81FEB5A}" type="pres">
      <dgm:prSet presAssocID="{E62674BC-53D8-4C6B-9B67-5C352C55CDBC}" presName="sibTrans" presStyleLbl="sibTrans2D1" presStyleIdx="3" presStyleCnt="8"/>
      <dgm:spPr/>
    </dgm:pt>
    <dgm:pt modelId="{425E0121-8733-41FB-99F1-2A59D1CC9772}" type="pres">
      <dgm:prSet presAssocID="{E62674BC-53D8-4C6B-9B67-5C352C55CDBC}" presName="connectorText" presStyleLbl="sibTrans2D1" presStyleIdx="3" presStyleCnt="8"/>
      <dgm:spPr/>
    </dgm:pt>
    <dgm:pt modelId="{6ADCE2DB-55A4-4E3D-93A1-07A2FFC52FC5}" type="pres">
      <dgm:prSet presAssocID="{31B2AF26-0284-4765-B807-434E8901773C}" presName="node" presStyleLbl="node1" presStyleIdx="4" presStyleCnt="9">
        <dgm:presLayoutVars>
          <dgm:bulletEnabled val="1"/>
        </dgm:presLayoutVars>
      </dgm:prSet>
      <dgm:spPr/>
    </dgm:pt>
    <dgm:pt modelId="{2559CEB1-2C76-4785-8F04-C00310F30FFC}" type="pres">
      <dgm:prSet presAssocID="{32113C32-3BCA-4DCD-B649-9018AE79508D}" presName="sibTrans" presStyleLbl="sibTrans2D1" presStyleIdx="4" presStyleCnt="8"/>
      <dgm:spPr/>
    </dgm:pt>
    <dgm:pt modelId="{1E61C850-1309-4EEB-B8D6-00F036EA0CB0}" type="pres">
      <dgm:prSet presAssocID="{32113C32-3BCA-4DCD-B649-9018AE79508D}" presName="connectorText" presStyleLbl="sibTrans2D1" presStyleIdx="4" presStyleCnt="8"/>
      <dgm:spPr/>
    </dgm:pt>
    <dgm:pt modelId="{5B7D289E-EAC4-4537-8F47-D3E654E49862}" type="pres">
      <dgm:prSet presAssocID="{21C3992D-EB0A-4862-B817-31DE36C245BE}" presName="node" presStyleLbl="node1" presStyleIdx="5" presStyleCnt="9">
        <dgm:presLayoutVars>
          <dgm:bulletEnabled val="1"/>
        </dgm:presLayoutVars>
      </dgm:prSet>
      <dgm:spPr/>
    </dgm:pt>
    <dgm:pt modelId="{9B0F7B7F-083B-4768-BDE8-0DA2A1B12133}" type="pres">
      <dgm:prSet presAssocID="{D0D74826-21BB-4EDB-ACAC-2C1B53A51D49}" presName="sibTrans" presStyleLbl="sibTrans2D1" presStyleIdx="5" presStyleCnt="8"/>
      <dgm:spPr/>
    </dgm:pt>
    <dgm:pt modelId="{5DC535C8-311C-48D0-A972-99B3C7EEBDE5}" type="pres">
      <dgm:prSet presAssocID="{D0D74826-21BB-4EDB-ACAC-2C1B53A51D49}" presName="connectorText" presStyleLbl="sibTrans2D1" presStyleIdx="5" presStyleCnt="8"/>
      <dgm:spPr/>
    </dgm:pt>
    <dgm:pt modelId="{E1A60E7A-3AED-4ECC-B9C3-F0E0B28C5E3B}" type="pres">
      <dgm:prSet presAssocID="{A573F6A1-30A0-4200-A886-D026F868B1F4}" presName="node" presStyleLbl="node1" presStyleIdx="6" presStyleCnt="9">
        <dgm:presLayoutVars>
          <dgm:bulletEnabled val="1"/>
        </dgm:presLayoutVars>
      </dgm:prSet>
      <dgm:spPr/>
    </dgm:pt>
    <dgm:pt modelId="{25979EA5-2EF7-4F20-B87C-400B9A3C9414}" type="pres">
      <dgm:prSet presAssocID="{F3268116-4D3B-4D0C-9188-66B158CDC710}" presName="sibTrans" presStyleLbl="sibTrans2D1" presStyleIdx="6" presStyleCnt="8"/>
      <dgm:spPr/>
    </dgm:pt>
    <dgm:pt modelId="{0072DB56-549A-4612-BB93-BC6167DEC1F0}" type="pres">
      <dgm:prSet presAssocID="{F3268116-4D3B-4D0C-9188-66B158CDC710}" presName="connectorText" presStyleLbl="sibTrans2D1" presStyleIdx="6" presStyleCnt="8"/>
      <dgm:spPr/>
    </dgm:pt>
    <dgm:pt modelId="{695C116E-B908-464A-AA6D-5F392247DF30}" type="pres">
      <dgm:prSet presAssocID="{094F8812-71C9-4A17-AE21-AAE32C175DA4}" presName="node" presStyleLbl="node1" presStyleIdx="7" presStyleCnt="9">
        <dgm:presLayoutVars>
          <dgm:bulletEnabled val="1"/>
        </dgm:presLayoutVars>
      </dgm:prSet>
      <dgm:spPr/>
    </dgm:pt>
    <dgm:pt modelId="{FD3ED846-A348-4F91-9D9D-316F7A596EAF}" type="pres">
      <dgm:prSet presAssocID="{3F384C34-45DB-4671-A510-9F0292261389}" presName="sibTrans" presStyleLbl="sibTrans2D1" presStyleIdx="7" presStyleCnt="8"/>
      <dgm:spPr/>
    </dgm:pt>
    <dgm:pt modelId="{6CC3221D-7903-433D-948B-7A7C56620E83}" type="pres">
      <dgm:prSet presAssocID="{3F384C34-45DB-4671-A510-9F0292261389}" presName="connectorText" presStyleLbl="sibTrans2D1" presStyleIdx="7" presStyleCnt="8"/>
      <dgm:spPr/>
    </dgm:pt>
    <dgm:pt modelId="{99BF3121-A202-4846-868C-C3A9811901A5}" type="pres">
      <dgm:prSet presAssocID="{67D0AEF7-DAD2-4957-8DEA-D572B076801D}" presName="node" presStyleLbl="node1" presStyleIdx="8" presStyleCnt="9">
        <dgm:presLayoutVars>
          <dgm:bulletEnabled val="1"/>
        </dgm:presLayoutVars>
      </dgm:prSet>
      <dgm:spPr/>
    </dgm:pt>
  </dgm:ptLst>
  <dgm:cxnLst>
    <dgm:cxn modelId="{77BCE201-9902-4A75-9028-0C3E0B259587}" type="presOf" srcId="{A573F6A1-30A0-4200-A886-D026F868B1F4}" destId="{E1A60E7A-3AED-4ECC-B9C3-F0E0B28C5E3B}" srcOrd="0" destOrd="0" presId="urn:microsoft.com/office/officeart/2005/8/layout/process5"/>
    <dgm:cxn modelId="{8D344524-20BC-4192-B3CF-3C5222F81B17}" type="presOf" srcId="{69B3CDAD-0598-4DAE-A7C5-F4355560146D}" destId="{7D95DF61-175F-4A67-9A41-D24CE7CFEDA2}" srcOrd="0" destOrd="0" presId="urn:microsoft.com/office/officeart/2005/8/layout/process5"/>
    <dgm:cxn modelId="{AF50A033-FECB-422F-9F3E-52AFD764D66F}" type="presOf" srcId="{F3268116-4D3B-4D0C-9188-66B158CDC710}" destId="{25979EA5-2EF7-4F20-B87C-400B9A3C9414}" srcOrd="0" destOrd="0" presId="urn:microsoft.com/office/officeart/2005/8/layout/process5"/>
    <dgm:cxn modelId="{78733939-CE98-4B19-99C2-E872EA9122F8}" type="presOf" srcId="{66024410-3208-49AC-A41C-4F866B32746A}" destId="{2C4B58E6-E02D-45E5-97BB-B09C89D1C0F7}" srcOrd="0" destOrd="0" presId="urn:microsoft.com/office/officeart/2005/8/layout/process5"/>
    <dgm:cxn modelId="{F65FED39-8922-4245-B985-33909EAAD43A}" srcId="{E117CAFD-060A-49A6-B256-73377C3E87AE}" destId="{828FE121-1DB5-4FC1-82F6-A8E824D511C9}" srcOrd="3" destOrd="0" parTransId="{5242539F-44F7-4175-8A14-6EDEADE83F93}" sibTransId="{E62674BC-53D8-4C6B-9B67-5C352C55CDBC}"/>
    <dgm:cxn modelId="{99D52C3C-FF5B-4485-AABC-313B6AA21F49}" srcId="{E117CAFD-060A-49A6-B256-73377C3E87AE}" destId="{A573F6A1-30A0-4200-A886-D026F868B1F4}" srcOrd="6" destOrd="0" parTransId="{1210DB74-D337-4E07-AF0A-577E0BFFFE71}" sibTransId="{F3268116-4D3B-4D0C-9188-66B158CDC710}"/>
    <dgm:cxn modelId="{115DE642-C4A9-40DA-9CDB-C5E3CEC9744D}" type="presOf" srcId="{32113C32-3BCA-4DCD-B649-9018AE79508D}" destId="{1E61C850-1309-4EEB-B8D6-00F036EA0CB0}" srcOrd="1" destOrd="0" presId="urn:microsoft.com/office/officeart/2005/8/layout/process5"/>
    <dgm:cxn modelId="{D73EE766-70EF-433A-AD61-35F9071A3961}" type="presOf" srcId="{3F384C34-45DB-4671-A510-9F0292261389}" destId="{6CC3221D-7903-433D-948B-7A7C56620E83}" srcOrd="1" destOrd="0" presId="urn:microsoft.com/office/officeart/2005/8/layout/process5"/>
    <dgm:cxn modelId="{FB803647-3C33-445B-8352-6B6DEFA16F03}" srcId="{E117CAFD-060A-49A6-B256-73377C3E87AE}" destId="{69B3CDAD-0598-4DAE-A7C5-F4355560146D}" srcOrd="0" destOrd="0" parTransId="{954A3054-74DC-474B-B05A-FBCB4D9EFB46}" sibTransId="{8AEB4AB9-6DE8-40FE-8513-23942A34A8F7}"/>
    <dgm:cxn modelId="{5F76E44A-161F-4C37-BD0E-AC6E7D1B7925}" type="presOf" srcId="{3A526FA8-0BE4-4ED4-9CFD-807F83013A37}" destId="{9D7DCF7C-478E-4E9F-826D-1038C00F4777}" srcOrd="0" destOrd="0" presId="urn:microsoft.com/office/officeart/2005/8/layout/process5"/>
    <dgm:cxn modelId="{0A2F6859-FE61-411B-97AC-F18BDDAC9326}" type="presOf" srcId="{21C3992D-EB0A-4862-B817-31DE36C245BE}" destId="{5B7D289E-EAC4-4537-8F47-D3E654E49862}" srcOrd="0" destOrd="0" presId="urn:microsoft.com/office/officeart/2005/8/layout/process5"/>
    <dgm:cxn modelId="{205F165A-3FB7-47A3-8B2B-3E4CFF0335A5}" type="presOf" srcId="{D0D74826-21BB-4EDB-ACAC-2C1B53A51D49}" destId="{5DC535C8-311C-48D0-A972-99B3C7EEBDE5}" srcOrd="1" destOrd="0" presId="urn:microsoft.com/office/officeart/2005/8/layout/process5"/>
    <dgm:cxn modelId="{CD85967A-0F3E-4864-9C46-63559F11327D}" type="presOf" srcId="{3A526FA8-0BE4-4ED4-9CFD-807F83013A37}" destId="{73C65154-AF5D-46F4-ABE2-2C19B2FFE71B}" srcOrd="1" destOrd="0" presId="urn:microsoft.com/office/officeart/2005/8/layout/process5"/>
    <dgm:cxn modelId="{1631497F-3890-42F0-AC3E-8A1D80A14959}" srcId="{E117CAFD-060A-49A6-B256-73377C3E87AE}" destId="{67D0AEF7-DAD2-4957-8DEA-D572B076801D}" srcOrd="8" destOrd="0" parTransId="{CE2351BE-B7DE-4A0C-A8B0-64BC51F3E123}" sibTransId="{860C86E4-350B-4338-8F8E-A572E353D4A4}"/>
    <dgm:cxn modelId="{CB51438A-4C8A-42EA-94D1-1B5E5B62E74F}" type="presOf" srcId="{E62674BC-53D8-4C6B-9B67-5C352C55CDBC}" destId="{425E0121-8733-41FB-99F1-2A59D1CC9772}" srcOrd="1" destOrd="0" presId="urn:microsoft.com/office/officeart/2005/8/layout/process5"/>
    <dgm:cxn modelId="{C3F7859F-11EC-469B-8541-58587365EFBE}" type="presOf" srcId="{32113C32-3BCA-4DCD-B649-9018AE79508D}" destId="{2559CEB1-2C76-4785-8F04-C00310F30FFC}" srcOrd="0" destOrd="0" presId="urn:microsoft.com/office/officeart/2005/8/layout/process5"/>
    <dgm:cxn modelId="{223B62A1-5A67-4AF0-AC41-9B22634DB81C}" type="presOf" srcId="{E117CAFD-060A-49A6-B256-73377C3E87AE}" destId="{85257F26-6139-4C1A-9E16-B8D90C067BE9}" srcOrd="0" destOrd="0" presId="urn:microsoft.com/office/officeart/2005/8/layout/process5"/>
    <dgm:cxn modelId="{495ABEA8-BF8F-49AF-B79B-3490BFFA21F3}" type="presOf" srcId="{094F8812-71C9-4A17-AE21-AAE32C175DA4}" destId="{695C116E-B908-464A-AA6D-5F392247DF30}" srcOrd="0" destOrd="0" presId="urn:microsoft.com/office/officeart/2005/8/layout/process5"/>
    <dgm:cxn modelId="{B01784A9-97B8-41C1-9015-D5C4AC8D9662}" type="presOf" srcId="{8AEB4AB9-6DE8-40FE-8513-23942A34A8F7}" destId="{63E42FB3-64DA-44B7-B1A5-C8D80BB86B7F}" srcOrd="0" destOrd="0" presId="urn:microsoft.com/office/officeart/2005/8/layout/process5"/>
    <dgm:cxn modelId="{635189AA-832D-4039-9FF9-C1950FC5E653}" type="presOf" srcId="{67D0AEF7-DAD2-4957-8DEA-D572B076801D}" destId="{99BF3121-A202-4846-868C-C3A9811901A5}" srcOrd="0" destOrd="0" presId="urn:microsoft.com/office/officeart/2005/8/layout/process5"/>
    <dgm:cxn modelId="{09962AAE-8664-4711-BD87-FEC8A383AC10}" type="presOf" srcId="{71717ACF-D0FF-4742-85F0-EDA84FC01722}" destId="{ABEFAE1E-9F74-4693-BF8C-82204D9C29AF}" srcOrd="0" destOrd="0" presId="urn:microsoft.com/office/officeart/2005/8/layout/process5"/>
    <dgm:cxn modelId="{C1B959B7-C2DA-4F45-9A3A-761380975E8F}" type="presOf" srcId="{E62674BC-53D8-4C6B-9B67-5C352C55CDBC}" destId="{FD788600-4316-474A-B0FB-DEF3F81FEB5A}" srcOrd="0" destOrd="0" presId="urn:microsoft.com/office/officeart/2005/8/layout/process5"/>
    <dgm:cxn modelId="{765877C2-2F7E-4162-9A0C-0D04DDD3BAE2}" srcId="{E117CAFD-060A-49A6-B256-73377C3E87AE}" destId="{66024410-3208-49AC-A41C-4F866B32746A}" srcOrd="1" destOrd="0" parTransId="{F7C41F4C-0A20-493C-B2D1-F21517C12669}" sibTransId="{34055F81-9CA9-43FE-9011-1CC3FE8AA071}"/>
    <dgm:cxn modelId="{5ACA9EC6-3A9D-47F3-A731-3EEE60994979}" type="presOf" srcId="{34055F81-9CA9-43FE-9011-1CC3FE8AA071}" destId="{9212B49E-6744-45C3-B18A-6FA942452F5F}" srcOrd="1" destOrd="0" presId="urn:microsoft.com/office/officeart/2005/8/layout/process5"/>
    <dgm:cxn modelId="{0D0B00C7-2AF5-47EC-B25C-1A25D15403EC}" srcId="{E117CAFD-060A-49A6-B256-73377C3E87AE}" destId="{31B2AF26-0284-4765-B807-434E8901773C}" srcOrd="4" destOrd="0" parTransId="{18F516B6-43F2-41A5-9AC5-482D7CBBF2DE}" sibTransId="{32113C32-3BCA-4DCD-B649-9018AE79508D}"/>
    <dgm:cxn modelId="{35369DCB-A91A-4DBA-BF40-A5179490BEF5}" srcId="{E117CAFD-060A-49A6-B256-73377C3E87AE}" destId="{71717ACF-D0FF-4742-85F0-EDA84FC01722}" srcOrd="2" destOrd="0" parTransId="{0985CB0E-6156-42E2-9491-8BB9633E6FDF}" sibTransId="{3A526FA8-0BE4-4ED4-9CFD-807F83013A37}"/>
    <dgm:cxn modelId="{D9E6CFDC-E555-4037-9FE8-05038E3F2CD0}" srcId="{E117CAFD-060A-49A6-B256-73377C3E87AE}" destId="{21C3992D-EB0A-4862-B817-31DE36C245BE}" srcOrd="5" destOrd="0" parTransId="{9AE3F76E-0FD9-4D5D-8FF4-A937DA07D2B2}" sibTransId="{D0D74826-21BB-4EDB-ACAC-2C1B53A51D49}"/>
    <dgm:cxn modelId="{2A1369E0-4D98-4C98-B540-DA4D8C22082B}" type="presOf" srcId="{31B2AF26-0284-4765-B807-434E8901773C}" destId="{6ADCE2DB-55A4-4E3D-93A1-07A2FFC52FC5}" srcOrd="0" destOrd="0" presId="urn:microsoft.com/office/officeart/2005/8/layout/process5"/>
    <dgm:cxn modelId="{E9F0DBEE-D336-4DC9-9F04-9151E7BFBC2B}" srcId="{E117CAFD-060A-49A6-B256-73377C3E87AE}" destId="{094F8812-71C9-4A17-AE21-AAE32C175DA4}" srcOrd="7" destOrd="0" parTransId="{27509BD4-BAA4-4C09-AF8B-CC992949A24F}" sibTransId="{3F384C34-45DB-4671-A510-9F0292261389}"/>
    <dgm:cxn modelId="{C5A4E1EF-FC66-4043-9743-69C5CAABF6D1}" type="presOf" srcId="{828FE121-1DB5-4FC1-82F6-A8E824D511C9}" destId="{2123E613-6A23-4002-A3C6-E6EB2F8075DC}" srcOrd="0" destOrd="0" presId="urn:microsoft.com/office/officeart/2005/8/layout/process5"/>
    <dgm:cxn modelId="{825D82F6-88D2-4DD7-9708-813ED1AE974E}" type="presOf" srcId="{8AEB4AB9-6DE8-40FE-8513-23942A34A8F7}" destId="{831E7A62-F716-45B4-9D0E-985F04940516}" srcOrd="1" destOrd="0" presId="urn:microsoft.com/office/officeart/2005/8/layout/process5"/>
    <dgm:cxn modelId="{D8B255F7-E820-47FE-8352-98F60D9E5E85}" type="presOf" srcId="{34055F81-9CA9-43FE-9011-1CC3FE8AA071}" destId="{F8E80D1F-9861-4020-B9B6-F26285B03C56}" srcOrd="0" destOrd="0" presId="urn:microsoft.com/office/officeart/2005/8/layout/process5"/>
    <dgm:cxn modelId="{613E06F8-14D6-48BD-87F3-29B8A1840C51}" type="presOf" srcId="{D0D74826-21BB-4EDB-ACAC-2C1B53A51D49}" destId="{9B0F7B7F-083B-4768-BDE8-0DA2A1B12133}" srcOrd="0" destOrd="0" presId="urn:microsoft.com/office/officeart/2005/8/layout/process5"/>
    <dgm:cxn modelId="{4D15DFF9-3DC3-4167-A64A-270F4F57B654}" type="presOf" srcId="{3F384C34-45DB-4671-A510-9F0292261389}" destId="{FD3ED846-A348-4F91-9D9D-316F7A596EAF}" srcOrd="0" destOrd="0" presId="urn:microsoft.com/office/officeart/2005/8/layout/process5"/>
    <dgm:cxn modelId="{5D08E9FA-CD38-4276-BDA5-2C8C0AC43337}" type="presOf" srcId="{F3268116-4D3B-4D0C-9188-66B158CDC710}" destId="{0072DB56-549A-4612-BB93-BC6167DEC1F0}" srcOrd="1" destOrd="0" presId="urn:microsoft.com/office/officeart/2005/8/layout/process5"/>
    <dgm:cxn modelId="{902D41BE-8E05-454A-8F6F-7692B93AEA7E}" type="presParOf" srcId="{85257F26-6139-4C1A-9E16-B8D90C067BE9}" destId="{7D95DF61-175F-4A67-9A41-D24CE7CFEDA2}" srcOrd="0" destOrd="0" presId="urn:microsoft.com/office/officeart/2005/8/layout/process5"/>
    <dgm:cxn modelId="{06B659E8-7909-451F-8568-9672D1F064B1}" type="presParOf" srcId="{85257F26-6139-4C1A-9E16-B8D90C067BE9}" destId="{63E42FB3-64DA-44B7-B1A5-C8D80BB86B7F}" srcOrd="1" destOrd="0" presId="urn:microsoft.com/office/officeart/2005/8/layout/process5"/>
    <dgm:cxn modelId="{DBAD8AB3-07DF-4DD3-9CE4-0118F650DF6D}" type="presParOf" srcId="{63E42FB3-64DA-44B7-B1A5-C8D80BB86B7F}" destId="{831E7A62-F716-45B4-9D0E-985F04940516}" srcOrd="0" destOrd="0" presId="urn:microsoft.com/office/officeart/2005/8/layout/process5"/>
    <dgm:cxn modelId="{A6165A1D-DF3C-49D7-A0CA-6CA584C79784}" type="presParOf" srcId="{85257F26-6139-4C1A-9E16-B8D90C067BE9}" destId="{2C4B58E6-E02D-45E5-97BB-B09C89D1C0F7}" srcOrd="2" destOrd="0" presId="urn:microsoft.com/office/officeart/2005/8/layout/process5"/>
    <dgm:cxn modelId="{822C631E-4BC6-4B57-854C-4199BCABB77E}" type="presParOf" srcId="{85257F26-6139-4C1A-9E16-B8D90C067BE9}" destId="{F8E80D1F-9861-4020-B9B6-F26285B03C56}" srcOrd="3" destOrd="0" presId="urn:microsoft.com/office/officeart/2005/8/layout/process5"/>
    <dgm:cxn modelId="{DC24902C-3514-4193-BF1D-0D4FCE8043F1}" type="presParOf" srcId="{F8E80D1F-9861-4020-B9B6-F26285B03C56}" destId="{9212B49E-6744-45C3-B18A-6FA942452F5F}" srcOrd="0" destOrd="0" presId="urn:microsoft.com/office/officeart/2005/8/layout/process5"/>
    <dgm:cxn modelId="{DD54B327-DAB8-4545-B598-B3BA76D370B3}" type="presParOf" srcId="{85257F26-6139-4C1A-9E16-B8D90C067BE9}" destId="{ABEFAE1E-9F74-4693-BF8C-82204D9C29AF}" srcOrd="4" destOrd="0" presId="urn:microsoft.com/office/officeart/2005/8/layout/process5"/>
    <dgm:cxn modelId="{81671763-983D-4D1E-84E0-5FDAF35457FA}" type="presParOf" srcId="{85257F26-6139-4C1A-9E16-B8D90C067BE9}" destId="{9D7DCF7C-478E-4E9F-826D-1038C00F4777}" srcOrd="5" destOrd="0" presId="urn:microsoft.com/office/officeart/2005/8/layout/process5"/>
    <dgm:cxn modelId="{E0384BAC-3B18-43B3-B994-E958375966C3}" type="presParOf" srcId="{9D7DCF7C-478E-4E9F-826D-1038C00F4777}" destId="{73C65154-AF5D-46F4-ABE2-2C19B2FFE71B}" srcOrd="0" destOrd="0" presId="urn:microsoft.com/office/officeart/2005/8/layout/process5"/>
    <dgm:cxn modelId="{381845A1-3648-44C1-A8DF-B8F931AF8CFB}" type="presParOf" srcId="{85257F26-6139-4C1A-9E16-B8D90C067BE9}" destId="{2123E613-6A23-4002-A3C6-E6EB2F8075DC}" srcOrd="6" destOrd="0" presId="urn:microsoft.com/office/officeart/2005/8/layout/process5"/>
    <dgm:cxn modelId="{4CA5FF15-20CF-46D4-B571-C2F2A89CA0D7}" type="presParOf" srcId="{85257F26-6139-4C1A-9E16-B8D90C067BE9}" destId="{FD788600-4316-474A-B0FB-DEF3F81FEB5A}" srcOrd="7" destOrd="0" presId="urn:microsoft.com/office/officeart/2005/8/layout/process5"/>
    <dgm:cxn modelId="{7CC2BF19-0E4C-44F7-9A85-C0B086895D4B}" type="presParOf" srcId="{FD788600-4316-474A-B0FB-DEF3F81FEB5A}" destId="{425E0121-8733-41FB-99F1-2A59D1CC9772}" srcOrd="0" destOrd="0" presId="urn:microsoft.com/office/officeart/2005/8/layout/process5"/>
    <dgm:cxn modelId="{6DC769F0-A27C-4150-B2DB-BDF85919C4AE}" type="presParOf" srcId="{85257F26-6139-4C1A-9E16-B8D90C067BE9}" destId="{6ADCE2DB-55A4-4E3D-93A1-07A2FFC52FC5}" srcOrd="8" destOrd="0" presId="urn:microsoft.com/office/officeart/2005/8/layout/process5"/>
    <dgm:cxn modelId="{DCBB869E-380C-472E-840D-B14FD2F8F492}" type="presParOf" srcId="{85257F26-6139-4C1A-9E16-B8D90C067BE9}" destId="{2559CEB1-2C76-4785-8F04-C00310F30FFC}" srcOrd="9" destOrd="0" presId="urn:microsoft.com/office/officeart/2005/8/layout/process5"/>
    <dgm:cxn modelId="{2C5CE648-C566-4ECF-AD69-FB3A68E732ED}" type="presParOf" srcId="{2559CEB1-2C76-4785-8F04-C00310F30FFC}" destId="{1E61C850-1309-4EEB-B8D6-00F036EA0CB0}" srcOrd="0" destOrd="0" presId="urn:microsoft.com/office/officeart/2005/8/layout/process5"/>
    <dgm:cxn modelId="{16D9AB36-10D3-46FB-B097-BDBF52E63F0A}" type="presParOf" srcId="{85257F26-6139-4C1A-9E16-B8D90C067BE9}" destId="{5B7D289E-EAC4-4537-8F47-D3E654E49862}" srcOrd="10" destOrd="0" presId="urn:microsoft.com/office/officeart/2005/8/layout/process5"/>
    <dgm:cxn modelId="{20CE6C2F-D36B-4FF5-B003-43D5FA41B9A2}" type="presParOf" srcId="{85257F26-6139-4C1A-9E16-B8D90C067BE9}" destId="{9B0F7B7F-083B-4768-BDE8-0DA2A1B12133}" srcOrd="11" destOrd="0" presId="urn:microsoft.com/office/officeart/2005/8/layout/process5"/>
    <dgm:cxn modelId="{97D761D8-794F-4A0C-80BA-87A8765A2B7C}" type="presParOf" srcId="{9B0F7B7F-083B-4768-BDE8-0DA2A1B12133}" destId="{5DC535C8-311C-48D0-A972-99B3C7EEBDE5}" srcOrd="0" destOrd="0" presId="urn:microsoft.com/office/officeart/2005/8/layout/process5"/>
    <dgm:cxn modelId="{F127DCDA-8E1C-4C5C-AEBD-DA8A80E62506}" type="presParOf" srcId="{85257F26-6139-4C1A-9E16-B8D90C067BE9}" destId="{E1A60E7A-3AED-4ECC-B9C3-F0E0B28C5E3B}" srcOrd="12" destOrd="0" presId="urn:microsoft.com/office/officeart/2005/8/layout/process5"/>
    <dgm:cxn modelId="{0AE949EA-C071-49C8-8DCA-9BCA9CD5CBD7}" type="presParOf" srcId="{85257F26-6139-4C1A-9E16-B8D90C067BE9}" destId="{25979EA5-2EF7-4F20-B87C-400B9A3C9414}" srcOrd="13" destOrd="0" presId="urn:microsoft.com/office/officeart/2005/8/layout/process5"/>
    <dgm:cxn modelId="{9B87ED20-CB7A-4301-AF9C-F6FD93D54BB2}" type="presParOf" srcId="{25979EA5-2EF7-4F20-B87C-400B9A3C9414}" destId="{0072DB56-549A-4612-BB93-BC6167DEC1F0}" srcOrd="0" destOrd="0" presId="urn:microsoft.com/office/officeart/2005/8/layout/process5"/>
    <dgm:cxn modelId="{16A369B4-4B9F-471A-AEA6-02B427F96F82}" type="presParOf" srcId="{85257F26-6139-4C1A-9E16-B8D90C067BE9}" destId="{695C116E-B908-464A-AA6D-5F392247DF30}" srcOrd="14" destOrd="0" presId="urn:microsoft.com/office/officeart/2005/8/layout/process5"/>
    <dgm:cxn modelId="{60F44BB7-4054-4737-9576-07B6B5D03414}" type="presParOf" srcId="{85257F26-6139-4C1A-9E16-B8D90C067BE9}" destId="{FD3ED846-A348-4F91-9D9D-316F7A596EAF}" srcOrd="15" destOrd="0" presId="urn:microsoft.com/office/officeart/2005/8/layout/process5"/>
    <dgm:cxn modelId="{4E990319-6E00-4E3F-AFCD-F9F8A2CD5ADD}" type="presParOf" srcId="{FD3ED846-A348-4F91-9D9D-316F7A596EAF}" destId="{6CC3221D-7903-433D-948B-7A7C56620E83}" srcOrd="0" destOrd="0" presId="urn:microsoft.com/office/officeart/2005/8/layout/process5"/>
    <dgm:cxn modelId="{C2629CBD-53B3-427B-8BBF-23E1F2CF269C}" type="presParOf" srcId="{85257F26-6139-4C1A-9E16-B8D90C067BE9}" destId="{99BF3121-A202-4846-868C-C3A9811901A5}" srcOrd="1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94A871-6305-4838-9CCF-03BBF88B3FDC}"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s-CO"/>
        </a:p>
      </dgm:t>
    </dgm:pt>
    <dgm:pt modelId="{AE0319A2-BF17-46C3-97E5-FE97F9DBD7A5}">
      <dgm:prSet/>
      <dgm:spPr/>
      <dgm:t>
        <a:bodyPr/>
        <a:lstStyle/>
        <a:p>
          <a:r>
            <a:rPr lang="es-MX" b="1">
              <a:effectLst>
                <a:outerShdw blurRad="38100" dist="38100" dir="2700000" algn="tl">
                  <a:srgbClr val="C0C0C0"/>
                </a:outerShdw>
              </a:effectLst>
              <a:latin typeface="Verdana" pitchFamily="34" charset="0"/>
            </a:rPr>
            <a:t>sensibilidad</a:t>
          </a:r>
          <a:endParaRPr lang="es-CO"/>
        </a:p>
      </dgm:t>
    </dgm:pt>
    <dgm:pt modelId="{C419D635-F9E4-4EF3-AFC6-CEDCA802D593}" type="parTrans" cxnId="{0E94C356-5489-4E64-857A-BA041C70D9FB}">
      <dgm:prSet/>
      <dgm:spPr/>
      <dgm:t>
        <a:bodyPr/>
        <a:lstStyle/>
        <a:p>
          <a:endParaRPr lang="es-CO"/>
        </a:p>
      </dgm:t>
    </dgm:pt>
    <dgm:pt modelId="{325AFA51-99E8-4EDC-BAE0-B39E866B2B7C}" type="sibTrans" cxnId="{0E94C356-5489-4E64-857A-BA041C70D9FB}">
      <dgm:prSet/>
      <dgm:spPr/>
      <dgm:t>
        <a:bodyPr/>
        <a:lstStyle/>
        <a:p>
          <a:endParaRPr lang="es-CO"/>
        </a:p>
      </dgm:t>
    </dgm:pt>
    <dgm:pt modelId="{CF82F1CE-1DD4-4BB5-BEDA-A40D6056CBA3}">
      <dgm:prSet/>
      <dgm:spPr/>
      <dgm:t>
        <a:bodyPr/>
        <a:lstStyle/>
        <a:p>
          <a:r>
            <a:rPr lang="es-MX" dirty="0">
              <a:effectLst>
                <a:outerShdw blurRad="38100" dist="38100" dir="2700000" algn="tl">
                  <a:srgbClr val="C0C0C0"/>
                </a:outerShdw>
              </a:effectLst>
              <a:latin typeface="Verdana" pitchFamily="34" charset="0"/>
            </a:rPr>
            <a:t>Calculan el efecto en una variable objetivo de desplazamientos hipotéticos en algún parámetro específico subyacente, es decir, la sensibilidad de la variable objetivo a variaciones abruptas en el parámetro de interés.</a:t>
          </a:r>
          <a:endParaRPr lang="es-CO" dirty="0"/>
        </a:p>
      </dgm:t>
    </dgm:pt>
    <dgm:pt modelId="{9E155DB0-6AFB-4E50-86BC-0C13D4B65B78}" type="parTrans" cxnId="{8AB74348-C7AB-4CEF-A7D7-059CA7AC8454}">
      <dgm:prSet/>
      <dgm:spPr/>
      <dgm:t>
        <a:bodyPr/>
        <a:lstStyle/>
        <a:p>
          <a:endParaRPr lang="es-CO"/>
        </a:p>
      </dgm:t>
    </dgm:pt>
    <dgm:pt modelId="{55434AF5-137B-4DF0-B3E5-48A14E7D042C}" type="sibTrans" cxnId="{8AB74348-C7AB-4CEF-A7D7-059CA7AC8454}">
      <dgm:prSet/>
      <dgm:spPr/>
      <dgm:t>
        <a:bodyPr/>
        <a:lstStyle/>
        <a:p>
          <a:endParaRPr lang="es-CO"/>
        </a:p>
      </dgm:t>
    </dgm:pt>
    <dgm:pt modelId="{E4F68B8C-7FBE-4D05-A699-931ED6D9FE3B}">
      <dgm:prSet/>
      <dgm:spPr/>
      <dgm:t>
        <a:bodyPr/>
        <a:lstStyle/>
        <a:p>
          <a:r>
            <a:rPr lang="es-MX" b="1">
              <a:effectLst>
                <a:outerShdw blurRad="38100" dist="38100" dir="2700000" algn="tl">
                  <a:srgbClr val="C0C0C0"/>
                </a:outerShdw>
              </a:effectLst>
              <a:latin typeface="Verdana" pitchFamily="34" charset="0"/>
            </a:rPr>
            <a:t>volatilidad</a:t>
          </a:r>
          <a:endParaRPr lang="es-CO"/>
        </a:p>
      </dgm:t>
    </dgm:pt>
    <dgm:pt modelId="{72C759AB-7C51-45A9-B3A6-93456D7EE73A}" type="parTrans" cxnId="{8173ABE8-CF46-43B5-82A4-8B312D149D33}">
      <dgm:prSet/>
      <dgm:spPr/>
      <dgm:t>
        <a:bodyPr/>
        <a:lstStyle/>
        <a:p>
          <a:endParaRPr lang="es-CO"/>
        </a:p>
      </dgm:t>
    </dgm:pt>
    <dgm:pt modelId="{81B551BF-F644-4A13-863B-14D5D110C8D8}" type="sibTrans" cxnId="{8173ABE8-CF46-43B5-82A4-8B312D149D33}">
      <dgm:prSet/>
      <dgm:spPr/>
      <dgm:t>
        <a:bodyPr/>
        <a:lstStyle/>
        <a:p>
          <a:endParaRPr lang="es-CO"/>
        </a:p>
      </dgm:t>
    </dgm:pt>
    <dgm:pt modelId="{15AD0540-D476-4F15-9405-424A54C585BA}">
      <dgm:prSet/>
      <dgm:spPr/>
      <dgm:t>
        <a:bodyPr/>
        <a:lstStyle/>
        <a:p>
          <a:r>
            <a:rPr lang="es-MX">
              <a:effectLst>
                <a:outerShdw blurRad="38100" dist="38100" dir="2700000" algn="tl">
                  <a:srgbClr val="C0C0C0"/>
                </a:outerShdw>
              </a:effectLst>
              <a:latin typeface="Verdana" pitchFamily="34" charset="0"/>
            </a:rPr>
            <a:t>Calculan las desviaciones de algún parámetro aleatorio o variable objetivo respecto de su media, es decir, la cambiante inestabilidad de uno o varios parámetros, factor que es ignorado por las medidas de sensibilidad</a:t>
          </a:r>
          <a:endParaRPr lang="es-CO"/>
        </a:p>
      </dgm:t>
    </dgm:pt>
    <dgm:pt modelId="{FF976D25-A7F4-4E0A-BD0E-AA2A06DB32A4}" type="parTrans" cxnId="{9038F386-C486-4D5D-9C94-5E23B60B2894}">
      <dgm:prSet/>
      <dgm:spPr/>
      <dgm:t>
        <a:bodyPr/>
        <a:lstStyle/>
        <a:p>
          <a:endParaRPr lang="es-CO"/>
        </a:p>
      </dgm:t>
    </dgm:pt>
    <dgm:pt modelId="{42802E7F-3FA4-4643-A64B-3A22D0EE2E28}" type="sibTrans" cxnId="{9038F386-C486-4D5D-9C94-5E23B60B2894}">
      <dgm:prSet/>
      <dgm:spPr/>
      <dgm:t>
        <a:bodyPr/>
        <a:lstStyle/>
        <a:p>
          <a:endParaRPr lang="es-CO"/>
        </a:p>
      </dgm:t>
    </dgm:pt>
    <dgm:pt modelId="{21CF5B56-4221-447E-9D69-4EE2CF27D666}">
      <dgm:prSet/>
      <dgm:spPr/>
      <dgm:t>
        <a:bodyPr/>
        <a:lstStyle/>
        <a:p>
          <a:r>
            <a:rPr lang="es-MX" b="1">
              <a:effectLst>
                <a:outerShdw blurRad="38100" dist="38100" dir="2700000" algn="tl">
                  <a:srgbClr val="C0C0C0"/>
                </a:outerShdw>
              </a:effectLst>
              <a:latin typeface="Verdana" pitchFamily="34" charset="0"/>
            </a:rPr>
            <a:t>Downside</a:t>
          </a:r>
          <a:endParaRPr lang="es-CO"/>
        </a:p>
      </dgm:t>
    </dgm:pt>
    <dgm:pt modelId="{568CB917-C9EF-4E37-8B6B-45BF46F27421}" type="parTrans" cxnId="{AE611829-C6CC-46A1-BFCE-A9B6D0B84C21}">
      <dgm:prSet/>
      <dgm:spPr/>
      <dgm:t>
        <a:bodyPr/>
        <a:lstStyle/>
        <a:p>
          <a:endParaRPr lang="es-CO"/>
        </a:p>
      </dgm:t>
    </dgm:pt>
    <dgm:pt modelId="{3BBDF667-A60A-4367-A97F-7180EE5F0408}" type="sibTrans" cxnId="{AE611829-C6CC-46A1-BFCE-A9B6D0B84C21}">
      <dgm:prSet/>
      <dgm:spPr/>
      <dgm:t>
        <a:bodyPr/>
        <a:lstStyle/>
        <a:p>
          <a:endParaRPr lang="es-CO"/>
        </a:p>
      </dgm:t>
    </dgm:pt>
    <dgm:pt modelId="{B9D233B0-AA2A-4238-B9E1-78FB4796889D}">
      <dgm:prSet/>
      <dgm:spPr/>
      <dgm:t>
        <a:bodyPr/>
        <a:lstStyle/>
        <a:p>
          <a:r>
            <a:rPr lang="es-MX">
              <a:effectLst>
                <a:outerShdw blurRad="38100" dist="38100" dir="2700000" algn="tl">
                  <a:srgbClr val="C0C0C0"/>
                </a:outerShdw>
              </a:effectLst>
              <a:latin typeface="Verdana" pitchFamily="34" charset="0"/>
            </a:rPr>
            <a:t>Se concentran sólo en las desviaciones adversas, es decir, caracterizan las desviaciones de una variable objetivo en el </a:t>
          </a:r>
          <a:r>
            <a:rPr lang="es-MX" altLang="en-US">
              <a:effectLst>
                <a:outerShdw blurRad="38100" dist="38100" dir="2700000" algn="tl">
                  <a:srgbClr val="C0C0C0"/>
                </a:outerShdw>
              </a:effectLst>
              <a:latin typeface="Verdana" pitchFamily="34" charset="0"/>
            </a:rPr>
            <a:t>“</a:t>
          </a:r>
          <a:r>
            <a:rPr lang="es-MX">
              <a:effectLst>
                <a:outerShdw blurRad="38100" dist="38100" dir="2700000" algn="tl">
                  <a:srgbClr val="C0C0C0"/>
                </a:outerShdw>
              </a:effectLst>
              <a:latin typeface="Verdana" pitchFamily="34" charset="0"/>
            </a:rPr>
            <a:t>peor escenario</a:t>
          </a:r>
          <a:r>
            <a:rPr lang="es-MX" altLang="en-US">
              <a:effectLst>
                <a:outerShdw blurRad="38100" dist="38100" dir="2700000" algn="tl">
                  <a:srgbClr val="C0C0C0"/>
                </a:outerShdw>
              </a:effectLst>
              <a:latin typeface="Verdana" pitchFamily="34" charset="0"/>
            </a:rPr>
            <a:t>”</a:t>
          </a:r>
          <a:r>
            <a:rPr lang="es-MX">
              <a:effectLst>
                <a:outerShdw blurRad="38100" dist="38100" dir="2700000" algn="tl">
                  <a:srgbClr val="C0C0C0"/>
                </a:outerShdw>
              </a:effectLst>
              <a:latin typeface="Verdana" pitchFamily="34" charset="0"/>
            </a:rPr>
            <a:t>. Este tipo de medidas de riesgo requiere de modelación para generar distribuciones de probabilidad de las variables objetivo y son las más comprehensivas, dado que integran tanto sensibilidad como volatilidad con el efecto adverso de la incertidumbre.</a:t>
          </a:r>
          <a:endParaRPr lang="es-CO"/>
        </a:p>
      </dgm:t>
    </dgm:pt>
    <dgm:pt modelId="{2024FA09-C399-4403-A437-86EE3DE9A5EB}" type="parTrans" cxnId="{89E48799-D4B1-4787-9AB9-BD36F729A017}">
      <dgm:prSet/>
      <dgm:spPr/>
      <dgm:t>
        <a:bodyPr/>
        <a:lstStyle/>
        <a:p>
          <a:endParaRPr lang="es-CO"/>
        </a:p>
      </dgm:t>
    </dgm:pt>
    <dgm:pt modelId="{6A956D43-EBAB-4A9E-9EA5-9685D8447033}" type="sibTrans" cxnId="{89E48799-D4B1-4787-9AB9-BD36F729A017}">
      <dgm:prSet/>
      <dgm:spPr/>
      <dgm:t>
        <a:bodyPr/>
        <a:lstStyle/>
        <a:p>
          <a:endParaRPr lang="es-CO"/>
        </a:p>
      </dgm:t>
    </dgm:pt>
    <dgm:pt modelId="{D32F71B3-BA63-4309-88AF-2E90D8A659F8}" type="pres">
      <dgm:prSet presAssocID="{D094A871-6305-4838-9CCF-03BBF88B3FDC}" presName="linearFlow" presStyleCnt="0">
        <dgm:presLayoutVars>
          <dgm:dir/>
          <dgm:animLvl val="lvl"/>
          <dgm:resizeHandles val="exact"/>
        </dgm:presLayoutVars>
      </dgm:prSet>
      <dgm:spPr/>
    </dgm:pt>
    <dgm:pt modelId="{73C66492-7008-43AF-AB75-1FA216CEFBFF}" type="pres">
      <dgm:prSet presAssocID="{AE0319A2-BF17-46C3-97E5-FE97F9DBD7A5}" presName="composite" presStyleCnt="0"/>
      <dgm:spPr/>
    </dgm:pt>
    <dgm:pt modelId="{233307A3-EF1A-4698-BB63-913E1E9463F1}" type="pres">
      <dgm:prSet presAssocID="{AE0319A2-BF17-46C3-97E5-FE97F9DBD7A5}" presName="parentText" presStyleLbl="alignNode1" presStyleIdx="0" presStyleCnt="3">
        <dgm:presLayoutVars>
          <dgm:chMax val="1"/>
          <dgm:bulletEnabled val="1"/>
        </dgm:presLayoutVars>
      </dgm:prSet>
      <dgm:spPr/>
    </dgm:pt>
    <dgm:pt modelId="{846D178C-272E-4278-886A-92063EF03129}" type="pres">
      <dgm:prSet presAssocID="{AE0319A2-BF17-46C3-97E5-FE97F9DBD7A5}" presName="descendantText" presStyleLbl="alignAcc1" presStyleIdx="0" presStyleCnt="3">
        <dgm:presLayoutVars>
          <dgm:bulletEnabled val="1"/>
        </dgm:presLayoutVars>
      </dgm:prSet>
      <dgm:spPr/>
    </dgm:pt>
    <dgm:pt modelId="{395A5E8F-27B1-4F7F-8C43-BD2536839E4B}" type="pres">
      <dgm:prSet presAssocID="{325AFA51-99E8-4EDC-BAE0-B39E866B2B7C}" presName="sp" presStyleCnt="0"/>
      <dgm:spPr/>
    </dgm:pt>
    <dgm:pt modelId="{99CF1DAA-3B0E-4295-8883-941249FBCDB2}" type="pres">
      <dgm:prSet presAssocID="{E4F68B8C-7FBE-4D05-A699-931ED6D9FE3B}" presName="composite" presStyleCnt="0"/>
      <dgm:spPr/>
    </dgm:pt>
    <dgm:pt modelId="{95551BEB-7A65-47CD-AEFE-13D40DAEDE13}" type="pres">
      <dgm:prSet presAssocID="{E4F68B8C-7FBE-4D05-A699-931ED6D9FE3B}" presName="parentText" presStyleLbl="alignNode1" presStyleIdx="1" presStyleCnt="3">
        <dgm:presLayoutVars>
          <dgm:chMax val="1"/>
          <dgm:bulletEnabled val="1"/>
        </dgm:presLayoutVars>
      </dgm:prSet>
      <dgm:spPr/>
    </dgm:pt>
    <dgm:pt modelId="{FE7C3A95-45D4-4351-B358-82A72055716E}" type="pres">
      <dgm:prSet presAssocID="{E4F68B8C-7FBE-4D05-A699-931ED6D9FE3B}" presName="descendantText" presStyleLbl="alignAcc1" presStyleIdx="1" presStyleCnt="3">
        <dgm:presLayoutVars>
          <dgm:bulletEnabled val="1"/>
        </dgm:presLayoutVars>
      </dgm:prSet>
      <dgm:spPr/>
    </dgm:pt>
    <dgm:pt modelId="{0F249874-A137-4D8A-81F1-410F069132DE}" type="pres">
      <dgm:prSet presAssocID="{81B551BF-F644-4A13-863B-14D5D110C8D8}" presName="sp" presStyleCnt="0"/>
      <dgm:spPr/>
    </dgm:pt>
    <dgm:pt modelId="{D5F37E3A-2170-4FCE-8EEC-6EF3325BFA6F}" type="pres">
      <dgm:prSet presAssocID="{21CF5B56-4221-447E-9D69-4EE2CF27D666}" presName="composite" presStyleCnt="0"/>
      <dgm:spPr/>
    </dgm:pt>
    <dgm:pt modelId="{9158AE1D-AF9B-4AA0-AAAF-55632C229132}" type="pres">
      <dgm:prSet presAssocID="{21CF5B56-4221-447E-9D69-4EE2CF27D666}" presName="parentText" presStyleLbl="alignNode1" presStyleIdx="2" presStyleCnt="3">
        <dgm:presLayoutVars>
          <dgm:chMax val="1"/>
          <dgm:bulletEnabled val="1"/>
        </dgm:presLayoutVars>
      </dgm:prSet>
      <dgm:spPr/>
    </dgm:pt>
    <dgm:pt modelId="{B95F61D7-3DD4-4631-81BE-7ECF61CD3172}" type="pres">
      <dgm:prSet presAssocID="{21CF5B56-4221-447E-9D69-4EE2CF27D666}" presName="descendantText" presStyleLbl="alignAcc1" presStyleIdx="2" presStyleCnt="3">
        <dgm:presLayoutVars>
          <dgm:bulletEnabled val="1"/>
        </dgm:presLayoutVars>
      </dgm:prSet>
      <dgm:spPr/>
    </dgm:pt>
  </dgm:ptLst>
  <dgm:cxnLst>
    <dgm:cxn modelId="{30AEFA09-C48F-4FD1-AE4E-86E041118BF2}" type="presOf" srcId="{21CF5B56-4221-447E-9D69-4EE2CF27D666}" destId="{9158AE1D-AF9B-4AA0-AAAF-55632C229132}" srcOrd="0" destOrd="0" presId="urn:microsoft.com/office/officeart/2005/8/layout/chevron2"/>
    <dgm:cxn modelId="{AE611829-C6CC-46A1-BFCE-A9B6D0B84C21}" srcId="{D094A871-6305-4838-9CCF-03BBF88B3FDC}" destId="{21CF5B56-4221-447E-9D69-4EE2CF27D666}" srcOrd="2" destOrd="0" parTransId="{568CB917-C9EF-4E37-8B6B-45BF46F27421}" sibTransId="{3BBDF667-A60A-4367-A97F-7180EE5F0408}"/>
    <dgm:cxn modelId="{8AB74348-C7AB-4CEF-A7D7-059CA7AC8454}" srcId="{AE0319A2-BF17-46C3-97E5-FE97F9DBD7A5}" destId="{CF82F1CE-1DD4-4BB5-BEDA-A40D6056CBA3}" srcOrd="0" destOrd="0" parTransId="{9E155DB0-6AFB-4E50-86BC-0C13D4B65B78}" sibTransId="{55434AF5-137B-4DF0-B3E5-48A14E7D042C}"/>
    <dgm:cxn modelId="{F1E0934F-BDCD-4354-B3F0-B04344DD0CB8}" type="presOf" srcId="{AE0319A2-BF17-46C3-97E5-FE97F9DBD7A5}" destId="{233307A3-EF1A-4698-BB63-913E1E9463F1}" srcOrd="0" destOrd="0" presId="urn:microsoft.com/office/officeart/2005/8/layout/chevron2"/>
    <dgm:cxn modelId="{5AF71C51-61AC-49D1-8486-260DA5C967C0}" type="presOf" srcId="{B9D233B0-AA2A-4238-B9E1-78FB4796889D}" destId="{B95F61D7-3DD4-4631-81BE-7ECF61CD3172}" srcOrd="0" destOrd="0" presId="urn:microsoft.com/office/officeart/2005/8/layout/chevron2"/>
    <dgm:cxn modelId="{0E94C356-5489-4E64-857A-BA041C70D9FB}" srcId="{D094A871-6305-4838-9CCF-03BBF88B3FDC}" destId="{AE0319A2-BF17-46C3-97E5-FE97F9DBD7A5}" srcOrd="0" destOrd="0" parTransId="{C419D635-F9E4-4EF3-AFC6-CEDCA802D593}" sibTransId="{325AFA51-99E8-4EDC-BAE0-B39E866B2B7C}"/>
    <dgm:cxn modelId="{9038F386-C486-4D5D-9C94-5E23B60B2894}" srcId="{E4F68B8C-7FBE-4D05-A699-931ED6D9FE3B}" destId="{15AD0540-D476-4F15-9405-424A54C585BA}" srcOrd="0" destOrd="0" parTransId="{FF976D25-A7F4-4E0A-BD0E-AA2A06DB32A4}" sibTransId="{42802E7F-3FA4-4643-A64B-3A22D0EE2E28}"/>
    <dgm:cxn modelId="{0D66E68C-4A7B-44CB-A449-C822C96F0105}" type="presOf" srcId="{CF82F1CE-1DD4-4BB5-BEDA-A40D6056CBA3}" destId="{846D178C-272E-4278-886A-92063EF03129}" srcOrd="0" destOrd="0" presId="urn:microsoft.com/office/officeart/2005/8/layout/chevron2"/>
    <dgm:cxn modelId="{89E48799-D4B1-4787-9AB9-BD36F729A017}" srcId="{21CF5B56-4221-447E-9D69-4EE2CF27D666}" destId="{B9D233B0-AA2A-4238-B9E1-78FB4796889D}" srcOrd="0" destOrd="0" parTransId="{2024FA09-C399-4403-A437-86EE3DE9A5EB}" sibTransId="{6A956D43-EBAB-4A9E-9EA5-9685D8447033}"/>
    <dgm:cxn modelId="{C3A1BAD1-0C47-4890-9CD2-930A9690628F}" type="presOf" srcId="{15AD0540-D476-4F15-9405-424A54C585BA}" destId="{FE7C3A95-45D4-4351-B358-82A72055716E}" srcOrd="0" destOrd="0" presId="urn:microsoft.com/office/officeart/2005/8/layout/chevron2"/>
    <dgm:cxn modelId="{3233D0DF-29FB-4C6C-B322-45A0FE3622C6}" type="presOf" srcId="{E4F68B8C-7FBE-4D05-A699-931ED6D9FE3B}" destId="{95551BEB-7A65-47CD-AEFE-13D40DAEDE13}" srcOrd="0" destOrd="0" presId="urn:microsoft.com/office/officeart/2005/8/layout/chevron2"/>
    <dgm:cxn modelId="{8173ABE8-CF46-43B5-82A4-8B312D149D33}" srcId="{D094A871-6305-4838-9CCF-03BBF88B3FDC}" destId="{E4F68B8C-7FBE-4D05-A699-931ED6D9FE3B}" srcOrd="1" destOrd="0" parTransId="{72C759AB-7C51-45A9-B3A6-93456D7EE73A}" sibTransId="{81B551BF-F644-4A13-863B-14D5D110C8D8}"/>
    <dgm:cxn modelId="{95CE4BF2-03D6-4331-9E0A-04BA957109DC}" type="presOf" srcId="{D094A871-6305-4838-9CCF-03BBF88B3FDC}" destId="{D32F71B3-BA63-4309-88AF-2E90D8A659F8}" srcOrd="0" destOrd="0" presId="urn:microsoft.com/office/officeart/2005/8/layout/chevron2"/>
    <dgm:cxn modelId="{D7C1B88B-FCB7-4CE7-A8C7-2416FAF4B6AC}" type="presParOf" srcId="{D32F71B3-BA63-4309-88AF-2E90D8A659F8}" destId="{73C66492-7008-43AF-AB75-1FA216CEFBFF}" srcOrd="0" destOrd="0" presId="urn:microsoft.com/office/officeart/2005/8/layout/chevron2"/>
    <dgm:cxn modelId="{4F16A679-BA95-4271-A1EF-39B88B780FEC}" type="presParOf" srcId="{73C66492-7008-43AF-AB75-1FA216CEFBFF}" destId="{233307A3-EF1A-4698-BB63-913E1E9463F1}" srcOrd="0" destOrd="0" presId="urn:microsoft.com/office/officeart/2005/8/layout/chevron2"/>
    <dgm:cxn modelId="{122521D2-CA92-4DAA-9D8E-352F62147344}" type="presParOf" srcId="{73C66492-7008-43AF-AB75-1FA216CEFBFF}" destId="{846D178C-272E-4278-886A-92063EF03129}" srcOrd="1" destOrd="0" presId="urn:microsoft.com/office/officeart/2005/8/layout/chevron2"/>
    <dgm:cxn modelId="{FED6F9C6-FD28-4227-8426-4A79CB1C792F}" type="presParOf" srcId="{D32F71B3-BA63-4309-88AF-2E90D8A659F8}" destId="{395A5E8F-27B1-4F7F-8C43-BD2536839E4B}" srcOrd="1" destOrd="0" presId="urn:microsoft.com/office/officeart/2005/8/layout/chevron2"/>
    <dgm:cxn modelId="{D6209FF0-2135-4623-AE8F-FD0DB0B1AD94}" type="presParOf" srcId="{D32F71B3-BA63-4309-88AF-2E90D8A659F8}" destId="{99CF1DAA-3B0E-4295-8883-941249FBCDB2}" srcOrd="2" destOrd="0" presId="urn:microsoft.com/office/officeart/2005/8/layout/chevron2"/>
    <dgm:cxn modelId="{643F8899-7B82-4A08-A297-992A4A326708}" type="presParOf" srcId="{99CF1DAA-3B0E-4295-8883-941249FBCDB2}" destId="{95551BEB-7A65-47CD-AEFE-13D40DAEDE13}" srcOrd="0" destOrd="0" presId="urn:microsoft.com/office/officeart/2005/8/layout/chevron2"/>
    <dgm:cxn modelId="{BC0DEC26-7DE6-4B5C-B1C0-2F0E33360D5E}" type="presParOf" srcId="{99CF1DAA-3B0E-4295-8883-941249FBCDB2}" destId="{FE7C3A95-45D4-4351-B358-82A72055716E}" srcOrd="1" destOrd="0" presId="urn:microsoft.com/office/officeart/2005/8/layout/chevron2"/>
    <dgm:cxn modelId="{B8796B7A-9AC6-4617-9336-A7ECE1E47A22}" type="presParOf" srcId="{D32F71B3-BA63-4309-88AF-2E90D8A659F8}" destId="{0F249874-A137-4D8A-81F1-410F069132DE}" srcOrd="3" destOrd="0" presId="urn:microsoft.com/office/officeart/2005/8/layout/chevron2"/>
    <dgm:cxn modelId="{69E713EC-3065-468C-AF9C-8E6CDE5F1D03}" type="presParOf" srcId="{D32F71B3-BA63-4309-88AF-2E90D8A659F8}" destId="{D5F37E3A-2170-4FCE-8EEC-6EF3325BFA6F}" srcOrd="4" destOrd="0" presId="urn:microsoft.com/office/officeart/2005/8/layout/chevron2"/>
    <dgm:cxn modelId="{D625F426-33F6-478C-953F-AB1C5DC5F1E5}" type="presParOf" srcId="{D5F37E3A-2170-4FCE-8EEC-6EF3325BFA6F}" destId="{9158AE1D-AF9B-4AA0-AAAF-55632C229132}" srcOrd="0" destOrd="0" presId="urn:microsoft.com/office/officeart/2005/8/layout/chevron2"/>
    <dgm:cxn modelId="{4B558010-592F-4C7C-819D-DD8A580891A3}" type="presParOf" srcId="{D5F37E3A-2170-4FCE-8EEC-6EF3325BFA6F}" destId="{B95F61D7-3DD4-4631-81BE-7ECF61CD3172}"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8900440-A63F-40E6-9903-FCB246DC1F64}" type="doc">
      <dgm:prSet loTypeId="urn:microsoft.com/office/officeart/2005/8/layout/hierarchy2" loCatId="hierarchy" qsTypeId="urn:microsoft.com/office/officeart/2005/8/quickstyle/simple3" qsCatId="simple" csTypeId="urn:microsoft.com/office/officeart/2005/8/colors/accent0_3" csCatId="mainScheme" phldr="1"/>
      <dgm:spPr/>
      <dgm:t>
        <a:bodyPr/>
        <a:lstStyle/>
        <a:p>
          <a:endParaRPr lang="es-CO"/>
        </a:p>
      </dgm:t>
    </dgm:pt>
    <dgm:pt modelId="{BD1837E9-AFA3-45A0-A836-89F5A71E7ABA}">
      <dgm:prSet phldrT="[Texto]"/>
      <dgm:spPr/>
      <dgm:t>
        <a:bodyPr/>
        <a:lstStyle/>
        <a:p>
          <a:r>
            <a:rPr lang="es-CO"/>
            <a:t>Caracterización probalilística de variables</a:t>
          </a:r>
        </a:p>
      </dgm:t>
    </dgm:pt>
    <dgm:pt modelId="{8D6A4C5E-38C2-4A64-B4FF-D1CDA21DE07C}" type="parTrans" cxnId="{64F66456-9F6C-474B-BA7B-0925DBFEDA98}">
      <dgm:prSet/>
      <dgm:spPr/>
      <dgm:t>
        <a:bodyPr/>
        <a:lstStyle/>
        <a:p>
          <a:endParaRPr lang="es-CO"/>
        </a:p>
      </dgm:t>
    </dgm:pt>
    <dgm:pt modelId="{4DB76E01-DE8A-4EE1-8452-DB12D076E165}" type="sibTrans" cxnId="{64F66456-9F6C-474B-BA7B-0925DBFEDA98}">
      <dgm:prSet/>
      <dgm:spPr/>
      <dgm:t>
        <a:bodyPr/>
        <a:lstStyle/>
        <a:p>
          <a:endParaRPr lang="es-CO"/>
        </a:p>
      </dgm:t>
    </dgm:pt>
    <dgm:pt modelId="{557E38FF-4777-4DA1-BA29-23046FEC565E}">
      <dgm:prSet phldrT="[Texto]"/>
      <dgm:spPr/>
      <dgm:t>
        <a:bodyPr/>
        <a:lstStyle/>
        <a:p>
          <a:r>
            <a:rPr lang="es-CO" dirty="0"/>
            <a:t>Naturaleza de la variable física</a:t>
          </a:r>
        </a:p>
      </dgm:t>
    </dgm:pt>
    <dgm:pt modelId="{169E4D2E-C587-451A-B274-E21F26F6370D}" type="parTrans" cxnId="{249B9217-4E2D-4051-8F47-FADBE9CBE90B}">
      <dgm:prSet/>
      <dgm:spPr/>
      <dgm:t>
        <a:bodyPr/>
        <a:lstStyle/>
        <a:p>
          <a:endParaRPr lang="es-CO"/>
        </a:p>
      </dgm:t>
    </dgm:pt>
    <dgm:pt modelId="{67FB2753-DC2D-41EC-930E-FB3AB11386AB}" type="sibTrans" cxnId="{249B9217-4E2D-4051-8F47-FADBE9CBE90B}">
      <dgm:prSet/>
      <dgm:spPr/>
      <dgm:t>
        <a:bodyPr/>
        <a:lstStyle/>
        <a:p>
          <a:endParaRPr lang="es-CO"/>
        </a:p>
      </dgm:t>
    </dgm:pt>
    <dgm:pt modelId="{A2A9C395-9B02-46D3-9ED7-63F63BE8FD30}">
      <dgm:prSet phldrT="[Texto]"/>
      <dgm:spPr/>
      <dgm:t>
        <a:bodyPr/>
        <a:lstStyle/>
        <a:p>
          <a:r>
            <a:rPr lang="es-CO"/>
            <a:t>Discreta</a:t>
          </a:r>
        </a:p>
      </dgm:t>
    </dgm:pt>
    <dgm:pt modelId="{B82DB982-FF4C-449C-B01B-EFFE5FA83112}" type="parTrans" cxnId="{E9D725F3-1E0E-4FA5-BEE0-1FEBA0C64973}">
      <dgm:prSet/>
      <dgm:spPr/>
      <dgm:t>
        <a:bodyPr/>
        <a:lstStyle/>
        <a:p>
          <a:endParaRPr lang="es-CO"/>
        </a:p>
      </dgm:t>
    </dgm:pt>
    <dgm:pt modelId="{EFBF8A4F-CB99-4499-AB6C-75FD01554F17}" type="sibTrans" cxnId="{E9D725F3-1E0E-4FA5-BEE0-1FEBA0C64973}">
      <dgm:prSet/>
      <dgm:spPr/>
      <dgm:t>
        <a:bodyPr/>
        <a:lstStyle/>
        <a:p>
          <a:endParaRPr lang="es-CO"/>
        </a:p>
      </dgm:t>
    </dgm:pt>
    <dgm:pt modelId="{40424A24-7E68-4128-8FA1-20DE917955B4}">
      <dgm:prSet phldrT="[Texto]"/>
      <dgm:spPr/>
      <dgm:t>
        <a:bodyPr/>
        <a:lstStyle/>
        <a:p>
          <a:r>
            <a:rPr lang="es-CO"/>
            <a:t>Continua</a:t>
          </a:r>
        </a:p>
      </dgm:t>
    </dgm:pt>
    <dgm:pt modelId="{40ADC695-814F-4836-8A2D-B69D5AAB0A23}" type="parTrans" cxnId="{534DBBEC-792D-4A31-8D72-5B992818A62A}">
      <dgm:prSet/>
      <dgm:spPr/>
      <dgm:t>
        <a:bodyPr/>
        <a:lstStyle/>
        <a:p>
          <a:endParaRPr lang="es-CO"/>
        </a:p>
      </dgm:t>
    </dgm:pt>
    <dgm:pt modelId="{458EF8A3-E3EA-4379-A1F3-E6A04F58F0A3}" type="sibTrans" cxnId="{534DBBEC-792D-4A31-8D72-5B992818A62A}">
      <dgm:prSet/>
      <dgm:spPr/>
      <dgm:t>
        <a:bodyPr/>
        <a:lstStyle/>
        <a:p>
          <a:endParaRPr lang="es-CO"/>
        </a:p>
      </dgm:t>
    </dgm:pt>
    <dgm:pt modelId="{BB29E2C6-87D4-4F9E-89DF-01B6870E8299}">
      <dgm:prSet phldrT="[Texto]"/>
      <dgm:spPr/>
      <dgm:t>
        <a:bodyPr/>
        <a:lstStyle/>
        <a:p>
          <a:r>
            <a:rPr lang="es-CO" dirty="0"/>
            <a:t>Confinamiento de la variable a modelar</a:t>
          </a:r>
        </a:p>
      </dgm:t>
    </dgm:pt>
    <dgm:pt modelId="{B3D2FF22-1B4F-4B21-A5E0-431228737E77}" type="parTrans" cxnId="{43E7AFA6-29B6-453C-8204-BE822A7143CA}">
      <dgm:prSet/>
      <dgm:spPr/>
      <dgm:t>
        <a:bodyPr/>
        <a:lstStyle/>
        <a:p>
          <a:endParaRPr lang="es-CO"/>
        </a:p>
      </dgm:t>
    </dgm:pt>
    <dgm:pt modelId="{D3FDD5F3-5D2D-40F2-8722-7887D33694DA}" type="sibTrans" cxnId="{43E7AFA6-29B6-453C-8204-BE822A7143CA}">
      <dgm:prSet/>
      <dgm:spPr/>
      <dgm:t>
        <a:bodyPr/>
        <a:lstStyle/>
        <a:p>
          <a:endParaRPr lang="es-CO"/>
        </a:p>
      </dgm:t>
    </dgm:pt>
    <dgm:pt modelId="{2E9CA635-8458-4661-A31A-002AA0D50083}">
      <dgm:prSet phldrT="[Texto]"/>
      <dgm:spPr/>
      <dgm:t>
        <a:bodyPr/>
        <a:lstStyle/>
        <a:p>
          <a:r>
            <a:rPr lang="es-CO" dirty="0"/>
            <a:t>Truncada</a:t>
          </a:r>
        </a:p>
      </dgm:t>
    </dgm:pt>
    <dgm:pt modelId="{A9600E38-9A7A-44F4-9DD7-1A5091D005B1}" type="parTrans" cxnId="{B976CFEC-86EF-4695-87BF-3213AE64A05B}">
      <dgm:prSet/>
      <dgm:spPr/>
      <dgm:t>
        <a:bodyPr/>
        <a:lstStyle/>
        <a:p>
          <a:endParaRPr lang="es-CO"/>
        </a:p>
      </dgm:t>
    </dgm:pt>
    <dgm:pt modelId="{7EA98B7C-6E66-46BE-9268-CB34B3C1F2C6}" type="sibTrans" cxnId="{B976CFEC-86EF-4695-87BF-3213AE64A05B}">
      <dgm:prSet/>
      <dgm:spPr/>
      <dgm:t>
        <a:bodyPr/>
        <a:lstStyle/>
        <a:p>
          <a:endParaRPr lang="es-CO"/>
        </a:p>
      </dgm:t>
    </dgm:pt>
    <dgm:pt modelId="{6E758893-A399-4780-8285-B2012E6950B9}">
      <dgm:prSet/>
      <dgm:spPr/>
      <dgm:t>
        <a:bodyPr/>
        <a:lstStyle/>
        <a:p>
          <a:r>
            <a:rPr lang="es-CO"/>
            <a:t>No Truncada</a:t>
          </a:r>
        </a:p>
      </dgm:t>
    </dgm:pt>
    <dgm:pt modelId="{98C4965A-A688-4B98-8362-431B5EE939F4}" type="parTrans" cxnId="{DF0079C8-3C77-460F-9D9C-BF48A5F0EB79}">
      <dgm:prSet/>
      <dgm:spPr/>
      <dgm:t>
        <a:bodyPr/>
        <a:lstStyle/>
        <a:p>
          <a:endParaRPr lang="es-CO"/>
        </a:p>
      </dgm:t>
    </dgm:pt>
    <dgm:pt modelId="{40AC5D4B-0AC0-43FE-A963-6B764B4DF0B6}" type="sibTrans" cxnId="{DF0079C8-3C77-460F-9D9C-BF48A5F0EB79}">
      <dgm:prSet/>
      <dgm:spPr/>
      <dgm:t>
        <a:bodyPr/>
        <a:lstStyle/>
        <a:p>
          <a:endParaRPr lang="es-CO"/>
        </a:p>
      </dgm:t>
    </dgm:pt>
    <dgm:pt modelId="{1B44E351-BA76-4540-ABCF-14FAAF291463}">
      <dgm:prSet/>
      <dgm:spPr/>
      <dgm:t>
        <a:bodyPr/>
        <a:lstStyle/>
        <a:p>
          <a:r>
            <a:rPr lang="es-CO" dirty="0"/>
            <a:t>Representación matemática de la variable a modelar</a:t>
          </a:r>
        </a:p>
      </dgm:t>
    </dgm:pt>
    <dgm:pt modelId="{F96B8C96-7586-4CFB-850E-BA2262BC81F6}" type="parTrans" cxnId="{7442338B-7FDD-4A97-B233-65D92957A368}">
      <dgm:prSet/>
      <dgm:spPr/>
      <dgm:t>
        <a:bodyPr/>
        <a:lstStyle/>
        <a:p>
          <a:endParaRPr lang="es-CO"/>
        </a:p>
      </dgm:t>
    </dgm:pt>
    <dgm:pt modelId="{605976DD-605D-4292-A836-4DC05DE74FBB}" type="sibTrans" cxnId="{7442338B-7FDD-4A97-B233-65D92957A368}">
      <dgm:prSet/>
      <dgm:spPr/>
      <dgm:t>
        <a:bodyPr/>
        <a:lstStyle/>
        <a:p>
          <a:endParaRPr lang="es-CO"/>
        </a:p>
      </dgm:t>
    </dgm:pt>
    <dgm:pt modelId="{C0CEEE10-16F5-4115-B3CC-0F67657573B8}">
      <dgm:prSet/>
      <dgm:spPr/>
      <dgm:t>
        <a:bodyPr/>
        <a:lstStyle/>
        <a:p>
          <a:r>
            <a:rPr lang="es-CO"/>
            <a:t>Parámetrica</a:t>
          </a:r>
        </a:p>
      </dgm:t>
    </dgm:pt>
    <dgm:pt modelId="{99FB368C-C376-4FFF-81A0-F4831D96048C}" type="parTrans" cxnId="{45C55692-0BF0-447D-925F-3BC2060D4E6E}">
      <dgm:prSet/>
      <dgm:spPr/>
      <dgm:t>
        <a:bodyPr/>
        <a:lstStyle/>
        <a:p>
          <a:endParaRPr lang="es-CO"/>
        </a:p>
      </dgm:t>
    </dgm:pt>
    <dgm:pt modelId="{635E5073-4763-4CAD-A770-AAE35A91A308}" type="sibTrans" cxnId="{45C55692-0BF0-447D-925F-3BC2060D4E6E}">
      <dgm:prSet/>
      <dgm:spPr/>
      <dgm:t>
        <a:bodyPr/>
        <a:lstStyle/>
        <a:p>
          <a:endParaRPr lang="es-CO"/>
        </a:p>
      </dgm:t>
    </dgm:pt>
    <dgm:pt modelId="{745187D0-2520-4B66-B1EE-3A17489C44CB}">
      <dgm:prSet/>
      <dgm:spPr/>
      <dgm:t>
        <a:bodyPr/>
        <a:lstStyle/>
        <a:p>
          <a:r>
            <a:rPr lang="es-CO"/>
            <a:t>Empirica</a:t>
          </a:r>
        </a:p>
      </dgm:t>
    </dgm:pt>
    <dgm:pt modelId="{FD8A2B4C-4090-4FAF-8B74-DC5AB9E898EE}" type="parTrans" cxnId="{E8AD70B2-D4FC-4A79-AA57-1B50278FA674}">
      <dgm:prSet/>
      <dgm:spPr/>
      <dgm:t>
        <a:bodyPr/>
        <a:lstStyle/>
        <a:p>
          <a:endParaRPr lang="es-CO"/>
        </a:p>
      </dgm:t>
    </dgm:pt>
    <dgm:pt modelId="{86A67CB0-BF47-4F6C-A7A9-EB1AA75579E3}" type="sibTrans" cxnId="{E8AD70B2-D4FC-4A79-AA57-1B50278FA674}">
      <dgm:prSet/>
      <dgm:spPr/>
      <dgm:t>
        <a:bodyPr/>
        <a:lstStyle/>
        <a:p>
          <a:endParaRPr lang="es-CO"/>
        </a:p>
      </dgm:t>
    </dgm:pt>
    <dgm:pt modelId="{3EB87DAC-5D82-4AF5-AFA8-F7FA6D2DE359}" type="pres">
      <dgm:prSet presAssocID="{88900440-A63F-40E6-9903-FCB246DC1F64}" presName="diagram" presStyleCnt="0">
        <dgm:presLayoutVars>
          <dgm:chPref val="1"/>
          <dgm:dir/>
          <dgm:animOne val="branch"/>
          <dgm:animLvl val="lvl"/>
          <dgm:resizeHandles val="exact"/>
        </dgm:presLayoutVars>
      </dgm:prSet>
      <dgm:spPr/>
    </dgm:pt>
    <dgm:pt modelId="{EB03DBED-A2FE-44DF-BBC4-202B76EDA2A8}" type="pres">
      <dgm:prSet presAssocID="{BD1837E9-AFA3-45A0-A836-89F5A71E7ABA}" presName="root1" presStyleCnt="0"/>
      <dgm:spPr/>
    </dgm:pt>
    <dgm:pt modelId="{177AF78F-ABF8-4ED6-B814-F375A19293DD}" type="pres">
      <dgm:prSet presAssocID="{BD1837E9-AFA3-45A0-A836-89F5A71E7ABA}" presName="LevelOneTextNode" presStyleLbl="node0" presStyleIdx="0" presStyleCnt="1">
        <dgm:presLayoutVars>
          <dgm:chPref val="3"/>
        </dgm:presLayoutVars>
      </dgm:prSet>
      <dgm:spPr/>
    </dgm:pt>
    <dgm:pt modelId="{8F1CD058-2C9B-4921-89E3-9A18769BCD82}" type="pres">
      <dgm:prSet presAssocID="{BD1837E9-AFA3-45A0-A836-89F5A71E7ABA}" presName="level2hierChild" presStyleCnt="0"/>
      <dgm:spPr/>
    </dgm:pt>
    <dgm:pt modelId="{AB83F86F-20B7-495A-B385-227C995D58B1}" type="pres">
      <dgm:prSet presAssocID="{169E4D2E-C587-451A-B274-E21F26F6370D}" presName="conn2-1" presStyleLbl="parChTrans1D2" presStyleIdx="0" presStyleCnt="3"/>
      <dgm:spPr/>
    </dgm:pt>
    <dgm:pt modelId="{40475A96-985B-4C2F-BB1A-28A6D914BC0C}" type="pres">
      <dgm:prSet presAssocID="{169E4D2E-C587-451A-B274-E21F26F6370D}" presName="connTx" presStyleLbl="parChTrans1D2" presStyleIdx="0" presStyleCnt="3"/>
      <dgm:spPr/>
    </dgm:pt>
    <dgm:pt modelId="{3D37357C-5160-4D55-9E03-294C5CFA3494}" type="pres">
      <dgm:prSet presAssocID="{557E38FF-4777-4DA1-BA29-23046FEC565E}" presName="root2" presStyleCnt="0"/>
      <dgm:spPr/>
    </dgm:pt>
    <dgm:pt modelId="{12128D18-AA8E-4E07-BDAF-39076782E488}" type="pres">
      <dgm:prSet presAssocID="{557E38FF-4777-4DA1-BA29-23046FEC565E}" presName="LevelTwoTextNode" presStyleLbl="node2" presStyleIdx="0" presStyleCnt="3">
        <dgm:presLayoutVars>
          <dgm:chPref val="3"/>
        </dgm:presLayoutVars>
      </dgm:prSet>
      <dgm:spPr/>
    </dgm:pt>
    <dgm:pt modelId="{9E2ECF34-5A8B-426F-AF83-3C88999D7206}" type="pres">
      <dgm:prSet presAssocID="{557E38FF-4777-4DA1-BA29-23046FEC565E}" presName="level3hierChild" presStyleCnt="0"/>
      <dgm:spPr/>
    </dgm:pt>
    <dgm:pt modelId="{F1113760-4C62-4605-9012-8C67CCC2FC4B}" type="pres">
      <dgm:prSet presAssocID="{B82DB982-FF4C-449C-B01B-EFFE5FA83112}" presName="conn2-1" presStyleLbl="parChTrans1D3" presStyleIdx="0" presStyleCnt="6"/>
      <dgm:spPr/>
    </dgm:pt>
    <dgm:pt modelId="{D0E879B4-5270-47D2-A55F-1FD0DBA75375}" type="pres">
      <dgm:prSet presAssocID="{B82DB982-FF4C-449C-B01B-EFFE5FA83112}" presName="connTx" presStyleLbl="parChTrans1D3" presStyleIdx="0" presStyleCnt="6"/>
      <dgm:spPr/>
    </dgm:pt>
    <dgm:pt modelId="{FD1DB90C-3EB9-416B-857B-2D419BE763AA}" type="pres">
      <dgm:prSet presAssocID="{A2A9C395-9B02-46D3-9ED7-63F63BE8FD30}" presName="root2" presStyleCnt="0"/>
      <dgm:spPr/>
    </dgm:pt>
    <dgm:pt modelId="{C928802D-DFB3-4508-9BA9-9427BC2E0F5F}" type="pres">
      <dgm:prSet presAssocID="{A2A9C395-9B02-46D3-9ED7-63F63BE8FD30}" presName="LevelTwoTextNode" presStyleLbl="node3" presStyleIdx="0" presStyleCnt="6">
        <dgm:presLayoutVars>
          <dgm:chPref val="3"/>
        </dgm:presLayoutVars>
      </dgm:prSet>
      <dgm:spPr/>
    </dgm:pt>
    <dgm:pt modelId="{3E63F9D0-1B2E-462A-BC33-94C91842333C}" type="pres">
      <dgm:prSet presAssocID="{A2A9C395-9B02-46D3-9ED7-63F63BE8FD30}" presName="level3hierChild" presStyleCnt="0"/>
      <dgm:spPr/>
    </dgm:pt>
    <dgm:pt modelId="{48DA5296-61C4-4A86-8ADB-025F79957C03}" type="pres">
      <dgm:prSet presAssocID="{40ADC695-814F-4836-8A2D-B69D5AAB0A23}" presName="conn2-1" presStyleLbl="parChTrans1D3" presStyleIdx="1" presStyleCnt="6"/>
      <dgm:spPr/>
    </dgm:pt>
    <dgm:pt modelId="{CDA8D7E2-787B-4BA0-A634-DB4BF0914424}" type="pres">
      <dgm:prSet presAssocID="{40ADC695-814F-4836-8A2D-B69D5AAB0A23}" presName="connTx" presStyleLbl="parChTrans1D3" presStyleIdx="1" presStyleCnt="6"/>
      <dgm:spPr/>
    </dgm:pt>
    <dgm:pt modelId="{9ADE2A4B-70C3-42E6-9080-707A0F0E6EFE}" type="pres">
      <dgm:prSet presAssocID="{40424A24-7E68-4128-8FA1-20DE917955B4}" presName="root2" presStyleCnt="0"/>
      <dgm:spPr/>
    </dgm:pt>
    <dgm:pt modelId="{883C14BA-ECFB-4F25-AF32-4397B26734C2}" type="pres">
      <dgm:prSet presAssocID="{40424A24-7E68-4128-8FA1-20DE917955B4}" presName="LevelTwoTextNode" presStyleLbl="node3" presStyleIdx="1" presStyleCnt="6">
        <dgm:presLayoutVars>
          <dgm:chPref val="3"/>
        </dgm:presLayoutVars>
      </dgm:prSet>
      <dgm:spPr/>
    </dgm:pt>
    <dgm:pt modelId="{0EB6B567-1808-40D0-AC31-AAFA175D5448}" type="pres">
      <dgm:prSet presAssocID="{40424A24-7E68-4128-8FA1-20DE917955B4}" presName="level3hierChild" presStyleCnt="0"/>
      <dgm:spPr/>
    </dgm:pt>
    <dgm:pt modelId="{66092751-1DD6-4A75-A114-497B8C9F6D62}" type="pres">
      <dgm:prSet presAssocID="{B3D2FF22-1B4F-4B21-A5E0-431228737E77}" presName="conn2-1" presStyleLbl="parChTrans1D2" presStyleIdx="1" presStyleCnt="3"/>
      <dgm:spPr/>
    </dgm:pt>
    <dgm:pt modelId="{7155157A-220B-4CBD-A83C-D4BF10AE47E7}" type="pres">
      <dgm:prSet presAssocID="{B3D2FF22-1B4F-4B21-A5E0-431228737E77}" presName="connTx" presStyleLbl="parChTrans1D2" presStyleIdx="1" presStyleCnt="3"/>
      <dgm:spPr/>
    </dgm:pt>
    <dgm:pt modelId="{68B11720-E52F-447A-A64E-0C4292404606}" type="pres">
      <dgm:prSet presAssocID="{BB29E2C6-87D4-4F9E-89DF-01B6870E8299}" presName="root2" presStyleCnt="0"/>
      <dgm:spPr/>
    </dgm:pt>
    <dgm:pt modelId="{E6EB88E5-72A5-45BC-81D9-DD7BAB845F1A}" type="pres">
      <dgm:prSet presAssocID="{BB29E2C6-87D4-4F9E-89DF-01B6870E8299}" presName="LevelTwoTextNode" presStyleLbl="node2" presStyleIdx="1" presStyleCnt="3">
        <dgm:presLayoutVars>
          <dgm:chPref val="3"/>
        </dgm:presLayoutVars>
      </dgm:prSet>
      <dgm:spPr/>
    </dgm:pt>
    <dgm:pt modelId="{59FBB5E3-F68F-45B1-84A2-4E49B698CF19}" type="pres">
      <dgm:prSet presAssocID="{BB29E2C6-87D4-4F9E-89DF-01B6870E8299}" presName="level3hierChild" presStyleCnt="0"/>
      <dgm:spPr/>
    </dgm:pt>
    <dgm:pt modelId="{3FB9C3DA-8865-4113-8965-61DABA8A2E02}" type="pres">
      <dgm:prSet presAssocID="{A9600E38-9A7A-44F4-9DD7-1A5091D005B1}" presName="conn2-1" presStyleLbl="parChTrans1D3" presStyleIdx="2" presStyleCnt="6"/>
      <dgm:spPr/>
    </dgm:pt>
    <dgm:pt modelId="{0C9C34C6-E9ED-4538-A929-0190C42F675A}" type="pres">
      <dgm:prSet presAssocID="{A9600E38-9A7A-44F4-9DD7-1A5091D005B1}" presName="connTx" presStyleLbl="parChTrans1D3" presStyleIdx="2" presStyleCnt="6"/>
      <dgm:spPr/>
    </dgm:pt>
    <dgm:pt modelId="{263937F0-D52A-40F2-AA8F-248CB49EA3EB}" type="pres">
      <dgm:prSet presAssocID="{2E9CA635-8458-4661-A31A-002AA0D50083}" presName="root2" presStyleCnt="0"/>
      <dgm:spPr/>
    </dgm:pt>
    <dgm:pt modelId="{8BFA6865-A7AC-4669-BD4D-F5B7C6509523}" type="pres">
      <dgm:prSet presAssocID="{2E9CA635-8458-4661-A31A-002AA0D50083}" presName="LevelTwoTextNode" presStyleLbl="node3" presStyleIdx="2" presStyleCnt="6">
        <dgm:presLayoutVars>
          <dgm:chPref val="3"/>
        </dgm:presLayoutVars>
      </dgm:prSet>
      <dgm:spPr/>
    </dgm:pt>
    <dgm:pt modelId="{4DF45FBF-56BD-488B-BF66-8A74712DCBF8}" type="pres">
      <dgm:prSet presAssocID="{2E9CA635-8458-4661-A31A-002AA0D50083}" presName="level3hierChild" presStyleCnt="0"/>
      <dgm:spPr/>
    </dgm:pt>
    <dgm:pt modelId="{55562A46-7454-4874-BA13-E98AA515A6F1}" type="pres">
      <dgm:prSet presAssocID="{98C4965A-A688-4B98-8362-431B5EE939F4}" presName="conn2-1" presStyleLbl="parChTrans1D3" presStyleIdx="3" presStyleCnt="6"/>
      <dgm:spPr/>
    </dgm:pt>
    <dgm:pt modelId="{25691E88-1F37-4C29-A79F-494EE5430C7F}" type="pres">
      <dgm:prSet presAssocID="{98C4965A-A688-4B98-8362-431B5EE939F4}" presName="connTx" presStyleLbl="parChTrans1D3" presStyleIdx="3" presStyleCnt="6"/>
      <dgm:spPr/>
    </dgm:pt>
    <dgm:pt modelId="{BE22595F-969C-4512-9FAE-D6E6AF1B9C67}" type="pres">
      <dgm:prSet presAssocID="{6E758893-A399-4780-8285-B2012E6950B9}" presName="root2" presStyleCnt="0"/>
      <dgm:spPr/>
    </dgm:pt>
    <dgm:pt modelId="{C19AB981-B49F-484B-B9B4-66AAD17DF5B7}" type="pres">
      <dgm:prSet presAssocID="{6E758893-A399-4780-8285-B2012E6950B9}" presName="LevelTwoTextNode" presStyleLbl="node3" presStyleIdx="3" presStyleCnt="6">
        <dgm:presLayoutVars>
          <dgm:chPref val="3"/>
        </dgm:presLayoutVars>
      </dgm:prSet>
      <dgm:spPr/>
    </dgm:pt>
    <dgm:pt modelId="{6ACA234B-16A7-40D4-88DB-042A8287FBB7}" type="pres">
      <dgm:prSet presAssocID="{6E758893-A399-4780-8285-B2012E6950B9}" presName="level3hierChild" presStyleCnt="0"/>
      <dgm:spPr/>
    </dgm:pt>
    <dgm:pt modelId="{46856344-EE5A-4450-B5C3-B7E1A03962A9}" type="pres">
      <dgm:prSet presAssocID="{F96B8C96-7586-4CFB-850E-BA2262BC81F6}" presName="conn2-1" presStyleLbl="parChTrans1D2" presStyleIdx="2" presStyleCnt="3"/>
      <dgm:spPr/>
    </dgm:pt>
    <dgm:pt modelId="{53BEEFFA-D44F-49A8-B3FF-728EA7BF875F}" type="pres">
      <dgm:prSet presAssocID="{F96B8C96-7586-4CFB-850E-BA2262BC81F6}" presName="connTx" presStyleLbl="parChTrans1D2" presStyleIdx="2" presStyleCnt="3"/>
      <dgm:spPr/>
    </dgm:pt>
    <dgm:pt modelId="{F119AFB6-95C2-4A3E-B055-07C1069BF212}" type="pres">
      <dgm:prSet presAssocID="{1B44E351-BA76-4540-ABCF-14FAAF291463}" presName="root2" presStyleCnt="0"/>
      <dgm:spPr/>
    </dgm:pt>
    <dgm:pt modelId="{114FFD26-93E2-4D6D-9BF3-861D2C41E988}" type="pres">
      <dgm:prSet presAssocID="{1B44E351-BA76-4540-ABCF-14FAAF291463}" presName="LevelTwoTextNode" presStyleLbl="node2" presStyleIdx="2" presStyleCnt="3">
        <dgm:presLayoutVars>
          <dgm:chPref val="3"/>
        </dgm:presLayoutVars>
      </dgm:prSet>
      <dgm:spPr/>
    </dgm:pt>
    <dgm:pt modelId="{FB664DDF-47A6-4149-BBEA-8D717B256FB1}" type="pres">
      <dgm:prSet presAssocID="{1B44E351-BA76-4540-ABCF-14FAAF291463}" presName="level3hierChild" presStyleCnt="0"/>
      <dgm:spPr/>
    </dgm:pt>
    <dgm:pt modelId="{276F869A-0500-45C7-B274-A107BB768781}" type="pres">
      <dgm:prSet presAssocID="{99FB368C-C376-4FFF-81A0-F4831D96048C}" presName="conn2-1" presStyleLbl="parChTrans1D3" presStyleIdx="4" presStyleCnt="6"/>
      <dgm:spPr/>
    </dgm:pt>
    <dgm:pt modelId="{B775EF52-2038-4A69-98EC-6735109DDA1E}" type="pres">
      <dgm:prSet presAssocID="{99FB368C-C376-4FFF-81A0-F4831D96048C}" presName="connTx" presStyleLbl="parChTrans1D3" presStyleIdx="4" presStyleCnt="6"/>
      <dgm:spPr/>
    </dgm:pt>
    <dgm:pt modelId="{8DF302FD-7F05-4DAB-8D94-79D71EC832BE}" type="pres">
      <dgm:prSet presAssocID="{C0CEEE10-16F5-4115-B3CC-0F67657573B8}" presName="root2" presStyleCnt="0"/>
      <dgm:spPr/>
    </dgm:pt>
    <dgm:pt modelId="{A4489050-9833-409F-A99D-FF6A5002AD99}" type="pres">
      <dgm:prSet presAssocID="{C0CEEE10-16F5-4115-B3CC-0F67657573B8}" presName="LevelTwoTextNode" presStyleLbl="node3" presStyleIdx="4" presStyleCnt="6">
        <dgm:presLayoutVars>
          <dgm:chPref val="3"/>
        </dgm:presLayoutVars>
      </dgm:prSet>
      <dgm:spPr/>
    </dgm:pt>
    <dgm:pt modelId="{CBB1F970-1F64-4765-8329-E9080432DD30}" type="pres">
      <dgm:prSet presAssocID="{C0CEEE10-16F5-4115-B3CC-0F67657573B8}" presName="level3hierChild" presStyleCnt="0"/>
      <dgm:spPr/>
    </dgm:pt>
    <dgm:pt modelId="{B658813D-3CD9-443D-B5D5-3CA65EAF2FA4}" type="pres">
      <dgm:prSet presAssocID="{FD8A2B4C-4090-4FAF-8B74-DC5AB9E898EE}" presName="conn2-1" presStyleLbl="parChTrans1D3" presStyleIdx="5" presStyleCnt="6"/>
      <dgm:spPr/>
    </dgm:pt>
    <dgm:pt modelId="{C1C3B27C-2659-489B-967A-1FEA67082AA7}" type="pres">
      <dgm:prSet presAssocID="{FD8A2B4C-4090-4FAF-8B74-DC5AB9E898EE}" presName="connTx" presStyleLbl="parChTrans1D3" presStyleIdx="5" presStyleCnt="6"/>
      <dgm:spPr/>
    </dgm:pt>
    <dgm:pt modelId="{CD5FA27B-2A59-4660-9B3A-21D597BC460A}" type="pres">
      <dgm:prSet presAssocID="{745187D0-2520-4B66-B1EE-3A17489C44CB}" presName="root2" presStyleCnt="0"/>
      <dgm:spPr/>
    </dgm:pt>
    <dgm:pt modelId="{6CF30F40-7F42-4800-BC61-8755131FE1D9}" type="pres">
      <dgm:prSet presAssocID="{745187D0-2520-4B66-B1EE-3A17489C44CB}" presName="LevelTwoTextNode" presStyleLbl="node3" presStyleIdx="5" presStyleCnt="6">
        <dgm:presLayoutVars>
          <dgm:chPref val="3"/>
        </dgm:presLayoutVars>
      </dgm:prSet>
      <dgm:spPr/>
    </dgm:pt>
    <dgm:pt modelId="{6A6BF51D-C820-488F-B64B-0C0BA2E89F8C}" type="pres">
      <dgm:prSet presAssocID="{745187D0-2520-4B66-B1EE-3A17489C44CB}" presName="level3hierChild" presStyleCnt="0"/>
      <dgm:spPr/>
    </dgm:pt>
  </dgm:ptLst>
  <dgm:cxnLst>
    <dgm:cxn modelId="{B5879104-EA2D-49B6-BEAC-4A3078C80064}" type="presOf" srcId="{98C4965A-A688-4B98-8362-431B5EE939F4}" destId="{55562A46-7454-4874-BA13-E98AA515A6F1}" srcOrd="0" destOrd="0" presId="urn:microsoft.com/office/officeart/2005/8/layout/hierarchy2"/>
    <dgm:cxn modelId="{597F9F05-DC2B-43BE-A450-1A96142270D0}" type="presOf" srcId="{FD8A2B4C-4090-4FAF-8B74-DC5AB9E898EE}" destId="{C1C3B27C-2659-489B-967A-1FEA67082AA7}" srcOrd="1" destOrd="0" presId="urn:microsoft.com/office/officeart/2005/8/layout/hierarchy2"/>
    <dgm:cxn modelId="{629F5808-9589-4743-8AD3-5EBC22416D6A}" type="presOf" srcId="{A2A9C395-9B02-46D3-9ED7-63F63BE8FD30}" destId="{C928802D-DFB3-4508-9BA9-9427BC2E0F5F}" srcOrd="0" destOrd="0" presId="urn:microsoft.com/office/officeart/2005/8/layout/hierarchy2"/>
    <dgm:cxn modelId="{57483A10-DC71-41FC-BD0E-2A82DE233D52}" type="presOf" srcId="{BB29E2C6-87D4-4F9E-89DF-01B6870E8299}" destId="{E6EB88E5-72A5-45BC-81D9-DD7BAB845F1A}" srcOrd="0" destOrd="0" presId="urn:microsoft.com/office/officeart/2005/8/layout/hierarchy2"/>
    <dgm:cxn modelId="{92658E11-6DF3-4694-AF71-6386C56A4993}" type="presOf" srcId="{6E758893-A399-4780-8285-B2012E6950B9}" destId="{C19AB981-B49F-484B-B9B4-66AAD17DF5B7}" srcOrd="0" destOrd="0" presId="urn:microsoft.com/office/officeart/2005/8/layout/hierarchy2"/>
    <dgm:cxn modelId="{249B9217-4E2D-4051-8F47-FADBE9CBE90B}" srcId="{BD1837E9-AFA3-45A0-A836-89F5A71E7ABA}" destId="{557E38FF-4777-4DA1-BA29-23046FEC565E}" srcOrd="0" destOrd="0" parTransId="{169E4D2E-C587-451A-B274-E21F26F6370D}" sibTransId="{67FB2753-DC2D-41EC-930E-FB3AB11386AB}"/>
    <dgm:cxn modelId="{2460D921-6747-4D5A-921D-67C7609B639D}" type="presOf" srcId="{1B44E351-BA76-4540-ABCF-14FAAF291463}" destId="{114FFD26-93E2-4D6D-9BF3-861D2C41E988}" srcOrd="0" destOrd="0" presId="urn:microsoft.com/office/officeart/2005/8/layout/hierarchy2"/>
    <dgm:cxn modelId="{148EFF37-3965-4A5B-B168-83286ECAA01B}" type="presOf" srcId="{98C4965A-A688-4B98-8362-431B5EE939F4}" destId="{25691E88-1F37-4C29-A79F-494EE5430C7F}" srcOrd="1" destOrd="0" presId="urn:microsoft.com/office/officeart/2005/8/layout/hierarchy2"/>
    <dgm:cxn modelId="{AF015C3C-7FF4-437A-B9EE-AA67B8796307}" type="presOf" srcId="{B3D2FF22-1B4F-4B21-A5E0-431228737E77}" destId="{66092751-1DD6-4A75-A114-497B8C9F6D62}" srcOrd="0" destOrd="0" presId="urn:microsoft.com/office/officeart/2005/8/layout/hierarchy2"/>
    <dgm:cxn modelId="{5363F63E-ABD9-4568-BBF2-43273CE81C26}" type="presOf" srcId="{B3D2FF22-1B4F-4B21-A5E0-431228737E77}" destId="{7155157A-220B-4CBD-A83C-D4BF10AE47E7}" srcOrd="1" destOrd="0" presId="urn:microsoft.com/office/officeart/2005/8/layout/hierarchy2"/>
    <dgm:cxn modelId="{A51A1C5B-40B6-40CD-AA7E-E7D92E412A3C}" type="presOf" srcId="{BD1837E9-AFA3-45A0-A836-89F5A71E7ABA}" destId="{177AF78F-ABF8-4ED6-B814-F375A19293DD}" srcOrd="0" destOrd="0" presId="urn:microsoft.com/office/officeart/2005/8/layout/hierarchy2"/>
    <dgm:cxn modelId="{F0D9DA4F-18DC-4798-B5D8-3F06A5813C05}" type="presOf" srcId="{B82DB982-FF4C-449C-B01B-EFFE5FA83112}" destId="{D0E879B4-5270-47D2-A55F-1FD0DBA75375}" srcOrd="1" destOrd="0" presId="urn:microsoft.com/office/officeart/2005/8/layout/hierarchy2"/>
    <dgm:cxn modelId="{DB299374-77B3-4D3F-9A7D-B6EA71114571}" type="presOf" srcId="{169E4D2E-C587-451A-B274-E21F26F6370D}" destId="{AB83F86F-20B7-495A-B385-227C995D58B1}" srcOrd="0" destOrd="0" presId="urn:microsoft.com/office/officeart/2005/8/layout/hierarchy2"/>
    <dgm:cxn modelId="{64F66456-9F6C-474B-BA7B-0925DBFEDA98}" srcId="{88900440-A63F-40E6-9903-FCB246DC1F64}" destId="{BD1837E9-AFA3-45A0-A836-89F5A71E7ABA}" srcOrd="0" destOrd="0" parTransId="{8D6A4C5E-38C2-4A64-B4FF-D1CDA21DE07C}" sibTransId="{4DB76E01-DE8A-4EE1-8452-DB12D076E165}"/>
    <dgm:cxn modelId="{CF961558-BBEA-4C3A-8D5E-9BD57B9B279F}" type="presOf" srcId="{745187D0-2520-4B66-B1EE-3A17489C44CB}" destId="{6CF30F40-7F42-4800-BC61-8755131FE1D9}" srcOrd="0" destOrd="0" presId="urn:microsoft.com/office/officeart/2005/8/layout/hierarchy2"/>
    <dgm:cxn modelId="{5E218083-A847-4458-96AD-3296EC87D95D}" type="presOf" srcId="{C0CEEE10-16F5-4115-B3CC-0F67657573B8}" destId="{A4489050-9833-409F-A99D-FF6A5002AD99}" srcOrd="0" destOrd="0" presId="urn:microsoft.com/office/officeart/2005/8/layout/hierarchy2"/>
    <dgm:cxn modelId="{695C3C86-EEC6-4884-9240-B5EEA18C99FC}" type="presOf" srcId="{FD8A2B4C-4090-4FAF-8B74-DC5AB9E898EE}" destId="{B658813D-3CD9-443D-B5D5-3CA65EAF2FA4}" srcOrd="0" destOrd="0" presId="urn:microsoft.com/office/officeart/2005/8/layout/hierarchy2"/>
    <dgm:cxn modelId="{7442338B-7FDD-4A97-B233-65D92957A368}" srcId="{BD1837E9-AFA3-45A0-A836-89F5A71E7ABA}" destId="{1B44E351-BA76-4540-ABCF-14FAAF291463}" srcOrd="2" destOrd="0" parTransId="{F96B8C96-7586-4CFB-850E-BA2262BC81F6}" sibTransId="{605976DD-605D-4292-A836-4DC05DE74FBB}"/>
    <dgm:cxn modelId="{39739A8B-D5BA-48AE-8896-05F27D94186C}" type="presOf" srcId="{169E4D2E-C587-451A-B274-E21F26F6370D}" destId="{40475A96-985B-4C2F-BB1A-28A6D914BC0C}" srcOrd="1" destOrd="0" presId="urn:microsoft.com/office/officeart/2005/8/layout/hierarchy2"/>
    <dgm:cxn modelId="{45C55692-0BF0-447D-925F-3BC2060D4E6E}" srcId="{1B44E351-BA76-4540-ABCF-14FAAF291463}" destId="{C0CEEE10-16F5-4115-B3CC-0F67657573B8}" srcOrd="0" destOrd="0" parTransId="{99FB368C-C376-4FFF-81A0-F4831D96048C}" sibTransId="{635E5073-4763-4CAD-A770-AAE35A91A308}"/>
    <dgm:cxn modelId="{0E4AAD95-E417-4436-9195-D5E45AD5B351}" type="presOf" srcId="{40424A24-7E68-4128-8FA1-20DE917955B4}" destId="{883C14BA-ECFB-4F25-AF32-4397B26734C2}" srcOrd="0" destOrd="0" presId="urn:microsoft.com/office/officeart/2005/8/layout/hierarchy2"/>
    <dgm:cxn modelId="{73711499-77EA-4AD6-8A63-2D85F1EBD367}" type="presOf" srcId="{A9600E38-9A7A-44F4-9DD7-1A5091D005B1}" destId="{3FB9C3DA-8865-4113-8965-61DABA8A2E02}" srcOrd="0" destOrd="0" presId="urn:microsoft.com/office/officeart/2005/8/layout/hierarchy2"/>
    <dgm:cxn modelId="{43E7AFA6-29B6-453C-8204-BE822A7143CA}" srcId="{BD1837E9-AFA3-45A0-A836-89F5A71E7ABA}" destId="{BB29E2C6-87D4-4F9E-89DF-01B6870E8299}" srcOrd="1" destOrd="0" parTransId="{B3D2FF22-1B4F-4B21-A5E0-431228737E77}" sibTransId="{D3FDD5F3-5D2D-40F2-8722-7887D33694DA}"/>
    <dgm:cxn modelId="{E8AD70B2-D4FC-4A79-AA57-1B50278FA674}" srcId="{1B44E351-BA76-4540-ABCF-14FAAF291463}" destId="{745187D0-2520-4B66-B1EE-3A17489C44CB}" srcOrd="1" destOrd="0" parTransId="{FD8A2B4C-4090-4FAF-8B74-DC5AB9E898EE}" sibTransId="{86A67CB0-BF47-4F6C-A7A9-EB1AA75579E3}"/>
    <dgm:cxn modelId="{B21696B4-909C-4E12-95FA-55E0037D5950}" type="presOf" srcId="{88900440-A63F-40E6-9903-FCB246DC1F64}" destId="{3EB87DAC-5D82-4AF5-AFA8-F7FA6D2DE359}" srcOrd="0" destOrd="0" presId="urn:microsoft.com/office/officeart/2005/8/layout/hierarchy2"/>
    <dgm:cxn modelId="{A24232BD-B09B-484D-B6A5-DCE89BC7CF83}" type="presOf" srcId="{40ADC695-814F-4836-8A2D-B69D5AAB0A23}" destId="{48DA5296-61C4-4A86-8ADB-025F79957C03}" srcOrd="0" destOrd="0" presId="urn:microsoft.com/office/officeart/2005/8/layout/hierarchy2"/>
    <dgm:cxn modelId="{DF680EC1-ABF5-4D0C-825B-8F03A70B2E8B}" type="presOf" srcId="{F96B8C96-7586-4CFB-850E-BA2262BC81F6}" destId="{53BEEFFA-D44F-49A8-B3FF-728EA7BF875F}" srcOrd="1" destOrd="0" presId="urn:microsoft.com/office/officeart/2005/8/layout/hierarchy2"/>
    <dgm:cxn modelId="{DF0079C8-3C77-460F-9D9C-BF48A5F0EB79}" srcId="{BB29E2C6-87D4-4F9E-89DF-01B6870E8299}" destId="{6E758893-A399-4780-8285-B2012E6950B9}" srcOrd="1" destOrd="0" parTransId="{98C4965A-A688-4B98-8362-431B5EE939F4}" sibTransId="{40AC5D4B-0AC0-43FE-A963-6B764B4DF0B6}"/>
    <dgm:cxn modelId="{3F6E88D0-D128-4201-9C41-361F56185B60}" type="presOf" srcId="{99FB368C-C376-4FFF-81A0-F4831D96048C}" destId="{B775EF52-2038-4A69-98EC-6735109DDA1E}" srcOrd="1" destOrd="0" presId="urn:microsoft.com/office/officeart/2005/8/layout/hierarchy2"/>
    <dgm:cxn modelId="{88503DE5-0DB6-4EA6-9481-CD0EB6C10660}" type="presOf" srcId="{F96B8C96-7586-4CFB-850E-BA2262BC81F6}" destId="{46856344-EE5A-4450-B5C3-B7E1A03962A9}" srcOrd="0" destOrd="0" presId="urn:microsoft.com/office/officeart/2005/8/layout/hierarchy2"/>
    <dgm:cxn modelId="{C5DC9FE6-C1F9-4202-B634-4131435005D7}" type="presOf" srcId="{40ADC695-814F-4836-8A2D-B69D5AAB0A23}" destId="{CDA8D7E2-787B-4BA0-A634-DB4BF0914424}" srcOrd="1" destOrd="0" presId="urn:microsoft.com/office/officeart/2005/8/layout/hierarchy2"/>
    <dgm:cxn modelId="{B0F729EB-F705-4A92-B548-37AB283076A0}" type="presOf" srcId="{A9600E38-9A7A-44F4-9DD7-1A5091D005B1}" destId="{0C9C34C6-E9ED-4538-A929-0190C42F675A}" srcOrd="1" destOrd="0" presId="urn:microsoft.com/office/officeart/2005/8/layout/hierarchy2"/>
    <dgm:cxn modelId="{534DBBEC-792D-4A31-8D72-5B992818A62A}" srcId="{557E38FF-4777-4DA1-BA29-23046FEC565E}" destId="{40424A24-7E68-4128-8FA1-20DE917955B4}" srcOrd="1" destOrd="0" parTransId="{40ADC695-814F-4836-8A2D-B69D5AAB0A23}" sibTransId="{458EF8A3-E3EA-4379-A1F3-E6A04F58F0A3}"/>
    <dgm:cxn modelId="{B976CFEC-86EF-4695-87BF-3213AE64A05B}" srcId="{BB29E2C6-87D4-4F9E-89DF-01B6870E8299}" destId="{2E9CA635-8458-4661-A31A-002AA0D50083}" srcOrd="0" destOrd="0" parTransId="{A9600E38-9A7A-44F4-9DD7-1A5091D005B1}" sibTransId="{7EA98B7C-6E66-46BE-9268-CB34B3C1F2C6}"/>
    <dgm:cxn modelId="{988220ED-FA67-45CB-B071-11874391F158}" type="presOf" srcId="{B82DB982-FF4C-449C-B01B-EFFE5FA83112}" destId="{F1113760-4C62-4605-9012-8C67CCC2FC4B}" srcOrd="0" destOrd="0" presId="urn:microsoft.com/office/officeart/2005/8/layout/hierarchy2"/>
    <dgm:cxn modelId="{8281ECEE-566A-4086-9A2A-A2B8C0632701}" type="presOf" srcId="{2E9CA635-8458-4661-A31A-002AA0D50083}" destId="{8BFA6865-A7AC-4669-BD4D-F5B7C6509523}" srcOrd="0" destOrd="0" presId="urn:microsoft.com/office/officeart/2005/8/layout/hierarchy2"/>
    <dgm:cxn modelId="{DF724CEF-9D26-4542-9959-99D1CC9ED88D}" type="presOf" srcId="{99FB368C-C376-4FFF-81A0-F4831D96048C}" destId="{276F869A-0500-45C7-B274-A107BB768781}" srcOrd="0" destOrd="0" presId="urn:microsoft.com/office/officeart/2005/8/layout/hierarchy2"/>
    <dgm:cxn modelId="{E9D725F3-1E0E-4FA5-BEE0-1FEBA0C64973}" srcId="{557E38FF-4777-4DA1-BA29-23046FEC565E}" destId="{A2A9C395-9B02-46D3-9ED7-63F63BE8FD30}" srcOrd="0" destOrd="0" parTransId="{B82DB982-FF4C-449C-B01B-EFFE5FA83112}" sibTransId="{EFBF8A4F-CB99-4499-AB6C-75FD01554F17}"/>
    <dgm:cxn modelId="{A84C30F5-C824-4208-A443-09F128895DC8}" type="presOf" srcId="{557E38FF-4777-4DA1-BA29-23046FEC565E}" destId="{12128D18-AA8E-4E07-BDAF-39076782E488}" srcOrd="0" destOrd="0" presId="urn:microsoft.com/office/officeart/2005/8/layout/hierarchy2"/>
    <dgm:cxn modelId="{7487204F-19B4-4CB6-AE0B-BD513DBE5096}" type="presParOf" srcId="{3EB87DAC-5D82-4AF5-AFA8-F7FA6D2DE359}" destId="{EB03DBED-A2FE-44DF-BBC4-202B76EDA2A8}" srcOrd="0" destOrd="0" presId="urn:microsoft.com/office/officeart/2005/8/layout/hierarchy2"/>
    <dgm:cxn modelId="{B8B9D491-785E-412B-B900-3F9B0A51AC9D}" type="presParOf" srcId="{EB03DBED-A2FE-44DF-BBC4-202B76EDA2A8}" destId="{177AF78F-ABF8-4ED6-B814-F375A19293DD}" srcOrd="0" destOrd="0" presId="urn:microsoft.com/office/officeart/2005/8/layout/hierarchy2"/>
    <dgm:cxn modelId="{D4B28B32-F17C-461A-918B-22ECA00397A4}" type="presParOf" srcId="{EB03DBED-A2FE-44DF-BBC4-202B76EDA2A8}" destId="{8F1CD058-2C9B-4921-89E3-9A18769BCD82}" srcOrd="1" destOrd="0" presId="urn:microsoft.com/office/officeart/2005/8/layout/hierarchy2"/>
    <dgm:cxn modelId="{04E47D40-A9C0-4EDD-9E38-AE891A2F2A23}" type="presParOf" srcId="{8F1CD058-2C9B-4921-89E3-9A18769BCD82}" destId="{AB83F86F-20B7-495A-B385-227C995D58B1}" srcOrd="0" destOrd="0" presId="urn:microsoft.com/office/officeart/2005/8/layout/hierarchy2"/>
    <dgm:cxn modelId="{E9406B0C-E91D-474D-9659-42168E37C6EB}" type="presParOf" srcId="{AB83F86F-20B7-495A-B385-227C995D58B1}" destId="{40475A96-985B-4C2F-BB1A-28A6D914BC0C}" srcOrd="0" destOrd="0" presId="urn:microsoft.com/office/officeart/2005/8/layout/hierarchy2"/>
    <dgm:cxn modelId="{5BB48559-CC99-43D4-9309-E47E72096BE2}" type="presParOf" srcId="{8F1CD058-2C9B-4921-89E3-9A18769BCD82}" destId="{3D37357C-5160-4D55-9E03-294C5CFA3494}" srcOrd="1" destOrd="0" presId="urn:microsoft.com/office/officeart/2005/8/layout/hierarchy2"/>
    <dgm:cxn modelId="{3C46EC58-8681-4233-9FA4-11379C71B12D}" type="presParOf" srcId="{3D37357C-5160-4D55-9E03-294C5CFA3494}" destId="{12128D18-AA8E-4E07-BDAF-39076782E488}" srcOrd="0" destOrd="0" presId="urn:microsoft.com/office/officeart/2005/8/layout/hierarchy2"/>
    <dgm:cxn modelId="{FA5DAB87-3E96-4469-A8ED-E68959768E45}" type="presParOf" srcId="{3D37357C-5160-4D55-9E03-294C5CFA3494}" destId="{9E2ECF34-5A8B-426F-AF83-3C88999D7206}" srcOrd="1" destOrd="0" presId="urn:microsoft.com/office/officeart/2005/8/layout/hierarchy2"/>
    <dgm:cxn modelId="{E1E3F28C-6B2F-4625-837A-1A4A4CE45981}" type="presParOf" srcId="{9E2ECF34-5A8B-426F-AF83-3C88999D7206}" destId="{F1113760-4C62-4605-9012-8C67CCC2FC4B}" srcOrd="0" destOrd="0" presId="urn:microsoft.com/office/officeart/2005/8/layout/hierarchy2"/>
    <dgm:cxn modelId="{7706B100-75D2-4106-A528-EBEA8138EE1F}" type="presParOf" srcId="{F1113760-4C62-4605-9012-8C67CCC2FC4B}" destId="{D0E879B4-5270-47D2-A55F-1FD0DBA75375}" srcOrd="0" destOrd="0" presId="urn:microsoft.com/office/officeart/2005/8/layout/hierarchy2"/>
    <dgm:cxn modelId="{B4D1C0F7-E64B-4F68-B30B-F5815DB4251E}" type="presParOf" srcId="{9E2ECF34-5A8B-426F-AF83-3C88999D7206}" destId="{FD1DB90C-3EB9-416B-857B-2D419BE763AA}" srcOrd="1" destOrd="0" presId="urn:microsoft.com/office/officeart/2005/8/layout/hierarchy2"/>
    <dgm:cxn modelId="{1E69CF30-1579-46C5-BA53-752375CFBE85}" type="presParOf" srcId="{FD1DB90C-3EB9-416B-857B-2D419BE763AA}" destId="{C928802D-DFB3-4508-9BA9-9427BC2E0F5F}" srcOrd="0" destOrd="0" presId="urn:microsoft.com/office/officeart/2005/8/layout/hierarchy2"/>
    <dgm:cxn modelId="{0AB974FD-D999-4CFB-9E4D-9E85217201C1}" type="presParOf" srcId="{FD1DB90C-3EB9-416B-857B-2D419BE763AA}" destId="{3E63F9D0-1B2E-462A-BC33-94C91842333C}" srcOrd="1" destOrd="0" presId="urn:microsoft.com/office/officeart/2005/8/layout/hierarchy2"/>
    <dgm:cxn modelId="{8B3B569C-C18B-4F70-ADCA-B945E281E684}" type="presParOf" srcId="{9E2ECF34-5A8B-426F-AF83-3C88999D7206}" destId="{48DA5296-61C4-4A86-8ADB-025F79957C03}" srcOrd="2" destOrd="0" presId="urn:microsoft.com/office/officeart/2005/8/layout/hierarchy2"/>
    <dgm:cxn modelId="{79D397EE-EBE8-485B-95EE-FBC190A02A6F}" type="presParOf" srcId="{48DA5296-61C4-4A86-8ADB-025F79957C03}" destId="{CDA8D7E2-787B-4BA0-A634-DB4BF0914424}" srcOrd="0" destOrd="0" presId="urn:microsoft.com/office/officeart/2005/8/layout/hierarchy2"/>
    <dgm:cxn modelId="{A0D90C71-6400-4697-BA5B-0B729EA65F17}" type="presParOf" srcId="{9E2ECF34-5A8B-426F-AF83-3C88999D7206}" destId="{9ADE2A4B-70C3-42E6-9080-707A0F0E6EFE}" srcOrd="3" destOrd="0" presId="urn:microsoft.com/office/officeart/2005/8/layout/hierarchy2"/>
    <dgm:cxn modelId="{5E1A7DC4-F92F-4363-93B1-23652CA8FD63}" type="presParOf" srcId="{9ADE2A4B-70C3-42E6-9080-707A0F0E6EFE}" destId="{883C14BA-ECFB-4F25-AF32-4397B26734C2}" srcOrd="0" destOrd="0" presId="urn:microsoft.com/office/officeart/2005/8/layout/hierarchy2"/>
    <dgm:cxn modelId="{CE70F04B-794E-449E-A0D7-4054F4BF27A9}" type="presParOf" srcId="{9ADE2A4B-70C3-42E6-9080-707A0F0E6EFE}" destId="{0EB6B567-1808-40D0-AC31-AAFA175D5448}" srcOrd="1" destOrd="0" presId="urn:microsoft.com/office/officeart/2005/8/layout/hierarchy2"/>
    <dgm:cxn modelId="{31CC73E1-E76A-4AA5-B73F-0BA3E0A95D97}" type="presParOf" srcId="{8F1CD058-2C9B-4921-89E3-9A18769BCD82}" destId="{66092751-1DD6-4A75-A114-497B8C9F6D62}" srcOrd="2" destOrd="0" presId="urn:microsoft.com/office/officeart/2005/8/layout/hierarchy2"/>
    <dgm:cxn modelId="{4A942499-BD0A-4911-974C-08010044E167}" type="presParOf" srcId="{66092751-1DD6-4A75-A114-497B8C9F6D62}" destId="{7155157A-220B-4CBD-A83C-D4BF10AE47E7}" srcOrd="0" destOrd="0" presId="urn:microsoft.com/office/officeart/2005/8/layout/hierarchy2"/>
    <dgm:cxn modelId="{F32E8A66-4207-42B1-9B69-6A2F0F0DA009}" type="presParOf" srcId="{8F1CD058-2C9B-4921-89E3-9A18769BCD82}" destId="{68B11720-E52F-447A-A64E-0C4292404606}" srcOrd="3" destOrd="0" presId="urn:microsoft.com/office/officeart/2005/8/layout/hierarchy2"/>
    <dgm:cxn modelId="{4070698E-70B9-48FC-8289-55A456773FD3}" type="presParOf" srcId="{68B11720-E52F-447A-A64E-0C4292404606}" destId="{E6EB88E5-72A5-45BC-81D9-DD7BAB845F1A}" srcOrd="0" destOrd="0" presId="urn:microsoft.com/office/officeart/2005/8/layout/hierarchy2"/>
    <dgm:cxn modelId="{CF4C0626-591F-4471-9E5A-D7030756BF6E}" type="presParOf" srcId="{68B11720-E52F-447A-A64E-0C4292404606}" destId="{59FBB5E3-F68F-45B1-84A2-4E49B698CF19}" srcOrd="1" destOrd="0" presId="urn:microsoft.com/office/officeart/2005/8/layout/hierarchy2"/>
    <dgm:cxn modelId="{1B8D7F10-1B14-45F7-816F-05E29014775C}" type="presParOf" srcId="{59FBB5E3-F68F-45B1-84A2-4E49B698CF19}" destId="{3FB9C3DA-8865-4113-8965-61DABA8A2E02}" srcOrd="0" destOrd="0" presId="urn:microsoft.com/office/officeart/2005/8/layout/hierarchy2"/>
    <dgm:cxn modelId="{49728783-3B80-4A2B-A42C-CC1486AC7FEF}" type="presParOf" srcId="{3FB9C3DA-8865-4113-8965-61DABA8A2E02}" destId="{0C9C34C6-E9ED-4538-A929-0190C42F675A}" srcOrd="0" destOrd="0" presId="urn:microsoft.com/office/officeart/2005/8/layout/hierarchy2"/>
    <dgm:cxn modelId="{742E46BC-ADF0-4BF0-9F5D-61CC724EFB47}" type="presParOf" srcId="{59FBB5E3-F68F-45B1-84A2-4E49B698CF19}" destId="{263937F0-D52A-40F2-AA8F-248CB49EA3EB}" srcOrd="1" destOrd="0" presId="urn:microsoft.com/office/officeart/2005/8/layout/hierarchy2"/>
    <dgm:cxn modelId="{58BEDFD6-B249-4D1D-B244-5C2DAC47536F}" type="presParOf" srcId="{263937F0-D52A-40F2-AA8F-248CB49EA3EB}" destId="{8BFA6865-A7AC-4669-BD4D-F5B7C6509523}" srcOrd="0" destOrd="0" presId="urn:microsoft.com/office/officeart/2005/8/layout/hierarchy2"/>
    <dgm:cxn modelId="{C3446B66-E9C8-49E8-BC4E-55ADB6F536AE}" type="presParOf" srcId="{263937F0-D52A-40F2-AA8F-248CB49EA3EB}" destId="{4DF45FBF-56BD-488B-BF66-8A74712DCBF8}" srcOrd="1" destOrd="0" presId="urn:microsoft.com/office/officeart/2005/8/layout/hierarchy2"/>
    <dgm:cxn modelId="{5ACF8242-879F-4F6E-83D6-2BF81AC75DF4}" type="presParOf" srcId="{59FBB5E3-F68F-45B1-84A2-4E49B698CF19}" destId="{55562A46-7454-4874-BA13-E98AA515A6F1}" srcOrd="2" destOrd="0" presId="urn:microsoft.com/office/officeart/2005/8/layout/hierarchy2"/>
    <dgm:cxn modelId="{13410121-E982-40DB-984F-2B82C0BE28B6}" type="presParOf" srcId="{55562A46-7454-4874-BA13-E98AA515A6F1}" destId="{25691E88-1F37-4C29-A79F-494EE5430C7F}" srcOrd="0" destOrd="0" presId="urn:microsoft.com/office/officeart/2005/8/layout/hierarchy2"/>
    <dgm:cxn modelId="{A7C2175C-E024-46A2-A404-0348FFE443C7}" type="presParOf" srcId="{59FBB5E3-F68F-45B1-84A2-4E49B698CF19}" destId="{BE22595F-969C-4512-9FAE-D6E6AF1B9C67}" srcOrd="3" destOrd="0" presId="urn:microsoft.com/office/officeart/2005/8/layout/hierarchy2"/>
    <dgm:cxn modelId="{032246F9-8D8E-4C82-8D4B-7CC88DED70AC}" type="presParOf" srcId="{BE22595F-969C-4512-9FAE-D6E6AF1B9C67}" destId="{C19AB981-B49F-484B-B9B4-66AAD17DF5B7}" srcOrd="0" destOrd="0" presId="urn:microsoft.com/office/officeart/2005/8/layout/hierarchy2"/>
    <dgm:cxn modelId="{3EC6B45F-A6E6-4B11-995B-AB659CA9974C}" type="presParOf" srcId="{BE22595F-969C-4512-9FAE-D6E6AF1B9C67}" destId="{6ACA234B-16A7-40D4-88DB-042A8287FBB7}" srcOrd="1" destOrd="0" presId="urn:microsoft.com/office/officeart/2005/8/layout/hierarchy2"/>
    <dgm:cxn modelId="{1F9B7CD9-EE9F-47E5-9E19-08D6F291BE3B}" type="presParOf" srcId="{8F1CD058-2C9B-4921-89E3-9A18769BCD82}" destId="{46856344-EE5A-4450-B5C3-B7E1A03962A9}" srcOrd="4" destOrd="0" presId="urn:microsoft.com/office/officeart/2005/8/layout/hierarchy2"/>
    <dgm:cxn modelId="{6CD71D59-14A5-40BA-B330-433BC93AD874}" type="presParOf" srcId="{46856344-EE5A-4450-B5C3-B7E1A03962A9}" destId="{53BEEFFA-D44F-49A8-B3FF-728EA7BF875F}" srcOrd="0" destOrd="0" presId="urn:microsoft.com/office/officeart/2005/8/layout/hierarchy2"/>
    <dgm:cxn modelId="{7ED38A2A-4C96-4A7E-B056-41592AC618F1}" type="presParOf" srcId="{8F1CD058-2C9B-4921-89E3-9A18769BCD82}" destId="{F119AFB6-95C2-4A3E-B055-07C1069BF212}" srcOrd="5" destOrd="0" presId="urn:microsoft.com/office/officeart/2005/8/layout/hierarchy2"/>
    <dgm:cxn modelId="{8AE3276C-92D5-4473-B16D-BB59CC2970B9}" type="presParOf" srcId="{F119AFB6-95C2-4A3E-B055-07C1069BF212}" destId="{114FFD26-93E2-4D6D-9BF3-861D2C41E988}" srcOrd="0" destOrd="0" presId="urn:microsoft.com/office/officeart/2005/8/layout/hierarchy2"/>
    <dgm:cxn modelId="{E93C9DD5-E2ED-440C-A903-5346FD7FC52F}" type="presParOf" srcId="{F119AFB6-95C2-4A3E-B055-07C1069BF212}" destId="{FB664DDF-47A6-4149-BBEA-8D717B256FB1}" srcOrd="1" destOrd="0" presId="urn:microsoft.com/office/officeart/2005/8/layout/hierarchy2"/>
    <dgm:cxn modelId="{8290D400-406B-4DD6-857F-9DA70EA6F0D1}" type="presParOf" srcId="{FB664DDF-47A6-4149-BBEA-8D717B256FB1}" destId="{276F869A-0500-45C7-B274-A107BB768781}" srcOrd="0" destOrd="0" presId="urn:microsoft.com/office/officeart/2005/8/layout/hierarchy2"/>
    <dgm:cxn modelId="{31B2AC87-F575-46DD-8C5E-5D2AA7F63DCD}" type="presParOf" srcId="{276F869A-0500-45C7-B274-A107BB768781}" destId="{B775EF52-2038-4A69-98EC-6735109DDA1E}" srcOrd="0" destOrd="0" presId="urn:microsoft.com/office/officeart/2005/8/layout/hierarchy2"/>
    <dgm:cxn modelId="{16B2B8D0-BA37-4AA2-88C2-82C9D99060F3}" type="presParOf" srcId="{FB664DDF-47A6-4149-BBEA-8D717B256FB1}" destId="{8DF302FD-7F05-4DAB-8D94-79D71EC832BE}" srcOrd="1" destOrd="0" presId="urn:microsoft.com/office/officeart/2005/8/layout/hierarchy2"/>
    <dgm:cxn modelId="{A3740394-EEAA-4F67-84D0-C19DBFBD056B}" type="presParOf" srcId="{8DF302FD-7F05-4DAB-8D94-79D71EC832BE}" destId="{A4489050-9833-409F-A99D-FF6A5002AD99}" srcOrd="0" destOrd="0" presId="urn:microsoft.com/office/officeart/2005/8/layout/hierarchy2"/>
    <dgm:cxn modelId="{F6C233B1-66E1-4E4A-8B46-B6082222A6AB}" type="presParOf" srcId="{8DF302FD-7F05-4DAB-8D94-79D71EC832BE}" destId="{CBB1F970-1F64-4765-8329-E9080432DD30}" srcOrd="1" destOrd="0" presId="urn:microsoft.com/office/officeart/2005/8/layout/hierarchy2"/>
    <dgm:cxn modelId="{57E33F38-2B32-41B4-8D9A-3F86F7B21E3D}" type="presParOf" srcId="{FB664DDF-47A6-4149-BBEA-8D717B256FB1}" destId="{B658813D-3CD9-443D-B5D5-3CA65EAF2FA4}" srcOrd="2" destOrd="0" presId="urn:microsoft.com/office/officeart/2005/8/layout/hierarchy2"/>
    <dgm:cxn modelId="{87AB0D0A-D400-4E7F-B14B-49774D1AE7E8}" type="presParOf" srcId="{B658813D-3CD9-443D-B5D5-3CA65EAF2FA4}" destId="{C1C3B27C-2659-489B-967A-1FEA67082AA7}" srcOrd="0" destOrd="0" presId="urn:microsoft.com/office/officeart/2005/8/layout/hierarchy2"/>
    <dgm:cxn modelId="{F3E31176-13BC-4F30-9FAC-AFE9CF831B9C}" type="presParOf" srcId="{FB664DDF-47A6-4149-BBEA-8D717B256FB1}" destId="{CD5FA27B-2A59-4660-9B3A-21D597BC460A}" srcOrd="3" destOrd="0" presId="urn:microsoft.com/office/officeart/2005/8/layout/hierarchy2"/>
    <dgm:cxn modelId="{A87062D4-9968-4613-9530-06112173BDE6}" type="presParOf" srcId="{CD5FA27B-2A59-4660-9B3A-21D597BC460A}" destId="{6CF30F40-7F42-4800-BC61-8755131FE1D9}" srcOrd="0" destOrd="0" presId="urn:microsoft.com/office/officeart/2005/8/layout/hierarchy2"/>
    <dgm:cxn modelId="{4B78C5A7-DF1F-47C5-8D75-9E961C996E31}" type="presParOf" srcId="{CD5FA27B-2A59-4660-9B3A-21D597BC460A}" destId="{6A6BF51D-C820-488F-B64B-0C0BA2E89F8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54ADC0-13ED-4550-B906-45F488513576}" type="doc">
      <dgm:prSet loTypeId="urn:microsoft.com/office/officeart/2005/8/layout/vList4" loCatId="list" qsTypeId="urn:microsoft.com/office/officeart/2005/8/quickstyle/simple1" qsCatId="simple" csTypeId="urn:microsoft.com/office/officeart/2005/8/colors/accent6_2" csCatId="accent6" phldr="1"/>
      <dgm:spPr/>
      <dgm:t>
        <a:bodyPr/>
        <a:lstStyle/>
        <a:p>
          <a:endParaRPr lang="es-CO"/>
        </a:p>
      </dgm:t>
    </dgm:pt>
    <dgm:pt modelId="{88A0D5B1-8F85-438F-92E6-F4DEE88C4F5E}">
      <dgm:prSet phldrT="[Texto]"/>
      <dgm:spPr/>
      <dgm:t>
        <a:bodyPr/>
        <a:lstStyle/>
        <a:p>
          <a:r>
            <a:rPr lang="es-ES" dirty="0"/>
            <a:t>Una </a:t>
          </a:r>
          <a:r>
            <a:rPr lang="es-ES" b="1" dirty="0"/>
            <a:t>variable discreta</a:t>
          </a:r>
          <a:r>
            <a:rPr lang="es-ES" dirty="0"/>
            <a:t> es una variable que solo puede tomar valores dentro de un conjunto numerable, es decir, no acepta cualquier valor sino solo aquellos que pertenecen al conjunto. </a:t>
          </a:r>
          <a:endParaRPr lang="es-CO" dirty="0"/>
        </a:p>
      </dgm:t>
    </dgm:pt>
    <dgm:pt modelId="{5AEFCBB8-6C70-46AD-9994-82F8A36D0A72}" type="parTrans" cxnId="{190869EB-E13F-473D-9DB2-93D5455BAD1B}">
      <dgm:prSet/>
      <dgm:spPr/>
      <dgm:t>
        <a:bodyPr/>
        <a:lstStyle/>
        <a:p>
          <a:endParaRPr lang="es-CO"/>
        </a:p>
      </dgm:t>
    </dgm:pt>
    <dgm:pt modelId="{C7D873F3-54D2-4D58-91FD-327298B0EEDC}" type="sibTrans" cxnId="{190869EB-E13F-473D-9DB2-93D5455BAD1B}">
      <dgm:prSet/>
      <dgm:spPr/>
      <dgm:t>
        <a:bodyPr/>
        <a:lstStyle/>
        <a:p>
          <a:endParaRPr lang="es-CO"/>
        </a:p>
      </dgm:t>
    </dgm:pt>
    <dgm:pt modelId="{E7FF2B87-1045-4854-A11A-A7A238379263}">
      <dgm:prSet phldrT="[Texto]"/>
      <dgm:spPr/>
      <dgm:t>
        <a:bodyPr/>
        <a:lstStyle/>
        <a:p>
          <a:r>
            <a:rPr lang="es-ES"/>
            <a:t>Una </a:t>
          </a:r>
          <a:r>
            <a:rPr lang="es-ES" b="1"/>
            <a:t>variable continua</a:t>
          </a:r>
          <a:r>
            <a:rPr lang="es-ES"/>
            <a:t> puede tomar un valor cualquiera dentro de un rango predeterminado. Y siempre entre dos valores observables va a existir un tercer valor intermedio que también podría tomar la variable continua. Una variable continua toma valores a lo largo de un continuo, esto es, en todo un intervalo de valores.</a:t>
          </a:r>
          <a:endParaRPr lang="es-CO" dirty="0"/>
        </a:p>
      </dgm:t>
    </dgm:pt>
    <dgm:pt modelId="{FD4A5BF0-6829-4F7C-AABA-AE291277E711}" type="parTrans" cxnId="{C2C3FA2B-D853-4679-AA0B-9C19FBBD3733}">
      <dgm:prSet/>
      <dgm:spPr/>
      <dgm:t>
        <a:bodyPr/>
        <a:lstStyle/>
        <a:p>
          <a:endParaRPr lang="es-CO"/>
        </a:p>
      </dgm:t>
    </dgm:pt>
    <dgm:pt modelId="{9D241346-0D50-4E47-BE65-649C94CE6783}" type="sibTrans" cxnId="{C2C3FA2B-D853-4679-AA0B-9C19FBBD3733}">
      <dgm:prSet/>
      <dgm:spPr/>
      <dgm:t>
        <a:bodyPr/>
        <a:lstStyle/>
        <a:p>
          <a:endParaRPr lang="es-CO"/>
        </a:p>
      </dgm:t>
    </dgm:pt>
    <dgm:pt modelId="{ADBD00E6-2A30-4974-A255-462568CD599B}" type="pres">
      <dgm:prSet presAssocID="{7C54ADC0-13ED-4550-B906-45F488513576}" presName="linear" presStyleCnt="0">
        <dgm:presLayoutVars>
          <dgm:dir/>
          <dgm:resizeHandles val="exact"/>
        </dgm:presLayoutVars>
      </dgm:prSet>
      <dgm:spPr/>
    </dgm:pt>
    <dgm:pt modelId="{73AA4891-184A-4CA3-898B-3567CE4EAB66}" type="pres">
      <dgm:prSet presAssocID="{88A0D5B1-8F85-438F-92E6-F4DEE88C4F5E}" presName="comp" presStyleCnt="0"/>
      <dgm:spPr/>
    </dgm:pt>
    <dgm:pt modelId="{DCE5EC8F-B5F0-4A76-8401-D6B90D3C6A8A}" type="pres">
      <dgm:prSet presAssocID="{88A0D5B1-8F85-438F-92E6-F4DEE88C4F5E}" presName="box" presStyleLbl="node1" presStyleIdx="0" presStyleCnt="2"/>
      <dgm:spPr/>
    </dgm:pt>
    <dgm:pt modelId="{AD4D5C38-7D10-4DD4-AE26-185C01D0723B}" type="pres">
      <dgm:prSet presAssocID="{88A0D5B1-8F85-438F-92E6-F4DEE88C4F5E}" presName="img" presStyleLbl="fgImgPlace1" presStyleIdx="0" presStyleCnt="2"/>
      <dgm:spPr>
        <a:blipFill rotWithShape="1">
          <a:blip xmlns:r="http://schemas.openxmlformats.org/officeDocument/2006/relationships" r:embed="rId1"/>
          <a:stretch>
            <a:fillRect/>
          </a:stretch>
        </a:blipFill>
      </dgm:spPr>
    </dgm:pt>
    <dgm:pt modelId="{21D95ACB-5372-409E-A148-79AF81520B28}" type="pres">
      <dgm:prSet presAssocID="{88A0D5B1-8F85-438F-92E6-F4DEE88C4F5E}" presName="text" presStyleLbl="node1" presStyleIdx="0" presStyleCnt="2">
        <dgm:presLayoutVars>
          <dgm:bulletEnabled val="1"/>
        </dgm:presLayoutVars>
      </dgm:prSet>
      <dgm:spPr/>
    </dgm:pt>
    <dgm:pt modelId="{5F9C4315-7106-4F06-926A-7E7E240125F7}" type="pres">
      <dgm:prSet presAssocID="{C7D873F3-54D2-4D58-91FD-327298B0EEDC}" presName="spacer" presStyleCnt="0"/>
      <dgm:spPr/>
    </dgm:pt>
    <dgm:pt modelId="{20D2DC0F-5451-4211-A617-F444FA14BEE7}" type="pres">
      <dgm:prSet presAssocID="{E7FF2B87-1045-4854-A11A-A7A238379263}" presName="comp" presStyleCnt="0"/>
      <dgm:spPr/>
    </dgm:pt>
    <dgm:pt modelId="{1722E3B2-EACA-441D-AF90-844D0C46351E}" type="pres">
      <dgm:prSet presAssocID="{E7FF2B87-1045-4854-A11A-A7A238379263}" presName="box" presStyleLbl="node1" presStyleIdx="1" presStyleCnt="2"/>
      <dgm:spPr/>
    </dgm:pt>
    <dgm:pt modelId="{41FB7730-5982-4F3B-9E36-7D35FC0FF0D6}" type="pres">
      <dgm:prSet presAssocID="{E7FF2B87-1045-4854-A11A-A7A238379263}" presName="img" presStyleLbl="fgImgPlace1" presStyleIdx="1" presStyleCnt="2"/>
      <dgm:spPr>
        <a:blipFill rotWithShape="1">
          <a:blip xmlns:r="http://schemas.openxmlformats.org/officeDocument/2006/relationships" r:embed="rId2"/>
          <a:stretch>
            <a:fillRect/>
          </a:stretch>
        </a:blipFill>
      </dgm:spPr>
    </dgm:pt>
    <dgm:pt modelId="{2390E39B-E051-4125-8261-B42A048E332A}" type="pres">
      <dgm:prSet presAssocID="{E7FF2B87-1045-4854-A11A-A7A238379263}" presName="text" presStyleLbl="node1" presStyleIdx="1" presStyleCnt="2">
        <dgm:presLayoutVars>
          <dgm:bulletEnabled val="1"/>
        </dgm:presLayoutVars>
      </dgm:prSet>
      <dgm:spPr/>
    </dgm:pt>
  </dgm:ptLst>
  <dgm:cxnLst>
    <dgm:cxn modelId="{C2C3FA2B-D853-4679-AA0B-9C19FBBD3733}" srcId="{7C54ADC0-13ED-4550-B906-45F488513576}" destId="{E7FF2B87-1045-4854-A11A-A7A238379263}" srcOrd="1" destOrd="0" parTransId="{FD4A5BF0-6829-4F7C-AABA-AE291277E711}" sibTransId="{9D241346-0D50-4E47-BE65-649C94CE6783}"/>
    <dgm:cxn modelId="{21D4184C-1DA9-4AAC-A87D-3B37409DF233}" type="presOf" srcId="{7C54ADC0-13ED-4550-B906-45F488513576}" destId="{ADBD00E6-2A30-4974-A255-462568CD599B}" srcOrd="0" destOrd="0" presId="urn:microsoft.com/office/officeart/2005/8/layout/vList4"/>
    <dgm:cxn modelId="{55801A84-959F-4BCC-8A10-44F24FEED5A3}" type="presOf" srcId="{88A0D5B1-8F85-438F-92E6-F4DEE88C4F5E}" destId="{DCE5EC8F-B5F0-4A76-8401-D6B90D3C6A8A}" srcOrd="0" destOrd="0" presId="urn:microsoft.com/office/officeart/2005/8/layout/vList4"/>
    <dgm:cxn modelId="{C0DC76BA-DA25-463A-96A6-9BB55C99ACCC}" type="presOf" srcId="{88A0D5B1-8F85-438F-92E6-F4DEE88C4F5E}" destId="{21D95ACB-5372-409E-A148-79AF81520B28}" srcOrd="1" destOrd="0" presId="urn:microsoft.com/office/officeart/2005/8/layout/vList4"/>
    <dgm:cxn modelId="{513AB2E1-5252-4D2D-A8BC-7E695BBC148D}" type="presOf" srcId="{E7FF2B87-1045-4854-A11A-A7A238379263}" destId="{2390E39B-E051-4125-8261-B42A048E332A}" srcOrd="1" destOrd="0" presId="urn:microsoft.com/office/officeart/2005/8/layout/vList4"/>
    <dgm:cxn modelId="{190869EB-E13F-473D-9DB2-93D5455BAD1B}" srcId="{7C54ADC0-13ED-4550-B906-45F488513576}" destId="{88A0D5B1-8F85-438F-92E6-F4DEE88C4F5E}" srcOrd="0" destOrd="0" parTransId="{5AEFCBB8-6C70-46AD-9994-82F8A36D0A72}" sibTransId="{C7D873F3-54D2-4D58-91FD-327298B0EEDC}"/>
    <dgm:cxn modelId="{422049FC-28C4-4198-BEC4-76EA5117D6F2}" type="presOf" srcId="{E7FF2B87-1045-4854-A11A-A7A238379263}" destId="{1722E3B2-EACA-441D-AF90-844D0C46351E}" srcOrd="0" destOrd="0" presId="urn:microsoft.com/office/officeart/2005/8/layout/vList4"/>
    <dgm:cxn modelId="{C12F2E1D-0550-4569-9552-FC56A3E6861E}" type="presParOf" srcId="{ADBD00E6-2A30-4974-A255-462568CD599B}" destId="{73AA4891-184A-4CA3-898B-3567CE4EAB66}" srcOrd="0" destOrd="0" presId="urn:microsoft.com/office/officeart/2005/8/layout/vList4"/>
    <dgm:cxn modelId="{2837272F-F7EB-42F6-B3FE-79E703871368}" type="presParOf" srcId="{73AA4891-184A-4CA3-898B-3567CE4EAB66}" destId="{DCE5EC8F-B5F0-4A76-8401-D6B90D3C6A8A}" srcOrd="0" destOrd="0" presId="urn:microsoft.com/office/officeart/2005/8/layout/vList4"/>
    <dgm:cxn modelId="{1BCBBC9B-C4D7-47FB-9F54-5CD2BED23529}" type="presParOf" srcId="{73AA4891-184A-4CA3-898B-3567CE4EAB66}" destId="{AD4D5C38-7D10-4DD4-AE26-185C01D0723B}" srcOrd="1" destOrd="0" presId="urn:microsoft.com/office/officeart/2005/8/layout/vList4"/>
    <dgm:cxn modelId="{FDD66670-234D-4AD2-925F-1B0731FA98D5}" type="presParOf" srcId="{73AA4891-184A-4CA3-898B-3567CE4EAB66}" destId="{21D95ACB-5372-409E-A148-79AF81520B28}" srcOrd="2" destOrd="0" presId="urn:microsoft.com/office/officeart/2005/8/layout/vList4"/>
    <dgm:cxn modelId="{C0241091-4C82-4C2D-B244-FCD7F65139EE}" type="presParOf" srcId="{ADBD00E6-2A30-4974-A255-462568CD599B}" destId="{5F9C4315-7106-4F06-926A-7E7E240125F7}" srcOrd="1" destOrd="0" presId="urn:microsoft.com/office/officeart/2005/8/layout/vList4"/>
    <dgm:cxn modelId="{B36022EE-2817-4C18-8AB2-5E11A8169DBF}" type="presParOf" srcId="{ADBD00E6-2A30-4974-A255-462568CD599B}" destId="{20D2DC0F-5451-4211-A617-F444FA14BEE7}" srcOrd="2" destOrd="0" presId="urn:microsoft.com/office/officeart/2005/8/layout/vList4"/>
    <dgm:cxn modelId="{20FC1F10-E50A-4355-B504-0E8BC74E2108}" type="presParOf" srcId="{20D2DC0F-5451-4211-A617-F444FA14BEE7}" destId="{1722E3B2-EACA-441D-AF90-844D0C46351E}" srcOrd="0" destOrd="0" presId="urn:microsoft.com/office/officeart/2005/8/layout/vList4"/>
    <dgm:cxn modelId="{EBCF2B98-0C8C-4781-8A1F-E38A2BA24F22}" type="presParOf" srcId="{20D2DC0F-5451-4211-A617-F444FA14BEE7}" destId="{41FB7730-5982-4F3B-9E36-7D35FC0FF0D6}" srcOrd="1" destOrd="0" presId="urn:microsoft.com/office/officeart/2005/8/layout/vList4"/>
    <dgm:cxn modelId="{E2EBD1D7-77E8-49AB-8058-5414390B2EED}" type="presParOf" srcId="{20D2DC0F-5451-4211-A617-F444FA14BEE7}" destId="{2390E39B-E051-4125-8261-B42A048E332A}"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95DF61-175F-4A67-9A41-D24CE7CFEDA2}">
      <dsp:nvSpPr>
        <dsp:cNvPr id="0" name=""/>
        <dsp:cNvSpPr/>
      </dsp:nvSpPr>
      <dsp:spPr>
        <a:xfrm>
          <a:off x="48953" y="2339"/>
          <a:ext cx="1511355" cy="906813"/>
        </a:xfrm>
        <a:prstGeom prst="roundRect">
          <a:avLst>
            <a:gd name="adj" fmla="val 1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dirty="0">
              <a:effectLst>
                <a:outerShdw blurRad="38100" dist="38100" dir="2700000" algn="tl">
                  <a:srgbClr val="000000"/>
                </a:outerShdw>
              </a:effectLst>
              <a:latin typeface="Verdana" pitchFamily="34" charset="0"/>
            </a:rPr>
            <a:t>Identificación de los tipos de riesgo</a:t>
          </a:r>
          <a:endParaRPr lang="es-CO" sz="1500" kern="1200" dirty="0"/>
        </a:p>
      </dsp:txBody>
      <dsp:txXfrm>
        <a:off x="75513" y="28899"/>
        <a:ext cx="1458235" cy="853693"/>
      </dsp:txXfrm>
    </dsp:sp>
    <dsp:sp modelId="{63E42FB3-64DA-44B7-B1A5-C8D80BB86B7F}">
      <dsp:nvSpPr>
        <dsp:cNvPr id="0" name=""/>
        <dsp:cNvSpPr/>
      </dsp:nvSpPr>
      <dsp:spPr>
        <a:xfrm>
          <a:off x="1693309" y="268338"/>
          <a:ext cx="320407" cy="374816"/>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O" sz="1200" kern="1200"/>
        </a:p>
      </dsp:txBody>
      <dsp:txXfrm>
        <a:off x="1693309" y="343301"/>
        <a:ext cx="224285" cy="224890"/>
      </dsp:txXfrm>
    </dsp:sp>
    <dsp:sp modelId="{2C4B58E6-E02D-45E5-97BB-B09C89D1C0F7}">
      <dsp:nvSpPr>
        <dsp:cNvPr id="0" name=""/>
        <dsp:cNvSpPr/>
      </dsp:nvSpPr>
      <dsp:spPr>
        <a:xfrm>
          <a:off x="2164852" y="2339"/>
          <a:ext cx="1511355" cy="906813"/>
        </a:xfrm>
        <a:prstGeom prst="roundRect">
          <a:avLst>
            <a:gd name="adj" fmla="val 10000"/>
          </a:avLst>
        </a:prstGeom>
        <a:solidFill>
          <a:schemeClr val="accent5">
            <a:hueOff val="-919168"/>
            <a:satOff val="-1278"/>
            <a:lumOff val="-49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effectLst>
                <a:outerShdw blurRad="38100" dist="38100" dir="2700000" algn="tl">
                  <a:srgbClr val="000000"/>
                </a:outerShdw>
              </a:effectLst>
              <a:latin typeface="Verdana" pitchFamily="34" charset="0"/>
            </a:rPr>
            <a:t>Obtención de datos</a:t>
          </a:r>
          <a:endParaRPr lang="es-CO" sz="1500" kern="1200"/>
        </a:p>
      </dsp:txBody>
      <dsp:txXfrm>
        <a:off x="2191412" y="28899"/>
        <a:ext cx="1458235" cy="853693"/>
      </dsp:txXfrm>
    </dsp:sp>
    <dsp:sp modelId="{F8E80D1F-9861-4020-B9B6-F26285B03C56}">
      <dsp:nvSpPr>
        <dsp:cNvPr id="0" name=""/>
        <dsp:cNvSpPr/>
      </dsp:nvSpPr>
      <dsp:spPr>
        <a:xfrm>
          <a:off x="3809207" y="268338"/>
          <a:ext cx="320407" cy="374816"/>
        </a:xfrm>
        <a:prstGeom prst="rightArrow">
          <a:avLst>
            <a:gd name="adj1" fmla="val 60000"/>
            <a:gd name="adj2" fmla="val 50000"/>
          </a:avLst>
        </a:prstGeom>
        <a:solidFill>
          <a:schemeClr val="accent5">
            <a:hueOff val="-1050478"/>
            <a:satOff val="-1461"/>
            <a:lumOff val="-56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O" sz="1200" kern="1200"/>
        </a:p>
      </dsp:txBody>
      <dsp:txXfrm>
        <a:off x="3809207" y="343301"/>
        <a:ext cx="224285" cy="224890"/>
      </dsp:txXfrm>
    </dsp:sp>
    <dsp:sp modelId="{ABEFAE1E-9F74-4693-BF8C-82204D9C29AF}">
      <dsp:nvSpPr>
        <dsp:cNvPr id="0" name=""/>
        <dsp:cNvSpPr/>
      </dsp:nvSpPr>
      <dsp:spPr>
        <a:xfrm>
          <a:off x="4280750" y="2339"/>
          <a:ext cx="1511355" cy="906813"/>
        </a:xfrm>
        <a:prstGeom prst="roundRect">
          <a:avLst>
            <a:gd name="adj" fmla="val 10000"/>
          </a:avLst>
        </a:prstGeom>
        <a:solidFill>
          <a:schemeClr val="accent5">
            <a:hueOff val="-1838336"/>
            <a:satOff val="-2557"/>
            <a:lumOff val="-98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effectLst>
                <a:outerShdw blurRad="38100" dist="38100" dir="2700000" algn="tl">
                  <a:srgbClr val="000000"/>
                </a:outerShdw>
              </a:effectLst>
              <a:latin typeface="Verdana" pitchFamily="34" charset="0"/>
            </a:rPr>
            <a:t>Depuración, filtro y clasificación</a:t>
          </a:r>
          <a:endParaRPr lang="es-CO" sz="1500" kern="1200"/>
        </a:p>
      </dsp:txBody>
      <dsp:txXfrm>
        <a:off x="4307310" y="28899"/>
        <a:ext cx="1458235" cy="853693"/>
      </dsp:txXfrm>
    </dsp:sp>
    <dsp:sp modelId="{9D7DCF7C-478E-4E9F-826D-1038C00F4777}">
      <dsp:nvSpPr>
        <dsp:cNvPr id="0" name=""/>
        <dsp:cNvSpPr/>
      </dsp:nvSpPr>
      <dsp:spPr>
        <a:xfrm>
          <a:off x="5925105" y="268338"/>
          <a:ext cx="320407" cy="374816"/>
        </a:xfrm>
        <a:prstGeom prst="rightArrow">
          <a:avLst>
            <a:gd name="adj1" fmla="val 60000"/>
            <a:gd name="adj2" fmla="val 50000"/>
          </a:avLst>
        </a:prstGeom>
        <a:solidFill>
          <a:schemeClr val="accent5">
            <a:hueOff val="-2100956"/>
            <a:satOff val="-2922"/>
            <a:lumOff val="-112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O" sz="1200" kern="1200"/>
        </a:p>
      </dsp:txBody>
      <dsp:txXfrm>
        <a:off x="5925105" y="343301"/>
        <a:ext cx="224285" cy="224890"/>
      </dsp:txXfrm>
    </dsp:sp>
    <dsp:sp modelId="{2123E613-6A23-4002-A3C6-E6EB2F8075DC}">
      <dsp:nvSpPr>
        <dsp:cNvPr id="0" name=""/>
        <dsp:cNvSpPr/>
      </dsp:nvSpPr>
      <dsp:spPr>
        <a:xfrm>
          <a:off x="6396648" y="2339"/>
          <a:ext cx="1511355" cy="906813"/>
        </a:xfrm>
        <a:prstGeom prst="roundRect">
          <a:avLst>
            <a:gd name="adj" fmla="val 10000"/>
          </a:avLst>
        </a:prstGeom>
        <a:solidFill>
          <a:schemeClr val="accent5">
            <a:hueOff val="-2757504"/>
            <a:satOff val="-3835"/>
            <a:lumOff val="-147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effectLst>
                <a:outerShdw blurRad="38100" dist="38100" dir="2700000" algn="tl">
                  <a:srgbClr val="000000"/>
                </a:outerShdw>
              </a:effectLst>
              <a:latin typeface="Verdana" pitchFamily="34" charset="0"/>
            </a:rPr>
            <a:t>Modelación</a:t>
          </a:r>
          <a:endParaRPr lang="es-CO" sz="1500" kern="1200"/>
        </a:p>
      </dsp:txBody>
      <dsp:txXfrm>
        <a:off x="6423208" y="28899"/>
        <a:ext cx="1458235" cy="853693"/>
      </dsp:txXfrm>
    </dsp:sp>
    <dsp:sp modelId="{FD788600-4316-474A-B0FB-DEF3F81FEB5A}">
      <dsp:nvSpPr>
        <dsp:cNvPr id="0" name=""/>
        <dsp:cNvSpPr/>
      </dsp:nvSpPr>
      <dsp:spPr>
        <a:xfrm rot="5400000">
          <a:off x="6992122" y="1014947"/>
          <a:ext cx="320407" cy="374816"/>
        </a:xfrm>
        <a:prstGeom prst="rightArrow">
          <a:avLst>
            <a:gd name="adj1" fmla="val 60000"/>
            <a:gd name="adj2" fmla="val 50000"/>
          </a:avLst>
        </a:prstGeom>
        <a:solidFill>
          <a:schemeClr val="accent5">
            <a:hueOff val="-3151433"/>
            <a:satOff val="-4383"/>
            <a:lumOff val="-168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O" sz="1200" kern="1200"/>
        </a:p>
      </dsp:txBody>
      <dsp:txXfrm rot="-5400000">
        <a:off x="7039881" y="1042151"/>
        <a:ext cx="224890" cy="224285"/>
      </dsp:txXfrm>
    </dsp:sp>
    <dsp:sp modelId="{6ADCE2DB-55A4-4E3D-93A1-07A2FFC52FC5}">
      <dsp:nvSpPr>
        <dsp:cNvPr id="0" name=""/>
        <dsp:cNvSpPr/>
      </dsp:nvSpPr>
      <dsp:spPr>
        <a:xfrm>
          <a:off x="6396648" y="1513695"/>
          <a:ext cx="1511355" cy="906813"/>
        </a:xfrm>
        <a:prstGeom prst="roundRect">
          <a:avLst>
            <a:gd name="adj" fmla="val 10000"/>
          </a:avLst>
        </a:prstGeom>
        <a:solidFill>
          <a:schemeClr val="accent5">
            <a:hueOff val="-3676672"/>
            <a:satOff val="-5114"/>
            <a:lumOff val="-196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effectLst>
                <a:outerShdw blurRad="38100" dist="38100" dir="2700000" algn="tl">
                  <a:srgbClr val="000000"/>
                </a:outerShdw>
              </a:effectLst>
              <a:latin typeface="Verdana" pitchFamily="34" charset="0"/>
            </a:rPr>
            <a:t>Calibración del modelo</a:t>
          </a:r>
          <a:endParaRPr lang="es-CO" sz="1500" kern="1200"/>
        </a:p>
      </dsp:txBody>
      <dsp:txXfrm>
        <a:off x="6423208" y="1540255"/>
        <a:ext cx="1458235" cy="853693"/>
      </dsp:txXfrm>
    </dsp:sp>
    <dsp:sp modelId="{2559CEB1-2C76-4785-8F04-C00310F30FFC}">
      <dsp:nvSpPr>
        <dsp:cNvPr id="0" name=""/>
        <dsp:cNvSpPr/>
      </dsp:nvSpPr>
      <dsp:spPr>
        <a:xfrm rot="10800000">
          <a:off x="5943241" y="1779693"/>
          <a:ext cx="320407" cy="374816"/>
        </a:xfrm>
        <a:prstGeom prst="rightArrow">
          <a:avLst>
            <a:gd name="adj1" fmla="val 60000"/>
            <a:gd name="adj2" fmla="val 50000"/>
          </a:avLst>
        </a:prstGeom>
        <a:solidFill>
          <a:schemeClr val="accent5">
            <a:hueOff val="-4201911"/>
            <a:satOff val="-5845"/>
            <a:lumOff val="-224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O" sz="1200" kern="1200"/>
        </a:p>
      </dsp:txBody>
      <dsp:txXfrm rot="10800000">
        <a:off x="6039363" y="1854656"/>
        <a:ext cx="224285" cy="224890"/>
      </dsp:txXfrm>
    </dsp:sp>
    <dsp:sp modelId="{5B7D289E-EAC4-4537-8F47-D3E654E49862}">
      <dsp:nvSpPr>
        <dsp:cNvPr id="0" name=""/>
        <dsp:cNvSpPr/>
      </dsp:nvSpPr>
      <dsp:spPr>
        <a:xfrm>
          <a:off x="4280750" y="1513695"/>
          <a:ext cx="1511355" cy="906813"/>
        </a:xfrm>
        <a:prstGeom prst="roundRect">
          <a:avLst>
            <a:gd name="adj" fmla="val 10000"/>
          </a:avLst>
        </a:prstGeom>
        <a:solidFill>
          <a:schemeClr val="accent5">
            <a:hueOff val="-4595840"/>
            <a:satOff val="-6392"/>
            <a:lumOff val="-2451"/>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effectLst>
                <a:outerShdw blurRad="38100" dist="38100" dir="2700000" algn="tl">
                  <a:srgbClr val="000000"/>
                </a:outerShdw>
              </a:effectLst>
              <a:latin typeface="Verdana" pitchFamily="34" charset="0"/>
            </a:rPr>
            <a:t>Limitaciones</a:t>
          </a:r>
          <a:endParaRPr lang="es-CO" sz="1500" kern="1200"/>
        </a:p>
      </dsp:txBody>
      <dsp:txXfrm>
        <a:off x="4307310" y="1540255"/>
        <a:ext cx="1458235" cy="853693"/>
      </dsp:txXfrm>
    </dsp:sp>
    <dsp:sp modelId="{9B0F7B7F-083B-4768-BDE8-0DA2A1B12133}">
      <dsp:nvSpPr>
        <dsp:cNvPr id="0" name=""/>
        <dsp:cNvSpPr/>
      </dsp:nvSpPr>
      <dsp:spPr>
        <a:xfrm rot="10800000">
          <a:off x="3827343" y="1779693"/>
          <a:ext cx="320407" cy="374816"/>
        </a:xfrm>
        <a:prstGeom prst="rightArrow">
          <a:avLst>
            <a:gd name="adj1" fmla="val 60000"/>
            <a:gd name="adj2" fmla="val 50000"/>
          </a:avLst>
        </a:prstGeom>
        <a:solidFill>
          <a:schemeClr val="accent5">
            <a:hueOff val="-5252389"/>
            <a:satOff val="-7306"/>
            <a:lumOff val="-2801"/>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O" sz="1200" kern="1200"/>
        </a:p>
      </dsp:txBody>
      <dsp:txXfrm rot="10800000">
        <a:off x="3923465" y="1854656"/>
        <a:ext cx="224285" cy="224890"/>
      </dsp:txXfrm>
    </dsp:sp>
    <dsp:sp modelId="{E1A60E7A-3AED-4ECC-B9C3-F0E0B28C5E3B}">
      <dsp:nvSpPr>
        <dsp:cNvPr id="0" name=""/>
        <dsp:cNvSpPr/>
      </dsp:nvSpPr>
      <dsp:spPr>
        <a:xfrm>
          <a:off x="2164852" y="1513695"/>
          <a:ext cx="1511355" cy="906813"/>
        </a:xfrm>
        <a:prstGeom prst="roundRect">
          <a:avLst>
            <a:gd name="adj" fmla="val 10000"/>
          </a:avLst>
        </a:prstGeom>
        <a:solidFill>
          <a:schemeClr val="accent5">
            <a:hueOff val="-5515009"/>
            <a:satOff val="-7671"/>
            <a:lumOff val="-294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effectLst>
                <a:outerShdw blurRad="38100" dist="38100" dir="2700000" algn="tl">
                  <a:srgbClr val="000000"/>
                </a:outerShdw>
              </a:effectLst>
              <a:latin typeface="Verdana" pitchFamily="34" charset="0"/>
              <a:ea typeface="ＭＳ Ｐゴシック" charset="0"/>
              <a:cs typeface="ＭＳ Ｐゴシック" charset="0"/>
            </a:rPr>
            <a:t>Monitoreo</a:t>
          </a:r>
          <a:endParaRPr lang="es-CO" sz="1500" kern="1200"/>
        </a:p>
      </dsp:txBody>
      <dsp:txXfrm>
        <a:off x="2191412" y="1540255"/>
        <a:ext cx="1458235" cy="853693"/>
      </dsp:txXfrm>
    </dsp:sp>
    <dsp:sp modelId="{25979EA5-2EF7-4F20-B87C-400B9A3C9414}">
      <dsp:nvSpPr>
        <dsp:cNvPr id="0" name=""/>
        <dsp:cNvSpPr/>
      </dsp:nvSpPr>
      <dsp:spPr>
        <a:xfrm rot="10800000">
          <a:off x="1711445" y="1779693"/>
          <a:ext cx="320407" cy="374816"/>
        </a:xfrm>
        <a:prstGeom prst="rightArrow">
          <a:avLst>
            <a:gd name="adj1" fmla="val 60000"/>
            <a:gd name="adj2" fmla="val 50000"/>
          </a:avLst>
        </a:prstGeom>
        <a:solidFill>
          <a:schemeClr val="accent5">
            <a:hueOff val="-6302867"/>
            <a:satOff val="-8767"/>
            <a:lumOff val="-3362"/>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O" sz="1200" kern="1200"/>
        </a:p>
      </dsp:txBody>
      <dsp:txXfrm rot="10800000">
        <a:off x="1807567" y="1854656"/>
        <a:ext cx="224285" cy="224890"/>
      </dsp:txXfrm>
    </dsp:sp>
    <dsp:sp modelId="{695C116E-B908-464A-AA6D-5F392247DF30}">
      <dsp:nvSpPr>
        <dsp:cNvPr id="0" name=""/>
        <dsp:cNvSpPr/>
      </dsp:nvSpPr>
      <dsp:spPr>
        <a:xfrm>
          <a:off x="48953" y="1513695"/>
          <a:ext cx="1511355" cy="906813"/>
        </a:xfrm>
        <a:prstGeom prst="roundRect">
          <a:avLst>
            <a:gd name="adj" fmla="val 10000"/>
          </a:avLst>
        </a:prstGeom>
        <a:solidFill>
          <a:schemeClr val="accent5">
            <a:hueOff val="-6434176"/>
            <a:satOff val="-8949"/>
            <a:lumOff val="-343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effectLst>
                <a:outerShdw blurRad="38100" dist="38100" dir="2700000" algn="tl">
                  <a:srgbClr val="000000"/>
                </a:outerShdw>
              </a:effectLst>
              <a:latin typeface="Verdana" pitchFamily="34" charset="0"/>
            </a:rPr>
            <a:t>Revelación e información</a:t>
          </a:r>
          <a:endParaRPr lang="es-CO" sz="1500" kern="1200"/>
        </a:p>
      </dsp:txBody>
      <dsp:txXfrm>
        <a:off x="75513" y="1540255"/>
        <a:ext cx="1458235" cy="853693"/>
      </dsp:txXfrm>
    </dsp:sp>
    <dsp:sp modelId="{FD3ED846-A348-4F91-9D9D-316F7A596EAF}">
      <dsp:nvSpPr>
        <dsp:cNvPr id="0" name=""/>
        <dsp:cNvSpPr/>
      </dsp:nvSpPr>
      <dsp:spPr>
        <a:xfrm rot="5400000">
          <a:off x="644428" y="2526303"/>
          <a:ext cx="320407" cy="374816"/>
        </a:xfrm>
        <a:prstGeom prst="rightArrow">
          <a:avLst>
            <a:gd name="adj1" fmla="val 60000"/>
            <a:gd name="adj2" fmla="val 50000"/>
          </a:avLst>
        </a:prstGeom>
        <a:solidFill>
          <a:schemeClr val="accent5">
            <a:hueOff val="-7353344"/>
            <a:satOff val="-10228"/>
            <a:lumOff val="-3922"/>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s-CO" sz="1200" kern="1200"/>
        </a:p>
      </dsp:txBody>
      <dsp:txXfrm rot="-5400000">
        <a:off x="692187" y="2553507"/>
        <a:ext cx="224890" cy="224285"/>
      </dsp:txXfrm>
    </dsp:sp>
    <dsp:sp modelId="{99BF3121-A202-4846-868C-C3A9811901A5}">
      <dsp:nvSpPr>
        <dsp:cNvPr id="0" name=""/>
        <dsp:cNvSpPr/>
      </dsp:nvSpPr>
      <dsp:spPr>
        <a:xfrm>
          <a:off x="48953" y="3025051"/>
          <a:ext cx="1511355" cy="906813"/>
        </a:xfrm>
        <a:prstGeom prst="roundRect">
          <a:avLst>
            <a:gd name="adj" fmla="val 10000"/>
          </a:avLst>
        </a:prstGeom>
        <a:solidFill>
          <a:schemeClr val="accent5">
            <a:hueOff val="-7353344"/>
            <a:satOff val="-10228"/>
            <a:lumOff val="-3922"/>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s-MX" sz="1500" kern="1200">
              <a:effectLst>
                <a:outerShdw blurRad="38100" dist="38100" dir="2700000" algn="tl">
                  <a:srgbClr val="000000"/>
                </a:outerShdw>
              </a:effectLst>
              <a:latin typeface="Verdana" pitchFamily="34" charset="0"/>
              <a:ea typeface="ＭＳ Ｐゴシック" charset="0"/>
              <a:cs typeface="ＭＳ Ｐゴシック" charset="0"/>
            </a:rPr>
            <a:t>Control de riesgos</a:t>
          </a:r>
          <a:endParaRPr lang="es-CO" sz="1500" kern="1200"/>
        </a:p>
      </dsp:txBody>
      <dsp:txXfrm>
        <a:off x="75513" y="3051611"/>
        <a:ext cx="1458235" cy="85369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3307A3-EF1A-4698-BB63-913E1E9463F1}">
      <dsp:nvSpPr>
        <dsp:cNvPr id="0" name=""/>
        <dsp:cNvSpPr/>
      </dsp:nvSpPr>
      <dsp:spPr>
        <a:xfrm rot="5400000">
          <a:off x="-210126" y="210816"/>
          <a:ext cx="1400844" cy="98059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b="1" kern="1200">
              <a:effectLst>
                <a:outerShdw blurRad="38100" dist="38100" dir="2700000" algn="tl">
                  <a:srgbClr val="C0C0C0"/>
                </a:outerShdw>
              </a:effectLst>
              <a:latin typeface="Verdana" pitchFamily="34" charset="0"/>
            </a:rPr>
            <a:t>sensibilidad</a:t>
          </a:r>
          <a:endParaRPr lang="es-CO" sz="1100" kern="1200"/>
        </a:p>
      </dsp:txBody>
      <dsp:txXfrm rot="-5400000">
        <a:off x="1" y="490986"/>
        <a:ext cx="980591" cy="420253"/>
      </dsp:txXfrm>
    </dsp:sp>
    <dsp:sp modelId="{846D178C-272E-4278-886A-92063EF03129}">
      <dsp:nvSpPr>
        <dsp:cNvPr id="0" name=""/>
        <dsp:cNvSpPr/>
      </dsp:nvSpPr>
      <dsp:spPr>
        <a:xfrm rot="5400000">
          <a:off x="3978371" y="-2997090"/>
          <a:ext cx="910549" cy="690610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Char char="•"/>
          </a:pPr>
          <a:r>
            <a:rPr lang="es-MX" sz="1100" kern="1200" dirty="0">
              <a:effectLst>
                <a:outerShdw blurRad="38100" dist="38100" dir="2700000" algn="tl">
                  <a:srgbClr val="C0C0C0"/>
                </a:outerShdw>
              </a:effectLst>
              <a:latin typeface="Verdana" pitchFamily="34" charset="0"/>
            </a:rPr>
            <a:t>Calculan el efecto en una variable objetivo de desplazamientos hipotéticos en algún parámetro específico subyacente, es decir, la sensibilidad de la variable objetivo a variaciones abruptas en el parámetro de interés.</a:t>
          </a:r>
          <a:endParaRPr lang="es-CO" sz="1100" kern="1200" dirty="0"/>
        </a:p>
      </dsp:txBody>
      <dsp:txXfrm rot="-5400000">
        <a:off x="980592" y="45138"/>
        <a:ext cx="6861659" cy="821651"/>
      </dsp:txXfrm>
    </dsp:sp>
    <dsp:sp modelId="{95551BEB-7A65-47CD-AEFE-13D40DAEDE13}">
      <dsp:nvSpPr>
        <dsp:cNvPr id="0" name=""/>
        <dsp:cNvSpPr/>
      </dsp:nvSpPr>
      <dsp:spPr>
        <a:xfrm rot="5400000">
          <a:off x="-210126" y="1414704"/>
          <a:ext cx="1400844" cy="98059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b="1" kern="1200">
              <a:effectLst>
                <a:outerShdw blurRad="38100" dist="38100" dir="2700000" algn="tl">
                  <a:srgbClr val="C0C0C0"/>
                </a:outerShdw>
              </a:effectLst>
              <a:latin typeface="Verdana" pitchFamily="34" charset="0"/>
            </a:rPr>
            <a:t>volatilidad</a:t>
          </a:r>
          <a:endParaRPr lang="es-CO" sz="1100" kern="1200"/>
        </a:p>
      </dsp:txBody>
      <dsp:txXfrm rot="-5400000">
        <a:off x="1" y="1694874"/>
        <a:ext cx="980591" cy="420253"/>
      </dsp:txXfrm>
    </dsp:sp>
    <dsp:sp modelId="{FE7C3A95-45D4-4351-B358-82A72055716E}">
      <dsp:nvSpPr>
        <dsp:cNvPr id="0" name=""/>
        <dsp:cNvSpPr/>
      </dsp:nvSpPr>
      <dsp:spPr>
        <a:xfrm rot="5400000">
          <a:off x="3978371" y="-1793202"/>
          <a:ext cx="910549" cy="690610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Char char="•"/>
          </a:pPr>
          <a:r>
            <a:rPr lang="es-MX" sz="1100" kern="1200">
              <a:effectLst>
                <a:outerShdw blurRad="38100" dist="38100" dir="2700000" algn="tl">
                  <a:srgbClr val="C0C0C0"/>
                </a:outerShdw>
              </a:effectLst>
              <a:latin typeface="Verdana" pitchFamily="34" charset="0"/>
            </a:rPr>
            <a:t>Calculan las desviaciones de algún parámetro aleatorio o variable objetivo respecto de su media, es decir, la cambiante inestabilidad de uno o varios parámetros, factor que es ignorado por las medidas de sensibilidad</a:t>
          </a:r>
          <a:endParaRPr lang="es-CO" sz="1100" kern="1200"/>
        </a:p>
      </dsp:txBody>
      <dsp:txXfrm rot="-5400000">
        <a:off x="980592" y="1249026"/>
        <a:ext cx="6861659" cy="821651"/>
      </dsp:txXfrm>
    </dsp:sp>
    <dsp:sp modelId="{9158AE1D-AF9B-4AA0-AAAF-55632C229132}">
      <dsp:nvSpPr>
        <dsp:cNvPr id="0" name=""/>
        <dsp:cNvSpPr/>
      </dsp:nvSpPr>
      <dsp:spPr>
        <a:xfrm rot="5400000">
          <a:off x="-210126" y="2618592"/>
          <a:ext cx="1400844" cy="980591"/>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s-MX" sz="1100" b="1" kern="1200">
              <a:effectLst>
                <a:outerShdw blurRad="38100" dist="38100" dir="2700000" algn="tl">
                  <a:srgbClr val="C0C0C0"/>
                </a:outerShdw>
              </a:effectLst>
              <a:latin typeface="Verdana" pitchFamily="34" charset="0"/>
            </a:rPr>
            <a:t>Downside</a:t>
          </a:r>
          <a:endParaRPr lang="es-CO" sz="1100" kern="1200"/>
        </a:p>
      </dsp:txBody>
      <dsp:txXfrm rot="-5400000">
        <a:off x="1" y="2898762"/>
        <a:ext cx="980591" cy="420253"/>
      </dsp:txXfrm>
    </dsp:sp>
    <dsp:sp modelId="{B95F61D7-3DD4-4631-81BE-7ECF61CD3172}">
      <dsp:nvSpPr>
        <dsp:cNvPr id="0" name=""/>
        <dsp:cNvSpPr/>
      </dsp:nvSpPr>
      <dsp:spPr>
        <a:xfrm rot="5400000">
          <a:off x="3978371" y="-589314"/>
          <a:ext cx="910549" cy="6906108"/>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6985" rIns="6985" bIns="6985" numCol="1" spcCol="1270" anchor="ctr" anchorCtr="0">
          <a:noAutofit/>
        </a:bodyPr>
        <a:lstStyle/>
        <a:p>
          <a:pPr marL="57150" lvl="1" indent="-57150" algn="l" defTabSz="488950">
            <a:lnSpc>
              <a:spcPct val="90000"/>
            </a:lnSpc>
            <a:spcBef>
              <a:spcPct val="0"/>
            </a:spcBef>
            <a:spcAft>
              <a:spcPct val="15000"/>
            </a:spcAft>
            <a:buChar char="•"/>
          </a:pPr>
          <a:r>
            <a:rPr lang="es-MX" sz="1100" kern="1200">
              <a:effectLst>
                <a:outerShdw blurRad="38100" dist="38100" dir="2700000" algn="tl">
                  <a:srgbClr val="C0C0C0"/>
                </a:outerShdw>
              </a:effectLst>
              <a:latin typeface="Verdana" pitchFamily="34" charset="0"/>
            </a:rPr>
            <a:t>Se concentran sólo en las desviaciones adversas, es decir, caracterizan las desviaciones de una variable objetivo en el </a:t>
          </a:r>
          <a:r>
            <a:rPr lang="es-MX" altLang="en-US" sz="1100" kern="1200">
              <a:effectLst>
                <a:outerShdw blurRad="38100" dist="38100" dir="2700000" algn="tl">
                  <a:srgbClr val="C0C0C0"/>
                </a:outerShdw>
              </a:effectLst>
              <a:latin typeface="Verdana" pitchFamily="34" charset="0"/>
            </a:rPr>
            <a:t>“</a:t>
          </a:r>
          <a:r>
            <a:rPr lang="es-MX" sz="1100" kern="1200">
              <a:effectLst>
                <a:outerShdw blurRad="38100" dist="38100" dir="2700000" algn="tl">
                  <a:srgbClr val="C0C0C0"/>
                </a:outerShdw>
              </a:effectLst>
              <a:latin typeface="Verdana" pitchFamily="34" charset="0"/>
            </a:rPr>
            <a:t>peor escenario</a:t>
          </a:r>
          <a:r>
            <a:rPr lang="es-MX" altLang="en-US" sz="1100" kern="1200">
              <a:effectLst>
                <a:outerShdw blurRad="38100" dist="38100" dir="2700000" algn="tl">
                  <a:srgbClr val="C0C0C0"/>
                </a:outerShdw>
              </a:effectLst>
              <a:latin typeface="Verdana" pitchFamily="34" charset="0"/>
            </a:rPr>
            <a:t>”</a:t>
          </a:r>
          <a:r>
            <a:rPr lang="es-MX" sz="1100" kern="1200">
              <a:effectLst>
                <a:outerShdw blurRad="38100" dist="38100" dir="2700000" algn="tl">
                  <a:srgbClr val="C0C0C0"/>
                </a:outerShdw>
              </a:effectLst>
              <a:latin typeface="Verdana" pitchFamily="34" charset="0"/>
            </a:rPr>
            <a:t>. Este tipo de medidas de riesgo requiere de modelación para generar distribuciones de probabilidad de las variables objetivo y son las más comprehensivas, dado que integran tanto sensibilidad como volatilidad con el efecto adverso de la incertidumbre.</a:t>
          </a:r>
          <a:endParaRPr lang="es-CO" sz="1100" kern="1200"/>
        </a:p>
      </dsp:txBody>
      <dsp:txXfrm rot="-5400000">
        <a:off x="980592" y="2452914"/>
        <a:ext cx="6861659" cy="8216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AF78F-ABF8-4ED6-B814-F375A19293DD}">
      <dsp:nvSpPr>
        <dsp:cNvPr id="0" name=""/>
        <dsp:cNvSpPr/>
      </dsp:nvSpPr>
      <dsp:spPr>
        <a:xfrm>
          <a:off x="82011" y="1525767"/>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a:t>Caracterización probalilística de variables</a:t>
          </a:r>
        </a:p>
      </dsp:txBody>
      <dsp:txXfrm>
        <a:off x="97530" y="1541286"/>
        <a:ext cx="1028692" cy="498827"/>
      </dsp:txXfrm>
    </dsp:sp>
    <dsp:sp modelId="{AB83F86F-20B7-495A-B385-227C995D58B1}">
      <dsp:nvSpPr>
        <dsp:cNvPr id="0" name=""/>
        <dsp:cNvSpPr/>
      </dsp:nvSpPr>
      <dsp:spPr>
        <a:xfrm rot="17350740">
          <a:off x="708535" y="1168039"/>
          <a:ext cx="1290306" cy="26630"/>
        </a:xfrm>
        <a:custGeom>
          <a:avLst/>
          <a:gdLst/>
          <a:ahLst/>
          <a:cxnLst/>
          <a:rect l="0" t="0" r="0" b="0"/>
          <a:pathLst>
            <a:path>
              <a:moveTo>
                <a:pt x="0" y="13315"/>
              </a:moveTo>
              <a:lnTo>
                <a:pt x="1290306" y="1331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1321430" y="1149097"/>
        <a:ext cx="64515" cy="64515"/>
      </dsp:txXfrm>
    </dsp:sp>
    <dsp:sp modelId="{12128D18-AA8E-4E07-BDAF-39076782E488}">
      <dsp:nvSpPr>
        <dsp:cNvPr id="0" name=""/>
        <dsp:cNvSpPr/>
      </dsp:nvSpPr>
      <dsp:spPr>
        <a:xfrm>
          <a:off x="1565634" y="307077"/>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dirty="0"/>
            <a:t>Naturaleza de la variable física</a:t>
          </a:r>
        </a:p>
      </dsp:txBody>
      <dsp:txXfrm>
        <a:off x="1581153" y="322596"/>
        <a:ext cx="1028692" cy="498827"/>
      </dsp:txXfrm>
    </dsp:sp>
    <dsp:sp modelId="{F1113760-4C62-4605-9012-8C67CCC2FC4B}">
      <dsp:nvSpPr>
        <dsp:cNvPr id="0" name=""/>
        <dsp:cNvSpPr/>
      </dsp:nvSpPr>
      <dsp:spPr>
        <a:xfrm rot="19457599">
          <a:off x="2576299" y="406358"/>
          <a:ext cx="522024" cy="26630"/>
        </a:xfrm>
        <a:custGeom>
          <a:avLst/>
          <a:gdLst/>
          <a:ahLst/>
          <a:cxnLst/>
          <a:rect l="0" t="0" r="0" b="0"/>
          <a:pathLst>
            <a:path>
              <a:moveTo>
                <a:pt x="0" y="13315"/>
              </a:moveTo>
              <a:lnTo>
                <a:pt x="522024" y="1331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2824260" y="406622"/>
        <a:ext cx="26101" cy="26101"/>
      </dsp:txXfrm>
    </dsp:sp>
    <dsp:sp modelId="{C928802D-DFB3-4508-9BA9-9427BC2E0F5F}">
      <dsp:nvSpPr>
        <dsp:cNvPr id="0" name=""/>
        <dsp:cNvSpPr/>
      </dsp:nvSpPr>
      <dsp:spPr>
        <a:xfrm>
          <a:off x="3049257" y="2404"/>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a:t>Discreta</a:t>
          </a:r>
        </a:p>
      </dsp:txBody>
      <dsp:txXfrm>
        <a:off x="3064776" y="17923"/>
        <a:ext cx="1028692" cy="498827"/>
      </dsp:txXfrm>
    </dsp:sp>
    <dsp:sp modelId="{48DA5296-61C4-4A86-8ADB-025F79957C03}">
      <dsp:nvSpPr>
        <dsp:cNvPr id="0" name=""/>
        <dsp:cNvSpPr/>
      </dsp:nvSpPr>
      <dsp:spPr>
        <a:xfrm rot="2142401">
          <a:off x="2576299" y="711030"/>
          <a:ext cx="522024" cy="26630"/>
        </a:xfrm>
        <a:custGeom>
          <a:avLst/>
          <a:gdLst/>
          <a:ahLst/>
          <a:cxnLst/>
          <a:rect l="0" t="0" r="0" b="0"/>
          <a:pathLst>
            <a:path>
              <a:moveTo>
                <a:pt x="0" y="13315"/>
              </a:moveTo>
              <a:lnTo>
                <a:pt x="522024" y="1331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2824260" y="711295"/>
        <a:ext cx="26101" cy="26101"/>
      </dsp:txXfrm>
    </dsp:sp>
    <dsp:sp modelId="{883C14BA-ECFB-4F25-AF32-4397B26734C2}">
      <dsp:nvSpPr>
        <dsp:cNvPr id="0" name=""/>
        <dsp:cNvSpPr/>
      </dsp:nvSpPr>
      <dsp:spPr>
        <a:xfrm>
          <a:off x="3049257" y="611749"/>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a:t>Continua</a:t>
          </a:r>
        </a:p>
      </dsp:txBody>
      <dsp:txXfrm>
        <a:off x="3064776" y="627268"/>
        <a:ext cx="1028692" cy="498827"/>
      </dsp:txXfrm>
    </dsp:sp>
    <dsp:sp modelId="{66092751-1DD6-4A75-A114-497B8C9F6D62}">
      <dsp:nvSpPr>
        <dsp:cNvPr id="0" name=""/>
        <dsp:cNvSpPr/>
      </dsp:nvSpPr>
      <dsp:spPr>
        <a:xfrm>
          <a:off x="1141742" y="1777384"/>
          <a:ext cx="423892" cy="26630"/>
        </a:xfrm>
        <a:custGeom>
          <a:avLst/>
          <a:gdLst/>
          <a:ahLst/>
          <a:cxnLst/>
          <a:rect l="0" t="0" r="0" b="0"/>
          <a:pathLst>
            <a:path>
              <a:moveTo>
                <a:pt x="0" y="13315"/>
              </a:moveTo>
              <a:lnTo>
                <a:pt x="423892" y="1331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1343091" y="1780102"/>
        <a:ext cx="21194" cy="21194"/>
      </dsp:txXfrm>
    </dsp:sp>
    <dsp:sp modelId="{E6EB88E5-72A5-45BC-81D9-DD7BAB845F1A}">
      <dsp:nvSpPr>
        <dsp:cNvPr id="0" name=""/>
        <dsp:cNvSpPr/>
      </dsp:nvSpPr>
      <dsp:spPr>
        <a:xfrm>
          <a:off x="1565634" y="1525767"/>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dirty="0"/>
            <a:t>Confinamiento de la variable a modelar</a:t>
          </a:r>
        </a:p>
      </dsp:txBody>
      <dsp:txXfrm>
        <a:off x="1581153" y="1541286"/>
        <a:ext cx="1028692" cy="498827"/>
      </dsp:txXfrm>
    </dsp:sp>
    <dsp:sp modelId="{3FB9C3DA-8865-4113-8965-61DABA8A2E02}">
      <dsp:nvSpPr>
        <dsp:cNvPr id="0" name=""/>
        <dsp:cNvSpPr/>
      </dsp:nvSpPr>
      <dsp:spPr>
        <a:xfrm rot="19457599">
          <a:off x="2576299" y="1625048"/>
          <a:ext cx="522024" cy="26630"/>
        </a:xfrm>
        <a:custGeom>
          <a:avLst/>
          <a:gdLst/>
          <a:ahLst/>
          <a:cxnLst/>
          <a:rect l="0" t="0" r="0" b="0"/>
          <a:pathLst>
            <a:path>
              <a:moveTo>
                <a:pt x="0" y="13315"/>
              </a:moveTo>
              <a:lnTo>
                <a:pt x="522024" y="1331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2824260" y="1625313"/>
        <a:ext cx="26101" cy="26101"/>
      </dsp:txXfrm>
    </dsp:sp>
    <dsp:sp modelId="{8BFA6865-A7AC-4669-BD4D-F5B7C6509523}">
      <dsp:nvSpPr>
        <dsp:cNvPr id="0" name=""/>
        <dsp:cNvSpPr/>
      </dsp:nvSpPr>
      <dsp:spPr>
        <a:xfrm>
          <a:off x="3049257" y="1221094"/>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dirty="0"/>
            <a:t>Truncada</a:t>
          </a:r>
        </a:p>
      </dsp:txBody>
      <dsp:txXfrm>
        <a:off x="3064776" y="1236613"/>
        <a:ext cx="1028692" cy="498827"/>
      </dsp:txXfrm>
    </dsp:sp>
    <dsp:sp modelId="{55562A46-7454-4874-BA13-E98AA515A6F1}">
      <dsp:nvSpPr>
        <dsp:cNvPr id="0" name=""/>
        <dsp:cNvSpPr/>
      </dsp:nvSpPr>
      <dsp:spPr>
        <a:xfrm rot="2142401">
          <a:off x="2576299" y="1929720"/>
          <a:ext cx="522024" cy="26630"/>
        </a:xfrm>
        <a:custGeom>
          <a:avLst/>
          <a:gdLst/>
          <a:ahLst/>
          <a:cxnLst/>
          <a:rect l="0" t="0" r="0" b="0"/>
          <a:pathLst>
            <a:path>
              <a:moveTo>
                <a:pt x="0" y="13315"/>
              </a:moveTo>
              <a:lnTo>
                <a:pt x="522024" y="1331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2824260" y="1929985"/>
        <a:ext cx="26101" cy="26101"/>
      </dsp:txXfrm>
    </dsp:sp>
    <dsp:sp modelId="{C19AB981-B49F-484B-B9B4-66AAD17DF5B7}">
      <dsp:nvSpPr>
        <dsp:cNvPr id="0" name=""/>
        <dsp:cNvSpPr/>
      </dsp:nvSpPr>
      <dsp:spPr>
        <a:xfrm>
          <a:off x="3049257" y="1830439"/>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a:t>No Truncada</a:t>
          </a:r>
        </a:p>
      </dsp:txBody>
      <dsp:txXfrm>
        <a:off x="3064776" y="1845958"/>
        <a:ext cx="1028692" cy="498827"/>
      </dsp:txXfrm>
    </dsp:sp>
    <dsp:sp modelId="{46856344-EE5A-4450-B5C3-B7E1A03962A9}">
      <dsp:nvSpPr>
        <dsp:cNvPr id="0" name=""/>
        <dsp:cNvSpPr/>
      </dsp:nvSpPr>
      <dsp:spPr>
        <a:xfrm rot="4249260">
          <a:off x="708535" y="2386729"/>
          <a:ext cx="1290306" cy="26630"/>
        </a:xfrm>
        <a:custGeom>
          <a:avLst/>
          <a:gdLst/>
          <a:ahLst/>
          <a:cxnLst/>
          <a:rect l="0" t="0" r="0" b="0"/>
          <a:pathLst>
            <a:path>
              <a:moveTo>
                <a:pt x="0" y="13315"/>
              </a:moveTo>
              <a:lnTo>
                <a:pt x="1290306" y="13315"/>
              </a:lnTo>
            </a:path>
          </a:pathLst>
        </a:cu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1321430" y="2367787"/>
        <a:ext cx="64515" cy="64515"/>
      </dsp:txXfrm>
    </dsp:sp>
    <dsp:sp modelId="{114FFD26-93E2-4D6D-9BF3-861D2C41E988}">
      <dsp:nvSpPr>
        <dsp:cNvPr id="0" name=""/>
        <dsp:cNvSpPr/>
      </dsp:nvSpPr>
      <dsp:spPr>
        <a:xfrm>
          <a:off x="1565634" y="2744457"/>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dirty="0"/>
            <a:t>Representación matemática de la variable a modelar</a:t>
          </a:r>
        </a:p>
      </dsp:txBody>
      <dsp:txXfrm>
        <a:off x="1581153" y="2759976"/>
        <a:ext cx="1028692" cy="498827"/>
      </dsp:txXfrm>
    </dsp:sp>
    <dsp:sp modelId="{276F869A-0500-45C7-B274-A107BB768781}">
      <dsp:nvSpPr>
        <dsp:cNvPr id="0" name=""/>
        <dsp:cNvSpPr/>
      </dsp:nvSpPr>
      <dsp:spPr>
        <a:xfrm rot="19457599">
          <a:off x="2576299" y="2843738"/>
          <a:ext cx="522024" cy="26630"/>
        </a:xfrm>
        <a:custGeom>
          <a:avLst/>
          <a:gdLst/>
          <a:ahLst/>
          <a:cxnLst/>
          <a:rect l="0" t="0" r="0" b="0"/>
          <a:pathLst>
            <a:path>
              <a:moveTo>
                <a:pt x="0" y="13315"/>
              </a:moveTo>
              <a:lnTo>
                <a:pt x="522024" y="1331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2824260" y="2844003"/>
        <a:ext cx="26101" cy="26101"/>
      </dsp:txXfrm>
    </dsp:sp>
    <dsp:sp modelId="{A4489050-9833-409F-A99D-FF6A5002AD99}">
      <dsp:nvSpPr>
        <dsp:cNvPr id="0" name=""/>
        <dsp:cNvSpPr/>
      </dsp:nvSpPr>
      <dsp:spPr>
        <a:xfrm>
          <a:off x="3049257" y="2439785"/>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a:t>Parámetrica</a:t>
          </a:r>
        </a:p>
      </dsp:txBody>
      <dsp:txXfrm>
        <a:off x="3064776" y="2455304"/>
        <a:ext cx="1028692" cy="498827"/>
      </dsp:txXfrm>
    </dsp:sp>
    <dsp:sp modelId="{B658813D-3CD9-443D-B5D5-3CA65EAF2FA4}">
      <dsp:nvSpPr>
        <dsp:cNvPr id="0" name=""/>
        <dsp:cNvSpPr/>
      </dsp:nvSpPr>
      <dsp:spPr>
        <a:xfrm rot="2142401">
          <a:off x="2576299" y="3148411"/>
          <a:ext cx="522024" cy="26630"/>
        </a:xfrm>
        <a:custGeom>
          <a:avLst/>
          <a:gdLst/>
          <a:ahLst/>
          <a:cxnLst/>
          <a:rect l="0" t="0" r="0" b="0"/>
          <a:pathLst>
            <a:path>
              <a:moveTo>
                <a:pt x="0" y="13315"/>
              </a:moveTo>
              <a:lnTo>
                <a:pt x="522024" y="13315"/>
              </a:lnTo>
            </a:path>
          </a:pathLst>
        </a:custGeom>
        <a:noFill/>
        <a:ln w="12700" cap="flat" cmpd="sng" algn="ctr">
          <a:solidFill>
            <a:schemeClr val="dk2">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s-CO" sz="500" kern="1200"/>
        </a:p>
      </dsp:txBody>
      <dsp:txXfrm>
        <a:off x="2824260" y="3148675"/>
        <a:ext cx="26101" cy="26101"/>
      </dsp:txXfrm>
    </dsp:sp>
    <dsp:sp modelId="{6CF30F40-7F42-4800-BC61-8755131FE1D9}">
      <dsp:nvSpPr>
        <dsp:cNvPr id="0" name=""/>
        <dsp:cNvSpPr/>
      </dsp:nvSpPr>
      <dsp:spPr>
        <a:xfrm>
          <a:off x="3049257" y="3049130"/>
          <a:ext cx="1059730" cy="529865"/>
        </a:xfrm>
        <a:prstGeom prst="roundRect">
          <a:avLst>
            <a:gd name="adj" fmla="val 10000"/>
          </a:avLst>
        </a:prstGeom>
        <a:gradFill rotWithShape="0">
          <a:gsLst>
            <a:gs pos="0">
              <a:schemeClr val="dk2">
                <a:hueOff val="0"/>
                <a:satOff val="0"/>
                <a:lumOff val="0"/>
                <a:alphaOff val="0"/>
                <a:lumMod val="110000"/>
                <a:satMod val="105000"/>
                <a:tint val="67000"/>
              </a:schemeClr>
            </a:gs>
            <a:gs pos="50000">
              <a:schemeClr val="dk2">
                <a:hueOff val="0"/>
                <a:satOff val="0"/>
                <a:lumOff val="0"/>
                <a:alphaOff val="0"/>
                <a:lumMod val="105000"/>
                <a:satMod val="103000"/>
                <a:tint val="73000"/>
              </a:schemeClr>
            </a:gs>
            <a:gs pos="100000">
              <a:schemeClr val="dk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s-CO" sz="1000" kern="1200"/>
            <a:t>Empirica</a:t>
          </a:r>
        </a:p>
      </dsp:txBody>
      <dsp:txXfrm>
        <a:off x="3064776" y="3064649"/>
        <a:ext cx="1028692" cy="4988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5EC8F-B5F0-4A76-8401-D6B90D3C6A8A}">
      <dsp:nvSpPr>
        <dsp:cNvPr id="0" name=""/>
        <dsp:cNvSpPr/>
      </dsp:nvSpPr>
      <dsp:spPr>
        <a:xfrm>
          <a:off x="0" y="0"/>
          <a:ext cx="5638800" cy="1910581"/>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s-ES" sz="1600" kern="1200" dirty="0"/>
            <a:t>Una </a:t>
          </a:r>
          <a:r>
            <a:rPr lang="es-ES" sz="1600" b="1" kern="1200" dirty="0"/>
            <a:t>variable discreta</a:t>
          </a:r>
          <a:r>
            <a:rPr lang="es-ES" sz="1600" kern="1200" dirty="0"/>
            <a:t> es una variable que solo puede tomar valores dentro de un conjunto numerable, es decir, no acepta cualquier valor sino solo aquellos que pertenecen al conjunto. </a:t>
          </a:r>
          <a:endParaRPr lang="es-CO" sz="1600" kern="1200" dirty="0"/>
        </a:p>
      </dsp:txBody>
      <dsp:txXfrm>
        <a:off x="1318818" y="0"/>
        <a:ext cx="4319981" cy="1910581"/>
      </dsp:txXfrm>
    </dsp:sp>
    <dsp:sp modelId="{AD4D5C38-7D10-4DD4-AE26-185C01D0723B}">
      <dsp:nvSpPr>
        <dsp:cNvPr id="0" name=""/>
        <dsp:cNvSpPr/>
      </dsp:nvSpPr>
      <dsp:spPr>
        <a:xfrm>
          <a:off x="191058" y="191058"/>
          <a:ext cx="1127760" cy="1528464"/>
        </a:xfrm>
        <a:prstGeom prst="roundRect">
          <a:avLst>
            <a:gd name="adj" fmla="val 10000"/>
          </a:avLst>
        </a:prstGeom>
        <a:blipFill rotWithShape="1">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722E3B2-EACA-441D-AF90-844D0C46351E}">
      <dsp:nvSpPr>
        <dsp:cNvPr id="0" name=""/>
        <dsp:cNvSpPr/>
      </dsp:nvSpPr>
      <dsp:spPr>
        <a:xfrm>
          <a:off x="0" y="2101639"/>
          <a:ext cx="5638800" cy="1910581"/>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s-ES" sz="1600" kern="1200"/>
            <a:t>Una </a:t>
          </a:r>
          <a:r>
            <a:rPr lang="es-ES" sz="1600" b="1" kern="1200"/>
            <a:t>variable continua</a:t>
          </a:r>
          <a:r>
            <a:rPr lang="es-ES" sz="1600" kern="1200"/>
            <a:t> puede tomar un valor cualquiera dentro de un rango predeterminado. Y siempre entre dos valores observables va a existir un tercer valor intermedio que también podría tomar la variable continua. Una variable continua toma valores a lo largo de un continuo, esto es, en todo un intervalo de valores.</a:t>
          </a:r>
          <a:endParaRPr lang="es-CO" sz="1600" kern="1200" dirty="0"/>
        </a:p>
      </dsp:txBody>
      <dsp:txXfrm>
        <a:off x="1318818" y="2101639"/>
        <a:ext cx="4319981" cy="1910581"/>
      </dsp:txXfrm>
    </dsp:sp>
    <dsp:sp modelId="{41FB7730-5982-4F3B-9E36-7D35FC0FF0D6}">
      <dsp:nvSpPr>
        <dsp:cNvPr id="0" name=""/>
        <dsp:cNvSpPr/>
      </dsp:nvSpPr>
      <dsp:spPr>
        <a:xfrm>
          <a:off x="191058" y="2292697"/>
          <a:ext cx="1127760" cy="1528464"/>
        </a:xfrm>
        <a:prstGeom prst="roundRect">
          <a:avLst>
            <a:gd name="adj" fmla="val 10000"/>
          </a:avLst>
        </a:prstGeom>
        <a:blipFill rotWithShape="1">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051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CO" dirty="0"/>
              <a:t>Son un elemento ineludible en un proyecto, son la razón de ser. Desde</a:t>
            </a:r>
            <a:r>
              <a:rPr lang="es-CO" baseline="0" dirty="0"/>
              <a:t> sus expectativas se requiere gestionar promesas… es decir cada uno de los entregables del proyecto. El PMI en su quinta versión a generado una distinción mucho mas amplia, con el objeto de asegurar mayores esfuerzos de gestión para satisfacer las necesidades y optimizar los resultados frente a este grupo de clientes…  </a:t>
            </a:r>
            <a:endParaRPr lang="es-CO" dirty="0"/>
          </a:p>
        </p:txBody>
      </p:sp>
      <p:sp>
        <p:nvSpPr>
          <p:cNvPr id="4" name="3 Marcador de número de diapositiva"/>
          <p:cNvSpPr>
            <a:spLocks noGrp="1"/>
          </p:cNvSpPr>
          <p:nvPr>
            <p:ph type="sldNum" sz="quarter" idx="10"/>
          </p:nvPr>
        </p:nvSpPr>
        <p:spPr/>
        <p:txBody>
          <a:bodyPr/>
          <a:lstStyle/>
          <a:p>
            <a:fld id="{FE58E65F-1B35-4DF9-9685-432EA2E324B3}" type="slidenum">
              <a:rPr lang="es-ES" smtClean="0"/>
              <a:pPr/>
              <a:t>45</a:t>
            </a:fld>
            <a:endParaRPr lang="es-ES"/>
          </a:p>
        </p:txBody>
      </p:sp>
    </p:spTree>
    <p:extLst>
      <p:ext uri="{BB962C8B-B14F-4D97-AF65-F5344CB8AC3E}">
        <p14:creationId xmlns:p14="http://schemas.microsoft.com/office/powerpoint/2010/main" val="353689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7"/>
          <p:cNvSpPr>
            <a:spLocks noGrp="1" noChangeArrowheads="1"/>
          </p:cNvSpPr>
          <p:nvPr>
            <p:ph type="sldNum" sz="quarter" idx="5"/>
          </p:nvPr>
        </p:nvSpPr>
        <p:spPr bwMode="auto">
          <a:noFill/>
          <a:ln>
            <a:miter lim="800000"/>
            <a:headEnd/>
            <a:tailEnd/>
          </a:ln>
        </p:spPr>
        <p:txBody>
          <a:bodyPr/>
          <a:lstStyle/>
          <a:p>
            <a:fld id="{37F2B8DD-AB6D-4FE3-82A2-2DC76E3FCF12}" type="slidenum">
              <a:rPr lang="en-US"/>
              <a:pPr/>
              <a:t>168</a:t>
            </a:fld>
            <a:endParaRPr lang="en-US"/>
          </a:p>
        </p:txBody>
      </p:sp>
      <p:sp>
        <p:nvSpPr>
          <p:cNvPr id="2099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09923" name="Rectangle 3"/>
          <p:cNvSpPr>
            <a:spLocks noGrp="1" noChangeArrowheads="1"/>
          </p:cNvSpPr>
          <p:nvPr>
            <p:ph type="body" idx="1"/>
          </p:nvPr>
        </p:nvSpPr>
        <p:spPr bwMode="auto">
          <a:noFill/>
        </p:spPr>
        <p:txBody>
          <a:bodyPr/>
          <a:lstStyle/>
          <a:p>
            <a:pPr eaLnBrk="1" hangingPunct="1"/>
            <a:endParaRPr lang="es-ES">
              <a:ea typeface="ＭＳ Ｐゴシック" pitchFamily="34" charset="-128"/>
            </a:endParaRPr>
          </a:p>
        </p:txBody>
      </p:sp>
    </p:spTree>
    <p:extLst>
      <p:ext uri="{BB962C8B-B14F-4D97-AF65-F5344CB8AC3E}">
        <p14:creationId xmlns:p14="http://schemas.microsoft.com/office/powerpoint/2010/main" val="2097477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122363"/>
            <a:ext cx="5829300" cy="2387600"/>
          </a:xfrm>
        </p:spPr>
        <p:txBody>
          <a:bodyPr anchor="b"/>
          <a:lstStyle>
            <a:lvl1pPr algn="ctr">
              <a:defRPr sz="45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857250" y="3602038"/>
            <a:ext cx="51435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07/09/2026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905771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07/09/2026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68535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467916" y="1709740"/>
            <a:ext cx="5915025" cy="2852737"/>
          </a:xfrm>
        </p:spPr>
        <p:txBody>
          <a:bodyPr anchor="b"/>
          <a:lstStyle>
            <a:lvl1pPr>
              <a:defRPr sz="45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467916" y="4589465"/>
            <a:ext cx="5915025" cy="150018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09382926-025C-4492-A007-36A806BCA0F4}" type="datetimeFigureOut">
              <a:rPr lang="es-ES" smtClean="0"/>
              <a:t>07/09/2026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8067413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471488" y="1825625"/>
            <a:ext cx="291465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471863" y="1825625"/>
            <a:ext cx="291465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09382926-025C-4492-A007-36A806BCA0F4}" type="datetimeFigureOut">
              <a:rPr lang="es-ES" smtClean="0"/>
              <a:t>07/09/2026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8724029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472381" y="365127"/>
            <a:ext cx="5915025"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472382" y="1681163"/>
            <a:ext cx="2901255"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el estilo de texto del patrón</a:t>
            </a:r>
          </a:p>
        </p:txBody>
      </p:sp>
      <p:sp>
        <p:nvSpPr>
          <p:cNvPr id="4" name="Content Placeholder 3"/>
          <p:cNvSpPr>
            <a:spLocks noGrp="1"/>
          </p:cNvSpPr>
          <p:nvPr>
            <p:ph sz="half" idx="2"/>
          </p:nvPr>
        </p:nvSpPr>
        <p:spPr>
          <a:xfrm>
            <a:off x="472382" y="2505075"/>
            <a:ext cx="2901255"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471863" y="1681163"/>
            <a:ext cx="2915543"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el estilo de texto del patrón</a:t>
            </a:r>
          </a:p>
        </p:txBody>
      </p:sp>
      <p:sp>
        <p:nvSpPr>
          <p:cNvPr id="6" name="Content Placeholder 5"/>
          <p:cNvSpPr>
            <a:spLocks noGrp="1"/>
          </p:cNvSpPr>
          <p:nvPr>
            <p:ph sz="quarter" idx="4"/>
          </p:nvPr>
        </p:nvSpPr>
        <p:spPr>
          <a:xfrm>
            <a:off x="3471863" y="2505075"/>
            <a:ext cx="2915543"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09382926-025C-4492-A007-36A806BCA0F4}" type="datetimeFigureOut">
              <a:rPr lang="es-ES" smtClean="0"/>
              <a:t>07/09/2026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174672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09382926-025C-4492-A007-36A806BCA0F4}" type="datetimeFigureOut">
              <a:rPr lang="es-ES" smtClean="0"/>
              <a:t>07/09/2026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978876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382926-025C-4492-A007-36A806BCA0F4}" type="datetimeFigureOut">
              <a:rPr lang="es-ES" smtClean="0"/>
              <a:t>07/09/2026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6750348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457200"/>
            <a:ext cx="2211884" cy="1600200"/>
          </a:xfrm>
        </p:spPr>
        <p:txBody>
          <a:bodyPr anchor="b"/>
          <a:lstStyle>
            <a:lvl1pPr>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2915543" y="987427"/>
            <a:ext cx="3471863"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72381" y="2057400"/>
            <a:ext cx="2211884"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09382926-025C-4492-A007-36A806BCA0F4}" type="datetimeFigureOut">
              <a:rPr lang="es-ES" smtClean="0"/>
              <a:t>07/09/2026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614979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381" y="457200"/>
            <a:ext cx="2211884" cy="1600200"/>
          </a:xfrm>
        </p:spPr>
        <p:txBody>
          <a:bodyPr anchor="b"/>
          <a:lstStyle>
            <a:lvl1pPr>
              <a:defRPr sz="24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2915543" y="987427"/>
            <a:ext cx="3471863"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381" y="2057400"/>
            <a:ext cx="2211884"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el estilo de texto del patrón</a:t>
            </a:r>
          </a:p>
        </p:txBody>
      </p:sp>
      <p:sp>
        <p:nvSpPr>
          <p:cNvPr id="5" name="Date Placeholder 4"/>
          <p:cNvSpPr>
            <a:spLocks noGrp="1"/>
          </p:cNvSpPr>
          <p:nvPr>
            <p:ph type="dt" sz="half" idx="10"/>
          </p:nvPr>
        </p:nvSpPr>
        <p:spPr/>
        <p:txBody>
          <a:bodyPr/>
          <a:lstStyle/>
          <a:p>
            <a:fld id="{09382926-025C-4492-A007-36A806BCA0F4}" type="datetimeFigureOut">
              <a:rPr lang="es-ES" smtClean="0"/>
              <a:t>07/09/2026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81937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07/09/2026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13067382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6" y="365125"/>
            <a:ext cx="1478756"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471488" y="365125"/>
            <a:ext cx="4350544"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09382926-025C-4492-A007-36A806BCA0F4}" type="datetimeFigureOut">
              <a:rPr lang="es-ES" smtClean="0"/>
              <a:t>07/09/2026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ECAAC946-410E-4677-B1D6-226A086D226C}" type="slidenum">
              <a:rPr lang="es-ES" smtClean="0"/>
              <a:t>‹Nº›</a:t>
            </a:fld>
            <a:endParaRPr lang="es-ES"/>
          </a:p>
        </p:txBody>
      </p:sp>
    </p:spTree>
    <p:extLst>
      <p:ext uri="{BB962C8B-B14F-4D97-AF65-F5344CB8AC3E}">
        <p14:creationId xmlns:p14="http://schemas.microsoft.com/office/powerpoint/2010/main" val="3401391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ítulo y tabla">
    <p:spTree>
      <p:nvGrpSpPr>
        <p:cNvPr id="1" name=""/>
        <p:cNvGrpSpPr/>
        <p:nvPr/>
      </p:nvGrpSpPr>
      <p:grpSpPr>
        <a:xfrm>
          <a:off x="0" y="0"/>
          <a:ext cx="0" cy="0"/>
          <a:chOff x="0" y="0"/>
          <a:chExt cx="0" cy="0"/>
        </a:xfrm>
      </p:grpSpPr>
      <p:sp>
        <p:nvSpPr>
          <p:cNvPr id="2" name="1 Título"/>
          <p:cNvSpPr>
            <a:spLocks noGrp="1"/>
          </p:cNvSpPr>
          <p:nvPr>
            <p:ph type="title"/>
          </p:nvPr>
        </p:nvSpPr>
        <p:spPr>
          <a:xfrm>
            <a:off x="342900" y="457200"/>
            <a:ext cx="6172200" cy="1371600"/>
          </a:xfrm>
        </p:spPr>
        <p:txBody>
          <a:bodyPr/>
          <a:lstStyle/>
          <a:p>
            <a:r>
              <a:rPr lang="es-ES"/>
              <a:t>Haga clic para modificar el estilo de título del patrón</a:t>
            </a:r>
            <a:endParaRPr lang="es-CO"/>
          </a:p>
        </p:txBody>
      </p:sp>
      <p:sp>
        <p:nvSpPr>
          <p:cNvPr id="3" name="2 Marcador de tabla"/>
          <p:cNvSpPr>
            <a:spLocks noGrp="1"/>
          </p:cNvSpPr>
          <p:nvPr>
            <p:ph type="tbl" idx="1"/>
          </p:nvPr>
        </p:nvSpPr>
        <p:spPr>
          <a:xfrm>
            <a:off x="342900" y="1981200"/>
            <a:ext cx="6172200" cy="3886200"/>
          </a:xfrm>
        </p:spPr>
        <p:txBody>
          <a:bodyPr/>
          <a:lstStyle/>
          <a:p>
            <a:pPr lvl="0"/>
            <a:endParaRPr lang="es-CO" noProof="0"/>
          </a:p>
        </p:txBody>
      </p:sp>
      <p:sp>
        <p:nvSpPr>
          <p:cNvPr id="4" name="Rectangle 2"/>
          <p:cNvSpPr>
            <a:spLocks noGrp="1" noChangeArrowheads="1"/>
          </p:cNvSpPr>
          <p:nvPr>
            <p:ph type="ftr" sz="quarter" idx="10"/>
          </p:nvPr>
        </p:nvSpPr>
        <p:spPr/>
        <p:txBody>
          <a:bodyPr/>
          <a:lstStyle>
            <a:lvl1pPr>
              <a:defRPr/>
            </a:lvl1pPr>
          </a:lstStyle>
          <a:p>
            <a:pPr>
              <a:defRPr/>
            </a:pPr>
            <a:endParaRPr lang="es-ES"/>
          </a:p>
        </p:txBody>
      </p:sp>
      <p:sp>
        <p:nvSpPr>
          <p:cNvPr id="5" name="Rectangle 3"/>
          <p:cNvSpPr>
            <a:spLocks noGrp="1" noChangeArrowheads="1"/>
          </p:cNvSpPr>
          <p:nvPr>
            <p:ph type="sldNum" sz="quarter" idx="11"/>
          </p:nvPr>
        </p:nvSpPr>
        <p:spPr/>
        <p:txBody>
          <a:bodyPr/>
          <a:lstStyle>
            <a:lvl1pPr>
              <a:defRPr/>
            </a:lvl1pPr>
          </a:lstStyle>
          <a:p>
            <a:fld id="{6EBDAA59-A03D-4993-B64E-D61D3A3FED49}" type="slidenum">
              <a:rPr lang="es-ES"/>
              <a:pPr/>
              <a:t>‹Nº›</a:t>
            </a:fld>
            <a:endParaRPr lang="es-ES"/>
          </a:p>
        </p:txBody>
      </p:sp>
      <p:sp>
        <p:nvSpPr>
          <p:cNvPr id="6" name="Rectangle 16"/>
          <p:cNvSpPr>
            <a:spLocks noGrp="1" noChangeArrowheads="1"/>
          </p:cNvSpPr>
          <p:nvPr>
            <p:ph type="dt" sz="half" idx="12"/>
          </p:nvPr>
        </p:nvSpPr>
        <p:spPr/>
        <p:txBody>
          <a:bodyPr/>
          <a:lstStyle>
            <a:lvl1pPr>
              <a:defRPr>
                <a:latin typeface="Arial" charset="0"/>
                <a:ea typeface="ＭＳ Ｐゴシック" charset="0"/>
                <a:cs typeface="ＭＳ Ｐゴシック" charset="0"/>
              </a:defRPr>
            </a:lvl1pPr>
          </a:lstStyle>
          <a:p>
            <a:pPr>
              <a:defRPr/>
            </a:pPr>
            <a:endParaRPr lang="es-ES"/>
          </a:p>
        </p:txBody>
      </p:sp>
    </p:spTree>
    <p:extLst>
      <p:ext uri="{BB962C8B-B14F-4D97-AF65-F5344CB8AC3E}">
        <p14:creationId xmlns:p14="http://schemas.microsoft.com/office/powerpoint/2010/main" val="407227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35000" y="365127"/>
            <a:ext cx="78867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35000" y="1825625"/>
            <a:ext cx="78867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635000" y="6356352"/>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9382926-025C-4492-A007-36A806BCA0F4}" type="datetimeFigureOut">
              <a:rPr lang="es-ES" smtClean="0"/>
              <a:t>07/09/2026</a:t>
            </a:fld>
            <a:endParaRPr lang="es-ES"/>
          </a:p>
        </p:txBody>
      </p:sp>
      <p:sp>
        <p:nvSpPr>
          <p:cNvPr id="5" name="Footer Placeholder 4"/>
          <p:cNvSpPr>
            <a:spLocks noGrp="1"/>
          </p:cNvSpPr>
          <p:nvPr>
            <p:ph type="ftr" sz="quarter" idx="3"/>
          </p:nvPr>
        </p:nvSpPr>
        <p:spPr>
          <a:xfrm>
            <a:off x="3035300" y="6356352"/>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6464300" y="6356352"/>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CAAC946-410E-4677-B1D6-226A086D226C}" type="slidenum">
              <a:rPr lang="es-ES" smtClean="0"/>
              <a:t>‹Nº›</a:t>
            </a:fld>
            <a:endParaRPr lang="es-ES"/>
          </a:p>
        </p:txBody>
      </p:sp>
    </p:spTree>
    <p:extLst>
      <p:ext uri="{BB962C8B-B14F-4D97-AF65-F5344CB8AC3E}">
        <p14:creationId xmlns:p14="http://schemas.microsoft.com/office/powerpoint/2010/main" val="2281365920"/>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10.tmp"/><Relationship Id="rId3" Type="http://schemas.openxmlformats.org/officeDocument/2006/relationships/image" Target="../media/image5.tmp"/><Relationship Id="rId7" Type="http://schemas.openxmlformats.org/officeDocument/2006/relationships/image" Target="../media/image9.tmp"/><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tmp"/><Relationship Id="rId5" Type="http://schemas.openxmlformats.org/officeDocument/2006/relationships/image" Target="../media/image7.tmp"/><Relationship Id="rId10" Type="http://schemas.openxmlformats.org/officeDocument/2006/relationships/image" Target="../media/image12.png"/><Relationship Id="rId4" Type="http://schemas.openxmlformats.org/officeDocument/2006/relationships/image" Target="../media/image6.tmp"/><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www.youtube.com/watch?v=a0PuJ6tmjtg" TargetMode="External"/><Relationship Id="rId2" Type="http://schemas.openxmlformats.org/officeDocument/2006/relationships/hyperlink" Target="https://www.youtube.com/watch?v=YpI62uNSNXw"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www.youtube.com/watch?v=TW7LeCcIIuU" TargetMode="External"/><Relationship Id="rId2" Type="http://schemas.openxmlformats.org/officeDocument/2006/relationships/hyperlink" Target="https://www.youtube.com/watch?v=Kmek23ubrH0"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datosmacro.expansion.com/prima-riesgo/colombia" TargetMode="External"/><Relationship Id="rId2" Type="http://schemas.openxmlformats.org/officeDocument/2006/relationships/hyperlink" Target="https://www.ambito.com/contenidos/mercados.html" TargetMode="Externa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44.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2.tmp"/><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50.tmp"/><Relationship Id="rId2" Type="http://schemas.openxmlformats.org/officeDocument/2006/relationships/hyperlink" Target="https://www.youtube.com/watch?v=y97rBdSYbkg" TargetMode="External"/><Relationship Id="rId1" Type="http://schemas.openxmlformats.org/officeDocument/2006/relationships/slideLayout" Target="../slideLayouts/slideLayout2.xml"/><Relationship Id="rId4" Type="http://schemas.openxmlformats.org/officeDocument/2006/relationships/image" Target="../media/image51.tmp"/></Relationships>
</file>

<file path=ppt/slides/_rels/slide8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53.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image" Target="../media/image55.gif"/><Relationship Id="rId1" Type="http://schemas.openxmlformats.org/officeDocument/2006/relationships/slideLayout" Target="../slideLayouts/slideLayout7.xml"/><Relationship Id="rId4" Type="http://schemas.openxmlformats.org/officeDocument/2006/relationships/image" Target="../media/image57.gif"/></Relationships>
</file>

<file path=ppt/slides/_rels/slide93.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62.jp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image" Target="../media/image63.jp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image" Target="../media/image65.jpg"/><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67.jp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68.jp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69.jp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image" Target="../media/image70.jp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72.jp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76.jp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77.jp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79.jp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120.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92.gif"/></Relationships>
</file>

<file path=ppt/slides/_rels/slide12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 Id="rId4" Type="http://schemas.openxmlformats.org/officeDocument/2006/relationships/image" Target="../media/image95.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8" Type="http://schemas.openxmlformats.org/officeDocument/2006/relationships/image" Target="../media/image102.tmp"/><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image" Target="../media/image96.png"/><Relationship Id="rId1" Type="http://schemas.openxmlformats.org/officeDocument/2006/relationships/slideLayout" Target="../slideLayouts/slideLayout2.xml"/><Relationship Id="rId6" Type="http://schemas.openxmlformats.org/officeDocument/2006/relationships/image" Target="../media/image100.png"/><Relationship Id="rId5" Type="http://schemas.openxmlformats.org/officeDocument/2006/relationships/image" Target="../media/image99.png"/><Relationship Id="rId10" Type="http://schemas.openxmlformats.org/officeDocument/2006/relationships/image" Target="../media/image104.png"/><Relationship Id="rId4" Type="http://schemas.openxmlformats.org/officeDocument/2006/relationships/image" Target="../media/image98.png"/><Relationship Id="rId9" Type="http://schemas.openxmlformats.org/officeDocument/2006/relationships/image" Target="../media/image103.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 Id="rId4" Type="http://schemas.openxmlformats.org/officeDocument/2006/relationships/image" Target="../media/image120.png"/></Relationships>
</file>

<file path=ppt/slides/_rels/slide15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158.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159.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 Id="rId4" Type="http://schemas.openxmlformats.org/officeDocument/2006/relationships/image" Target="../media/image13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33.tmp"/><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34.tmp"/><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135.tmp"/><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2"/>
          <p:cNvSpPr txBox="1">
            <a:spLocks noChangeArrowheads="1"/>
          </p:cNvSpPr>
          <p:nvPr/>
        </p:nvSpPr>
        <p:spPr>
          <a:xfrm>
            <a:off x="762000" y="1320800"/>
            <a:ext cx="7620000" cy="660400"/>
          </a:xfrm>
          <a:prstGeom prst="rect">
            <a:avLst/>
          </a:prstGeom>
          <a:noFill/>
          <a:ln>
            <a:noFill/>
          </a:ln>
        </p:spPr>
        <p:txBody>
          <a:bodyPr wrap="square"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l"/>
            <a:r>
              <a:rPr lang="es-ES" sz="3600" b="1" dirty="0">
                <a:solidFill>
                  <a:srgbClr val="FFFFFF"/>
                </a:solidFill>
                <a:latin typeface="Calibri"/>
                <a:ea typeface="Calibri"/>
                <a:cs typeface="Calibri"/>
              </a:rPr>
              <a:t>Asignatura: Riesgo en proyectos</a:t>
            </a:r>
          </a:p>
        </p:txBody>
      </p:sp>
      <p:pic>
        <p:nvPicPr>
          <p:cNvPr id="3" name="Imagen 2"/>
          <p:cNvPicPr>
            <a:picLocks noChangeAspect="1"/>
          </p:cNvPicPr>
          <p:nvPr/>
        </p:nvPicPr>
        <p:blipFill>
          <a:blip r:embed="rId3"/>
          <a:stretch>
            <a:fillRect/>
          </a:stretch>
        </p:blipFill>
        <p:spPr>
          <a:xfrm>
            <a:off x="2431169" y="3951143"/>
            <a:ext cx="4281661" cy="1535257"/>
          </a:xfrm>
          <a:prstGeom prst="rect">
            <a:avLst/>
          </a:prstGeom>
          <a:effectLst>
            <a:reflection stA="0" endPos="90000" dir="5400000" sy="-100000" algn="bl" rotWithShape="0"/>
            <a:softEdge rad="317500"/>
          </a:effectLst>
        </p:spPr>
      </p:pic>
      <p:sp>
        <p:nvSpPr>
          <p:cNvPr id="5" name="Rectángulo 4">
            <a:extLst>
              <a:ext uri="{FF2B5EF4-FFF2-40B4-BE49-F238E27FC236}">
                <a16:creationId xmlns:a16="http://schemas.microsoft.com/office/drawing/2014/main" id="{84629E28-D38A-462A-BC5E-2ED6F69888B0}"/>
              </a:ext>
            </a:extLst>
          </p:cNvPr>
          <p:cNvSpPr/>
          <p:nvPr/>
        </p:nvSpPr>
        <p:spPr>
          <a:xfrm>
            <a:off x="762000" y="2463800"/>
            <a:ext cx="1219200" cy="50800"/>
          </a:xfrm>
          <a:prstGeom prst="rect">
            <a:avLst/>
          </a:prstGeom>
          <a:solidFill>
            <a:srgbClr val="1CA3DE"/>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23574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457200" y="304800"/>
            <a:ext cx="8229600" cy="533400"/>
          </a:xfrm>
          <a:prstGeom prst="rect">
            <a:avLst/>
          </a:prstGeom>
          <a:noFill/>
          <a:ln>
            <a:noFill/>
          </a:ln>
        </p:spPr>
        <p:txBody>
          <a:bodyPr vert="horz" wrap="square" lIns="91440" tIns="45720" rIns="91440" bIns="4572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s-CO" sz="3000" b="1">
                <a:solidFill>
                  <a:srgbClr val="1F3864"/>
                </a:solidFill>
                <a:latin typeface="Calibri"/>
                <a:ea typeface="Calibri"/>
                <a:cs typeface="Calibri"/>
              </a:rPr>
              <a:t>Elkin A. Gómez S.</a:t>
            </a:r>
            <a:endParaRPr lang="es-CO" sz="3000" b="1" dirty="0">
              <a:solidFill>
                <a:srgbClr val="1F3864"/>
              </a:solidFill>
              <a:latin typeface="Calibri"/>
              <a:ea typeface="Calibri"/>
              <a:cs typeface="Calibri"/>
            </a:endParaRPr>
          </a:p>
        </p:txBody>
      </p:sp>
      <p:sp>
        <p:nvSpPr>
          <p:cNvPr id="5" name="2 Marcador de contenido"/>
          <p:cNvSpPr txBox="1">
            <a:spLocks/>
          </p:cNvSpPr>
          <p:nvPr/>
        </p:nvSpPr>
        <p:spPr>
          <a:xfrm>
            <a:off x="457200" y="1168400"/>
            <a:ext cx="5511800" cy="2006600"/>
          </a:xfrm>
          <a:prstGeom prst="rect">
            <a:avLst/>
          </a:prstGeom>
          <a:solidFill>
            <a:srgbClr val="F2F5F9"/>
          </a:solidFill>
          <a:ln>
            <a:noFill/>
          </a:ln>
        </p:spPr>
        <p:txBody>
          <a:bodyPr vert="horz" wrap="square"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1800" dirty="0">
                <a:solidFill>
                  <a:srgbClr val="404040"/>
                </a:solidFill>
                <a:latin typeface="Calibri"/>
                <a:ea typeface="Calibri"/>
                <a:cs typeface="Calibri"/>
              </a:rPr>
              <a:t>Doctor en Ciencias Económicas y Administrativas. Magíster en Gerencia de Proyectos y en Administración. Master in Project Management. Especialista en Estadística y en Evaluación Socioeconómica de Proyectos. Economista. Certificado CQRM en gestión cuantitativa de riesgo (IIPER).</a:t>
            </a:r>
            <a:endParaRPr lang="es-CO" sz="1800" dirty="0">
              <a:solidFill>
                <a:srgbClr val="404040"/>
              </a:solidFill>
              <a:latin typeface="Calibri"/>
              <a:ea typeface="Calibri"/>
              <a:cs typeface="Calibri"/>
            </a:endParaRPr>
          </a:p>
        </p:txBody>
      </p:sp>
      <p:pic>
        <p:nvPicPr>
          <p:cNvPr id="2" name="Imagen 1" descr="Recorte de pantalla"/>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25553" y="3581401"/>
            <a:ext cx="711199" cy="358862"/>
          </a:xfrm>
          <a:prstGeom prst="rect">
            <a:avLst/>
          </a:prstGeom>
        </p:spPr>
      </p:pic>
      <p:pic>
        <p:nvPicPr>
          <p:cNvPr id="3" name="Imagen 2" descr="Recorte de pantall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38353" y="3581401"/>
            <a:ext cx="711200" cy="699347"/>
          </a:xfrm>
          <a:prstGeom prst="rect">
            <a:avLst/>
          </a:prstGeom>
        </p:spPr>
      </p:pic>
      <p:pic>
        <p:nvPicPr>
          <p:cNvPr id="8" name="Imagen 7" descr="Recorte de pantalla"/>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2753" y="1651001"/>
            <a:ext cx="711199" cy="492369"/>
          </a:xfrm>
          <a:prstGeom prst="rect">
            <a:avLst/>
          </a:prstGeom>
        </p:spPr>
      </p:pic>
      <p:pic>
        <p:nvPicPr>
          <p:cNvPr id="9" name="Imagen 8" descr="Recorte de pantalla"/>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25553" y="1651001"/>
            <a:ext cx="711200" cy="303505"/>
          </a:xfrm>
          <a:prstGeom prst="rect">
            <a:avLst/>
          </a:prstGeom>
        </p:spPr>
      </p:pic>
      <p:pic>
        <p:nvPicPr>
          <p:cNvPr id="10" name="Imagen 9" descr="Recorte de pantalla"/>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38353" y="1651001"/>
            <a:ext cx="695959" cy="711200"/>
          </a:xfrm>
          <a:prstGeom prst="rect">
            <a:avLst/>
          </a:prstGeom>
        </p:spPr>
      </p:pic>
      <p:pic>
        <p:nvPicPr>
          <p:cNvPr id="12" name="Imagen 11" descr="Recorte de pantalla"/>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12753" y="2616201"/>
            <a:ext cx="711200" cy="656491"/>
          </a:xfrm>
          <a:prstGeom prst="rect">
            <a:avLst/>
          </a:prstGeom>
        </p:spPr>
      </p:pic>
      <p:pic>
        <p:nvPicPr>
          <p:cNvPr id="13" name="Imagen 12" descr="Recorte de pantalla"/>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225553" y="2616201"/>
            <a:ext cx="530243" cy="711199"/>
          </a:xfrm>
          <a:prstGeom prst="rect">
            <a:avLst/>
          </a:prstGeom>
        </p:spPr>
      </p:pic>
      <p:pic>
        <p:nvPicPr>
          <p:cNvPr id="14" name="Imagen 13" descr="Recorte de pantalla"/>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038353" y="2616201"/>
            <a:ext cx="465444" cy="711200"/>
          </a:xfrm>
          <a:prstGeom prst="rect">
            <a:avLst/>
          </a:prstGeom>
        </p:spPr>
      </p:pic>
      <p:pic>
        <p:nvPicPr>
          <p:cNvPr id="11" name="Imagen 10">
            <a:extLst>
              <a:ext uri="{FF2B5EF4-FFF2-40B4-BE49-F238E27FC236}">
                <a16:creationId xmlns:a16="http://schemas.microsoft.com/office/drawing/2014/main" id="{EE81E88A-BEC8-49B0-8524-83CC424F0BFE}"/>
              </a:ext>
            </a:extLst>
          </p:cNvPr>
          <p:cNvPicPr>
            <a:picLocks noChangeAspect="1"/>
          </p:cNvPicPr>
          <p:nvPr/>
        </p:nvPicPr>
        <p:blipFill>
          <a:blip r:embed="rId10"/>
          <a:stretch>
            <a:fillRect/>
          </a:stretch>
        </p:blipFill>
        <p:spPr>
          <a:xfrm>
            <a:off x="6412753" y="3581401"/>
            <a:ext cx="533399" cy="711200"/>
          </a:xfrm>
          <a:prstGeom prst="rect">
            <a:avLst/>
          </a:prstGeom>
        </p:spPr>
      </p:pic>
      <p:sp>
        <p:nvSpPr>
          <p:cNvPr id="6" name="Rectángulo 5">
            <a:extLst>
              <a:ext uri="{FF2B5EF4-FFF2-40B4-BE49-F238E27FC236}">
                <a16:creationId xmlns:a16="http://schemas.microsoft.com/office/drawing/2014/main" id="{D3A8C989-8BF0-422F-ACE1-13BC1E12EFDF}"/>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24E06581-0A46-48DB-AF46-70442DF9CB7C}"/>
              </a:ext>
            </a:extLst>
          </p:cNvPr>
          <p:cNvSpPr/>
          <p:nvPr/>
        </p:nvSpPr>
        <p:spPr>
          <a:xfrm>
            <a:off x="457200" y="3327400"/>
            <a:ext cx="5511800" cy="2260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600" dirty="0">
                <a:solidFill>
                  <a:srgbClr val="404040"/>
                </a:solidFill>
                <a:latin typeface="Calibri"/>
                <a:ea typeface="Calibri"/>
                <a:cs typeface="Calibri"/>
              </a:rPr>
              <a:t>Profesor de tiempo completo en el área Gestión de la Información y riesgos de EAFIT en pregrado, posgrado y educación continua. Coautor de  libros sobre análisis de riesgo, evaluación financiera y gestión de proyectos. Consultor en proyectos, finanzas corporativas y análisis de riesgo, con experiencia en el sector eléctrico: ISA, ISAGEN y DINATEG.</a:t>
            </a:r>
          </a:p>
          <a:p>
            <a:pPr algn="l"/>
            <a:r>
              <a:rPr lang="es-ES" sz="1600" dirty="0">
                <a:solidFill>
                  <a:srgbClr val="404040"/>
                </a:solidFill>
                <a:latin typeface="Calibri"/>
                <a:ea typeface="Calibri"/>
                <a:cs typeface="Calibri"/>
              </a:rPr>
              <a:t>Jefe de la maestría en agronegocios</a:t>
            </a:r>
          </a:p>
          <a:p>
            <a:pPr algn="l"/>
            <a:r>
              <a:rPr lang="es-ES" sz="1600" dirty="0">
                <a:solidFill>
                  <a:srgbClr val="404040"/>
                </a:solidFill>
                <a:latin typeface="Calibri"/>
                <a:ea typeface="Calibri"/>
                <a:cs typeface="Calibri"/>
              </a:rPr>
              <a:t>Jefe de la especialización en agilidad empresarial</a:t>
            </a:r>
          </a:p>
          <a:p>
            <a:pPr algn="l"/>
            <a:r>
              <a:rPr lang="es-ES" sz="1600" dirty="0">
                <a:solidFill>
                  <a:srgbClr val="404040"/>
                </a:solidFill>
                <a:latin typeface="Calibri"/>
                <a:ea typeface="Calibri"/>
                <a:cs typeface="Calibri"/>
              </a:rPr>
              <a:t>Gerente del centro de agronegocios Universidad EAFIT</a:t>
            </a:r>
            <a:endParaRPr lang="es-CO" sz="1600" dirty="0">
              <a:solidFill>
                <a:srgbClr val="404040"/>
              </a:solidFill>
              <a:latin typeface="Calibri"/>
              <a:ea typeface="Calibri"/>
              <a:cs typeface="Calibri"/>
            </a:endParaRPr>
          </a:p>
        </p:txBody>
      </p:sp>
    </p:spTree>
    <p:extLst>
      <p:ext uri="{BB962C8B-B14F-4D97-AF65-F5344CB8AC3E}">
        <p14:creationId xmlns:p14="http://schemas.microsoft.com/office/powerpoint/2010/main" val="587786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57200" y="1168400"/>
            <a:ext cx="8229600" cy="762000"/>
          </a:xfrm>
          <a:prstGeom prst="rect">
            <a:avLst/>
          </a:prstGeom>
          <a:solidFill>
            <a:srgbClr val="1F3864"/>
          </a:solidFill>
          <a:ln>
            <a:noFill/>
          </a:ln>
        </p:spPr>
        <p:txBody>
          <a:bodyPr wrap="square" rtlCol="0" anchor="ctr" anchorCtr="0">
            <a:noAutofit/>
          </a:bodyPr>
          <a:lstStyle/>
          <a:p>
            <a:pPr eaLnBrk="0" hangingPunct="0">
              <a:lnSpc>
                <a:spcPct val="150000"/>
              </a:lnSpc>
              <a:spcBef>
                <a:spcPct val="20000"/>
              </a:spcBef>
              <a:buClr>
                <a:schemeClr val="bg2"/>
              </a:buClr>
              <a:buSzPct val="75000"/>
            </a:pPr>
            <a:r>
              <a:rPr lang="es-ES" sz="1600" b="1">
                <a:solidFill>
                  <a:srgbClr val="FFFFFF"/>
                </a:solidFill>
                <a:latin typeface="Calibri"/>
                <a:ea typeface="Calibri"/>
                <a:cs typeface="Calibri"/>
              </a:rPr>
              <a:t>El análisis de riesgo acompaña todo el proyecto: desde la preparación y evaluación hasta la gestión.</a:t>
            </a:r>
            <a:endParaRPr lang="es-ES" sz="1600" b="1" dirty="0">
              <a:solidFill>
                <a:srgbClr val="FFFFFF"/>
              </a:solidFill>
              <a:latin typeface="Calibri"/>
              <a:ea typeface="Calibri"/>
              <a:cs typeface="Calibri"/>
            </a:endParaRPr>
          </a:p>
        </p:txBody>
      </p:sp>
      <p:sp>
        <p:nvSpPr>
          <p:cNvPr id="3" name="CuadroTexto 2"/>
          <p:cNvSpPr txBox="1"/>
          <p:nvPr/>
        </p:nvSpPr>
        <p:spPr>
          <a:xfrm>
            <a:off x="457200" y="304800"/>
            <a:ext cx="8229600" cy="533400"/>
          </a:xfrm>
          <a:prstGeom prst="rect">
            <a:avLst/>
          </a:prstGeom>
          <a:noFill/>
          <a:ln>
            <a:noFill/>
          </a:ln>
        </p:spPr>
        <p:txBody>
          <a:bodyPr wrap="square" rtlCol="0" anchor="t" anchorCtr="0">
            <a:noAutofit/>
          </a:bodyPr>
          <a:lstStyle/>
          <a:p>
            <a:pPr algn="l"/>
            <a:r>
              <a:rPr lang="es-MX" sz="3000" b="1">
                <a:solidFill>
                  <a:srgbClr val="1F3864"/>
                </a:solidFill>
                <a:latin typeface="Calibri"/>
                <a:ea typeface="Calibri"/>
                <a:cs typeface="Calibri"/>
              </a:rPr>
              <a:t>Conceptos de proyectos</a:t>
            </a:r>
            <a:endParaRPr lang="es-ES" sz="3000" b="1" dirty="0">
              <a:solidFill>
                <a:srgbClr val="1F3864"/>
              </a:solidFill>
              <a:latin typeface="Calibri"/>
              <a:ea typeface="Calibri"/>
              <a:cs typeface="Calibri"/>
            </a:endParaRPr>
          </a:p>
        </p:txBody>
      </p:sp>
      <p:pic>
        <p:nvPicPr>
          <p:cNvPr id="4" name="Picture 8" descr="Resultado de imagen para proyec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3454400"/>
            <a:ext cx="4572000" cy="212090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3F73931A-58C3-4939-BED6-7FD1F7C88930}"/>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0A9A08AE-ED13-4349-8D68-7CF696095AD4}"/>
              </a:ext>
            </a:extLst>
          </p:cNvPr>
          <p:cNvSpPr/>
          <p:nvPr/>
        </p:nvSpPr>
        <p:spPr>
          <a:xfrm>
            <a:off x="457200" y="2133600"/>
            <a:ext cx="1549400" cy="939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300" b="1">
                <a:solidFill>
                  <a:srgbClr val="1F3864"/>
                </a:solidFill>
                <a:latin typeface="Calibri"/>
                <a:ea typeface="Calibri"/>
                <a:cs typeface="Calibri"/>
              </a:rPr>
              <a:t>Necesidad de la empresa</a:t>
            </a:r>
          </a:p>
        </p:txBody>
      </p:sp>
      <p:sp>
        <p:nvSpPr>
          <p:cNvPr id="7" name="Rectángulo 6">
            <a:extLst>
              <a:ext uri="{FF2B5EF4-FFF2-40B4-BE49-F238E27FC236}">
                <a16:creationId xmlns:a16="http://schemas.microsoft.com/office/drawing/2014/main" id="{20DEB2B7-3E05-4C9F-9F68-11E20CF2667E}"/>
              </a:ext>
            </a:extLst>
          </p:cNvPr>
          <p:cNvSpPr/>
          <p:nvPr/>
        </p:nvSpPr>
        <p:spPr>
          <a:xfrm>
            <a:off x="2108200" y="2133600"/>
            <a:ext cx="1549400" cy="939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300" b="1">
                <a:solidFill>
                  <a:srgbClr val="1F3864"/>
                </a:solidFill>
                <a:latin typeface="Calibri"/>
                <a:ea typeface="Calibri"/>
                <a:cs typeface="Calibri"/>
              </a:rPr>
              <a:t>Una idea</a:t>
            </a:r>
          </a:p>
        </p:txBody>
      </p:sp>
      <p:sp>
        <p:nvSpPr>
          <p:cNvPr id="8" name="Rectángulo 7">
            <a:extLst>
              <a:ext uri="{FF2B5EF4-FFF2-40B4-BE49-F238E27FC236}">
                <a16:creationId xmlns:a16="http://schemas.microsoft.com/office/drawing/2014/main" id="{4A1573E1-3A47-42C9-A58A-600AEDC94471}"/>
              </a:ext>
            </a:extLst>
          </p:cNvPr>
          <p:cNvSpPr/>
          <p:nvPr/>
        </p:nvSpPr>
        <p:spPr>
          <a:xfrm>
            <a:off x="3759200" y="2133600"/>
            <a:ext cx="1549400" cy="939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300" b="1">
                <a:solidFill>
                  <a:srgbClr val="1F3864"/>
                </a:solidFill>
                <a:latin typeface="Calibri"/>
                <a:ea typeface="Calibri"/>
                <a:cs typeface="Calibri"/>
              </a:rPr>
              <a:t>Una oportunidad</a:t>
            </a:r>
          </a:p>
        </p:txBody>
      </p:sp>
      <p:sp>
        <p:nvSpPr>
          <p:cNvPr id="9" name="Rectángulo 8">
            <a:extLst>
              <a:ext uri="{FF2B5EF4-FFF2-40B4-BE49-F238E27FC236}">
                <a16:creationId xmlns:a16="http://schemas.microsoft.com/office/drawing/2014/main" id="{16F3AD4A-4EF8-4CDD-8F76-0E1C461B08FE}"/>
              </a:ext>
            </a:extLst>
          </p:cNvPr>
          <p:cNvSpPr/>
          <p:nvPr/>
        </p:nvSpPr>
        <p:spPr>
          <a:xfrm>
            <a:off x="5410200" y="2133600"/>
            <a:ext cx="1549400" cy="939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300" b="1">
                <a:solidFill>
                  <a:srgbClr val="1F3864"/>
                </a:solidFill>
                <a:latin typeface="Calibri"/>
                <a:ea typeface="Calibri"/>
                <a:cs typeface="Calibri"/>
              </a:rPr>
              <a:t>Un problema</a:t>
            </a:r>
          </a:p>
        </p:txBody>
      </p:sp>
      <p:sp>
        <p:nvSpPr>
          <p:cNvPr id="10" name="Rectángulo 9">
            <a:extLst>
              <a:ext uri="{FF2B5EF4-FFF2-40B4-BE49-F238E27FC236}">
                <a16:creationId xmlns:a16="http://schemas.microsoft.com/office/drawing/2014/main" id="{4A751A91-C1D9-4C51-A521-CE5D58AFD951}"/>
              </a:ext>
            </a:extLst>
          </p:cNvPr>
          <p:cNvSpPr/>
          <p:nvPr/>
        </p:nvSpPr>
        <p:spPr>
          <a:xfrm>
            <a:off x="7061200" y="2133600"/>
            <a:ext cx="1549400" cy="939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300" b="1">
                <a:solidFill>
                  <a:srgbClr val="1F3864"/>
                </a:solidFill>
                <a:latin typeface="Calibri"/>
                <a:ea typeface="Calibri"/>
                <a:cs typeface="Calibri"/>
              </a:rPr>
              <a:t>Una obligación</a:t>
            </a:r>
          </a:p>
        </p:txBody>
      </p:sp>
      <p:sp>
        <p:nvSpPr>
          <p:cNvPr id="11" name="CuadroTexto 10">
            <a:extLst>
              <a:ext uri="{FF2B5EF4-FFF2-40B4-BE49-F238E27FC236}">
                <a16:creationId xmlns:a16="http://schemas.microsoft.com/office/drawing/2014/main" id="{EAD82F29-410E-4C64-A75F-65E8D4140FD2}"/>
              </a:ext>
            </a:extLst>
          </p:cNvPr>
          <p:cNvSpPr txBox="1"/>
          <p:nvPr/>
        </p:nvSpPr>
        <p:spPr>
          <a:xfrm>
            <a:off x="457200" y="3124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Las cinco dimensiones que originan un proyecto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0060391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57200" y="1168400"/>
            <a:ext cx="8229600" cy="736600"/>
          </a:xfrm>
          <a:prstGeom prst="rect">
            <a:avLst/>
          </a:prstGeom>
          <a:solidFill>
            <a:srgbClr val="F2F5F9"/>
          </a:solidFill>
          <a:ln>
            <a:noFill/>
          </a:ln>
        </p:spPr>
        <p:txBody>
          <a:bodyPr wrap="square" rtlCol="0" anchor="t" anchorCtr="0">
            <a:noAutofit/>
          </a:bodyPr>
          <a:lstStyle/>
          <a:p>
            <a:pPr eaLnBrk="0" hangingPunct="0">
              <a:lnSpc>
                <a:spcPct val="150000"/>
              </a:lnSpc>
              <a:spcBef>
                <a:spcPct val="20000"/>
              </a:spcBef>
              <a:buClr>
                <a:schemeClr val="bg2"/>
              </a:buClr>
              <a:buSzPct val="75000"/>
            </a:pPr>
            <a:r>
              <a:rPr lang="es-ES" sz="1400">
                <a:solidFill>
                  <a:srgbClr val="404040"/>
                </a:solidFill>
                <a:latin typeface="Calibri"/>
                <a:ea typeface="Calibri"/>
                <a:cs typeface="Calibri"/>
              </a:rPr>
              <a:t>Tras la globalización se unificó una metodología internacional para preparar y evaluar proyectos.</a:t>
            </a:r>
            <a:endParaRPr lang="es-ES" sz="1400" dirty="0">
              <a:solidFill>
                <a:srgbClr val="404040"/>
              </a:solidFill>
              <a:latin typeface="Calibri"/>
              <a:ea typeface="Calibri"/>
              <a:cs typeface="Calibri"/>
            </a:endParaRPr>
          </a:p>
        </p:txBody>
      </p:sp>
      <p:sp>
        <p:nvSpPr>
          <p:cNvPr id="3" name="CuadroTexto 2"/>
          <p:cNvSpPr txBox="1"/>
          <p:nvPr/>
        </p:nvSpPr>
        <p:spPr>
          <a:xfrm>
            <a:off x="457200" y="304800"/>
            <a:ext cx="8229600" cy="533400"/>
          </a:xfrm>
          <a:prstGeom prst="rect">
            <a:avLst/>
          </a:prstGeom>
          <a:noFill/>
          <a:ln>
            <a:noFill/>
          </a:ln>
        </p:spPr>
        <p:txBody>
          <a:bodyPr wrap="square" rtlCol="0" anchor="t" anchorCtr="0">
            <a:noAutofit/>
          </a:bodyPr>
          <a:lstStyle/>
          <a:p>
            <a:pPr algn="l"/>
            <a:r>
              <a:rPr lang="es-MX" sz="3000" b="1">
                <a:solidFill>
                  <a:srgbClr val="1F3864"/>
                </a:solidFill>
                <a:latin typeface="Calibri"/>
                <a:ea typeface="Calibri"/>
                <a:cs typeface="Calibri"/>
              </a:rPr>
              <a:t>Metodologías para preparar proyectos</a:t>
            </a:r>
            <a:endParaRPr lang="es-ES" sz="3000" b="1" dirty="0">
              <a:solidFill>
                <a:srgbClr val="1F3864"/>
              </a:solidFill>
              <a:latin typeface="Calibri"/>
              <a:ea typeface="Calibri"/>
              <a:cs typeface="Calibri"/>
            </a:endParaRPr>
          </a:p>
        </p:txBody>
      </p:sp>
      <p:pic>
        <p:nvPicPr>
          <p:cNvPr id="63490" name="Picture 2" descr="Resultado de imagen para proyec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5700" y="2057400"/>
            <a:ext cx="4279900" cy="259080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0EC22C01-0284-4A23-B825-0961D5866828}"/>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DAABE826-B093-4EA7-813C-E89952A7CADB}"/>
              </a:ext>
            </a:extLst>
          </p:cNvPr>
          <p:cNvSpPr txBox="1"/>
          <p:nvPr/>
        </p:nvSpPr>
        <p:spPr>
          <a:xfrm>
            <a:off x="2425700" y="4699000"/>
            <a:ext cx="42799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Metodologías de preparación y evaluación de proyectos</a:t>
            </a:r>
            <a:endParaRPr lang="es-CO" sz="1100">
              <a:solidFill>
                <a:srgbClr val="7F7F7F"/>
              </a:solidFill>
              <a:latin typeface="Calibri"/>
              <a:ea typeface="Calibri"/>
              <a:cs typeface="Calibri"/>
            </a:endParaRPr>
          </a:p>
        </p:txBody>
      </p:sp>
      <p:sp>
        <p:nvSpPr>
          <p:cNvPr id="6" name="Rectángulo 5">
            <a:extLst>
              <a:ext uri="{FF2B5EF4-FFF2-40B4-BE49-F238E27FC236}">
                <a16:creationId xmlns:a16="http://schemas.microsoft.com/office/drawing/2014/main" id="{BB77F708-F144-4F09-9240-4CE81511722F}"/>
              </a:ext>
            </a:extLst>
          </p:cNvPr>
          <p:cNvSpPr/>
          <p:nvPr/>
        </p:nvSpPr>
        <p:spPr>
          <a:xfrm>
            <a:off x="457200" y="5029200"/>
            <a:ext cx="8229600" cy="558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b="1">
                <a:solidFill>
                  <a:srgbClr val="FFFFFF"/>
                </a:solidFill>
                <a:latin typeface="Calibri"/>
                <a:ea typeface="Calibri"/>
                <a:cs typeface="Calibri"/>
              </a:rPr>
              <a:t>Enfoque del curso: metodología ONUDI</a:t>
            </a:r>
            <a:endParaRPr lang="es-CO" b="1">
              <a:solidFill>
                <a:srgbClr val="FFFFFF"/>
              </a:solidFill>
              <a:latin typeface="Calibri"/>
              <a:ea typeface="Calibri"/>
              <a:cs typeface="Calibri"/>
            </a:endParaRPr>
          </a:p>
        </p:txBody>
      </p:sp>
    </p:spTree>
    <p:extLst>
      <p:ext uri="{BB962C8B-B14F-4D97-AF65-F5344CB8AC3E}">
        <p14:creationId xmlns:p14="http://schemas.microsoft.com/office/powerpoint/2010/main" val="111502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457200" y="3048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s-ES" altLang="es-CO" sz="3000" b="1">
                <a:solidFill>
                  <a:srgbClr val="1F3864"/>
                </a:solidFill>
                <a:latin typeface="Calibri"/>
                <a:ea typeface="Calibri"/>
                <a:cs typeface="Calibri"/>
              </a:rPr>
              <a:t>Metodologías de preparación de proyectos</a:t>
            </a:r>
            <a:endParaRPr lang="es-CO" altLang="es-CO" sz="3000" b="1" dirty="0">
              <a:solidFill>
                <a:srgbClr val="1F3864"/>
              </a:solidFill>
              <a:latin typeface="Calibri"/>
              <a:ea typeface="Calibri"/>
              <a:cs typeface="Calibri"/>
            </a:endParaRPr>
          </a:p>
        </p:txBody>
      </p:sp>
      <p:sp>
        <p:nvSpPr>
          <p:cNvPr id="2" name="Rectángulo 1">
            <a:extLst>
              <a:ext uri="{FF2B5EF4-FFF2-40B4-BE49-F238E27FC236}">
                <a16:creationId xmlns:a16="http://schemas.microsoft.com/office/drawing/2014/main" id="{70463930-E2E3-4D07-9313-9473A606CCBF}"/>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81B7A275-943C-4F44-9F1B-3090430BBE45}"/>
              </a:ext>
            </a:extLst>
          </p:cNvPr>
          <p:cNvSpPr txBox="1"/>
          <p:nvPr/>
        </p:nvSpPr>
        <p:spPr>
          <a:xfrm>
            <a:off x="482600" y="5410200"/>
            <a:ext cx="81788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Metodologías de preparación de proyectos según organismo y alcance</a:t>
            </a:r>
            <a:endParaRPr lang="es-CO" sz="1100">
              <a:solidFill>
                <a:srgbClr val="7F7F7F"/>
              </a:solidFill>
              <a:latin typeface="Calibri"/>
              <a:ea typeface="Calibri"/>
              <a:cs typeface="Calibri"/>
            </a:endParaRPr>
          </a:p>
        </p:txBody>
      </p:sp>
      <p:sp>
        <p:nvSpPr>
          <p:cNvPr id="5" name="Título de tabla editable"/>
          <p:cNvSpPr txBox="1"/>
          <p:nvPr/>
        </p:nvSpPr>
        <p:spPr>
          <a:xfrm>
            <a:off x="484632" y="1115568"/>
            <a:ext cx="8174736" cy="219456"/>
          </a:xfrm>
          <a:prstGeom prst="rect">
            <a:avLst/>
          </a:prstGeom>
          <a:noFill/>
        </p:spPr>
        <p:txBody>
          <a:bodyPr wrap="square" lIns="0" rIns="0">
            <a:spAutoFit/>
          </a:bodyPr>
          <a:lstStyle/>
          <a:p>
            <a:pPr algn="ctr"/>
            <a:r>
              <a:rPr sz="1200" b="1">
                <a:solidFill>
                  <a:srgbClr val="1F3864"/>
                </a:solidFill>
                <a:latin typeface="Calibri"/>
              </a:rPr>
              <a:t>Cuadro comparativo de metodologías de preparación de proyectos</a:t>
            </a:r>
          </a:p>
        </p:txBody>
      </p:sp>
      <p:graphicFrame>
        <p:nvGraphicFramePr>
          <p:cNvPr id="6" name="Tabla comparativa editable"/>
          <p:cNvGraphicFramePr>
            <a:graphicFrameLocks noGrp="1"/>
          </p:cNvGraphicFramePr>
          <p:nvPr/>
        </p:nvGraphicFramePr>
        <p:xfrm>
          <a:off x="484632" y="1371600"/>
          <a:ext cx="8174735" cy="3904488"/>
        </p:xfrm>
        <a:graphic>
          <a:graphicData uri="http://schemas.openxmlformats.org/drawingml/2006/table">
            <a:tbl>
              <a:tblPr firstRow="1">
                <a:tableStyleId>{5C22544A-7EE6-4342-B048-85BDC9FD1C3A}</a:tableStyleId>
              </a:tblPr>
              <a:tblGrid>
                <a:gridCol w="2944368">
                  <a:extLst>
                    <a:ext uri="{9D8B030D-6E8A-4147-A177-3AD203B41FA5}">
                      <a16:colId xmlns:a16="http://schemas.microsoft.com/office/drawing/2014/main" val="20000"/>
                    </a:ext>
                  </a:extLst>
                </a:gridCol>
                <a:gridCol w="1033271">
                  <a:extLst>
                    <a:ext uri="{9D8B030D-6E8A-4147-A177-3AD203B41FA5}">
                      <a16:colId xmlns:a16="http://schemas.microsoft.com/office/drawing/2014/main" val="20001"/>
                    </a:ext>
                  </a:extLst>
                </a:gridCol>
                <a:gridCol w="1499616">
                  <a:extLst>
                    <a:ext uri="{9D8B030D-6E8A-4147-A177-3AD203B41FA5}">
                      <a16:colId xmlns:a16="http://schemas.microsoft.com/office/drawing/2014/main" val="20002"/>
                    </a:ext>
                  </a:extLst>
                </a:gridCol>
                <a:gridCol w="2697480">
                  <a:extLst>
                    <a:ext uri="{9D8B030D-6E8A-4147-A177-3AD203B41FA5}">
                      <a16:colId xmlns:a16="http://schemas.microsoft.com/office/drawing/2014/main" val="20003"/>
                    </a:ext>
                  </a:extLst>
                </a:gridCol>
              </a:tblGrid>
              <a:tr h="603504">
                <a:tc>
                  <a:txBody>
                    <a:bodyPr/>
                    <a:lstStyle/>
                    <a:p>
                      <a:pPr algn="ctr">
                        <a:lnSpc>
                          <a:spcPct val="100000"/>
                        </a:lnSpc>
                        <a:spcBef>
                          <a:spcPts val="0"/>
                        </a:spcBef>
                        <a:spcAft>
                          <a:spcPts val="0"/>
                        </a:spcAft>
                      </a:pPr>
                      <a:r>
                        <a:rPr sz="1300" b="1">
                          <a:solidFill>
                            <a:srgbClr val="FFFFFF"/>
                          </a:solidFill>
                          <a:latin typeface="Calibri"/>
                        </a:rPr>
                        <a:t>Metodología</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100000"/>
                        </a:lnSpc>
                        <a:spcBef>
                          <a:spcPts val="0"/>
                        </a:spcBef>
                        <a:spcAft>
                          <a:spcPts val="0"/>
                        </a:spcAft>
                      </a:pPr>
                      <a:r>
                        <a:rPr sz="1300" b="1">
                          <a:solidFill>
                            <a:srgbClr val="FFFFFF"/>
                          </a:solidFill>
                          <a:latin typeface="Calibri"/>
                        </a:rPr>
                        <a:t>Gestión de</a:t>
                      </a:r>
                    </a:p>
                    <a:p>
                      <a:pPr algn="ctr">
                        <a:lnSpc>
                          <a:spcPct val="100000"/>
                        </a:lnSpc>
                        <a:spcBef>
                          <a:spcPts val="0"/>
                        </a:spcBef>
                        <a:spcAft>
                          <a:spcPts val="0"/>
                        </a:spcAft>
                      </a:pPr>
                      <a:r>
                        <a:rPr sz="1300" b="1">
                          <a:solidFill>
                            <a:srgbClr val="FFFFFF"/>
                          </a:solidFill>
                          <a:latin typeface="Calibri"/>
                        </a:rPr>
                        <a:t>supuestos</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100000"/>
                        </a:lnSpc>
                        <a:spcBef>
                          <a:spcPts val="0"/>
                        </a:spcBef>
                        <a:spcAft>
                          <a:spcPts val="0"/>
                        </a:spcAft>
                      </a:pPr>
                      <a:r>
                        <a:rPr sz="1300" b="1">
                          <a:solidFill>
                            <a:srgbClr val="FFFFFF"/>
                          </a:solidFill>
                          <a:latin typeface="Calibri"/>
                        </a:rPr>
                        <a:t>Capítulo específico</a:t>
                      </a:r>
                    </a:p>
                    <a:p>
                      <a:pPr algn="ctr">
                        <a:lnSpc>
                          <a:spcPct val="100000"/>
                        </a:lnSpc>
                        <a:spcBef>
                          <a:spcPts val="0"/>
                        </a:spcBef>
                        <a:spcAft>
                          <a:spcPts val="0"/>
                        </a:spcAft>
                      </a:pPr>
                      <a:r>
                        <a:rPr sz="1300" b="1">
                          <a:solidFill>
                            <a:srgbClr val="FFFFFF"/>
                          </a:solidFill>
                          <a:latin typeface="Calibri"/>
                        </a:rPr>
                        <a:t>de riesgos</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100000"/>
                        </a:lnSpc>
                        <a:spcBef>
                          <a:spcPts val="0"/>
                        </a:spcBef>
                        <a:spcAft>
                          <a:spcPts val="0"/>
                        </a:spcAft>
                      </a:pPr>
                      <a:r>
                        <a:rPr sz="1300" b="1">
                          <a:solidFill>
                            <a:srgbClr val="FFFFFF"/>
                          </a:solidFill>
                          <a:latin typeface="Calibri"/>
                        </a:rPr>
                        <a:t>Observación</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extLst>
                  <a:ext uri="{0D108BD9-81ED-4DB2-BD59-A6C34878D82A}">
                    <a16:rowId xmlns:a16="http://schemas.microsoft.com/office/drawing/2014/main" val="10000"/>
                  </a:ext>
                </a:extLst>
              </a:tr>
              <a:tr h="749808">
                <a:tc>
                  <a:txBody>
                    <a:bodyPr/>
                    <a:lstStyle/>
                    <a:p>
                      <a:pPr algn="l">
                        <a:lnSpc>
                          <a:spcPct val="100000"/>
                        </a:lnSpc>
                        <a:spcBef>
                          <a:spcPts val="0"/>
                        </a:spcBef>
                        <a:spcAft>
                          <a:spcPts val="0"/>
                        </a:spcAft>
                      </a:pPr>
                      <a:r>
                        <a:rPr sz="1400" b="1">
                          <a:solidFill>
                            <a:srgbClr val="1F3864"/>
                          </a:solidFill>
                          <a:latin typeface="Calibri"/>
                        </a:rPr>
                        <a:t>ONUDI – Organización de las Naciones Unidas para el Desarrollo Industrial</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600" b="1">
                          <a:solidFill>
                            <a:srgbClr val="F27A35"/>
                          </a:solidFill>
                          <a:latin typeface="Calibri"/>
                        </a:rPr>
                        <a:t>X</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l">
                        <a:lnSpc>
                          <a:spcPct val="100000"/>
                        </a:lnSpc>
                        <a:spcBef>
                          <a:spcPts val="0"/>
                        </a:spcBef>
                        <a:spcAft>
                          <a:spcPts val="0"/>
                        </a:spcAft>
                      </a:pPr>
                      <a:r>
                        <a:rPr sz="1400" b="0">
                          <a:solidFill>
                            <a:srgbClr val="404040"/>
                          </a:solidFill>
                          <a:latin typeface="Calibri"/>
                        </a:rPr>
                        <a:t>Considera riesgos en distintos estudios, pero no propone cómo gestionarlos.</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1"/>
                  </a:ext>
                </a:extLst>
              </a:tr>
              <a:tr h="365760">
                <a:tc>
                  <a:txBody>
                    <a:bodyPr/>
                    <a:lstStyle/>
                    <a:p>
                      <a:pPr algn="l">
                        <a:lnSpc>
                          <a:spcPct val="100000"/>
                        </a:lnSpc>
                        <a:spcBef>
                          <a:spcPts val="0"/>
                        </a:spcBef>
                        <a:spcAft>
                          <a:spcPts val="0"/>
                        </a:spcAft>
                      </a:pPr>
                      <a:r>
                        <a:rPr sz="1400" b="1">
                          <a:solidFill>
                            <a:srgbClr val="1F3864"/>
                          </a:solidFill>
                          <a:latin typeface="Calibri"/>
                        </a:rPr>
                        <a:t>Metodología de Marco Lógico</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600" b="1">
                          <a:solidFill>
                            <a:srgbClr val="F27A35"/>
                          </a:solidFill>
                          <a:latin typeface="Calibri"/>
                        </a:rPr>
                        <a:t>X</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l">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2"/>
                  </a:ext>
                </a:extLst>
              </a:tr>
              <a:tr h="530352">
                <a:tc>
                  <a:txBody>
                    <a:bodyPr/>
                    <a:lstStyle/>
                    <a:p>
                      <a:pPr algn="l">
                        <a:lnSpc>
                          <a:spcPct val="100000"/>
                        </a:lnSpc>
                        <a:spcBef>
                          <a:spcPts val="0"/>
                        </a:spcBef>
                        <a:spcAft>
                          <a:spcPts val="0"/>
                        </a:spcAft>
                      </a:pPr>
                      <a:r>
                        <a:rPr sz="1400" b="1">
                          <a:solidFill>
                            <a:srgbClr val="1F3864"/>
                          </a:solidFill>
                          <a:latin typeface="Calibri"/>
                        </a:rPr>
                        <a:t>BPIN – Banco de Programas y Proyectos de Inversión Nacional</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600" b="1">
                          <a:solidFill>
                            <a:srgbClr val="F27A35"/>
                          </a:solidFill>
                          <a:latin typeface="Calibri"/>
                        </a:rPr>
                        <a:t>X</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l">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3"/>
                  </a:ext>
                </a:extLst>
              </a:tr>
              <a:tr h="438912">
                <a:tc>
                  <a:txBody>
                    <a:bodyPr/>
                    <a:lstStyle/>
                    <a:p>
                      <a:pPr algn="l">
                        <a:lnSpc>
                          <a:spcPct val="100000"/>
                        </a:lnSpc>
                        <a:spcBef>
                          <a:spcPts val="0"/>
                        </a:spcBef>
                        <a:spcAft>
                          <a:spcPts val="0"/>
                        </a:spcAft>
                      </a:pPr>
                      <a:r>
                        <a:rPr sz="1400" b="1">
                          <a:solidFill>
                            <a:srgbClr val="1F3864"/>
                          </a:solidFill>
                          <a:latin typeface="Calibri"/>
                        </a:rPr>
                        <a:t>ZOPP – ZielOrientierte ProjektPlanung</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600" b="1">
                          <a:solidFill>
                            <a:srgbClr val="F27A35"/>
                          </a:solidFill>
                          <a:latin typeface="Calibri"/>
                        </a:rPr>
                        <a:t>X</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l">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4"/>
                  </a:ext>
                </a:extLst>
              </a:tr>
              <a:tr h="603504">
                <a:tc>
                  <a:txBody>
                    <a:bodyPr/>
                    <a:lstStyle/>
                    <a:p>
                      <a:pPr algn="l">
                        <a:lnSpc>
                          <a:spcPct val="100000"/>
                        </a:lnSpc>
                        <a:spcBef>
                          <a:spcPts val="0"/>
                        </a:spcBef>
                        <a:spcAft>
                          <a:spcPts val="0"/>
                        </a:spcAft>
                      </a:pPr>
                      <a:r>
                        <a:rPr sz="1400" b="1">
                          <a:solidFill>
                            <a:srgbClr val="1F3864"/>
                          </a:solidFill>
                          <a:latin typeface="Calibri"/>
                        </a:rPr>
                        <a:t>MGA – Metodología General Ajustada</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600" b="1">
                          <a:solidFill>
                            <a:srgbClr val="F27A35"/>
                          </a:solidFill>
                          <a:latin typeface="Calibri"/>
                        </a:rPr>
                        <a:t>X</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l">
                        <a:lnSpc>
                          <a:spcPct val="100000"/>
                        </a:lnSpc>
                        <a:spcBef>
                          <a:spcPts val="0"/>
                        </a:spcBef>
                        <a:spcAft>
                          <a:spcPts val="0"/>
                        </a:spcAft>
                      </a:pPr>
                      <a:r>
                        <a:rPr sz="1400" b="0">
                          <a:solidFill>
                            <a:srgbClr val="404040"/>
                          </a:solidFill>
                          <a:latin typeface="Calibri"/>
                        </a:rPr>
                        <a:t>Usa la gestión de supuestos del Marco Lógico.</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5"/>
                  </a:ext>
                </a:extLst>
              </a:tr>
              <a:tr h="612648">
                <a:tc>
                  <a:txBody>
                    <a:bodyPr/>
                    <a:lstStyle/>
                    <a:p>
                      <a:pPr algn="l">
                        <a:lnSpc>
                          <a:spcPct val="100000"/>
                        </a:lnSpc>
                        <a:spcBef>
                          <a:spcPts val="0"/>
                        </a:spcBef>
                        <a:spcAft>
                          <a:spcPts val="0"/>
                        </a:spcAft>
                      </a:pPr>
                      <a:r>
                        <a:rPr sz="1400" b="1">
                          <a:solidFill>
                            <a:srgbClr val="1F3864"/>
                          </a:solidFill>
                          <a:latin typeface="Calibri"/>
                        </a:rPr>
                        <a:t>JICA – Agencia Japonesa para la Cooperación Internacional</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400" b="0">
                          <a:solidFill>
                            <a:srgbClr val="7F7F7F"/>
                          </a:solidFill>
                          <a:latin typeface="Calibri"/>
                        </a:rPr>
                        <a:t>—</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600" b="1">
                          <a:solidFill>
                            <a:srgbClr val="F27A35"/>
                          </a:solidFill>
                          <a:latin typeface="Calibri"/>
                        </a:rPr>
                        <a:t>X</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l">
                        <a:lnSpc>
                          <a:spcPct val="100000"/>
                        </a:lnSpc>
                        <a:spcBef>
                          <a:spcPts val="0"/>
                        </a:spcBef>
                        <a:spcAft>
                          <a:spcPts val="0"/>
                        </a:spcAft>
                      </a:pPr>
                      <a:r>
                        <a:rPr sz="1400" b="0">
                          <a:solidFill>
                            <a:srgbClr val="404040"/>
                          </a:solidFill>
                          <a:latin typeface="Calibri"/>
                        </a:rPr>
                        <a:t>Usa la gestión de supuestos del Marco Lógico.</a:t>
                      </a:r>
                    </a:p>
                  </a:txBody>
                  <a:tcPr marL="64008" marR="64008" marT="32004" marB="32004"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3614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p:cNvSpPr>
            <a:spLocks noChangeArrowheads="1"/>
          </p:cNvSpPr>
          <p:nvPr/>
        </p:nvSpPr>
        <p:spPr bwMode="auto">
          <a:xfrm>
            <a:off x="457200" y="304800"/>
            <a:ext cx="82296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es-ES" altLang="es-CO" sz="3000" b="1">
                <a:solidFill>
                  <a:srgbClr val="1F3864"/>
                </a:solidFill>
                <a:latin typeface="Calibri"/>
                <a:ea typeface="Calibri"/>
                <a:cs typeface="Calibri"/>
              </a:rPr>
              <a:t>Metodologías de gestión de proyectos</a:t>
            </a:r>
            <a:endParaRPr lang="es-CO" altLang="es-CO" sz="3000" b="1" dirty="0">
              <a:solidFill>
                <a:srgbClr val="1F3864"/>
              </a:solidFill>
              <a:latin typeface="Calibri"/>
              <a:ea typeface="Calibri"/>
              <a:cs typeface="Calibri"/>
            </a:endParaRPr>
          </a:p>
        </p:txBody>
      </p:sp>
      <p:sp>
        <p:nvSpPr>
          <p:cNvPr id="2" name="Rectángulo 1">
            <a:extLst>
              <a:ext uri="{FF2B5EF4-FFF2-40B4-BE49-F238E27FC236}">
                <a16:creationId xmlns:a16="http://schemas.microsoft.com/office/drawing/2014/main" id="{A7999824-2FF0-4919-BD1C-BD0135E4C6E1}"/>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E488D443-CAAA-497E-9AA2-11FCFF9145E6}"/>
              </a:ext>
            </a:extLst>
          </p:cNvPr>
          <p:cNvSpPr txBox="1"/>
          <p:nvPr/>
        </p:nvSpPr>
        <p:spPr>
          <a:xfrm>
            <a:off x="1460500" y="5410200"/>
            <a:ext cx="62103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Estándares de gestión de riesgo por metodología</a:t>
            </a:r>
            <a:endParaRPr lang="es-CO" sz="1100">
              <a:solidFill>
                <a:srgbClr val="7F7F7F"/>
              </a:solidFill>
              <a:latin typeface="Calibri"/>
              <a:ea typeface="Calibri"/>
              <a:cs typeface="Calibri"/>
            </a:endParaRPr>
          </a:p>
        </p:txBody>
      </p:sp>
      <p:graphicFrame>
        <p:nvGraphicFramePr>
          <p:cNvPr id="5" name="Tabla editable de estándares de gestión de riesgo"/>
          <p:cNvGraphicFramePr>
            <a:graphicFrameLocks noGrp="1"/>
          </p:cNvGraphicFramePr>
          <p:nvPr/>
        </p:nvGraphicFramePr>
        <p:xfrm>
          <a:off x="484632" y="1170432"/>
          <a:ext cx="8174736" cy="4182464"/>
        </p:xfrm>
        <a:graphic>
          <a:graphicData uri="http://schemas.openxmlformats.org/drawingml/2006/table">
            <a:tbl>
              <a:tblPr firstRow="1">
                <a:tableStyleId>{5C22544A-7EE6-4342-B048-85BDC9FD1C3A}</a:tableStyleId>
              </a:tblPr>
              <a:tblGrid>
                <a:gridCol w="2103120">
                  <a:extLst>
                    <a:ext uri="{9D8B030D-6E8A-4147-A177-3AD203B41FA5}">
                      <a16:colId xmlns:a16="http://schemas.microsoft.com/office/drawing/2014/main" val="20000"/>
                    </a:ext>
                  </a:extLst>
                </a:gridCol>
                <a:gridCol w="59436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713232">
                  <a:extLst>
                    <a:ext uri="{9D8B030D-6E8A-4147-A177-3AD203B41FA5}">
                      <a16:colId xmlns:a16="http://schemas.microsoft.com/office/drawing/2014/main" val="20003"/>
                    </a:ext>
                  </a:extLst>
                </a:gridCol>
                <a:gridCol w="804672">
                  <a:extLst>
                    <a:ext uri="{9D8B030D-6E8A-4147-A177-3AD203B41FA5}">
                      <a16:colId xmlns:a16="http://schemas.microsoft.com/office/drawing/2014/main" val="20004"/>
                    </a:ext>
                  </a:extLst>
                </a:gridCol>
                <a:gridCol w="960120">
                  <a:extLst>
                    <a:ext uri="{9D8B030D-6E8A-4147-A177-3AD203B41FA5}">
                      <a16:colId xmlns:a16="http://schemas.microsoft.com/office/drawing/2014/main" val="20005"/>
                    </a:ext>
                  </a:extLst>
                </a:gridCol>
                <a:gridCol w="960120">
                  <a:extLst>
                    <a:ext uri="{9D8B030D-6E8A-4147-A177-3AD203B41FA5}">
                      <a16:colId xmlns:a16="http://schemas.microsoft.com/office/drawing/2014/main" val="20006"/>
                    </a:ext>
                  </a:extLst>
                </a:gridCol>
                <a:gridCol w="1261872">
                  <a:extLst>
                    <a:ext uri="{9D8B030D-6E8A-4147-A177-3AD203B41FA5}">
                      <a16:colId xmlns:a16="http://schemas.microsoft.com/office/drawing/2014/main" val="20007"/>
                    </a:ext>
                  </a:extLst>
                </a:gridCol>
              </a:tblGrid>
              <a:tr h="411480">
                <a:tc>
                  <a:txBody>
                    <a:bodyPr/>
                    <a:lstStyle/>
                    <a:p>
                      <a:pPr algn="ctr">
                        <a:lnSpc>
                          <a:spcPct val="90000"/>
                        </a:lnSpc>
                        <a:spcBef>
                          <a:spcPts val="0"/>
                        </a:spcBef>
                        <a:spcAft>
                          <a:spcPts val="0"/>
                        </a:spcAft>
                      </a:pPr>
                      <a:r>
                        <a:rPr sz="900" b="1">
                          <a:solidFill>
                            <a:srgbClr val="FFFFFF"/>
                          </a:solidFill>
                          <a:latin typeface="Calibri"/>
                        </a:rPr>
                        <a:t>Metodología</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90000"/>
                        </a:lnSpc>
                        <a:spcBef>
                          <a:spcPts val="0"/>
                        </a:spcBef>
                        <a:spcAft>
                          <a:spcPts val="0"/>
                        </a:spcAft>
                      </a:pPr>
                      <a:r>
                        <a:rPr sz="900" b="1">
                          <a:solidFill>
                            <a:srgbClr val="FFFFFF"/>
                          </a:solidFill>
                          <a:latin typeface="Calibri"/>
                        </a:rPr>
                        <a:t>Capítulo de</a:t>
                      </a:r>
                    </a:p>
                    <a:p>
                      <a:pPr algn="ctr">
                        <a:lnSpc>
                          <a:spcPct val="90000"/>
                        </a:lnSpc>
                        <a:spcBef>
                          <a:spcPts val="0"/>
                        </a:spcBef>
                        <a:spcAft>
                          <a:spcPts val="0"/>
                        </a:spcAft>
                      </a:pPr>
                      <a:r>
                        <a:rPr sz="900" b="1">
                          <a:solidFill>
                            <a:srgbClr val="FFFFFF"/>
                          </a:solidFill>
                          <a:latin typeface="Calibri"/>
                        </a:rPr>
                        <a:t>riesgos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90000"/>
                        </a:lnSpc>
                        <a:spcBef>
                          <a:spcPts val="0"/>
                        </a:spcBef>
                        <a:spcAft>
                          <a:spcPts val="0"/>
                        </a:spcAft>
                      </a:pPr>
                      <a:r>
                        <a:rPr sz="900" b="1">
                          <a:solidFill>
                            <a:srgbClr val="FFFFFF"/>
                          </a:solidFill>
                          <a:latin typeface="Calibri"/>
                        </a:rPr>
                        <a:t>Planear</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90000"/>
                        </a:lnSpc>
                        <a:spcBef>
                          <a:spcPts val="0"/>
                        </a:spcBef>
                        <a:spcAft>
                          <a:spcPts val="0"/>
                        </a:spcAft>
                      </a:pPr>
                      <a:r>
                        <a:rPr sz="900" b="1">
                          <a:solidFill>
                            <a:srgbClr val="FFFFFF"/>
                          </a:solidFill>
                          <a:latin typeface="Calibri"/>
                        </a:rPr>
                        <a:t>Identificar</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90000"/>
                        </a:lnSpc>
                        <a:spcBef>
                          <a:spcPts val="0"/>
                        </a:spcBef>
                        <a:spcAft>
                          <a:spcPts val="0"/>
                        </a:spcAft>
                      </a:pPr>
                      <a:r>
                        <a:rPr sz="900" b="1">
                          <a:solidFill>
                            <a:srgbClr val="FFFFFF"/>
                          </a:solidFill>
                          <a:latin typeface="Calibri"/>
                        </a:rPr>
                        <a:t>Evaluar /</a:t>
                      </a:r>
                    </a:p>
                    <a:p>
                      <a:pPr algn="ctr">
                        <a:lnSpc>
                          <a:spcPct val="90000"/>
                        </a:lnSpc>
                        <a:spcBef>
                          <a:spcPts val="0"/>
                        </a:spcBef>
                        <a:spcAft>
                          <a:spcPts val="0"/>
                        </a:spcAft>
                      </a:pPr>
                      <a:r>
                        <a:rPr sz="900" b="1">
                          <a:solidFill>
                            <a:srgbClr val="FFFFFF"/>
                          </a:solidFill>
                          <a:latin typeface="Calibri"/>
                        </a:rPr>
                        <a:t>analizar</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90000"/>
                        </a:lnSpc>
                        <a:spcBef>
                          <a:spcPts val="0"/>
                        </a:spcBef>
                        <a:spcAft>
                          <a:spcPts val="0"/>
                        </a:spcAft>
                      </a:pPr>
                      <a:r>
                        <a:rPr sz="900" b="1">
                          <a:solidFill>
                            <a:srgbClr val="FFFFFF"/>
                          </a:solidFill>
                          <a:latin typeface="Calibri"/>
                        </a:rPr>
                        <a:t>Planificar</a:t>
                      </a:r>
                    </a:p>
                    <a:p>
                      <a:pPr algn="ctr">
                        <a:lnSpc>
                          <a:spcPct val="90000"/>
                        </a:lnSpc>
                        <a:spcBef>
                          <a:spcPts val="0"/>
                        </a:spcBef>
                        <a:spcAft>
                          <a:spcPts val="0"/>
                        </a:spcAft>
                      </a:pPr>
                      <a:r>
                        <a:rPr sz="900" b="1">
                          <a:solidFill>
                            <a:srgbClr val="FFFFFF"/>
                          </a:solidFill>
                          <a:latin typeface="Calibri"/>
                        </a:rPr>
                        <a:t>respuesta</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90000"/>
                        </a:lnSpc>
                        <a:spcBef>
                          <a:spcPts val="0"/>
                        </a:spcBef>
                        <a:spcAft>
                          <a:spcPts val="0"/>
                        </a:spcAft>
                      </a:pPr>
                      <a:r>
                        <a:rPr sz="900" b="1">
                          <a:solidFill>
                            <a:srgbClr val="FFFFFF"/>
                          </a:solidFill>
                          <a:latin typeface="Calibri"/>
                        </a:rPr>
                        <a:t>Controlar</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90000"/>
                        </a:lnSpc>
                        <a:spcBef>
                          <a:spcPts val="0"/>
                        </a:spcBef>
                        <a:spcAft>
                          <a:spcPts val="0"/>
                        </a:spcAft>
                      </a:pPr>
                      <a:r>
                        <a:rPr sz="900" b="1">
                          <a:solidFill>
                            <a:srgbClr val="FFFFFF"/>
                          </a:solidFill>
                          <a:latin typeface="Calibri"/>
                        </a:rPr>
                        <a:t>Lecciones</a:t>
                      </a:r>
                    </a:p>
                    <a:p>
                      <a:pPr algn="ctr">
                        <a:lnSpc>
                          <a:spcPct val="90000"/>
                        </a:lnSpc>
                        <a:spcBef>
                          <a:spcPts val="0"/>
                        </a:spcBef>
                        <a:spcAft>
                          <a:spcPts val="0"/>
                        </a:spcAft>
                      </a:pPr>
                      <a:r>
                        <a:rPr sz="900" b="1">
                          <a:solidFill>
                            <a:srgbClr val="FFFFFF"/>
                          </a:solidFill>
                          <a:latin typeface="Calibri"/>
                        </a:rPr>
                        <a:t>aprendidas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extLst>
                  <a:ext uri="{0D108BD9-81ED-4DB2-BD59-A6C34878D82A}">
                    <a16:rowId xmlns:a16="http://schemas.microsoft.com/office/drawing/2014/main" val="10000"/>
                  </a:ext>
                </a:extLst>
              </a:tr>
              <a:tr h="246888">
                <a:tc>
                  <a:txBody>
                    <a:bodyPr/>
                    <a:lstStyle/>
                    <a:p>
                      <a:pPr algn="l">
                        <a:lnSpc>
                          <a:spcPct val="90000"/>
                        </a:lnSpc>
                        <a:spcBef>
                          <a:spcPts val="0"/>
                        </a:spcBef>
                        <a:spcAft>
                          <a:spcPts val="0"/>
                        </a:spcAft>
                      </a:pPr>
                      <a:r>
                        <a:rPr sz="950" b="1">
                          <a:solidFill>
                            <a:srgbClr val="1F3864"/>
                          </a:solidFill>
                          <a:latin typeface="Calibri"/>
                        </a:rPr>
                        <a:t>PMI</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Cualitativo y</a:t>
                      </a:r>
                    </a:p>
                    <a:p>
                      <a:pPr algn="ctr">
                        <a:lnSpc>
                          <a:spcPct val="90000"/>
                        </a:lnSpc>
                        <a:spcBef>
                          <a:spcPts val="0"/>
                        </a:spcBef>
                        <a:spcAft>
                          <a:spcPts val="0"/>
                        </a:spcAft>
                      </a:pPr>
                      <a:r>
                        <a:rPr sz="850" b="0">
                          <a:solidFill>
                            <a:srgbClr val="404040"/>
                          </a:solidFill>
                          <a:latin typeface="Calibri"/>
                        </a:rPr>
                        <a:t>cuantitativo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1"/>
                  </a:ext>
                </a:extLst>
              </a:tr>
              <a:tr h="210312">
                <a:tc>
                  <a:txBody>
                    <a:bodyPr/>
                    <a:lstStyle/>
                    <a:p>
                      <a:pPr algn="l">
                        <a:lnSpc>
                          <a:spcPct val="90000"/>
                        </a:lnSpc>
                        <a:spcBef>
                          <a:spcPts val="0"/>
                        </a:spcBef>
                        <a:spcAft>
                          <a:spcPts val="0"/>
                        </a:spcAft>
                      </a:pPr>
                      <a:r>
                        <a:rPr sz="950" b="1">
                          <a:solidFill>
                            <a:srgbClr val="1F3864"/>
                          </a:solidFill>
                          <a:latin typeface="Calibri"/>
                        </a:rPr>
                        <a:t>APMBOK</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Identificación</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2"/>
                  </a:ext>
                </a:extLst>
              </a:tr>
              <a:tr h="292608">
                <a:tc>
                  <a:txBody>
                    <a:bodyPr/>
                    <a:lstStyle/>
                    <a:p>
                      <a:pPr algn="l">
                        <a:lnSpc>
                          <a:spcPct val="90000"/>
                        </a:lnSpc>
                        <a:spcBef>
                          <a:spcPts val="0"/>
                        </a:spcBef>
                        <a:spcAft>
                          <a:spcPts val="0"/>
                        </a:spcAft>
                      </a:pPr>
                      <a:r>
                        <a:rPr sz="950" b="1">
                          <a:solidFill>
                            <a:srgbClr val="1F3864"/>
                          </a:solidFill>
                          <a:latin typeface="Calibri"/>
                        </a:rPr>
                        <a:t>PRINCE2</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Gestión y</a:t>
                      </a:r>
                    </a:p>
                    <a:p>
                      <a:pPr algn="ctr">
                        <a:lnSpc>
                          <a:spcPct val="90000"/>
                        </a:lnSpc>
                        <a:spcBef>
                          <a:spcPts val="0"/>
                        </a:spcBef>
                        <a:spcAft>
                          <a:spcPts val="0"/>
                        </a:spcAft>
                      </a:pPr>
                      <a:r>
                        <a:rPr sz="850" b="0">
                          <a:solidFill>
                            <a:srgbClr val="404040"/>
                          </a:solidFill>
                          <a:latin typeface="Calibri"/>
                        </a:rPr>
                        <a:t>contexto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Implementar</a:t>
                      </a:r>
                    </a:p>
                    <a:p>
                      <a:pPr algn="ctr">
                        <a:lnSpc>
                          <a:spcPct val="90000"/>
                        </a:lnSpc>
                        <a:spcBef>
                          <a:spcPts val="0"/>
                        </a:spcBef>
                        <a:spcAft>
                          <a:spcPts val="0"/>
                        </a:spcAft>
                      </a:pPr>
                      <a:r>
                        <a:rPr sz="850" b="0">
                          <a:solidFill>
                            <a:srgbClr val="404040"/>
                          </a:solidFill>
                          <a:latin typeface="Calibri"/>
                        </a:rPr>
                        <a:t>respuestas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3"/>
                  </a:ext>
                </a:extLst>
              </a:tr>
              <a:tr h="283464">
                <a:tc>
                  <a:txBody>
                    <a:bodyPr/>
                    <a:lstStyle/>
                    <a:p>
                      <a:pPr algn="l">
                        <a:lnSpc>
                          <a:spcPct val="90000"/>
                        </a:lnSpc>
                        <a:spcBef>
                          <a:spcPts val="0"/>
                        </a:spcBef>
                        <a:spcAft>
                          <a:spcPts val="0"/>
                        </a:spcAft>
                      </a:pPr>
                      <a:r>
                        <a:rPr sz="950" b="1">
                          <a:solidFill>
                            <a:srgbClr val="1F3864"/>
                          </a:solidFill>
                          <a:latin typeface="Calibri"/>
                        </a:rPr>
                        <a:t>SCRUM</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No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Priorizar</a:t>
                      </a:r>
                    </a:p>
                    <a:p>
                      <a:pPr algn="ctr">
                        <a:lnSpc>
                          <a:spcPct val="90000"/>
                        </a:lnSpc>
                        <a:spcBef>
                          <a:spcPts val="0"/>
                        </a:spcBef>
                        <a:spcAft>
                          <a:spcPts val="0"/>
                        </a:spcAft>
                      </a:pPr>
                      <a:r>
                        <a:rPr sz="850" b="0">
                          <a:solidFill>
                            <a:srgbClr val="404040"/>
                          </a:solidFill>
                          <a:latin typeface="Calibri"/>
                        </a:rPr>
                        <a:t>riesgos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Mitigar</a:t>
                      </a:r>
                    </a:p>
                    <a:p>
                      <a:pPr algn="ctr">
                        <a:lnSpc>
                          <a:spcPct val="90000"/>
                        </a:lnSpc>
                        <a:spcBef>
                          <a:spcPts val="0"/>
                        </a:spcBef>
                        <a:spcAft>
                          <a:spcPts val="0"/>
                        </a:spcAft>
                      </a:pPr>
                      <a:r>
                        <a:rPr sz="850" b="0">
                          <a:solidFill>
                            <a:srgbClr val="404040"/>
                          </a:solidFill>
                          <a:latin typeface="Calibri"/>
                        </a:rPr>
                        <a:t>riesgos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Comunicar</a:t>
                      </a:r>
                    </a:p>
                    <a:p>
                      <a:pPr algn="ctr">
                        <a:lnSpc>
                          <a:spcPct val="90000"/>
                        </a:lnSpc>
                        <a:spcBef>
                          <a:spcPts val="0"/>
                        </a:spcBef>
                        <a:spcAft>
                          <a:spcPts val="0"/>
                        </a:spcAft>
                      </a:pPr>
                      <a:r>
                        <a:rPr sz="850" b="0">
                          <a:solidFill>
                            <a:srgbClr val="404040"/>
                          </a:solidFill>
                          <a:latin typeface="Calibri"/>
                        </a:rPr>
                        <a:t>riesgos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4"/>
                  </a:ext>
                </a:extLst>
              </a:tr>
              <a:tr h="320040">
                <a:tc>
                  <a:txBody>
                    <a:bodyPr/>
                    <a:lstStyle/>
                    <a:p>
                      <a:pPr algn="l">
                        <a:lnSpc>
                          <a:spcPct val="90000"/>
                        </a:lnSpc>
                        <a:spcBef>
                          <a:spcPts val="0"/>
                        </a:spcBef>
                        <a:spcAft>
                          <a:spcPts val="0"/>
                        </a:spcAft>
                      </a:pPr>
                      <a:r>
                        <a:rPr sz="950" b="1">
                          <a:solidFill>
                            <a:srgbClr val="1F3864"/>
                          </a:solidFill>
                          <a:latin typeface="Calibri"/>
                        </a:rPr>
                        <a:t>NCSPM</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Planificar</a:t>
                      </a:r>
                    </a:p>
                    <a:p>
                      <a:pPr algn="ctr">
                        <a:lnSpc>
                          <a:spcPct val="90000"/>
                        </a:lnSpc>
                        <a:spcBef>
                          <a:spcPts val="0"/>
                        </a:spcBef>
                        <a:spcAft>
                          <a:spcPts val="0"/>
                        </a:spcAft>
                      </a:pPr>
                      <a:r>
                        <a:rPr sz="850" b="0">
                          <a:solidFill>
                            <a:srgbClr val="404040"/>
                          </a:solidFill>
                          <a:latin typeface="Calibri"/>
                        </a:rPr>
                        <a:t>gestión</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Planificar</a:t>
                      </a:r>
                    </a:p>
                    <a:p>
                      <a:pPr algn="ctr">
                        <a:lnSpc>
                          <a:spcPct val="90000"/>
                        </a:lnSpc>
                        <a:spcBef>
                          <a:spcPts val="0"/>
                        </a:spcBef>
                        <a:spcAft>
                          <a:spcPts val="0"/>
                        </a:spcAft>
                      </a:pPr>
                      <a:r>
                        <a:rPr sz="850" b="0">
                          <a:solidFill>
                            <a:srgbClr val="404040"/>
                          </a:solidFill>
                          <a:latin typeface="Calibri"/>
                        </a:rPr>
                        <a:t>gestión</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Administrar</a:t>
                      </a:r>
                    </a:p>
                    <a:p>
                      <a:pPr algn="ctr">
                        <a:lnSpc>
                          <a:spcPct val="90000"/>
                        </a:lnSpc>
                        <a:spcBef>
                          <a:spcPts val="0"/>
                        </a:spcBef>
                        <a:spcAft>
                          <a:spcPts val="0"/>
                        </a:spcAft>
                      </a:pPr>
                      <a:r>
                        <a:rPr sz="850" b="0">
                          <a:solidFill>
                            <a:srgbClr val="404040"/>
                          </a:solidFill>
                          <a:latin typeface="Calibri"/>
                        </a:rPr>
                        <a:t>riesgos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Administrar</a:t>
                      </a:r>
                    </a:p>
                    <a:p>
                      <a:pPr algn="ctr">
                        <a:lnSpc>
                          <a:spcPct val="90000"/>
                        </a:lnSpc>
                        <a:spcBef>
                          <a:spcPts val="0"/>
                        </a:spcBef>
                        <a:spcAft>
                          <a:spcPts val="0"/>
                        </a:spcAft>
                      </a:pPr>
                      <a:r>
                        <a:rPr sz="850" b="0">
                          <a:solidFill>
                            <a:srgbClr val="404040"/>
                          </a:solidFill>
                          <a:latin typeface="Calibri"/>
                        </a:rPr>
                        <a:t>riesgos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Revisar</a:t>
                      </a:r>
                    </a:p>
                    <a:p>
                      <a:pPr algn="ctr">
                        <a:lnSpc>
                          <a:spcPct val="90000"/>
                        </a:lnSpc>
                        <a:spcBef>
                          <a:spcPts val="0"/>
                        </a:spcBef>
                        <a:spcAft>
                          <a:spcPts val="0"/>
                        </a:spcAft>
                      </a:pPr>
                      <a:r>
                        <a:rPr sz="850" b="0">
                          <a:solidFill>
                            <a:srgbClr val="404040"/>
                          </a:solidFill>
                          <a:latin typeface="Calibri"/>
                        </a:rPr>
                        <a:t>resultados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5"/>
                  </a:ext>
                </a:extLst>
              </a:tr>
              <a:tr h="393192">
                <a:tc>
                  <a:txBody>
                    <a:bodyPr/>
                    <a:lstStyle/>
                    <a:p>
                      <a:pPr algn="l">
                        <a:lnSpc>
                          <a:spcPct val="90000"/>
                        </a:lnSpc>
                        <a:spcBef>
                          <a:spcPts val="0"/>
                        </a:spcBef>
                        <a:spcAft>
                          <a:spcPts val="0"/>
                        </a:spcAft>
                      </a:pPr>
                      <a:r>
                        <a:rPr sz="950" b="1">
                          <a:solidFill>
                            <a:srgbClr val="1F3864"/>
                          </a:solidFill>
                          <a:latin typeface="Calibri"/>
                        </a:rPr>
                        <a:t>IPMA — línea base de competencias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Marco de</a:t>
                      </a:r>
                    </a:p>
                    <a:p>
                      <a:pPr algn="ctr">
                        <a:lnSpc>
                          <a:spcPct val="90000"/>
                        </a:lnSpc>
                        <a:spcBef>
                          <a:spcPts val="0"/>
                        </a:spcBef>
                        <a:spcAft>
                          <a:spcPts val="0"/>
                        </a:spcAft>
                      </a:pPr>
                      <a:r>
                        <a:rPr sz="850" b="0">
                          <a:solidFill>
                            <a:srgbClr val="404040"/>
                          </a:solidFill>
                          <a:latin typeface="Calibri"/>
                        </a:rPr>
                        <a:t>trabajo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Estrategias y</a:t>
                      </a:r>
                    </a:p>
                    <a:p>
                      <a:pPr algn="ctr">
                        <a:lnSpc>
                          <a:spcPct val="90000"/>
                        </a:lnSpc>
                        <a:spcBef>
                          <a:spcPts val="0"/>
                        </a:spcBef>
                        <a:spcAft>
                          <a:spcPts val="0"/>
                        </a:spcAft>
                      </a:pPr>
                      <a:r>
                        <a:rPr sz="850" b="0">
                          <a:solidFill>
                            <a:srgbClr val="404040"/>
                          </a:solidFill>
                          <a:latin typeface="Calibri"/>
                        </a:rPr>
                        <a:t>planes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Evaluar y</a:t>
                      </a:r>
                    </a:p>
                    <a:p>
                      <a:pPr algn="ctr">
                        <a:lnSpc>
                          <a:spcPct val="90000"/>
                        </a:lnSpc>
                        <a:spcBef>
                          <a:spcPts val="0"/>
                        </a:spcBef>
                        <a:spcAft>
                          <a:spcPts val="0"/>
                        </a:spcAft>
                      </a:pPr>
                      <a:r>
                        <a:rPr sz="850" b="0">
                          <a:solidFill>
                            <a:srgbClr val="404040"/>
                          </a:solidFill>
                          <a:latin typeface="Calibri"/>
                        </a:rPr>
                        <a:t>monitorear</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6"/>
                  </a:ext>
                </a:extLst>
              </a:tr>
              <a:tr h="210312">
                <a:tc>
                  <a:txBody>
                    <a:bodyPr/>
                    <a:lstStyle/>
                    <a:p>
                      <a:pPr algn="l">
                        <a:lnSpc>
                          <a:spcPct val="90000"/>
                        </a:lnSpc>
                        <a:spcBef>
                          <a:spcPts val="0"/>
                        </a:spcBef>
                        <a:spcAft>
                          <a:spcPts val="0"/>
                        </a:spcAft>
                      </a:pPr>
                      <a:r>
                        <a:rPr sz="950" b="1">
                          <a:solidFill>
                            <a:srgbClr val="1F3864"/>
                          </a:solidFill>
                          <a:latin typeface="Calibri"/>
                        </a:rPr>
                        <a:t>P2M — Project &amp; Program Management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7"/>
                  </a:ext>
                </a:extLst>
              </a:tr>
              <a:tr h="292608">
                <a:tc>
                  <a:txBody>
                    <a:bodyPr/>
                    <a:lstStyle/>
                    <a:p>
                      <a:pPr algn="l">
                        <a:lnSpc>
                          <a:spcPct val="90000"/>
                        </a:lnSpc>
                        <a:spcBef>
                          <a:spcPts val="0"/>
                        </a:spcBef>
                        <a:spcAft>
                          <a:spcPts val="0"/>
                        </a:spcAft>
                      </a:pPr>
                      <a:r>
                        <a:rPr sz="950" b="1">
                          <a:solidFill>
                            <a:srgbClr val="1F3864"/>
                          </a:solidFill>
                          <a:latin typeface="Calibri"/>
                        </a:rPr>
                        <a:t>SAQA — South African Qualifications Authority</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No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No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No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No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No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No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No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8"/>
                  </a:ext>
                </a:extLst>
              </a:tr>
              <a:tr h="274320">
                <a:tc>
                  <a:txBody>
                    <a:bodyPr/>
                    <a:lstStyle/>
                    <a:p>
                      <a:pPr algn="l">
                        <a:lnSpc>
                          <a:spcPct val="90000"/>
                        </a:lnSpc>
                        <a:spcBef>
                          <a:spcPts val="0"/>
                        </a:spcBef>
                        <a:spcAft>
                          <a:spcPts val="0"/>
                        </a:spcAft>
                      </a:pPr>
                      <a:r>
                        <a:rPr sz="950" b="1">
                          <a:solidFill>
                            <a:srgbClr val="1F3864"/>
                          </a:solidFill>
                          <a:latin typeface="Calibri"/>
                        </a:rPr>
                        <a:t>BS 6079 — guía para gestión del riesgo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Contexto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Tratamiento</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Implementación</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9"/>
                  </a:ext>
                </a:extLst>
              </a:tr>
              <a:tr h="210312">
                <a:tc>
                  <a:txBody>
                    <a:bodyPr/>
                    <a:lstStyle/>
                    <a:p>
                      <a:pPr algn="l">
                        <a:lnSpc>
                          <a:spcPct val="90000"/>
                        </a:lnSpc>
                        <a:spcBef>
                          <a:spcPts val="0"/>
                        </a:spcBef>
                        <a:spcAft>
                          <a:spcPts val="0"/>
                        </a:spcAft>
                      </a:pPr>
                      <a:r>
                        <a:rPr sz="950" b="1">
                          <a:solidFill>
                            <a:srgbClr val="1F3864"/>
                          </a:solidFill>
                          <a:latin typeface="Calibri"/>
                        </a:rPr>
                        <a:t>ISO 31000 — gestión de riesgos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10"/>
                  </a:ext>
                </a:extLst>
              </a:tr>
              <a:tr h="237744">
                <a:tc>
                  <a:txBody>
                    <a:bodyPr/>
                    <a:lstStyle/>
                    <a:p>
                      <a:pPr algn="l">
                        <a:lnSpc>
                          <a:spcPct val="90000"/>
                        </a:lnSpc>
                        <a:spcBef>
                          <a:spcPts val="0"/>
                        </a:spcBef>
                        <a:spcAft>
                          <a:spcPts val="0"/>
                        </a:spcAft>
                      </a:pPr>
                      <a:r>
                        <a:rPr sz="950" b="1">
                          <a:solidFill>
                            <a:srgbClr val="1F3864"/>
                          </a:solidFill>
                          <a:latin typeface="Calibri"/>
                        </a:rPr>
                        <a:t>ISO 27001 — seguridad de la información</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11"/>
                  </a:ext>
                </a:extLst>
              </a:tr>
              <a:tr h="237744">
                <a:tc>
                  <a:txBody>
                    <a:bodyPr/>
                    <a:lstStyle/>
                    <a:p>
                      <a:pPr algn="l">
                        <a:lnSpc>
                          <a:spcPct val="90000"/>
                        </a:lnSpc>
                        <a:spcBef>
                          <a:spcPts val="0"/>
                        </a:spcBef>
                        <a:spcAft>
                          <a:spcPts val="0"/>
                        </a:spcAft>
                      </a:pPr>
                      <a:r>
                        <a:rPr sz="950" b="1">
                          <a:solidFill>
                            <a:srgbClr val="1F3864"/>
                          </a:solidFill>
                          <a:latin typeface="Calibri"/>
                        </a:rPr>
                        <a:t>ISO 21500 — guía para gestión de proyectos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12"/>
                  </a:ext>
                </a:extLst>
              </a:tr>
              <a:tr h="210312">
                <a:tc>
                  <a:txBody>
                    <a:bodyPr/>
                    <a:lstStyle/>
                    <a:p>
                      <a:pPr algn="l">
                        <a:lnSpc>
                          <a:spcPct val="90000"/>
                        </a:lnSpc>
                        <a:spcBef>
                          <a:spcPts val="0"/>
                        </a:spcBef>
                        <a:spcAft>
                          <a:spcPts val="0"/>
                        </a:spcAft>
                      </a:pPr>
                      <a:r>
                        <a:rPr sz="950" b="1">
                          <a:solidFill>
                            <a:srgbClr val="1F3864"/>
                          </a:solidFill>
                          <a:latin typeface="Calibri"/>
                        </a:rPr>
                        <a:t>ISO 55001 — gestión de activos</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13"/>
                  </a:ext>
                </a:extLst>
              </a:tr>
              <a:tr h="219456">
                <a:tc>
                  <a:txBody>
                    <a:bodyPr/>
                    <a:lstStyle/>
                    <a:p>
                      <a:pPr algn="l">
                        <a:lnSpc>
                          <a:spcPct val="90000"/>
                        </a:lnSpc>
                        <a:spcBef>
                          <a:spcPts val="0"/>
                        </a:spcBef>
                        <a:spcAft>
                          <a:spcPts val="0"/>
                        </a:spcAft>
                      </a:pPr>
                      <a:r>
                        <a:rPr sz="950" b="1">
                          <a:solidFill>
                            <a:srgbClr val="1F3864"/>
                          </a:solidFill>
                          <a:latin typeface="Calibri"/>
                        </a:rPr>
                        <a:t>AS/NZS 4360:2004</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404040"/>
                          </a:solidFill>
                          <a:latin typeface="Calibri"/>
                        </a:rPr>
                        <a:t>Sí</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1100" b="1">
                          <a:solidFill>
                            <a:srgbClr val="F27A35"/>
                          </a:solidFill>
                          <a:latin typeface="Calibri"/>
                        </a:rPr>
                        <a:t>X</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90000"/>
                        </a:lnSpc>
                        <a:spcBef>
                          <a:spcPts val="0"/>
                        </a:spcBef>
                        <a:spcAft>
                          <a:spcPts val="0"/>
                        </a:spcAft>
                      </a:pPr>
                      <a:r>
                        <a:rPr sz="850" b="0">
                          <a:solidFill>
                            <a:srgbClr val="7F7F7F"/>
                          </a:solidFill>
                          <a:latin typeface="Calibri"/>
                        </a:rPr>
                        <a:t>—</a:t>
                      </a:r>
                    </a:p>
                  </a:txBody>
                  <a:tcPr marL="32004" marR="32004" marT="16459" marB="16459"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14"/>
                  </a:ext>
                </a:extLst>
              </a:tr>
            </a:tbl>
          </a:graphicData>
        </a:graphic>
      </p:graphicFrame>
    </p:spTree>
    <p:extLst>
      <p:ext uri="{BB962C8B-B14F-4D97-AF65-F5344CB8AC3E}">
        <p14:creationId xmlns:p14="http://schemas.microsoft.com/office/powerpoint/2010/main" val="1869650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Metodología ONUDI</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168400"/>
            <a:ext cx="8229600" cy="1041400"/>
          </a:xfrm>
          <a:solidFill>
            <a:srgbClr val="F2F5F9"/>
          </a:solidFill>
          <a:ln>
            <a:noFill/>
          </a:ln>
        </p:spPr>
        <p:txBody>
          <a:bodyPr wrap="square" anchor="t" anchorCtr="0">
            <a:noAutofit/>
          </a:bodyPr>
          <a:lstStyle/>
          <a:p>
            <a:pPr marL="0" indent="0">
              <a:buNone/>
            </a:pPr>
            <a:r>
              <a:rPr lang="es-ES" sz="1400">
                <a:solidFill>
                  <a:srgbClr val="404040"/>
                </a:solidFill>
                <a:latin typeface="Calibri"/>
                <a:ea typeface="Calibri"/>
                <a:cs typeface="Calibri"/>
              </a:rPr>
              <a:t>El horizonte del proyecto se establece analizando cada fase del ciclo de vida por separado, fijando su duración y sumándolas para obtener la duración total.</a:t>
            </a:r>
            <a:endParaRPr lang="es-CO" sz="1400" dirty="0">
              <a:solidFill>
                <a:srgbClr val="404040"/>
              </a:solidFill>
              <a:latin typeface="Calibri"/>
              <a:ea typeface="Calibri"/>
              <a:cs typeface="Calibri"/>
            </a:endParaRPr>
          </a:p>
        </p:txBody>
      </p:sp>
      <p:sp>
        <p:nvSpPr>
          <p:cNvPr id="4" name="Rectángulo 3">
            <a:extLst>
              <a:ext uri="{FF2B5EF4-FFF2-40B4-BE49-F238E27FC236}">
                <a16:creationId xmlns:a16="http://schemas.microsoft.com/office/drawing/2014/main" id="{9EA1F958-A01E-49CC-88B5-6BE2E3AB2E11}"/>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88F2F03D-7DF0-461F-9D08-E77BBDE38475}"/>
              </a:ext>
            </a:extLst>
          </p:cNvPr>
          <p:cNvSpPr/>
          <p:nvPr/>
        </p:nvSpPr>
        <p:spPr>
          <a:xfrm>
            <a:off x="457200" y="2413000"/>
            <a:ext cx="2641600" cy="4064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FFFFFF"/>
                </a:solidFill>
                <a:latin typeface="Calibri"/>
                <a:ea typeface="Calibri"/>
                <a:cs typeface="Calibri"/>
              </a:rPr>
              <a:t>FASE 1</a:t>
            </a:r>
          </a:p>
        </p:txBody>
      </p:sp>
      <p:sp>
        <p:nvSpPr>
          <p:cNvPr id="6" name="Rectángulo 5">
            <a:extLst>
              <a:ext uri="{FF2B5EF4-FFF2-40B4-BE49-F238E27FC236}">
                <a16:creationId xmlns:a16="http://schemas.microsoft.com/office/drawing/2014/main" id="{FED636DD-2898-4395-A7AE-4CE35830C21B}"/>
              </a:ext>
            </a:extLst>
          </p:cNvPr>
          <p:cNvSpPr/>
          <p:nvPr/>
        </p:nvSpPr>
        <p:spPr>
          <a:xfrm>
            <a:off x="457200" y="2819400"/>
            <a:ext cx="26416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700" b="1">
                <a:solidFill>
                  <a:srgbClr val="1F3864"/>
                </a:solidFill>
                <a:latin typeface="Calibri"/>
                <a:ea typeface="Calibri"/>
                <a:cs typeface="Calibri"/>
              </a:rPr>
              <a:t>Preinversión</a:t>
            </a:r>
          </a:p>
        </p:txBody>
      </p:sp>
      <p:sp>
        <p:nvSpPr>
          <p:cNvPr id="7" name="Rectángulo 6">
            <a:extLst>
              <a:ext uri="{FF2B5EF4-FFF2-40B4-BE49-F238E27FC236}">
                <a16:creationId xmlns:a16="http://schemas.microsoft.com/office/drawing/2014/main" id="{45F14897-589C-4244-84A7-77BB58085F28}"/>
              </a:ext>
            </a:extLst>
          </p:cNvPr>
          <p:cNvSpPr/>
          <p:nvPr/>
        </p:nvSpPr>
        <p:spPr>
          <a:xfrm>
            <a:off x="3251200" y="2413000"/>
            <a:ext cx="2641600" cy="4064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FFFFFF"/>
                </a:solidFill>
                <a:latin typeface="Calibri"/>
                <a:ea typeface="Calibri"/>
                <a:cs typeface="Calibri"/>
              </a:rPr>
              <a:t>FASE 2</a:t>
            </a:r>
          </a:p>
        </p:txBody>
      </p:sp>
      <p:sp>
        <p:nvSpPr>
          <p:cNvPr id="8" name="Rectángulo 7">
            <a:extLst>
              <a:ext uri="{FF2B5EF4-FFF2-40B4-BE49-F238E27FC236}">
                <a16:creationId xmlns:a16="http://schemas.microsoft.com/office/drawing/2014/main" id="{BECFB806-5574-4F5E-82F2-F0FDF1F9EA1D}"/>
              </a:ext>
            </a:extLst>
          </p:cNvPr>
          <p:cNvSpPr/>
          <p:nvPr/>
        </p:nvSpPr>
        <p:spPr>
          <a:xfrm>
            <a:off x="3251200" y="2819400"/>
            <a:ext cx="26416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700" b="1">
                <a:solidFill>
                  <a:srgbClr val="1F3864"/>
                </a:solidFill>
                <a:latin typeface="Calibri"/>
                <a:ea typeface="Calibri"/>
                <a:cs typeface="Calibri"/>
              </a:rPr>
              <a:t>Inversión</a:t>
            </a:r>
          </a:p>
        </p:txBody>
      </p:sp>
      <p:sp>
        <p:nvSpPr>
          <p:cNvPr id="9" name="Rectángulo 8">
            <a:extLst>
              <a:ext uri="{FF2B5EF4-FFF2-40B4-BE49-F238E27FC236}">
                <a16:creationId xmlns:a16="http://schemas.microsoft.com/office/drawing/2014/main" id="{46987C5E-A669-4CEB-BF17-83416205413C}"/>
              </a:ext>
            </a:extLst>
          </p:cNvPr>
          <p:cNvSpPr/>
          <p:nvPr/>
        </p:nvSpPr>
        <p:spPr>
          <a:xfrm>
            <a:off x="6045200" y="2413000"/>
            <a:ext cx="2641600" cy="4064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FFFFFF"/>
                </a:solidFill>
                <a:latin typeface="Calibri"/>
                <a:ea typeface="Calibri"/>
                <a:cs typeface="Calibri"/>
              </a:rPr>
              <a:t>FASE 3</a:t>
            </a:r>
          </a:p>
        </p:txBody>
      </p:sp>
      <p:sp>
        <p:nvSpPr>
          <p:cNvPr id="10" name="Rectángulo 9">
            <a:extLst>
              <a:ext uri="{FF2B5EF4-FFF2-40B4-BE49-F238E27FC236}">
                <a16:creationId xmlns:a16="http://schemas.microsoft.com/office/drawing/2014/main" id="{096A22E9-6246-4C74-B835-05445BEB2419}"/>
              </a:ext>
            </a:extLst>
          </p:cNvPr>
          <p:cNvSpPr/>
          <p:nvPr/>
        </p:nvSpPr>
        <p:spPr>
          <a:xfrm>
            <a:off x="6045200" y="2819400"/>
            <a:ext cx="26416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700" b="1">
                <a:solidFill>
                  <a:srgbClr val="1F3864"/>
                </a:solidFill>
                <a:latin typeface="Calibri"/>
                <a:ea typeface="Calibri"/>
                <a:cs typeface="Calibri"/>
              </a:rPr>
              <a:t>Operación</a:t>
            </a:r>
          </a:p>
        </p:txBody>
      </p:sp>
      <p:sp>
        <p:nvSpPr>
          <p:cNvPr id="11" name="CuadroTexto 10">
            <a:extLst>
              <a:ext uri="{FF2B5EF4-FFF2-40B4-BE49-F238E27FC236}">
                <a16:creationId xmlns:a16="http://schemas.microsoft.com/office/drawing/2014/main" id="{F3475BCD-8AD6-4C5D-BF95-BC82204B7FDF}"/>
              </a:ext>
            </a:extLst>
          </p:cNvPr>
          <p:cNvSpPr txBox="1"/>
          <p:nvPr/>
        </p:nvSpPr>
        <p:spPr>
          <a:xfrm>
            <a:off x="457200" y="3632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Las tres fases del ciclo de vida del proyecto según ONUDI</a:t>
            </a:r>
            <a:endParaRPr lang="es-CO" sz="1100">
              <a:solidFill>
                <a:srgbClr val="7F7F7F"/>
              </a:solidFill>
              <a:latin typeface="Calibri"/>
              <a:ea typeface="Calibri"/>
              <a:cs typeface="Calibri"/>
            </a:endParaRPr>
          </a:p>
        </p:txBody>
      </p:sp>
      <p:sp>
        <p:nvSpPr>
          <p:cNvPr id="12" name="Rectángulo 11">
            <a:extLst>
              <a:ext uri="{FF2B5EF4-FFF2-40B4-BE49-F238E27FC236}">
                <a16:creationId xmlns:a16="http://schemas.microsoft.com/office/drawing/2014/main" id="{D4445E90-1C75-41F1-A97C-67BD4846D91D}"/>
              </a:ext>
            </a:extLst>
          </p:cNvPr>
          <p:cNvSpPr/>
          <p:nvPr/>
        </p:nvSpPr>
        <p:spPr>
          <a:xfrm>
            <a:off x="457200" y="4064000"/>
            <a:ext cx="8229600" cy="812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600" b="1">
                <a:solidFill>
                  <a:srgbClr val="FFFFFF"/>
                </a:solidFill>
                <a:latin typeface="Calibri"/>
                <a:ea typeface="Calibri"/>
                <a:cs typeface="Calibri"/>
              </a:rPr>
              <a:t>Cada fase se analiza de forma independiente: el riesgo cambia de naturaleza al pasar de preinversión a inversión y de inversión a operación.</a:t>
            </a:r>
            <a:endParaRPr lang="es-CO" sz="1600" b="1">
              <a:solidFill>
                <a:srgbClr val="FFFFFF"/>
              </a:solidFill>
              <a:latin typeface="Calibri"/>
              <a:ea typeface="Calibri"/>
              <a:cs typeface="Calibri"/>
            </a:endParaRPr>
          </a:p>
        </p:txBody>
      </p:sp>
    </p:spTree>
    <p:extLst>
      <p:ext uri="{BB962C8B-B14F-4D97-AF65-F5344CB8AC3E}">
        <p14:creationId xmlns:p14="http://schemas.microsoft.com/office/powerpoint/2010/main" val="14500707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4C1D9F-C6E5-A4C9-813A-991D6B962F6F}"/>
              </a:ext>
            </a:extLst>
          </p:cNvPr>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Fase de preinversión</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168400"/>
            <a:ext cx="4318000" cy="1320800"/>
          </a:xfrm>
          <a:solidFill>
            <a:srgbClr val="F2F5F9"/>
          </a:solidFill>
          <a:ln>
            <a:noFill/>
          </a:ln>
        </p:spPr>
        <p:txBody>
          <a:bodyPr wrap="square" anchor="t" anchorCtr="0">
            <a:noAutofit/>
          </a:bodyPr>
          <a:lstStyle/>
          <a:p>
            <a:pPr marL="0" indent="0">
              <a:buNone/>
            </a:pPr>
            <a:r>
              <a:rPr lang="es-ES" sz="1400">
                <a:solidFill>
                  <a:srgbClr val="404040"/>
                </a:solidFill>
                <a:latin typeface="Calibri"/>
                <a:ea typeface="Calibri"/>
                <a:cs typeface="Calibri"/>
              </a:rPr>
              <a:t>En la preinversión se realizan los estudios de apoyo. El proyecto se evalúa según el nivel de profundidad alcanzado.</a:t>
            </a:r>
            <a:endParaRPr lang="es-CO" sz="1400" dirty="0">
              <a:solidFill>
                <a:srgbClr val="404040"/>
              </a:solidFill>
              <a:latin typeface="Calibri"/>
              <a:ea typeface="Calibri"/>
              <a:cs typeface="Calibri"/>
            </a:endParaRPr>
          </a:p>
        </p:txBody>
      </p:sp>
      <p:pic>
        <p:nvPicPr>
          <p:cNvPr id="53250" name="Picture 2" descr="Resultado de imagen para investigac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67300" y="1168400"/>
            <a:ext cx="3619500" cy="2857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160DDC08-C108-4B61-85DC-51786B8BDC06}"/>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98FC1000-F1DE-41DB-9BC1-E0274E0D637C}"/>
              </a:ext>
            </a:extLst>
          </p:cNvPr>
          <p:cNvSpPr/>
          <p:nvPr/>
        </p:nvSpPr>
        <p:spPr>
          <a:xfrm>
            <a:off x="457200" y="2667000"/>
            <a:ext cx="508000" cy="457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1</a:t>
            </a:r>
          </a:p>
        </p:txBody>
      </p:sp>
      <p:sp>
        <p:nvSpPr>
          <p:cNvPr id="6" name="Rectángulo 5">
            <a:extLst>
              <a:ext uri="{FF2B5EF4-FFF2-40B4-BE49-F238E27FC236}">
                <a16:creationId xmlns:a16="http://schemas.microsoft.com/office/drawing/2014/main" id="{EF0A79EC-32E0-40A3-8874-9B7A660B8CBA}"/>
              </a:ext>
            </a:extLst>
          </p:cNvPr>
          <p:cNvSpPr/>
          <p:nvPr/>
        </p:nvSpPr>
        <p:spPr>
          <a:xfrm>
            <a:off x="1016000" y="2667000"/>
            <a:ext cx="3759200" cy="457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Perfil</a:t>
            </a:r>
          </a:p>
        </p:txBody>
      </p:sp>
      <p:sp>
        <p:nvSpPr>
          <p:cNvPr id="7" name="Rectángulo 6">
            <a:extLst>
              <a:ext uri="{FF2B5EF4-FFF2-40B4-BE49-F238E27FC236}">
                <a16:creationId xmlns:a16="http://schemas.microsoft.com/office/drawing/2014/main" id="{00125B3E-8DC1-4CA9-9AA0-C6DE30ACE1C1}"/>
              </a:ext>
            </a:extLst>
          </p:cNvPr>
          <p:cNvSpPr/>
          <p:nvPr/>
        </p:nvSpPr>
        <p:spPr>
          <a:xfrm>
            <a:off x="457200" y="3225800"/>
            <a:ext cx="508000" cy="457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2</a:t>
            </a:r>
          </a:p>
        </p:txBody>
      </p:sp>
      <p:sp>
        <p:nvSpPr>
          <p:cNvPr id="8" name="Rectángulo 7">
            <a:extLst>
              <a:ext uri="{FF2B5EF4-FFF2-40B4-BE49-F238E27FC236}">
                <a16:creationId xmlns:a16="http://schemas.microsoft.com/office/drawing/2014/main" id="{7130E46E-8BC3-401C-9D0F-A11624203ACB}"/>
              </a:ext>
            </a:extLst>
          </p:cNvPr>
          <p:cNvSpPr/>
          <p:nvPr/>
        </p:nvSpPr>
        <p:spPr>
          <a:xfrm>
            <a:off x="1016000" y="3225800"/>
            <a:ext cx="3759200" cy="457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Pre-factibilidad</a:t>
            </a:r>
          </a:p>
        </p:txBody>
      </p:sp>
      <p:sp>
        <p:nvSpPr>
          <p:cNvPr id="9" name="Rectángulo 8">
            <a:extLst>
              <a:ext uri="{FF2B5EF4-FFF2-40B4-BE49-F238E27FC236}">
                <a16:creationId xmlns:a16="http://schemas.microsoft.com/office/drawing/2014/main" id="{1FA9467A-9193-4784-BA1A-3E5E74FC111A}"/>
              </a:ext>
            </a:extLst>
          </p:cNvPr>
          <p:cNvSpPr/>
          <p:nvPr/>
        </p:nvSpPr>
        <p:spPr>
          <a:xfrm>
            <a:off x="457200" y="3784600"/>
            <a:ext cx="508000" cy="457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3</a:t>
            </a:r>
          </a:p>
        </p:txBody>
      </p:sp>
      <p:sp>
        <p:nvSpPr>
          <p:cNvPr id="10" name="Rectángulo 9">
            <a:extLst>
              <a:ext uri="{FF2B5EF4-FFF2-40B4-BE49-F238E27FC236}">
                <a16:creationId xmlns:a16="http://schemas.microsoft.com/office/drawing/2014/main" id="{85F920B1-D69E-4A06-8811-08B4B2903E63}"/>
              </a:ext>
            </a:extLst>
          </p:cNvPr>
          <p:cNvSpPr/>
          <p:nvPr/>
        </p:nvSpPr>
        <p:spPr>
          <a:xfrm>
            <a:off x="1016000" y="3784600"/>
            <a:ext cx="3759200" cy="457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Factibilidad</a:t>
            </a:r>
          </a:p>
        </p:txBody>
      </p:sp>
      <p:sp>
        <p:nvSpPr>
          <p:cNvPr id="11" name="CuadroTexto 10">
            <a:extLst>
              <a:ext uri="{FF2B5EF4-FFF2-40B4-BE49-F238E27FC236}">
                <a16:creationId xmlns:a16="http://schemas.microsoft.com/office/drawing/2014/main" id="{1EB4F314-7355-42C6-AED6-E00CDC34EB09}"/>
              </a:ext>
            </a:extLst>
          </p:cNvPr>
          <p:cNvSpPr txBox="1"/>
          <p:nvPr/>
        </p:nvSpPr>
        <p:spPr>
          <a:xfrm>
            <a:off x="457200" y="4394200"/>
            <a:ext cx="43180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Niveles de profundidad de la evaluación</a:t>
            </a:r>
            <a:endParaRPr lang="es-CO" sz="1100">
              <a:solidFill>
                <a:srgbClr val="7F7F7F"/>
              </a:solidFill>
              <a:latin typeface="Calibri"/>
              <a:ea typeface="Calibri"/>
              <a:cs typeface="Calibri"/>
            </a:endParaRPr>
          </a:p>
        </p:txBody>
      </p:sp>
      <p:sp>
        <p:nvSpPr>
          <p:cNvPr id="12" name="CuadroTexto 11">
            <a:extLst>
              <a:ext uri="{FF2B5EF4-FFF2-40B4-BE49-F238E27FC236}">
                <a16:creationId xmlns:a16="http://schemas.microsoft.com/office/drawing/2014/main" id="{2E101C11-E7A4-4A6A-B3B7-6591831DEAEB}"/>
              </a:ext>
            </a:extLst>
          </p:cNvPr>
          <p:cNvSpPr txBox="1"/>
          <p:nvPr/>
        </p:nvSpPr>
        <p:spPr>
          <a:xfrm>
            <a:off x="5067300" y="4089400"/>
            <a:ext cx="36195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Ciclo de la fase de preinversión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828530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1219200"/>
            <a:ext cx="8229600" cy="1219200"/>
          </a:xfrm>
          <a:prstGeom prst="rect">
            <a:avLst/>
          </a:prstGeom>
          <a:solidFill>
            <a:srgbClr val="1F3864"/>
          </a:solidFill>
          <a:ln>
            <a:noFill/>
          </a:ln>
        </p:spPr>
        <p:txBody>
          <a:bodyPr wrap="square" anchor="ctr" anchorCtr="0">
            <a:noAutofit/>
          </a:bodyPr>
          <a:lstStyle/>
          <a:p>
            <a:pPr algn="ctr"/>
            <a:r>
              <a:rPr lang="es-ES" b="1">
                <a:solidFill>
                  <a:srgbClr val="FFFFFF"/>
                </a:solidFill>
                <a:latin typeface="Calibri"/>
                <a:ea typeface="Calibri"/>
                <a:cs typeface="Calibri"/>
              </a:rPr>
              <a:t>Un riesgo es un evento o condición incierto que, si ocurre, tiene un efecto positivo o negativo sobre al menos un objetivo del proyecto.</a:t>
            </a:r>
            <a:endParaRPr lang="es-CO" b="1" dirty="0">
              <a:solidFill>
                <a:srgbClr val="FFFFFF"/>
              </a:solidFill>
              <a:latin typeface="Calibri"/>
              <a:ea typeface="Calibri"/>
              <a:cs typeface="Calibri"/>
            </a:endParaRPr>
          </a:p>
        </p:txBody>
      </p:sp>
      <p:sp>
        <p:nvSpPr>
          <p:cNvPr id="3" name="Rectángulo 2"/>
          <p:cNvSpPr/>
          <p:nvPr/>
        </p:nvSpPr>
        <p:spPr>
          <a:xfrm>
            <a:off x="457200" y="2616200"/>
            <a:ext cx="8229600" cy="812800"/>
          </a:xfrm>
          <a:prstGeom prst="rect">
            <a:avLst/>
          </a:prstGeom>
          <a:solidFill>
            <a:srgbClr val="F2F5F9"/>
          </a:solidFill>
          <a:ln>
            <a:noFill/>
          </a:ln>
        </p:spPr>
        <p:txBody>
          <a:bodyPr wrap="square" anchor="t" anchorCtr="0">
            <a:noAutofit/>
          </a:bodyPr>
          <a:lstStyle/>
          <a:p>
            <a:pPr algn="l"/>
            <a:r>
              <a:rPr lang="es-ES" sz="1400">
                <a:solidFill>
                  <a:srgbClr val="404040"/>
                </a:solidFill>
                <a:latin typeface="Calibri"/>
                <a:ea typeface="Calibri"/>
                <a:cs typeface="Calibri"/>
              </a:rPr>
              <a:t>Si el objetivo de tiempo es cumplir el cronograma acordado, el riesgo es todo lo que lo desvíe; lo mismo aplica al coste, al alcance y a la calidad.</a:t>
            </a:r>
            <a:endParaRPr lang="es-CO" sz="1400" dirty="0">
              <a:solidFill>
                <a:srgbClr val="404040"/>
              </a:solidFill>
              <a:latin typeface="Calibri"/>
              <a:ea typeface="Calibri"/>
              <a:cs typeface="Calibri"/>
            </a:endParaRPr>
          </a:p>
        </p:txBody>
      </p:sp>
      <p:sp>
        <p:nvSpPr>
          <p:cNvPr id="5" name="CuadroTexto 4"/>
          <p:cNvSpPr txBox="1"/>
          <p:nvPr/>
        </p:nvSpPr>
        <p:spPr>
          <a:xfrm>
            <a:off x="457200" y="304800"/>
            <a:ext cx="8229600" cy="533400"/>
          </a:xfrm>
          <a:prstGeom prst="rect">
            <a:avLst/>
          </a:prstGeom>
          <a:noFill/>
          <a:ln>
            <a:noFill/>
          </a:ln>
        </p:spPr>
        <p:txBody>
          <a:bodyPr wrap="square" rtlCol="0" anchor="t" anchorCtr="0">
            <a:noAutofit/>
          </a:bodyPr>
          <a:lstStyle/>
          <a:p>
            <a:pPr algn="l"/>
            <a:r>
              <a:rPr lang="es-ES" sz="3000" b="1">
                <a:solidFill>
                  <a:srgbClr val="1F3864"/>
                </a:solidFill>
                <a:latin typeface="Calibri"/>
                <a:ea typeface="Calibri"/>
                <a:cs typeface="Calibri"/>
              </a:rPr>
              <a:t>El riesgo en los proyectos</a:t>
            </a:r>
            <a:endParaRPr lang="es-ES" sz="3000" b="1" dirty="0">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52B7FD34-549C-49E8-84D5-B0B6CC38554F}"/>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A43C8A18-938E-4135-9F66-851F1163F1BB}"/>
              </a:ext>
            </a:extLst>
          </p:cNvPr>
          <p:cNvSpPr/>
          <p:nvPr/>
        </p:nvSpPr>
        <p:spPr>
          <a:xfrm>
            <a:off x="457200" y="3683000"/>
            <a:ext cx="1981200" cy="736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500" b="1">
                <a:solidFill>
                  <a:srgbClr val="1F3864"/>
                </a:solidFill>
                <a:latin typeface="Calibri"/>
                <a:ea typeface="Calibri"/>
                <a:cs typeface="Calibri"/>
              </a:rPr>
              <a:t>TIEMPO</a:t>
            </a:r>
          </a:p>
        </p:txBody>
      </p:sp>
      <p:sp>
        <p:nvSpPr>
          <p:cNvPr id="7" name="Rectángulo 6">
            <a:extLst>
              <a:ext uri="{FF2B5EF4-FFF2-40B4-BE49-F238E27FC236}">
                <a16:creationId xmlns:a16="http://schemas.microsoft.com/office/drawing/2014/main" id="{8FDBA4D8-ACC8-4863-9C17-821BC007BBB2}"/>
              </a:ext>
            </a:extLst>
          </p:cNvPr>
          <p:cNvSpPr/>
          <p:nvPr/>
        </p:nvSpPr>
        <p:spPr>
          <a:xfrm>
            <a:off x="2540000" y="3683000"/>
            <a:ext cx="1981200" cy="736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500" b="1">
                <a:solidFill>
                  <a:srgbClr val="1F3864"/>
                </a:solidFill>
                <a:latin typeface="Calibri"/>
                <a:ea typeface="Calibri"/>
                <a:cs typeface="Calibri"/>
              </a:rPr>
              <a:t>COSTE</a:t>
            </a:r>
          </a:p>
        </p:txBody>
      </p:sp>
      <p:sp>
        <p:nvSpPr>
          <p:cNvPr id="8" name="Rectángulo 7">
            <a:extLst>
              <a:ext uri="{FF2B5EF4-FFF2-40B4-BE49-F238E27FC236}">
                <a16:creationId xmlns:a16="http://schemas.microsoft.com/office/drawing/2014/main" id="{EA392BAD-9AE0-4694-ACE6-BCB54A96812F}"/>
              </a:ext>
            </a:extLst>
          </p:cNvPr>
          <p:cNvSpPr/>
          <p:nvPr/>
        </p:nvSpPr>
        <p:spPr>
          <a:xfrm>
            <a:off x="4622800" y="3683000"/>
            <a:ext cx="1981200" cy="736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500" b="1">
                <a:solidFill>
                  <a:srgbClr val="1F3864"/>
                </a:solidFill>
                <a:latin typeface="Calibri"/>
                <a:ea typeface="Calibri"/>
                <a:cs typeface="Calibri"/>
              </a:rPr>
              <a:t>ALCANCE</a:t>
            </a:r>
          </a:p>
        </p:txBody>
      </p:sp>
      <p:sp>
        <p:nvSpPr>
          <p:cNvPr id="9" name="Rectángulo 8">
            <a:extLst>
              <a:ext uri="{FF2B5EF4-FFF2-40B4-BE49-F238E27FC236}">
                <a16:creationId xmlns:a16="http://schemas.microsoft.com/office/drawing/2014/main" id="{822DDCA5-DD73-40BC-849A-007A86164364}"/>
              </a:ext>
            </a:extLst>
          </p:cNvPr>
          <p:cNvSpPr/>
          <p:nvPr/>
        </p:nvSpPr>
        <p:spPr>
          <a:xfrm>
            <a:off x="6705600" y="3683000"/>
            <a:ext cx="1981200" cy="736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ctr"/>
            <a:r>
              <a:rPr lang="es-CO" sz="1500" b="1">
                <a:solidFill>
                  <a:srgbClr val="1F3864"/>
                </a:solidFill>
                <a:latin typeface="Calibri"/>
                <a:ea typeface="Calibri"/>
                <a:cs typeface="Calibri"/>
              </a:rPr>
              <a:t>CALIDAD</a:t>
            </a:r>
          </a:p>
        </p:txBody>
      </p:sp>
      <p:sp>
        <p:nvSpPr>
          <p:cNvPr id="10" name="CuadroTexto 9">
            <a:extLst>
              <a:ext uri="{FF2B5EF4-FFF2-40B4-BE49-F238E27FC236}">
                <a16:creationId xmlns:a16="http://schemas.microsoft.com/office/drawing/2014/main" id="{FDCF729C-DD05-4CCA-BA53-D74D75B6E9CA}"/>
              </a:ext>
            </a:extLst>
          </p:cNvPr>
          <p:cNvSpPr txBox="1"/>
          <p:nvPr/>
        </p:nvSpPr>
        <p:spPr>
          <a:xfrm>
            <a:off x="457200" y="45720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cuatro objetivos sobre los que actúa el riesgo del proyecto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963473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Estudios de apoyo</a:t>
            </a:r>
            <a:endParaRPr lang="es-CO" sz="3000" b="1" dirty="0">
              <a:solidFill>
                <a:srgbClr val="1F3864"/>
              </a:solidFill>
              <a:latin typeface="Calibri"/>
              <a:ea typeface="Calibri"/>
              <a:cs typeface="Calibri"/>
            </a:endParaRPr>
          </a:p>
        </p:txBody>
      </p:sp>
      <p:sp>
        <p:nvSpPr>
          <p:cNvPr id="3" name="Marcador de contenido 2"/>
          <p:cNvSpPr>
            <a:spLocks noGrp="1"/>
          </p:cNvSpPr>
          <p:nvPr>
            <p:ph idx="1"/>
          </p:nvPr>
        </p:nvSpPr>
        <p:spPr>
          <a:xfrm>
            <a:off x="457200" y="1168400"/>
            <a:ext cx="8229600" cy="711200"/>
          </a:xfrm>
          <a:solidFill>
            <a:srgbClr val="1F3864"/>
          </a:solidFill>
          <a:ln>
            <a:noFill/>
          </a:ln>
        </p:spPr>
        <p:txBody>
          <a:bodyPr wrap="square" anchor="ctr" anchorCtr="0">
            <a:noAutofit/>
          </a:bodyPr>
          <a:lstStyle/>
          <a:p>
            <a:pPr marL="0" indent="0">
              <a:buNone/>
            </a:pPr>
            <a:r>
              <a:rPr lang="es-ES" sz="1600" b="1">
                <a:solidFill>
                  <a:srgbClr val="FFFFFF"/>
                </a:solidFill>
                <a:latin typeface="Calibri"/>
                <a:ea typeface="Calibri"/>
                <a:cs typeface="Calibri"/>
              </a:rPr>
              <a:t>El riesgo se analiza por separado en cada uno de los seis estudios de apoyo del proyecto.</a:t>
            </a:r>
            <a:endParaRPr lang="es-CO" sz="1600" b="1" dirty="0">
              <a:solidFill>
                <a:srgbClr val="FFFFFF"/>
              </a:solidFill>
              <a:latin typeface="Calibri"/>
              <a:ea typeface="Calibri"/>
              <a:cs typeface="Calibri"/>
            </a:endParaRPr>
          </a:p>
        </p:txBody>
      </p:sp>
      <p:pic>
        <p:nvPicPr>
          <p:cNvPr id="55298" name="Picture 2" descr="Resultado de imagen para estudi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7000" y="2082800"/>
            <a:ext cx="3479800" cy="217170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669F255D-E1B2-45CF-B9F1-2BA895ABFD20}"/>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65DEC3DD-476A-404B-BEA2-D6059701052A}"/>
              </a:ext>
            </a:extLst>
          </p:cNvPr>
          <p:cNvSpPr/>
          <p:nvPr/>
        </p:nvSpPr>
        <p:spPr>
          <a:xfrm>
            <a:off x="457200" y="2082800"/>
            <a:ext cx="21717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Entorno y análisis sectorial</a:t>
            </a:r>
          </a:p>
        </p:txBody>
      </p:sp>
      <p:sp>
        <p:nvSpPr>
          <p:cNvPr id="6" name="Rectángulo 5">
            <a:extLst>
              <a:ext uri="{FF2B5EF4-FFF2-40B4-BE49-F238E27FC236}">
                <a16:creationId xmlns:a16="http://schemas.microsoft.com/office/drawing/2014/main" id="{994D9CC2-206C-4773-96B0-42890494512C}"/>
              </a:ext>
            </a:extLst>
          </p:cNvPr>
          <p:cNvSpPr/>
          <p:nvPr/>
        </p:nvSpPr>
        <p:spPr>
          <a:xfrm>
            <a:off x="2781300" y="2082800"/>
            <a:ext cx="21717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Mercado</a:t>
            </a:r>
          </a:p>
        </p:txBody>
      </p:sp>
      <p:sp>
        <p:nvSpPr>
          <p:cNvPr id="7" name="Rectángulo 6">
            <a:extLst>
              <a:ext uri="{FF2B5EF4-FFF2-40B4-BE49-F238E27FC236}">
                <a16:creationId xmlns:a16="http://schemas.microsoft.com/office/drawing/2014/main" id="{FB9A842C-0BCE-4156-AC87-69DBF7ED310A}"/>
              </a:ext>
            </a:extLst>
          </p:cNvPr>
          <p:cNvSpPr/>
          <p:nvPr/>
        </p:nvSpPr>
        <p:spPr>
          <a:xfrm>
            <a:off x="457200" y="3048000"/>
            <a:ext cx="21717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Técnico</a:t>
            </a:r>
          </a:p>
        </p:txBody>
      </p:sp>
      <p:sp>
        <p:nvSpPr>
          <p:cNvPr id="8" name="Rectángulo 7">
            <a:extLst>
              <a:ext uri="{FF2B5EF4-FFF2-40B4-BE49-F238E27FC236}">
                <a16:creationId xmlns:a16="http://schemas.microsoft.com/office/drawing/2014/main" id="{8AC61856-3C4F-48E4-9339-B0E29EFD7B32}"/>
              </a:ext>
            </a:extLst>
          </p:cNvPr>
          <p:cNvSpPr/>
          <p:nvPr/>
        </p:nvSpPr>
        <p:spPr>
          <a:xfrm>
            <a:off x="2781300" y="3048000"/>
            <a:ext cx="21717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Organizacional</a:t>
            </a:r>
          </a:p>
        </p:txBody>
      </p:sp>
      <p:sp>
        <p:nvSpPr>
          <p:cNvPr id="9" name="Rectángulo 8">
            <a:extLst>
              <a:ext uri="{FF2B5EF4-FFF2-40B4-BE49-F238E27FC236}">
                <a16:creationId xmlns:a16="http://schemas.microsoft.com/office/drawing/2014/main" id="{F0B65E44-0DAB-4A30-BF01-763A62E8F1D9}"/>
              </a:ext>
            </a:extLst>
          </p:cNvPr>
          <p:cNvSpPr/>
          <p:nvPr/>
        </p:nvSpPr>
        <p:spPr>
          <a:xfrm>
            <a:off x="457200" y="4013200"/>
            <a:ext cx="21717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Legal</a:t>
            </a:r>
          </a:p>
        </p:txBody>
      </p:sp>
      <p:sp>
        <p:nvSpPr>
          <p:cNvPr id="10" name="Rectángulo 9">
            <a:extLst>
              <a:ext uri="{FF2B5EF4-FFF2-40B4-BE49-F238E27FC236}">
                <a16:creationId xmlns:a16="http://schemas.microsoft.com/office/drawing/2014/main" id="{E583A615-E464-4C60-897A-1105425AFB2E}"/>
              </a:ext>
            </a:extLst>
          </p:cNvPr>
          <p:cNvSpPr/>
          <p:nvPr/>
        </p:nvSpPr>
        <p:spPr>
          <a:xfrm>
            <a:off x="2781300" y="4013200"/>
            <a:ext cx="21717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Financiero</a:t>
            </a:r>
          </a:p>
        </p:txBody>
      </p:sp>
      <p:sp>
        <p:nvSpPr>
          <p:cNvPr id="11" name="CuadroTexto 10">
            <a:extLst>
              <a:ext uri="{FF2B5EF4-FFF2-40B4-BE49-F238E27FC236}">
                <a16:creationId xmlns:a16="http://schemas.microsoft.com/office/drawing/2014/main" id="{70EA21A0-57FD-4496-85F3-A59D2F531AA4}"/>
              </a:ext>
            </a:extLst>
          </p:cNvPr>
          <p:cNvSpPr txBox="1"/>
          <p:nvPr/>
        </p:nvSpPr>
        <p:spPr>
          <a:xfrm>
            <a:off x="5207000" y="4318000"/>
            <a:ext cx="34798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Secuencia de los estudios de apoyo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1542380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Evaluación financiera</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168400"/>
            <a:ext cx="4318000" cy="1092200"/>
          </a:xfrm>
          <a:solidFill>
            <a:srgbClr val="F2F5F9"/>
          </a:solidFill>
          <a:ln>
            <a:noFill/>
          </a:ln>
        </p:spPr>
        <p:txBody>
          <a:bodyPr wrap="square" anchor="t" anchorCtr="0">
            <a:noAutofit/>
          </a:bodyPr>
          <a:lstStyle/>
          <a:p>
            <a:pPr marL="0" indent="0">
              <a:buNone/>
            </a:pPr>
            <a:r>
              <a:rPr lang="es-ES" sz="1500" b="1">
                <a:solidFill>
                  <a:srgbClr val="1F3864"/>
                </a:solidFill>
                <a:latin typeface="Calibri"/>
                <a:ea typeface="Calibri"/>
                <a:cs typeface="Calibri"/>
              </a:rPr>
              <a:t>Flujo de caja del proyecto
Flujo de caja del inversionista</a:t>
            </a:r>
            <a:endParaRPr lang="es-CO" sz="1500" b="1" dirty="0">
              <a:solidFill>
                <a:srgbClr val="1F3864"/>
              </a:solidFill>
              <a:latin typeface="Calibri"/>
              <a:ea typeface="Calibri"/>
              <a:cs typeface="Calibri"/>
            </a:endParaRPr>
          </a:p>
        </p:txBody>
      </p:sp>
      <p:pic>
        <p:nvPicPr>
          <p:cNvPr id="58370" name="Picture 2" descr="Resultado de imagen para proyect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7300" y="1168400"/>
            <a:ext cx="3619500" cy="27178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58FC1A37-1511-44FF-AC66-F9EFA5D7202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888EBCE2-E885-494B-8EA4-E7EF2511D1AA}"/>
              </a:ext>
            </a:extLst>
          </p:cNvPr>
          <p:cNvSpPr/>
          <p:nvPr/>
        </p:nvSpPr>
        <p:spPr>
          <a:xfrm>
            <a:off x="457200" y="2438400"/>
            <a:ext cx="4318000" cy="330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CRITERIOS DE EVALUACIÓN</a:t>
            </a:r>
          </a:p>
        </p:txBody>
      </p:sp>
      <p:sp>
        <p:nvSpPr>
          <p:cNvPr id="6" name="Rectángulo 5">
            <a:extLst>
              <a:ext uri="{FF2B5EF4-FFF2-40B4-BE49-F238E27FC236}">
                <a16:creationId xmlns:a16="http://schemas.microsoft.com/office/drawing/2014/main" id="{4ED5C521-A0C5-489D-85AA-65C95378DAEA}"/>
              </a:ext>
            </a:extLst>
          </p:cNvPr>
          <p:cNvSpPr/>
          <p:nvPr/>
        </p:nvSpPr>
        <p:spPr>
          <a:xfrm>
            <a:off x="457200" y="2870200"/>
            <a:ext cx="13462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VPN</a:t>
            </a:r>
          </a:p>
        </p:txBody>
      </p:sp>
      <p:sp>
        <p:nvSpPr>
          <p:cNvPr id="7" name="Rectángulo 6">
            <a:extLst>
              <a:ext uri="{FF2B5EF4-FFF2-40B4-BE49-F238E27FC236}">
                <a16:creationId xmlns:a16="http://schemas.microsoft.com/office/drawing/2014/main" id="{AAB74672-809C-45F3-ABFD-46B6708225EF}"/>
              </a:ext>
            </a:extLst>
          </p:cNvPr>
          <p:cNvSpPr/>
          <p:nvPr/>
        </p:nvSpPr>
        <p:spPr>
          <a:xfrm>
            <a:off x="1905000" y="2870200"/>
            <a:ext cx="13462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TIR</a:t>
            </a:r>
          </a:p>
        </p:txBody>
      </p:sp>
      <p:sp>
        <p:nvSpPr>
          <p:cNvPr id="8" name="Rectángulo 7">
            <a:extLst>
              <a:ext uri="{FF2B5EF4-FFF2-40B4-BE49-F238E27FC236}">
                <a16:creationId xmlns:a16="http://schemas.microsoft.com/office/drawing/2014/main" id="{B6EAB246-B663-4A41-8B59-3DC8A4F45E19}"/>
              </a:ext>
            </a:extLst>
          </p:cNvPr>
          <p:cNvSpPr/>
          <p:nvPr/>
        </p:nvSpPr>
        <p:spPr>
          <a:xfrm>
            <a:off x="3352800" y="2870200"/>
            <a:ext cx="13462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TIRM</a:t>
            </a:r>
          </a:p>
        </p:txBody>
      </p:sp>
      <p:sp>
        <p:nvSpPr>
          <p:cNvPr id="9" name="Rectángulo 8">
            <a:extLst>
              <a:ext uri="{FF2B5EF4-FFF2-40B4-BE49-F238E27FC236}">
                <a16:creationId xmlns:a16="http://schemas.microsoft.com/office/drawing/2014/main" id="{2E5191AA-5E7B-45AE-BDC5-92EDB4C6A816}"/>
              </a:ext>
            </a:extLst>
          </p:cNvPr>
          <p:cNvSpPr/>
          <p:nvPr/>
        </p:nvSpPr>
        <p:spPr>
          <a:xfrm>
            <a:off x="457200" y="3733800"/>
            <a:ext cx="13462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CAUE</a:t>
            </a:r>
          </a:p>
        </p:txBody>
      </p:sp>
      <p:sp>
        <p:nvSpPr>
          <p:cNvPr id="10" name="Rectángulo 9">
            <a:extLst>
              <a:ext uri="{FF2B5EF4-FFF2-40B4-BE49-F238E27FC236}">
                <a16:creationId xmlns:a16="http://schemas.microsoft.com/office/drawing/2014/main" id="{EB3F0CCD-8B2F-4E27-A051-B79711C30E95}"/>
              </a:ext>
            </a:extLst>
          </p:cNvPr>
          <p:cNvSpPr/>
          <p:nvPr/>
        </p:nvSpPr>
        <p:spPr>
          <a:xfrm>
            <a:off x="1905000" y="3733800"/>
            <a:ext cx="13462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TIRI</a:t>
            </a:r>
          </a:p>
        </p:txBody>
      </p:sp>
      <p:sp>
        <p:nvSpPr>
          <p:cNvPr id="11" name="Rectángulo 10">
            <a:extLst>
              <a:ext uri="{FF2B5EF4-FFF2-40B4-BE49-F238E27FC236}">
                <a16:creationId xmlns:a16="http://schemas.microsoft.com/office/drawing/2014/main" id="{4DBEC7C0-8E57-4A62-A3F9-9746BE294AA9}"/>
              </a:ext>
            </a:extLst>
          </p:cNvPr>
          <p:cNvSpPr/>
          <p:nvPr/>
        </p:nvSpPr>
        <p:spPr>
          <a:xfrm>
            <a:off x="3352800" y="3733800"/>
            <a:ext cx="13462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PRI</a:t>
            </a:r>
          </a:p>
        </p:txBody>
      </p:sp>
      <p:sp>
        <p:nvSpPr>
          <p:cNvPr id="12" name="CuadroTexto 11">
            <a:extLst>
              <a:ext uri="{FF2B5EF4-FFF2-40B4-BE49-F238E27FC236}">
                <a16:creationId xmlns:a16="http://schemas.microsoft.com/office/drawing/2014/main" id="{D837C469-D4AF-4CF6-9D63-F0ED7E0C12EB}"/>
              </a:ext>
            </a:extLst>
          </p:cNvPr>
          <p:cNvSpPr txBox="1"/>
          <p:nvPr/>
        </p:nvSpPr>
        <p:spPr>
          <a:xfrm>
            <a:off x="5067300" y="3733800"/>
            <a:ext cx="3619500" cy="7620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Estructura del flujo de caja del proyecto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6283536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Análisis de factibilidad ONUDI</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168400"/>
            <a:ext cx="8229600" cy="685800"/>
          </a:xfrm>
          <a:solidFill>
            <a:srgbClr val="1F3864"/>
          </a:solidFill>
          <a:ln>
            <a:noFill/>
          </a:ln>
        </p:spPr>
        <p:txBody>
          <a:bodyPr wrap="square" anchor="ctr" anchorCtr="0">
            <a:noAutofit/>
          </a:bodyPr>
          <a:lstStyle/>
          <a:p>
            <a:pPr marL="0" indent="0">
              <a:buNone/>
            </a:pPr>
            <a:r>
              <a:rPr lang="es-ES" sz="1600" b="1">
                <a:solidFill>
                  <a:srgbClr val="FFFFFF"/>
                </a:solidFill>
                <a:latin typeface="Calibri"/>
                <a:ea typeface="Calibri"/>
                <a:cs typeface="Calibri"/>
              </a:rPr>
              <a:t>Los siete análisis deben cumplirse: si uno falla, el proyecto no se emprende.</a:t>
            </a:r>
            <a:endParaRPr lang="es-CO" sz="1600" b="1" dirty="0">
              <a:solidFill>
                <a:srgbClr val="FFFFFF"/>
              </a:solidFill>
              <a:latin typeface="Calibri"/>
              <a:ea typeface="Calibri"/>
              <a:cs typeface="Calibri"/>
            </a:endParaRPr>
          </a:p>
        </p:txBody>
      </p:sp>
      <p:pic>
        <p:nvPicPr>
          <p:cNvPr id="32770" name="Picture 2" descr="Image result for CHULO VERD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69000" y="2413000"/>
            <a:ext cx="1778000" cy="181610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CF12C2F5-DE61-4E8D-92E2-A3454CFF57E4}"/>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D98649B8-D7D0-425E-9CC6-7CF5AB78DDFD}"/>
              </a:ext>
            </a:extLst>
          </p:cNvPr>
          <p:cNvSpPr/>
          <p:nvPr/>
        </p:nvSpPr>
        <p:spPr>
          <a:xfrm>
            <a:off x="457200" y="2032000"/>
            <a:ext cx="20828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Entorno y análisis sectorial</a:t>
            </a:r>
          </a:p>
        </p:txBody>
      </p:sp>
      <p:sp>
        <p:nvSpPr>
          <p:cNvPr id="6" name="Rectángulo 5">
            <a:extLst>
              <a:ext uri="{FF2B5EF4-FFF2-40B4-BE49-F238E27FC236}">
                <a16:creationId xmlns:a16="http://schemas.microsoft.com/office/drawing/2014/main" id="{0B238FBC-7160-4BDB-A78E-9F6DBB7A1912}"/>
              </a:ext>
            </a:extLst>
          </p:cNvPr>
          <p:cNvSpPr/>
          <p:nvPr/>
        </p:nvSpPr>
        <p:spPr>
          <a:xfrm>
            <a:off x="2692400" y="2032000"/>
            <a:ext cx="20828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Mercado</a:t>
            </a:r>
          </a:p>
        </p:txBody>
      </p:sp>
      <p:sp>
        <p:nvSpPr>
          <p:cNvPr id="7" name="Rectángulo 6">
            <a:extLst>
              <a:ext uri="{FF2B5EF4-FFF2-40B4-BE49-F238E27FC236}">
                <a16:creationId xmlns:a16="http://schemas.microsoft.com/office/drawing/2014/main" id="{D38505A5-6E54-4BB8-B13C-004E76074D49}"/>
              </a:ext>
            </a:extLst>
          </p:cNvPr>
          <p:cNvSpPr/>
          <p:nvPr/>
        </p:nvSpPr>
        <p:spPr>
          <a:xfrm>
            <a:off x="457200" y="2717800"/>
            <a:ext cx="20828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Técnico</a:t>
            </a:r>
          </a:p>
        </p:txBody>
      </p:sp>
      <p:sp>
        <p:nvSpPr>
          <p:cNvPr id="8" name="Rectángulo 7">
            <a:extLst>
              <a:ext uri="{FF2B5EF4-FFF2-40B4-BE49-F238E27FC236}">
                <a16:creationId xmlns:a16="http://schemas.microsoft.com/office/drawing/2014/main" id="{598A32C3-8051-4D77-BC5F-9DDEF6C04246}"/>
              </a:ext>
            </a:extLst>
          </p:cNvPr>
          <p:cNvSpPr/>
          <p:nvPr/>
        </p:nvSpPr>
        <p:spPr>
          <a:xfrm>
            <a:off x="2692400" y="2717800"/>
            <a:ext cx="20828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Organizacional</a:t>
            </a:r>
          </a:p>
        </p:txBody>
      </p:sp>
      <p:sp>
        <p:nvSpPr>
          <p:cNvPr id="9" name="Rectángulo 8">
            <a:extLst>
              <a:ext uri="{FF2B5EF4-FFF2-40B4-BE49-F238E27FC236}">
                <a16:creationId xmlns:a16="http://schemas.microsoft.com/office/drawing/2014/main" id="{2AE84DD9-BED0-4655-86D2-9854AC72DD47}"/>
              </a:ext>
            </a:extLst>
          </p:cNvPr>
          <p:cNvSpPr/>
          <p:nvPr/>
        </p:nvSpPr>
        <p:spPr>
          <a:xfrm>
            <a:off x="457200" y="3403600"/>
            <a:ext cx="20828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Legal</a:t>
            </a:r>
          </a:p>
        </p:txBody>
      </p:sp>
      <p:sp>
        <p:nvSpPr>
          <p:cNvPr id="10" name="Rectángulo 9">
            <a:extLst>
              <a:ext uri="{FF2B5EF4-FFF2-40B4-BE49-F238E27FC236}">
                <a16:creationId xmlns:a16="http://schemas.microsoft.com/office/drawing/2014/main" id="{D1DFECDD-EAA4-492F-966B-7F6F1B4C19CA}"/>
              </a:ext>
            </a:extLst>
          </p:cNvPr>
          <p:cNvSpPr/>
          <p:nvPr/>
        </p:nvSpPr>
        <p:spPr>
          <a:xfrm>
            <a:off x="2692400" y="3403600"/>
            <a:ext cx="20828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Financiero</a:t>
            </a:r>
          </a:p>
        </p:txBody>
      </p:sp>
      <p:sp>
        <p:nvSpPr>
          <p:cNvPr id="11" name="Rectángulo 10">
            <a:extLst>
              <a:ext uri="{FF2B5EF4-FFF2-40B4-BE49-F238E27FC236}">
                <a16:creationId xmlns:a16="http://schemas.microsoft.com/office/drawing/2014/main" id="{B7464A49-2B0B-40DC-9E67-A2F8C787CC7E}"/>
              </a:ext>
            </a:extLst>
          </p:cNvPr>
          <p:cNvSpPr/>
          <p:nvPr/>
        </p:nvSpPr>
        <p:spPr>
          <a:xfrm>
            <a:off x="457200" y="4089400"/>
            <a:ext cx="20828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Análisis de riesgos</a:t>
            </a:r>
          </a:p>
        </p:txBody>
      </p:sp>
      <p:sp>
        <p:nvSpPr>
          <p:cNvPr id="12" name="CuadroTexto 11">
            <a:extLst>
              <a:ext uri="{FF2B5EF4-FFF2-40B4-BE49-F238E27FC236}">
                <a16:creationId xmlns:a16="http://schemas.microsoft.com/office/drawing/2014/main" id="{F5F6F6D9-113D-48DD-8B15-5371686953AA}"/>
              </a:ext>
            </a:extLst>
          </p:cNvPr>
          <p:cNvSpPr txBox="1"/>
          <p:nvPr/>
        </p:nvSpPr>
        <p:spPr>
          <a:xfrm>
            <a:off x="5461000" y="4318000"/>
            <a:ext cx="27940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Secuencia de los análisis de factibilidad</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253672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5080000" y="1905000"/>
            <a:ext cx="3606800" cy="1778000"/>
          </a:xfrm>
          <a:prstGeom prst="rect">
            <a:avLst/>
          </a:prstGeom>
          <a:solidFill>
            <a:srgbClr val="1F3864"/>
          </a:solidFill>
          <a:ln>
            <a:noFill/>
          </a:ln>
        </p:spPr>
        <p:txBody>
          <a:bodyPr wrap="square" rtlCol="0" anchor="ctr" anchorCtr="0">
            <a:noAutofit/>
          </a:bodyPr>
          <a:lstStyle/>
          <a:p>
            <a:pPr algn="ctr"/>
            <a:endParaRPr lang="es-ES" b="1" dirty="0">
              <a:solidFill>
                <a:srgbClr val="FFFFFF"/>
              </a:solidFill>
              <a:latin typeface="Calibri"/>
              <a:ea typeface="Calibri"/>
              <a:cs typeface="Calibri"/>
            </a:endParaRPr>
          </a:p>
          <a:p>
            <a:pPr algn="ctr"/>
            <a:r>
              <a:rPr lang="es-ES" b="1" dirty="0">
                <a:solidFill>
                  <a:srgbClr val="FFFFFF"/>
                </a:solidFill>
                <a:latin typeface="Calibri"/>
                <a:ea typeface="Calibri"/>
                <a:cs typeface="Calibri"/>
              </a:rPr>
              <a:t>El Gerente de proyectos no es un bombero. No se enfoca en los problemas sino en prevenirlos</a:t>
            </a:r>
          </a:p>
          <a:p>
            <a:pPr algn="ctr"/>
            <a:endParaRPr lang="es-ES" b="1" dirty="0">
              <a:solidFill>
                <a:srgbClr val="FFFFFF"/>
              </a:solidFill>
              <a:latin typeface="Calibri"/>
              <a:ea typeface="Calibri"/>
              <a:cs typeface="Calibri"/>
            </a:endParaRPr>
          </a:p>
        </p:txBody>
      </p:sp>
      <p:sp>
        <p:nvSpPr>
          <p:cNvPr id="5" name="CuadroTexto 4"/>
          <p:cNvSpPr txBox="1"/>
          <p:nvPr/>
        </p:nvSpPr>
        <p:spPr>
          <a:xfrm>
            <a:off x="457200" y="304800"/>
            <a:ext cx="8229600" cy="533400"/>
          </a:xfrm>
          <a:prstGeom prst="rect">
            <a:avLst/>
          </a:prstGeom>
          <a:noFill/>
          <a:ln>
            <a:noFill/>
          </a:ln>
        </p:spPr>
        <p:txBody>
          <a:bodyPr wrap="square" rtlCol="0" anchor="t" anchorCtr="0">
            <a:noAutofit/>
          </a:bodyPr>
          <a:lstStyle/>
          <a:p>
            <a:pPr algn="l"/>
            <a:r>
              <a:rPr lang="es-ES" sz="3000" b="1">
                <a:solidFill>
                  <a:srgbClr val="1F3864"/>
                </a:solidFill>
                <a:latin typeface="Calibri"/>
                <a:ea typeface="Calibri"/>
                <a:cs typeface="Calibri"/>
              </a:rPr>
              <a:t>¿Qué hace un gerente de proyectos?</a:t>
            </a:r>
            <a:endParaRPr lang="es-ES" sz="3000" b="1" dirty="0">
              <a:solidFill>
                <a:srgbClr val="1F3864"/>
              </a:solidFill>
              <a:latin typeface="Calibri"/>
              <a:ea typeface="Calibri"/>
              <a:cs typeface="Calibri"/>
            </a:endParaRPr>
          </a:p>
        </p:txBody>
      </p:sp>
      <p:pic>
        <p:nvPicPr>
          <p:cNvPr id="1028" name="Picture 4" descr="http://www.gifmania.com/Gif-Animados-Paisajes/Imagenes-Elementos-Naturales/Fuego/Incendios/Cabana-Llamas-69107.gif"/>
          <p:cNvPicPr>
            <a:picLocks noChangeAspect="1" noChangeArrowheads="1" noCrop="1"/>
          </p:cNvPicPr>
          <p:nvPr/>
        </p:nvPicPr>
        <p:blipFill>
          <a:blip r:embed="rId2">
            <a:extLst>
              <a:ext uri="{28A0092B-C50C-407E-A947-70E740481C1C}">
                <a14:useLocalDpi xmlns:a14="http://schemas.microsoft.com/office/drawing/2010/main" val="0"/>
              </a:ext>
            </a:extLst>
          </a:blip>
          <a:stretch>
            <a:fillRect/>
          </a:stretch>
        </p:blipFill>
        <p:spPr bwMode="auto">
          <a:xfrm>
            <a:off x="457200" y="1766448"/>
            <a:ext cx="4013200" cy="28044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http://www.gifss.com/profesiones/bomberos/bombero-con-manguera.gif"/>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57200" y="3060700"/>
            <a:ext cx="2297846" cy="2275155"/>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11E4D687-3F20-4548-8B4A-401A9A98AF0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CuadroTexto 2">
            <a:extLst>
              <a:ext uri="{FF2B5EF4-FFF2-40B4-BE49-F238E27FC236}">
                <a16:creationId xmlns:a16="http://schemas.microsoft.com/office/drawing/2014/main" id="{5903BBFF-BA8C-4B52-90E4-5E138C6F9E6A}"/>
              </a:ext>
            </a:extLst>
          </p:cNvPr>
          <p:cNvSpPr txBox="1"/>
          <p:nvPr/>
        </p:nvSpPr>
        <p:spPr>
          <a:xfrm>
            <a:off x="5080000" y="3810000"/>
            <a:ext cx="36068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El foco está en prevenir, no en apagar incendios</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3573365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Resultado de imagen para el riesgo"/>
          <p:cNvPicPr>
            <a:picLocks noChangeAspect="1" noChangeArrowheads="1"/>
          </p:cNvPicPr>
          <p:nvPr/>
        </p:nvPicPr>
        <p:blipFill>
          <a:blip r:embed="rId2">
            <a:extLst>
              <a:ext uri="{28A0092B-C50C-407E-A947-70E740481C1C}">
                <a14:useLocalDpi xmlns:a14="http://schemas.microsoft.com/office/drawing/2010/main" val="0"/>
              </a:ext>
            </a:extLst>
          </a:blip>
          <a:srcRect t="3800" b="6470"/>
          <a:stretch>
            <a:fillRect/>
          </a:stretch>
        </p:blipFill>
        <p:spPr bwMode="auto">
          <a:xfrm>
            <a:off x="1905000" y="1168400"/>
            <a:ext cx="5334000" cy="31877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BC198371-4019-49A5-92BB-A7792E4CF98F}"/>
              </a:ext>
            </a:extLst>
          </p:cNvPr>
          <p:cNvSpPr/>
          <p:nvPr/>
        </p:nvSpPr>
        <p:spPr>
          <a:xfrm>
            <a:off x="457200" y="4572000"/>
            <a:ext cx="8229600" cy="9144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3200" b="1">
                <a:solidFill>
                  <a:srgbClr val="FFFFFF"/>
                </a:solidFill>
                <a:latin typeface="Calibri"/>
                <a:ea typeface="Calibri"/>
                <a:cs typeface="Calibri"/>
              </a:rPr>
              <a:t>Análisis de riesgo</a:t>
            </a:r>
          </a:p>
        </p:txBody>
      </p:sp>
    </p:spTree>
    <p:extLst>
      <p:ext uri="{BB962C8B-B14F-4D97-AF65-F5344CB8AC3E}">
        <p14:creationId xmlns:p14="http://schemas.microsoft.com/office/powerpoint/2010/main" val="145557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457200" y="304800"/>
            <a:ext cx="8229600" cy="533400"/>
          </a:xfrm>
          <a:prstGeom prst="rect">
            <a:avLst/>
          </a:prstGeom>
          <a:noFill/>
          <a:ln>
            <a:noFill/>
          </a:ln>
        </p:spPr>
        <p:txBody>
          <a:bodyPr wrap="square" rtlCol="0" anchor="t" anchorCtr="0">
            <a:noAutofit/>
          </a:bodyPr>
          <a:lstStyle/>
          <a:p>
            <a:pPr algn="l"/>
            <a:r>
              <a:rPr lang="es-MX" sz="3000" b="1">
                <a:solidFill>
                  <a:srgbClr val="1F3864"/>
                </a:solidFill>
                <a:latin typeface="Calibri"/>
                <a:ea typeface="Calibri"/>
                <a:cs typeface="Calibri"/>
              </a:rPr>
              <a:t>La incertidumbre</a:t>
            </a:r>
            <a:endParaRPr lang="es-ES" sz="3000" b="1" dirty="0">
              <a:solidFill>
                <a:srgbClr val="1F3864"/>
              </a:solidFill>
              <a:latin typeface="Calibri"/>
              <a:ea typeface="Calibri"/>
              <a:cs typeface="Calibri"/>
            </a:endParaRPr>
          </a:p>
        </p:txBody>
      </p:sp>
      <p:pic>
        <p:nvPicPr>
          <p:cNvPr id="18434" name="Picture 2" descr="Resultado de imagen para incertidumb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2900" y="2438400"/>
            <a:ext cx="3378200" cy="2514600"/>
          </a:xfrm>
          <a:prstGeom prst="rect">
            <a:avLst/>
          </a:prstGeom>
          <a:noFill/>
          <a:effectLst>
            <a:softEdge rad="127000"/>
          </a:effectLst>
          <a:extLst>
            <a:ext uri="{909E8E84-426E-40DD-AFC4-6F175D3DCCD1}">
              <a14:hiddenFill xmlns:a14="http://schemas.microsoft.com/office/drawing/2010/main">
                <a:solidFill>
                  <a:srgbClr val="FFFFFF"/>
                </a:solidFill>
              </a14:hiddenFill>
            </a:ext>
          </a:extLst>
        </p:spPr>
      </p:pic>
      <p:sp>
        <p:nvSpPr>
          <p:cNvPr id="9" name="CuadroTexto 8"/>
          <p:cNvSpPr txBox="1"/>
          <p:nvPr/>
        </p:nvSpPr>
        <p:spPr>
          <a:xfrm>
            <a:off x="457200" y="1168400"/>
            <a:ext cx="8229600" cy="1066800"/>
          </a:xfrm>
          <a:prstGeom prst="rect">
            <a:avLst/>
          </a:prstGeom>
          <a:solidFill>
            <a:srgbClr val="1F3864"/>
          </a:solidFill>
          <a:ln>
            <a:noFill/>
          </a:ln>
        </p:spPr>
        <p:txBody>
          <a:bodyPr wrap="square" rtlCol="0" anchor="ctr" anchorCtr="0">
            <a:noAutofit/>
          </a:bodyPr>
          <a:lstStyle/>
          <a:p>
            <a:pPr eaLnBrk="0" hangingPunct="0">
              <a:lnSpc>
                <a:spcPct val="150000"/>
              </a:lnSpc>
              <a:spcBef>
                <a:spcPct val="20000"/>
              </a:spcBef>
              <a:buClr>
                <a:schemeClr val="bg2"/>
              </a:buClr>
              <a:buSzPct val="75000"/>
            </a:pPr>
            <a:r>
              <a:rPr lang="es-ES" b="1">
                <a:solidFill>
                  <a:srgbClr val="FFFFFF"/>
                </a:solidFill>
                <a:latin typeface="Calibri"/>
                <a:ea typeface="Calibri"/>
                <a:cs typeface="Calibri"/>
              </a:rPr>
              <a:t>Es aquello que se desconoce y de lo que no se está seguro; por eso genera inquietud y, en algunos casos, angustia.</a:t>
            </a:r>
            <a:endParaRPr lang="es-ES" b="1" dirty="0">
              <a:solidFill>
                <a:srgbClr val="FFFFFF"/>
              </a:solidFill>
              <a:latin typeface="Calibri"/>
              <a:ea typeface="Calibri"/>
              <a:cs typeface="Calibri"/>
            </a:endParaRPr>
          </a:p>
        </p:txBody>
      </p:sp>
      <p:sp>
        <p:nvSpPr>
          <p:cNvPr id="12" name="Rectángulo 11"/>
          <p:cNvSpPr/>
          <p:nvPr/>
        </p:nvSpPr>
        <p:spPr>
          <a:xfrm>
            <a:off x="457200" y="5257800"/>
            <a:ext cx="8229600" cy="464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s-CO" sz="1200" dirty="0">
                <a:solidFill>
                  <a:schemeClr val="tx1"/>
                </a:solidFill>
              </a:rPr>
              <a:t>Tomado de: Modelación de Riesgos. </a:t>
            </a:r>
            <a:r>
              <a:rPr lang="es-CO" sz="1200" dirty="0" err="1">
                <a:solidFill>
                  <a:schemeClr val="tx1"/>
                </a:solidFill>
              </a:rPr>
              <a:t>Vol</a:t>
            </a:r>
            <a:r>
              <a:rPr lang="es-CO" sz="1200" dirty="0">
                <a:solidFill>
                  <a:schemeClr val="tx1"/>
                </a:solidFill>
              </a:rPr>
              <a:t> I. Johnathan Mun. Ed. Thomson-Shore.3ra edición. </a:t>
            </a:r>
          </a:p>
        </p:txBody>
      </p:sp>
      <p:sp>
        <p:nvSpPr>
          <p:cNvPr id="2" name="Rectángulo 1">
            <a:extLst>
              <a:ext uri="{FF2B5EF4-FFF2-40B4-BE49-F238E27FC236}">
                <a16:creationId xmlns:a16="http://schemas.microsoft.com/office/drawing/2014/main" id="{316EBB15-15F9-4A88-BB96-7111CD211F84}"/>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E42161BF-170C-4AA9-B2C8-A179255BCFC5}"/>
              </a:ext>
            </a:extLst>
          </p:cNvPr>
          <p:cNvSpPr txBox="1"/>
          <p:nvPr/>
        </p:nvSpPr>
        <p:spPr>
          <a:xfrm>
            <a:off x="2882900" y="4978400"/>
            <a:ext cx="33782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La incertidumbre como distribución de resultados posibles</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739189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57200" y="1600200"/>
            <a:ext cx="2641600" cy="3175000"/>
          </a:xfrm>
          <a:prstGeom prst="rect">
            <a:avLst/>
          </a:prstGeom>
          <a:solidFill>
            <a:srgbClr val="F2F5F9"/>
          </a:solidFill>
          <a:ln>
            <a:noFill/>
          </a:ln>
        </p:spPr>
        <p:txBody>
          <a:bodyPr wrap="square" rtlCol="0" anchor="t" anchorCtr="0">
            <a:noAutofit/>
          </a:bodyPr>
          <a:lstStyle/>
          <a:p>
            <a:pPr>
              <a:lnSpc>
                <a:spcPct val="150000"/>
              </a:lnSpc>
            </a:pPr>
            <a:r>
              <a:rPr lang="es-ES" sz="1400">
                <a:solidFill>
                  <a:srgbClr val="404040"/>
                </a:solidFill>
                <a:latin typeface="Calibri"/>
                <a:ea typeface="Calibri"/>
                <a:cs typeface="Calibri"/>
              </a:rPr>
              <a:t>El riesgo era la inevitabilidad de la causalidad, más allá del control humano: el azar ocurría en la naturaleza y las personas estaban sometidas a él.</a:t>
            </a:r>
            <a:endParaRPr lang="es-ES" sz="1400" dirty="0">
              <a:solidFill>
                <a:srgbClr val="404040"/>
              </a:solidFill>
              <a:latin typeface="Calibri"/>
              <a:ea typeface="Calibri"/>
              <a:cs typeface="Calibri"/>
            </a:endParaRPr>
          </a:p>
        </p:txBody>
      </p:sp>
      <p:sp>
        <p:nvSpPr>
          <p:cNvPr id="3" name="CuadroTexto 2"/>
          <p:cNvSpPr txBox="1"/>
          <p:nvPr/>
        </p:nvSpPr>
        <p:spPr>
          <a:xfrm>
            <a:off x="457200" y="304800"/>
            <a:ext cx="8229600" cy="533400"/>
          </a:xfrm>
          <a:prstGeom prst="rect">
            <a:avLst/>
          </a:prstGeom>
          <a:noFill/>
          <a:ln>
            <a:noFill/>
          </a:ln>
        </p:spPr>
        <p:txBody>
          <a:bodyPr wrap="square" rtlCol="0" anchor="t" anchorCtr="0">
            <a:noAutofit/>
          </a:bodyPr>
          <a:lstStyle/>
          <a:p>
            <a:pPr algn="l"/>
            <a:r>
              <a:rPr lang="es-MX" sz="3000" b="1">
                <a:solidFill>
                  <a:srgbClr val="1F3864"/>
                </a:solidFill>
                <a:latin typeface="Calibri"/>
                <a:ea typeface="Calibri"/>
                <a:cs typeface="Calibri"/>
              </a:rPr>
              <a:t>Antecedentes del riesgo</a:t>
            </a:r>
            <a:endParaRPr lang="es-ES" sz="3000" b="1" dirty="0">
              <a:solidFill>
                <a:srgbClr val="1F3864"/>
              </a:solidFill>
              <a:latin typeface="Calibri"/>
              <a:ea typeface="Calibri"/>
              <a:cs typeface="Calibri"/>
            </a:endParaRPr>
          </a:p>
        </p:txBody>
      </p:sp>
      <p:sp>
        <p:nvSpPr>
          <p:cNvPr id="6" name="Rectángulo 5"/>
          <p:cNvSpPr/>
          <p:nvPr/>
        </p:nvSpPr>
        <p:spPr>
          <a:xfrm>
            <a:off x="457200" y="5174777"/>
            <a:ext cx="8229600" cy="464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s-CO" sz="1200" dirty="0">
                <a:solidFill>
                  <a:schemeClr val="tx1"/>
                </a:solidFill>
              </a:rPr>
              <a:t>Tomado de: Modelación de Riesgos. </a:t>
            </a:r>
            <a:r>
              <a:rPr lang="es-CO" sz="1200" dirty="0" err="1">
                <a:solidFill>
                  <a:schemeClr val="tx1"/>
                </a:solidFill>
              </a:rPr>
              <a:t>Vol</a:t>
            </a:r>
            <a:r>
              <a:rPr lang="es-CO" sz="1200" dirty="0">
                <a:solidFill>
                  <a:schemeClr val="tx1"/>
                </a:solidFill>
              </a:rPr>
              <a:t> I. Johnathan Mun. Ed. Thomson-Shore.3ra edición. </a:t>
            </a:r>
          </a:p>
        </p:txBody>
      </p:sp>
      <p:sp>
        <p:nvSpPr>
          <p:cNvPr id="4" name="Rectángulo 3">
            <a:extLst>
              <a:ext uri="{FF2B5EF4-FFF2-40B4-BE49-F238E27FC236}">
                <a16:creationId xmlns:a16="http://schemas.microsoft.com/office/drawing/2014/main" id="{59472909-89B8-42E8-ABB7-93F6383755B0}"/>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BC544099-4E2D-4E4E-A39F-0FC7AAB5BB6D}"/>
              </a:ext>
            </a:extLst>
          </p:cNvPr>
          <p:cNvSpPr/>
          <p:nvPr/>
        </p:nvSpPr>
        <p:spPr>
          <a:xfrm>
            <a:off x="457200" y="1270000"/>
            <a:ext cx="2641600" cy="330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TIEMPOS REMOTOS</a:t>
            </a:r>
          </a:p>
        </p:txBody>
      </p:sp>
      <p:sp>
        <p:nvSpPr>
          <p:cNvPr id="7" name="Rectángulo 6">
            <a:extLst>
              <a:ext uri="{FF2B5EF4-FFF2-40B4-BE49-F238E27FC236}">
                <a16:creationId xmlns:a16="http://schemas.microsoft.com/office/drawing/2014/main" id="{BB59955E-9C51-492C-9F78-A4CC0E850174}"/>
              </a:ext>
            </a:extLst>
          </p:cNvPr>
          <p:cNvSpPr/>
          <p:nvPr/>
        </p:nvSpPr>
        <p:spPr>
          <a:xfrm>
            <a:off x="3251200" y="1270000"/>
            <a:ext cx="2641600" cy="330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AÑOS 1600</a:t>
            </a:r>
          </a:p>
        </p:txBody>
      </p:sp>
      <p:sp>
        <p:nvSpPr>
          <p:cNvPr id="8" name="Rectángulo 7">
            <a:extLst>
              <a:ext uri="{FF2B5EF4-FFF2-40B4-BE49-F238E27FC236}">
                <a16:creationId xmlns:a16="http://schemas.microsoft.com/office/drawing/2014/main" id="{68BD32CF-D38E-489B-898C-7A593683CAF1}"/>
              </a:ext>
            </a:extLst>
          </p:cNvPr>
          <p:cNvSpPr/>
          <p:nvPr/>
        </p:nvSpPr>
        <p:spPr>
          <a:xfrm>
            <a:off x="3251200" y="1600200"/>
            <a:ext cx="2641600" cy="3175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400">
                <a:solidFill>
                  <a:srgbClr val="404040"/>
                </a:solidFill>
                <a:latin typeface="Calibri"/>
                <a:ea typeface="Calibri"/>
                <a:cs typeface="Calibri"/>
              </a:rPr>
              <a:t>Blaise Pascal estudia por primera vez el concepto de azar.</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B020942E-86B8-4162-A6DB-38D8F7428B20}"/>
              </a:ext>
            </a:extLst>
          </p:cNvPr>
          <p:cNvSpPr/>
          <p:nvPr/>
        </p:nvSpPr>
        <p:spPr>
          <a:xfrm>
            <a:off x="6045200" y="1270000"/>
            <a:ext cx="2641600" cy="330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SIGLOS XVII A XIX</a:t>
            </a:r>
          </a:p>
        </p:txBody>
      </p:sp>
      <p:sp>
        <p:nvSpPr>
          <p:cNvPr id="10" name="Rectángulo 9">
            <a:extLst>
              <a:ext uri="{FF2B5EF4-FFF2-40B4-BE49-F238E27FC236}">
                <a16:creationId xmlns:a16="http://schemas.microsoft.com/office/drawing/2014/main" id="{0025F3A8-B4DE-43BF-8EBD-B688B5C9DE61}"/>
              </a:ext>
            </a:extLst>
          </p:cNvPr>
          <p:cNvSpPr/>
          <p:nvPr/>
        </p:nvSpPr>
        <p:spPr>
          <a:xfrm>
            <a:off x="6045200" y="1600200"/>
            <a:ext cx="2641600" cy="3175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400">
                <a:solidFill>
                  <a:srgbClr val="404040"/>
                </a:solidFill>
                <a:latin typeface="Calibri"/>
                <a:ea typeface="Calibri"/>
                <a:cs typeface="Calibri"/>
              </a:rPr>
              <a:t>Pascal, Bernoulli, Bayes, Gauss, Laplace y Fermat desarrollan las matemáticas y la estadística que hoy permiten explicar el riesgo y la incertidumbre.</a:t>
            </a:r>
            <a:endParaRPr lang="es-CO" sz="1400">
              <a:solidFill>
                <a:srgbClr val="404040"/>
              </a:solidFill>
              <a:latin typeface="Calibri"/>
              <a:ea typeface="Calibri"/>
              <a:cs typeface="Calibri"/>
            </a:endParaRPr>
          </a:p>
        </p:txBody>
      </p:sp>
      <p:sp>
        <p:nvSpPr>
          <p:cNvPr id="11" name="CuadroTexto 10">
            <a:extLst>
              <a:ext uri="{FF2B5EF4-FFF2-40B4-BE49-F238E27FC236}">
                <a16:creationId xmlns:a16="http://schemas.microsoft.com/office/drawing/2014/main" id="{4613CAEA-1A87-4B12-8B28-3EDDBEBDD9DD}"/>
              </a:ext>
            </a:extLst>
          </p:cNvPr>
          <p:cNvSpPr txBox="1"/>
          <p:nvPr/>
        </p:nvSpPr>
        <p:spPr>
          <a:xfrm>
            <a:off x="457200" y="4876800"/>
            <a:ext cx="8229600" cy="228600"/>
          </a:xfrm>
          <a:prstGeom prst="rect">
            <a:avLst/>
          </a:prstGeom>
          <a:noFill/>
        </p:spPr>
        <p:txBody>
          <a:bodyPr vertOverflow="overflow" vert="horz" wrap="square" rtlCol="0" anchor="t">
            <a:noAutofit/>
          </a:bodyPr>
          <a:lstStyle/>
          <a:p>
            <a:pPr algn="l"/>
            <a:r>
              <a:rPr lang="es-ES" sz="1100">
                <a:solidFill>
                  <a:srgbClr val="404040"/>
                </a:solidFill>
                <a:latin typeface="Calibri"/>
                <a:ea typeface="Calibri"/>
                <a:cs typeface="Calibri"/>
              </a:rPr>
              <a:t>Del azar inevitable al riesgo medible</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098801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p:cNvSpPr txBox="1"/>
          <p:nvPr/>
        </p:nvSpPr>
        <p:spPr>
          <a:xfrm>
            <a:off x="457200" y="304800"/>
            <a:ext cx="8229600" cy="553998"/>
          </a:xfrm>
          <a:prstGeom prst="rect">
            <a:avLst/>
          </a:prstGeom>
          <a:noFill/>
        </p:spPr>
        <p:txBody>
          <a:bodyPr wrap="square" rtlCol="0">
            <a:spAutoFit/>
          </a:bodyPr>
          <a:lstStyle/>
          <a:p>
            <a:pPr algn="l"/>
            <a:r>
              <a:rPr lang="es-CO" sz="3000" b="1" dirty="0">
                <a:solidFill>
                  <a:srgbClr val="1F3864"/>
                </a:solidFill>
                <a:latin typeface="Calibri"/>
              </a:rPr>
              <a:t>¿Qué es riesgo?</a:t>
            </a:r>
          </a:p>
        </p:txBody>
      </p:sp>
      <p:sp>
        <p:nvSpPr>
          <p:cNvPr id="4" name="Rectángulo 3"/>
          <p:cNvSpPr/>
          <p:nvPr/>
        </p:nvSpPr>
        <p:spPr>
          <a:xfrm>
            <a:off x="457200" y="2895600"/>
            <a:ext cx="4267200" cy="2044700"/>
          </a:xfrm>
          <a:prstGeom prst="rect">
            <a:avLst/>
          </a:prstGeom>
          <a:solidFill>
            <a:srgbClr val="1F3864"/>
          </a:solidFill>
          <a:ln>
            <a:noFill/>
          </a:ln>
        </p:spPr>
        <p:txBody>
          <a:bodyPr wrap="square" anchor="ctr" anchorCtr="0">
            <a:noAutofit/>
          </a:bodyPr>
          <a:lstStyle/>
          <a:p>
            <a:pPr algn="l">
              <a:lnSpc>
                <a:spcPct val="100000"/>
              </a:lnSpc>
              <a:buNone/>
            </a:pPr>
            <a:r>
              <a:rPr lang="es-CO" sz="1600" b="1" dirty="0">
                <a:solidFill>
                  <a:srgbClr val="FFFFFF"/>
                </a:solidFill>
                <a:latin typeface="Calibri"/>
              </a:rPr>
              <a:t>Riesgo es la probabilidad de que acontezca un evento no deseado: la contingencia o proximidad de un daño.</a:t>
            </a:r>
          </a:p>
        </p:txBody>
      </p:sp>
      <p:pic>
        <p:nvPicPr>
          <p:cNvPr id="6" name="Imagen 5"/>
          <p:cNvPicPr>
            <a:picLocks noChangeAspect="1"/>
          </p:cNvPicPr>
          <p:nvPr/>
        </p:nvPicPr>
        <p:blipFill>
          <a:blip r:embed="rId2"/>
          <a:stretch>
            <a:fillRect/>
          </a:stretch>
        </p:blipFill>
        <p:spPr>
          <a:xfrm>
            <a:off x="5080000" y="3050003"/>
            <a:ext cx="3606800" cy="1735893"/>
          </a:xfrm>
          <a:prstGeom prst="rect">
            <a:avLst/>
          </a:prstGeom>
        </p:spPr>
      </p:pic>
      <p:sp>
        <p:nvSpPr>
          <p:cNvPr id="7" name="CuadroTexto 6">
            <a:extLst>
              <a:ext uri="{FF2B5EF4-FFF2-40B4-BE49-F238E27FC236}">
                <a16:creationId xmlns:a16="http://schemas.microsoft.com/office/drawing/2014/main" id="{45393660-C92B-F7DA-E3EC-C62CB668AD59}"/>
              </a:ext>
            </a:extLst>
          </p:cNvPr>
          <p:cNvSpPr txBox="1"/>
          <p:nvPr/>
        </p:nvSpPr>
        <p:spPr>
          <a:xfrm>
            <a:off x="457200" y="1168400"/>
            <a:ext cx="3987800" cy="1473200"/>
          </a:xfrm>
          <a:prstGeom prst="rect">
            <a:avLst/>
          </a:prstGeom>
          <a:solidFill>
            <a:srgbClr val="F2F5F9"/>
          </a:solidFill>
          <a:ln>
            <a:noFill/>
          </a:ln>
        </p:spPr>
        <p:txBody>
          <a:bodyPr wrap="square" anchor="t" anchorCtr="0">
            <a:noAutofit/>
          </a:bodyPr>
          <a:lstStyle/>
          <a:p>
            <a:pPr algn="l">
              <a:lnSpc>
                <a:spcPct val="95000"/>
              </a:lnSpc>
              <a:spcAft>
                <a:spcPts val="400"/>
              </a:spcAft>
              <a:buNone/>
            </a:pPr>
            <a:r>
              <a:rPr lang="es-CO" sz="1200" b="1" dirty="0">
                <a:solidFill>
                  <a:srgbClr val="ED7D31"/>
                </a:solidFill>
                <a:latin typeface="Calibri"/>
              </a:rPr>
              <a:t>RAÍZ LATINA</a:t>
            </a:r>
          </a:p>
          <a:p>
            <a:pPr algn="l">
              <a:lnSpc>
                <a:spcPct val="95000"/>
              </a:lnSpc>
              <a:spcAft>
                <a:spcPts val="400"/>
              </a:spcAft>
              <a:buNone/>
            </a:pPr>
            <a:r>
              <a:rPr lang="es-CO" sz="1400" dirty="0">
                <a:solidFill>
                  <a:srgbClr val="404040"/>
                </a:solidFill>
                <a:latin typeface="Calibri"/>
              </a:rPr>
              <a:t>Del latín </a:t>
            </a:r>
            <a:r>
              <a:rPr lang="es-CO" sz="1400" i="1" dirty="0">
                <a:solidFill>
                  <a:srgbClr val="404040"/>
                </a:solidFill>
                <a:latin typeface="Calibri"/>
              </a:rPr>
              <a:t>resecare</a:t>
            </a:r>
            <a:r>
              <a:rPr lang="es-CO" sz="1400" dirty="0">
                <a:solidFill>
                  <a:srgbClr val="404040"/>
                </a:solidFill>
                <a:latin typeface="Calibri"/>
              </a:rPr>
              <a:t>, cortar o dividir. Evoca un risco o peñasco escarpado, </a:t>
            </a:r>
            <a:r>
              <a:rPr lang="es-CO" sz="1400" i="1" dirty="0">
                <a:solidFill>
                  <a:srgbClr val="404040"/>
                </a:solidFill>
                <a:latin typeface="Calibri"/>
              </a:rPr>
              <a:t>riesco</a:t>
            </a:r>
            <a:r>
              <a:rPr lang="es-CO" sz="1400" dirty="0">
                <a:solidFill>
                  <a:srgbClr val="404040"/>
                </a:solidFill>
                <a:latin typeface="Calibri"/>
              </a:rPr>
              <a:t> en castellano antiguo.</a:t>
            </a:r>
          </a:p>
        </p:txBody>
      </p:sp>
      <p:sp>
        <p:nvSpPr>
          <p:cNvPr id="9" name="CuadroTexto 8">
            <a:extLst>
              <a:ext uri="{FF2B5EF4-FFF2-40B4-BE49-F238E27FC236}">
                <a16:creationId xmlns:a16="http://schemas.microsoft.com/office/drawing/2014/main" id="{17DB3843-FFB8-F78C-1233-70482702C702}"/>
              </a:ext>
            </a:extLst>
          </p:cNvPr>
          <p:cNvSpPr txBox="1"/>
          <p:nvPr/>
        </p:nvSpPr>
        <p:spPr>
          <a:xfrm>
            <a:off x="4699000" y="1168400"/>
            <a:ext cx="3987800" cy="1473200"/>
          </a:xfrm>
          <a:prstGeom prst="rect">
            <a:avLst/>
          </a:prstGeom>
          <a:solidFill>
            <a:srgbClr val="F2F5F9"/>
          </a:solidFill>
          <a:ln>
            <a:noFill/>
          </a:ln>
        </p:spPr>
        <p:txBody>
          <a:bodyPr wrap="square" anchor="t" anchorCtr="0">
            <a:noAutofit/>
          </a:bodyPr>
          <a:lstStyle/>
          <a:p>
            <a:pPr algn="l">
              <a:lnSpc>
                <a:spcPct val="95000"/>
              </a:lnSpc>
              <a:spcAft>
                <a:spcPts val="400"/>
              </a:spcAft>
              <a:buNone/>
            </a:pPr>
            <a:r>
              <a:rPr lang="es-CO" sz="1200" b="1" dirty="0">
                <a:solidFill>
                  <a:srgbClr val="ED7D31"/>
                </a:solidFill>
                <a:latin typeface="Calibri"/>
              </a:rPr>
              <a:t>VÍA ÁRABE E ITALIANA</a:t>
            </a:r>
          </a:p>
          <a:p>
            <a:pPr algn="l">
              <a:lnSpc>
                <a:spcPct val="95000"/>
              </a:lnSpc>
              <a:spcAft>
                <a:spcPts val="400"/>
              </a:spcAft>
              <a:buNone/>
            </a:pPr>
            <a:r>
              <a:rPr lang="es-CO" sz="1400" dirty="0">
                <a:solidFill>
                  <a:srgbClr val="404040"/>
                </a:solidFill>
                <a:latin typeface="Calibri"/>
              </a:rPr>
              <a:t>Según la RAE, del árabe </a:t>
            </a:r>
            <a:r>
              <a:rPr lang="es-CO" sz="1400" i="1" dirty="0">
                <a:solidFill>
                  <a:srgbClr val="404040"/>
                </a:solidFill>
                <a:latin typeface="Calibri"/>
              </a:rPr>
              <a:t>rizq</a:t>
            </a:r>
            <a:r>
              <a:rPr lang="es-CO" sz="1400" dirty="0">
                <a:solidFill>
                  <a:srgbClr val="404040"/>
                </a:solidFill>
                <a:latin typeface="Calibri"/>
              </a:rPr>
              <a:t>, lo que depara la providencia. Pasó por el italiano </a:t>
            </a:r>
            <a:r>
              <a:rPr lang="es-CO" sz="1400" i="1" dirty="0">
                <a:solidFill>
                  <a:srgbClr val="404040"/>
                </a:solidFill>
                <a:latin typeface="Calibri"/>
              </a:rPr>
              <a:t>rischio</a:t>
            </a:r>
            <a:r>
              <a:rPr lang="es-CO" sz="1400" dirty="0">
                <a:solidFill>
                  <a:srgbClr val="404040"/>
                </a:solidFill>
                <a:latin typeface="Calibri"/>
              </a:rPr>
              <a:t> en el siglo XVI, usado en el comercio marítimo genovés como peligro de pérdida de bienes.</a:t>
            </a:r>
          </a:p>
        </p:txBody>
      </p:sp>
      <p:sp>
        <p:nvSpPr>
          <p:cNvPr id="2" name="Rectángulo 1">
            <a:extLst>
              <a:ext uri="{FF2B5EF4-FFF2-40B4-BE49-F238E27FC236}">
                <a16:creationId xmlns:a16="http://schemas.microsoft.com/office/drawing/2014/main" id="{D4DCEF51-177A-4AC2-8D4F-249D0AC6449F}"/>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1BD73529-BFAF-4791-AE7F-E4DA3600509A}"/>
              </a:ext>
            </a:extLst>
          </p:cNvPr>
          <p:cNvSpPr txBox="1"/>
          <p:nvPr/>
        </p:nvSpPr>
        <p:spPr>
          <a:xfrm>
            <a:off x="5080000" y="5003800"/>
            <a:ext cx="36068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Distribución de probabilidad del evento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792033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descr="Image result for terminolog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61000" y="3251200"/>
            <a:ext cx="1651000" cy="15875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4" name="3 CuadroTexto"/>
          <p:cNvSpPr txBox="1"/>
          <p:nvPr/>
        </p:nvSpPr>
        <p:spPr>
          <a:xfrm>
            <a:off x="457200" y="1346200"/>
            <a:ext cx="3987800" cy="787400"/>
          </a:xfrm>
          <a:prstGeom prst="rect">
            <a:avLst/>
          </a:prstGeom>
          <a:solidFill>
            <a:srgbClr val="F2F5F9"/>
          </a:solidFill>
          <a:ln>
            <a:noFill/>
          </a:ln>
        </p:spPr>
        <p:txBody>
          <a:bodyPr wrap="square" rtlCol="0" anchor="t" anchorCtr="0">
            <a:noAutofit/>
          </a:bodyPr>
          <a:lstStyle/>
          <a:p>
            <a:r>
              <a:rPr lang="es-ES" sz="1400">
                <a:solidFill>
                  <a:srgbClr val="404040"/>
                </a:solidFill>
                <a:latin typeface="Calibri"/>
                <a:ea typeface="Calibri"/>
                <a:cs typeface="Calibri"/>
              </a:rPr>
              <a:t>Incertidumbre. Falta de conocimiento sobre el riesgo.</a:t>
            </a:r>
            <a:endParaRPr lang="es-CO" sz="1400" dirty="0">
              <a:solidFill>
                <a:srgbClr val="404040"/>
              </a:solidFill>
              <a:latin typeface="Calibri"/>
              <a:ea typeface="Calibri"/>
              <a:cs typeface="Calibri"/>
            </a:endParaRPr>
          </a:p>
        </p:txBody>
      </p:sp>
      <p:sp>
        <p:nvSpPr>
          <p:cNvPr id="3" name="Rectángulo 2"/>
          <p:cNvSpPr/>
          <p:nvPr/>
        </p:nvSpPr>
        <p:spPr>
          <a:xfrm>
            <a:off x="457200" y="279400"/>
            <a:ext cx="3810000" cy="203200"/>
          </a:xfrm>
          <a:prstGeom prst="rect">
            <a:avLst/>
          </a:prstGeom>
          <a:noFill/>
          <a:ln>
            <a:noFill/>
          </a:ln>
        </p:spPr>
        <p:txBody>
          <a:bodyPr wrap="square" anchor="t" anchorCtr="0">
            <a:noAutofit/>
          </a:bodyPr>
          <a:lstStyle/>
          <a:p>
            <a:pPr algn="ctr">
              <a:defRPr/>
            </a:pPr>
            <a:r>
              <a:rPr lang="es-CO" sz="1200" b="1">
                <a:solidFill>
                  <a:srgbClr val="ED7D31"/>
                </a:solidFill>
                <a:latin typeface="Calibri"/>
                <a:ea typeface="Calibri"/>
                <a:cs typeface="Calibri"/>
              </a:rPr>
              <a:t>TERMINOLOGÍA</a:t>
            </a:r>
            <a:endParaRPr lang="es-CO" sz="1200" b="1" dirty="0">
              <a:solidFill>
                <a:srgbClr val="ED7D31"/>
              </a:solidFill>
              <a:latin typeface="Calibri"/>
              <a:ea typeface="Calibri"/>
              <a:cs typeface="Calibri"/>
            </a:endParaRPr>
          </a:p>
        </p:txBody>
      </p:sp>
      <p:sp>
        <p:nvSpPr>
          <p:cNvPr id="6" name="CuadroTexto 5">
            <a:extLst>
              <a:ext uri="{FF2B5EF4-FFF2-40B4-BE49-F238E27FC236}">
                <a16:creationId xmlns:a16="http://schemas.microsoft.com/office/drawing/2014/main" id="{934851DB-5E2C-4503-9F5B-57ECEBC6BAD4}"/>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Términos básicos del riesgo</a:t>
            </a:r>
          </a:p>
        </p:txBody>
      </p:sp>
      <p:sp>
        <p:nvSpPr>
          <p:cNvPr id="7" name="Rectángulo 6">
            <a:extLst>
              <a:ext uri="{FF2B5EF4-FFF2-40B4-BE49-F238E27FC236}">
                <a16:creationId xmlns:a16="http://schemas.microsoft.com/office/drawing/2014/main" id="{7344C7E0-A5C1-4AE5-95D3-4425805A575E}"/>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7">
            <a:extLst>
              <a:ext uri="{FF2B5EF4-FFF2-40B4-BE49-F238E27FC236}">
                <a16:creationId xmlns:a16="http://schemas.microsoft.com/office/drawing/2014/main" id="{D53F407D-B3AB-4A81-89D6-C3E62C4D854E}"/>
              </a:ext>
            </a:extLst>
          </p:cNvPr>
          <p:cNvSpPr/>
          <p:nvPr/>
        </p:nvSpPr>
        <p:spPr>
          <a:xfrm>
            <a:off x="4699000" y="1346200"/>
            <a:ext cx="3987800" cy="787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400">
                <a:solidFill>
                  <a:srgbClr val="404040"/>
                </a:solidFill>
                <a:latin typeface="Calibri"/>
                <a:ea typeface="Calibri"/>
                <a:cs typeface="Calibri"/>
              </a:rPr>
              <a:t>Averso al riesgo. Quien no quiere asumir riesgos.</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75D7D652-04F8-4E45-A3EC-D7FCF8A35BC4}"/>
              </a:ext>
            </a:extLst>
          </p:cNvPr>
          <p:cNvSpPr/>
          <p:nvPr/>
        </p:nvSpPr>
        <p:spPr>
          <a:xfrm>
            <a:off x="457200" y="2235200"/>
            <a:ext cx="3987800" cy="787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400">
                <a:solidFill>
                  <a:srgbClr val="404040"/>
                </a:solidFill>
                <a:latin typeface="Calibri"/>
                <a:ea typeface="Calibri"/>
                <a:cs typeface="Calibri"/>
              </a:rPr>
              <a:t>Tolerancia al riesgo. Grado o nivel de riesgo aceptable.</a:t>
            </a:r>
            <a:endParaRPr lang="es-CO" sz="1400">
              <a:solidFill>
                <a:srgbClr val="404040"/>
              </a:solidFill>
              <a:latin typeface="Calibri"/>
              <a:ea typeface="Calibri"/>
              <a:cs typeface="Calibri"/>
            </a:endParaRPr>
          </a:p>
        </p:txBody>
      </p:sp>
      <p:sp>
        <p:nvSpPr>
          <p:cNvPr id="10" name="Rectángulo 9">
            <a:extLst>
              <a:ext uri="{FF2B5EF4-FFF2-40B4-BE49-F238E27FC236}">
                <a16:creationId xmlns:a16="http://schemas.microsoft.com/office/drawing/2014/main" id="{49DA2331-6353-4D95-8B30-18BAA88C9284}"/>
              </a:ext>
            </a:extLst>
          </p:cNvPr>
          <p:cNvSpPr/>
          <p:nvPr/>
        </p:nvSpPr>
        <p:spPr>
          <a:xfrm>
            <a:off x="4699000" y="2235200"/>
            <a:ext cx="3987800" cy="787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400">
                <a:solidFill>
                  <a:srgbClr val="404040"/>
                </a:solidFill>
                <a:latin typeface="Calibri"/>
                <a:ea typeface="Calibri"/>
                <a:cs typeface="Calibri"/>
              </a:rPr>
              <a:t>Umbrales. Puntos donde el riesgo se vuelve inaceptable.</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F4831BC6-138C-4704-A4CA-7565CB3778C7}"/>
              </a:ext>
            </a:extLst>
          </p:cNvPr>
          <p:cNvSpPr/>
          <p:nvPr/>
        </p:nvSpPr>
        <p:spPr>
          <a:xfrm>
            <a:off x="457200" y="3124200"/>
            <a:ext cx="3987800" cy="1092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400">
                <a:solidFill>
                  <a:srgbClr val="404040"/>
                </a:solidFill>
                <a:latin typeface="Calibri"/>
                <a:ea typeface="Calibri"/>
                <a:cs typeface="Calibri"/>
              </a:rPr>
              <a:t>Valor monetario esperado. Beneficio o costo estimado si el riesgo ocurre: probabilidad por impacto.</a:t>
            </a:r>
            <a:endParaRPr lang="es-CO" sz="1400">
              <a:solidFill>
                <a:srgbClr val="404040"/>
              </a:solidFill>
              <a:latin typeface="Calibri"/>
              <a:ea typeface="Calibri"/>
              <a:cs typeface="Calibri"/>
            </a:endParaRPr>
          </a:p>
        </p:txBody>
      </p:sp>
      <p:sp>
        <p:nvSpPr>
          <p:cNvPr id="12" name="CuadroTexto 11">
            <a:extLst>
              <a:ext uri="{FF2B5EF4-FFF2-40B4-BE49-F238E27FC236}">
                <a16:creationId xmlns:a16="http://schemas.microsoft.com/office/drawing/2014/main" id="{C6434462-8DAD-4299-AFEB-8DEBA8DC4458}"/>
              </a:ext>
            </a:extLst>
          </p:cNvPr>
          <p:cNvSpPr txBox="1"/>
          <p:nvPr/>
        </p:nvSpPr>
        <p:spPr>
          <a:xfrm>
            <a:off x="5080000" y="4876800"/>
            <a:ext cx="36068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términos que estructuran el análisis de riesgo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442619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p:nvPr/>
        </p:nvSpPr>
        <p:spPr>
          <a:xfrm>
            <a:off x="457200" y="1346200"/>
            <a:ext cx="4318000" cy="1143000"/>
          </a:xfrm>
          <a:prstGeom prst="rect">
            <a:avLst/>
          </a:prstGeom>
          <a:solidFill>
            <a:srgbClr val="1F3864"/>
          </a:solidFill>
          <a:ln>
            <a:noFill/>
          </a:ln>
        </p:spPr>
        <p:txBody>
          <a:bodyPr wrap="square" rtlCol="0" anchor="ctr" anchorCtr="0">
            <a:noAutofit/>
          </a:bodyPr>
          <a:lstStyle/>
          <a:p>
            <a:pPr marL="0" indent="0">
              <a:lnSpc>
                <a:spcPct val="150000"/>
              </a:lnSpc>
              <a:buFont typeface="Arial" panose="020B0604020202020204" pitchFamily="34" charset="0"/>
              <a:buNone/>
            </a:pPr>
            <a:r>
              <a:rPr lang="es-ES" sz="1500" b="1">
                <a:solidFill>
                  <a:srgbClr val="FFFFFF"/>
                </a:solidFill>
                <a:latin typeface="Calibri"/>
                <a:ea typeface="Calibri"/>
                <a:cs typeface="Calibri"/>
              </a:rPr>
              <a:t>Riesgos desconocidos o imprevistos: ocurren sin haberse previsto. También se conocen como remanentes.</a:t>
            </a:r>
            <a:endParaRPr lang="es-CO" sz="1500" b="1" dirty="0">
              <a:solidFill>
                <a:srgbClr val="FFFFFF"/>
              </a:solidFill>
              <a:latin typeface="Calibri"/>
              <a:ea typeface="Calibri"/>
              <a:cs typeface="Calibri"/>
            </a:endParaRPr>
          </a:p>
        </p:txBody>
      </p:sp>
      <p:sp>
        <p:nvSpPr>
          <p:cNvPr id="2" name="Rectángulo 1"/>
          <p:cNvSpPr/>
          <p:nvPr/>
        </p:nvSpPr>
        <p:spPr>
          <a:xfrm>
            <a:off x="457200" y="279400"/>
            <a:ext cx="3810000" cy="203200"/>
          </a:xfrm>
          <a:prstGeom prst="rect">
            <a:avLst/>
          </a:prstGeom>
          <a:noFill/>
          <a:ln>
            <a:noFill/>
          </a:ln>
        </p:spPr>
        <p:txBody>
          <a:bodyPr wrap="square" anchor="t" anchorCtr="0">
            <a:noAutofit/>
          </a:bodyPr>
          <a:lstStyle/>
          <a:p>
            <a:pPr algn="ctr">
              <a:defRPr/>
            </a:pPr>
            <a:r>
              <a:rPr lang="es-CO" sz="1200" b="1">
                <a:solidFill>
                  <a:srgbClr val="ED7D31"/>
                </a:solidFill>
                <a:latin typeface="Calibri"/>
                <a:ea typeface="Calibri"/>
                <a:cs typeface="Calibri"/>
              </a:rPr>
              <a:t>TERMINOLOGÍA</a:t>
            </a:r>
            <a:endParaRPr lang="es-CO" sz="1200" b="1" dirty="0">
              <a:solidFill>
                <a:srgbClr val="ED7D31"/>
              </a:solidFill>
              <a:latin typeface="Calibri"/>
              <a:ea typeface="Calibri"/>
              <a:cs typeface="Calibri"/>
            </a:endParaRPr>
          </a:p>
        </p:txBody>
      </p:sp>
      <p:pic>
        <p:nvPicPr>
          <p:cNvPr id="5" name="Picture 2" descr="Image result for terminolog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0000" y="1346200"/>
            <a:ext cx="3606800" cy="34671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444ACAE9-E6A6-4C91-BC51-A1C1285C332D}"/>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ES" sz="3000" b="1">
                <a:solidFill>
                  <a:srgbClr val="1F3864"/>
                </a:solidFill>
                <a:latin typeface="Calibri"/>
                <a:ea typeface="Calibri"/>
                <a:cs typeface="Calibri"/>
              </a:rPr>
              <a:t>Riesgos imprevistos y factores de riesgo</a:t>
            </a:r>
            <a:endParaRPr lang="es-CO" sz="3000" b="1">
              <a:solidFill>
                <a:srgbClr val="1F3864"/>
              </a:solidFill>
              <a:latin typeface="Calibri"/>
              <a:ea typeface="Calibri"/>
              <a:cs typeface="Calibri"/>
            </a:endParaRPr>
          </a:p>
        </p:txBody>
      </p:sp>
      <p:sp>
        <p:nvSpPr>
          <p:cNvPr id="8" name="Rectángulo 7">
            <a:extLst>
              <a:ext uri="{FF2B5EF4-FFF2-40B4-BE49-F238E27FC236}">
                <a16:creationId xmlns:a16="http://schemas.microsoft.com/office/drawing/2014/main" id="{7375F7F5-1C86-4883-9700-7BF52BD2983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9" name="Rectángulo 8">
            <a:extLst>
              <a:ext uri="{FF2B5EF4-FFF2-40B4-BE49-F238E27FC236}">
                <a16:creationId xmlns:a16="http://schemas.microsoft.com/office/drawing/2014/main" id="{6F197FEC-9A80-4D94-96B9-85705EBFC7F9}"/>
              </a:ext>
            </a:extLst>
          </p:cNvPr>
          <p:cNvSpPr/>
          <p:nvPr/>
        </p:nvSpPr>
        <p:spPr>
          <a:xfrm>
            <a:off x="457200" y="2616200"/>
            <a:ext cx="4318000" cy="330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FACTORES DE RIESGO</a:t>
            </a:r>
          </a:p>
        </p:txBody>
      </p:sp>
      <p:sp>
        <p:nvSpPr>
          <p:cNvPr id="10" name="Rectángulo 9">
            <a:extLst>
              <a:ext uri="{FF2B5EF4-FFF2-40B4-BE49-F238E27FC236}">
                <a16:creationId xmlns:a16="http://schemas.microsoft.com/office/drawing/2014/main" id="{F3B3FB1C-2E9B-4E0F-BC87-E10243E7B6C1}"/>
              </a:ext>
            </a:extLst>
          </p:cNvPr>
          <p:cNvSpPr/>
          <p:nvPr/>
        </p:nvSpPr>
        <p:spPr>
          <a:xfrm>
            <a:off x="457200" y="3048000"/>
            <a:ext cx="20828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Probabilidad</a:t>
            </a:r>
          </a:p>
        </p:txBody>
      </p:sp>
      <p:sp>
        <p:nvSpPr>
          <p:cNvPr id="11" name="Rectángulo 10">
            <a:extLst>
              <a:ext uri="{FF2B5EF4-FFF2-40B4-BE49-F238E27FC236}">
                <a16:creationId xmlns:a16="http://schemas.microsoft.com/office/drawing/2014/main" id="{E9834EEA-8ABC-4D89-A782-9643E139A1DB}"/>
              </a:ext>
            </a:extLst>
          </p:cNvPr>
          <p:cNvSpPr/>
          <p:nvPr/>
        </p:nvSpPr>
        <p:spPr>
          <a:xfrm>
            <a:off x="2692400" y="3048000"/>
            <a:ext cx="20828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Impacto o cantidad</a:t>
            </a:r>
          </a:p>
        </p:txBody>
      </p:sp>
      <p:sp>
        <p:nvSpPr>
          <p:cNvPr id="12" name="Rectángulo 11">
            <a:extLst>
              <a:ext uri="{FF2B5EF4-FFF2-40B4-BE49-F238E27FC236}">
                <a16:creationId xmlns:a16="http://schemas.microsoft.com/office/drawing/2014/main" id="{7F342ABA-FF44-4832-BF04-03BF857346E9}"/>
              </a:ext>
            </a:extLst>
          </p:cNvPr>
          <p:cNvSpPr/>
          <p:nvPr/>
        </p:nvSpPr>
        <p:spPr>
          <a:xfrm>
            <a:off x="457200" y="3708400"/>
            <a:ext cx="20828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Momento de ocurrencia</a:t>
            </a:r>
          </a:p>
        </p:txBody>
      </p:sp>
      <p:sp>
        <p:nvSpPr>
          <p:cNvPr id="13" name="Rectángulo 12">
            <a:extLst>
              <a:ext uri="{FF2B5EF4-FFF2-40B4-BE49-F238E27FC236}">
                <a16:creationId xmlns:a16="http://schemas.microsoft.com/office/drawing/2014/main" id="{BE0DC573-400C-4752-B354-8E345E054B7D}"/>
              </a:ext>
            </a:extLst>
          </p:cNvPr>
          <p:cNvSpPr/>
          <p:nvPr/>
        </p:nvSpPr>
        <p:spPr>
          <a:xfrm>
            <a:off x="2692400" y="3708400"/>
            <a:ext cx="20828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Información histórica</a:t>
            </a:r>
          </a:p>
        </p:txBody>
      </p:sp>
      <p:sp>
        <p:nvSpPr>
          <p:cNvPr id="14" name="CuadroTexto 13">
            <a:extLst>
              <a:ext uri="{FF2B5EF4-FFF2-40B4-BE49-F238E27FC236}">
                <a16:creationId xmlns:a16="http://schemas.microsoft.com/office/drawing/2014/main" id="{B127D686-075C-4E0A-AFAF-8ECB5459ACF5}"/>
              </a:ext>
            </a:extLst>
          </p:cNvPr>
          <p:cNvSpPr txBox="1"/>
          <p:nvPr/>
        </p:nvSpPr>
        <p:spPr>
          <a:xfrm>
            <a:off x="5080000" y="4876800"/>
            <a:ext cx="36068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Factores que definen la magnitud del riesgo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410426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2B839CF-468E-4CF3-BDA3-2DF64C78FA3C}"/>
              </a:ext>
            </a:extLst>
          </p:cNvPr>
          <p:cNvSpPr/>
          <p:nvPr/>
        </p:nvSpPr>
        <p:spPr>
          <a:xfrm>
            <a:off x="457200" y="533400"/>
            <a:ext cx="8229600" cy="508000"/>
          </a:xfrm>
          <a:prstGeom prst="rect">
            <a:avLst/>
          </a:prstGeom>
          <a:noFill/>
          <a:ln>
            <a:noFill/>
          </a:ln>
        </p:spPr>
        <p:txBody>
          <a:bodyPr wrap="square" anchor="t" anchorCtr="0">
            <a:noAutofit/>
          </a:bodyPr>
          <a:lstStyle/>
          <a:p>
            <a:pPr algn="l">
              <a:defRPr/>
            </a:pPr>
            <a:r>
              <a:rPr lang="es-CO" sz="3000" b="1">
                <a:solidFill>
                  <a:srgbClr val="1F3864"/>
                </a:solidFill>
                <a:latin typeface="Calibri"/>
                <a:ea typeface="Calibri"/>
                <a:cs typeface="Calibri"/>
              </a:rPr>
              <a:t>Apetito de riesgo</a:t>
            </a:r>
            <a:endParaRPr lang="es-CO" sz="3000" b="1" dirty="0">
              <a:solidFill>
                <a:srgbClr val="1F3864"/>
              </a:solidFill>
              <a:latin typeface="Calibri"/>
              <a:ea typeface="Calibri"/>
              <a:cs typeface="Calibri"/>
            </a:endParaRPr>
          </a:p>
        </p:txBody>
      </p:sp>
      <p:pic>
        <p:nvPicPr>
          <p:cNvPr id="5" name="img906034" descr="d1512957-7864-46f5-ac3b-cc6c265186cd">
            <a:extLst>
              <a:ext uri="{FF2B5EF4-FFF2-40B4-BE49-F238E27FC236}">
                <a16:creationId xmlns:a16="http://schemas.microsoft.com/office/drawing/2014/main" id="{9CE474AD-BB6A-484A-A466-FB6F4B6A868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689100" y="1477218"/>
            <a:ext cx="6007100" cy="333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ángulo 5">
            <a:extLst>
              <a:ext uri="{FF2B5EF4-FFF2-40B4-BE49-F238E27FC236}">
                <a16:creationId xmlns:a16="http://schemas.microsoft.com/office/drawing/2014/main" id="{F259F6B5-A248-46EF-A433-BBE64257BD04}"/>
              </a:ext>
            </a:extLst>
          </p:cNvPr>
          <p:cNvSpPr/>
          <p:nvPr/>
        </p:nvSpPr>
        <p:spPr>
          <a:xfrm>
            <a:off x="457200" y="279400"/>
            <a:ext cx="3810000" cy="203200"/>
          </a:xfrm>
          <a:prstGeom prst="rect">
            <a:avLst/>
          </a:prstGeom>
          <a:noFill/>
          <a:ln>
            <a:noFill/>
          </a:ln>
        </p:spPr>
        <p:txBody>
          <a:bodyPr wrap="square" anchor="t" anchorCtr="0">
            <a:noAutofit/>
          </a:bodyPr>
          <a:lstStyle/>
          <a:p>
            <a:pPr algn="l">
              <a:defRPr/>
            </a:pPr>
            <a:r>
              <a:rPr lang="es-CO" sz="1200" b="1">
                <a:solidFill>
                  <a:srgbClr val="ED7D31"/>
                </a:solidFill>
                <a:latin typeface="Calibri"/>
                <a:ea typeface="Calibri"/>
                <a:cs typeface="Calibri"/>
              </a:rPr>
              <a:t>TERMINOLOGÍA</a:t>
            </a:r>
            <a:endParaRPr lang="es-CO" sz="1200" b="1" dirty="0">
              <a:solidFill>
                <a:srgbClr val="ED7D31"/>
              </a:solidFill>
              <a:latin typeface="Calibri"/>
              <a:ea typeface="Calibri"/>
              <a:cs typeface="Calibri"/>
            </a:endParaRPr>
          </a:p>
        </p:txBody>
      </p:sp>
      <p:sp>
        <p:nvSpPr>
          <p:cNvPr id="7" name="Rectángulo 6">
            <a:extLst>
              <a:ext uri="{FF2B5EF4-FFF2-40B4-BE49-F238E27FC236}">
                <a16:creationId xmlns:a16="http://schemas.microsoft.com/office/drawing/2014/main" id="{9F99C074-3B97-4235-9A1C-2C110C37DBB8}"/>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CuadroTexto 7">
            <a:extLst>
              <a:ext uri="{FF2B5EF4-FFF2-40B4-BE49-F238E27FC236}">
                <a16:creationId xmlns:a16="http://schemas.microsoft.com/office/drawing/2014/main" id="{421B75B1-718F-4C29-8F97-69CABE9E4E10}"/>
              </a:ext>
            </a:extLst>
          </p:cNvPr>
          <p:cNvSpPr txBox="1"/>
          <p:nvPr/>
        </p:nvSpPr>
        <p:spPr>
          <a:xfrm>
            <a:off x="1689100" y="5003800"/>
            <a:ext cx="60071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Apetito, tolerancia y capacidad de riesgo frente a la exposición en el tiempo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895884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Rectángulo"/>
          <p:cNvSpPr/>
          <p:nvPr/>
        </p:nvSpPr>
        <p:spPr>
          <a:xfrm>
            <a:off x="457200" y="990600"/>
            <a:ext cx="8229600" cy="1168400"/>
          </a:xfrm>
          <a:prstGeom prst="rect">
            <a:avLst/>
          </a:prstGeom>
          <a:solidFill>
            <a:srgbClr val="1F3864"/>
          </a:solidFill>
          <a:ln>
            <a:noFill/>
          </a:ln>
        </p:spPr>
        <p:txBody>
          <a:bodyPr wrap="square" anchor="ctr" anchorCtr="0">
            <a:noAutofit/>
          </a:bodyPr>
          <a:lstStyle/>
          <a:p>
            <a:pPr algn="ctr"/>
            <a:r>
              <a:rPr lang="es-ES" sz="2800" b="1">
                <a:solidFill>
                  <a:srgbClr val="FFFFFF"/>
                </a:solidFill>
                <a:latin typeface="Calibri"/>
                <a:ea typeface="Calibri"/>
                <a:cs typeface="Calibri"/>
              </a:rPr>
              <a:t>¿Sabes por qué es importante gestionar los riesgos?</a:t>
            </a:r>
            <a:endParaRPr lang="es-CO" sz="2800" b="1" dirty="0">
              <a:solidFill>
                <a:srgbClr val="FFFFFF"/>
              </a:solidFill>
              <a:latin typeface="Calibri"/>
              <a:ea typeface="Calibri"/>
              <a:cs typeface="Calibri"/>
            </a:endParaRPr>
          </a:p>
        </p:txBody>
      </p:sp>
      <p:pic>
        <p:nvPicPr>
          <p:cNvPr id="4" name="Picture 2" descr="Resultado de imagen para administracion de proyec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413000"/>
            <a:ext cx="4876800" cy="2959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6699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hlinkClick r:id="rId2"/>
            <a:extLst>
              <a:ext uri="{FF2B5EF4-FFF2-40B4-BE49-F238E27FC236}">
                <a16:creationId xmlns:a16="http://schemas.microsoft.com/office/drawing/2014/main" id="{1B63B340-B9C4-2A10-334D-5B8FEC6B8E46}"/>
              </a:ext>
            </a:extLst>
          </p:cNvPr>
          <p:cNvSpPr txBox="1"/>
          <p:nvPr/>
        </p:nvSpPr>
        <p:spPr>
          <a:xfrm>
            <a:off x="457200" y="1168400"/>
            <a:ext cx="8229600" cy="355600"/>
          </a:xfrm>
          <a:prstGeom prst="rect">
            <a:avLst/>
          </a:prstGeom>
          <a:solidFill>
            <a:srgbClr val="1F3864"/>
          </a:solidFill>
          <a:ln>
            <a:noFill/>
          </a:ln>
        </p:spPr>
        <p:txBody>
          <a:bodyPr wrap="square" anchor="ctr" anchorCtr="0">
            <a:noAutofit/>
          </a:bodyPr>
          <a:lstStyle/>
          <a:p>
            <a:pPr algn="l">
              <a:buNone/>
            </a:pPr>
            <a:r>
              <a:rPr lang="es-ES" sz="1400" b="1" i="0">
                <a:solidFill>
                  <a:srgbClr val="FFFFFF"/>
                </a:solidFill>
                <a:effectLst/>
                <a:latin typeface="Calibri"/>
                <a:ea typeface="Calibri"/>
                <a:cs typeface="Calibri"/>
              </a:rPr>
              <a:t>Riesgo operacional · Refinería de BP en Texas City, 2005</a:t>
            </a:r>
            <a:endParaRPr lang="es-MX" sz="1400" b="1" i="0" dirty="0">
              <a:solidFill>
                <a:srgbClr val="FFFFFF"/>
              </a:solidFill>
              <a:effectLst/>
              <a:latin typeface="Calibri"/>
              <a:ea typeface="Calibri"/>
              <a:cs typeface="Calibri"/>
            </a:endParaRPr>
          </a:p>
        </p:txBody>
      </p:sp>
      <p:sp>
        <p:nvSpPr>
          <p:cNvPr id="5" name="CuadroTexto 4">
            <a:extLst>
              <a:ext uri="{FF2B5EF4-FFF2-40B4-BE49-F238E27FC236}">
                <a16:creationId xmlns:a16="http://schemas.microsoft.com/office/drawing/2014/main" id="{B4ED7BCD-C026-F3F9-8C03-A072775D2C31}"/>
              </a:ext>
            </a:extLst>
          </p:cNvPr>
          <p:cNvSpPr txBox="1"/>
          <p:nvPr/>
        </p:nvSpPr>
        <p:spPr>
          <a:xfrm>
            <a:off x="457200" y="1524000"/>
            <a:ext cx="8229600" cy="1219200"/>
          </a:xfrm>
          <a:prstGeom prst="rect">
            <a:avLst/>
          </a:prstGeom>
          <a:solidFill>
            <a:srgbClr val="F2F5F9"/>
          </a:solidFill>
          <a:ln>
            <a:noFill/>
          </a:ln>
        </p:spPr>
        <p:txBody>
          <a:bodyPr wrap="square" anchor="t" anchorCtr="0">
            <a:noAutofit/>
          </a:bodyPr>
          <a:lstStyle/>
          <a:p>
            <a:pPr algn="l"/>
            <a:r>
              <a:rPr lang="es-ES" sz="1400" i="0">
                <a:solidFill>
                  <a:srgbClr val="404040"/>
                </a:solidFill>
                <a:effectLst/>
                <a:latin typeface="Calibri"/>
                <a:ea typeface="Calibri"/>
                <a:cs typeface="Calibri"/>
              </a:rPr>
              <a:t>Una explosión mató a 15 trabajadores e hirió a más de 170. Los sistemas de seguridad fallaron, las alarmas se ignoraron por fatiga y la producción se priorizó sobre la seguridad. La cultura de optimización subfinanciaba la prevención: el costo superó los 1.600 millones de dólares.</a:t>
            </a:r>
            <a:endParaRPr lang="es-CO" sz="1400" dirty="0">
              <a:solidFill>
                <a:srgbClr val="404040"/>
              </a:solidFill>
              <a:latin typeface="Calibri"/>
              <a:ea typeface="Calibri"/>
              <a:cs typeface="Calibri"/>
            </a:endParaRPr>
          </a:p>
        </p:txBody>
      </p:sp>
      <p:sp>
        <p:nvSpPr>
          <p:cNvPr id="8" name="Flecha: a la derecha 7">
            <a:hlinkClick r:id="rId2"/>
            <a:extLst>
              <a:ext uri="{FF2B5EF4-FFF2-40B4-BE49-F238E27FC236}">
                <a16:creationId xmlns:a16="http://schemas.microsoft.com/office/drawing/2014/main" id="{6918541C-F28E-C84A-FD6F-1814D6802C1E}"/>
              </a:ext>
            </a:extLst>
          </p:cNvPr>
          <p:cNvSpPr/>
          <p:nvPr/>
        </p:nvSpPr>
        <p:spPr>
          <a:xfrm>
            <a:off x="7620000" y="1219200"/>
            <a:ext cx="939800" cy="254000"/>
          </a:xfrm>
          <a:prstGeom prst="rightArrow">
            <a:avLst/>
          </a:prstGeom>
          <a:solidFill>
            <a:srgbClr val="ED7D31"/>
          </a:solidFill>
          <a:ln w="12700" cap="flat" cmpd="sng" algn="ctr">
            <a:noFill/>
            <a:prstDash val="solid"/>
            <a:miter lim="800000"/>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pPr algn="ctr"/>
            <a:r>
              <a:rPr lang="es-CO" sz="1200" b="1" dirty="0">
                <a:solidFill>
                  <a:srgbClr val="FFFFFF"/>
                </a:solidFill>
                <a:latin typeface="Calibri"/>
                <a:ea typeface="Calibri"/>
                <a:cs typeface="Calibri"/>
              </a:rPr>
              <a:t>VIDEO</a:t>
            </a:r>
          </a:p>
        </p:txBody>
      </p:sp>
      <p:sp>
        <p:nvSpPr>
          <p:cNvPr id="10" name="CuadroTexto 9">
            <a:extLst>
              <a:ext uri="{FF2B5EF4-FFF2-40B4-BE49-F238E27FC236}">
                <a16:creationId xmlns:a16="http://schemas.microsoft.com/office/drawing/2014/main" id="{2C40A1A7-BFA8-E913-19D6-0417A83D2C9E}"/>
              </a:ext>
            </a:extLst>
          </p:cNvPr>
          <p:cNvSpPr txBox="1"/>
          <p:nvPr/>
        </p:nvSpPr>
        <p:spPr>
          <a:xfrm>
            <a:off x="457200" y="3403600"/>
            <a:ext cx="8229600" cy="1219200"/>
          </a:xfrm>
          <a:prstGeom prst="rect">
            <a:avLst/>
          </a:prstGeom>
          <a:solidFill>
            <a:srgbClr val="F2F5F9"/>
          </a:solidFill>
          <a:ln>
            <a:noFill/>
          </a:ln>
        </p:spPr>
        <p:txBody>
          <a:bodyPr wrap="square" anchor="t" anchorCtr="0">
            <a:noAutofit/>
          </a:bodyPr>
          <a:lstStyle/>
          <a:p>
            <a:pPr algn="l">
              <a:buNone/>
            </a:pPr>
            <a:r>
              <a:rPr lang="es-ES" sz="1400" i="0">
                <a:solidFill>
                  <a:srgbClr val="404040"/>
                </a:solidFill>
                <a:effectLst/>
                <a:latin typeface="Calibri"/>
                <a:ea typeface="Calibri"/>
                <a:cs typeface="Calibri"/>
              </a:rPr>
              <a:t>Una brecha expuso los datos de 147 millones de personas porque no se aplicó un parche de seguridad conocido. Terminó en multas de 700 millones de dólares y demandas colectivas: gestionaban las vulnerabilidades de forma reactiva, no preventiva.</a:t>
            </a:r>
            <a:endParaRPr lang="es-MX" sz="1400" i="0" dirty="0">
              <a:solidFill>
                <a:srgbClr val="404040"/>
              </a:solidFill>
              <a:effectLst/>
              <a:latin typeface="Calibri"/>
              <a:ea typeface="Calibri"/>
              <a:cs typeface="Calibri"/>
            </a:endParaRPr>
          </a:p>
        </p:txBody>
      </p:sp>
      <p:sp>
        <p:nvSpPr>
          <p:cNvPr id="11" name="Flecha: a la derecha 10">
            <a:hlinkClick r:id="rId3"/>
            <a:extLst>
              <a:ext uri="{FF2B5EF4-FFF2-40B4-BE49-F238E27FC236}">
                <a16:creationId xmlns:a16="http://schemas.microsoft.com/office/drawing/2014/main" id="{D5F4CE34-F8A6-DDF4-C9F5-BFC4899EDAE4}"/>
              </a:ext>
            </a:extLst>
          </p:cNvPr>
          <p:cNvSpPr/>
          <p:nvPr/>
        </p:nvSpPr>
        <p:spPr>
          <a:xfrm>
            <a:off x="7620000" y="3098800"/>
            <a:ext cx="939800" cy="254000"/>
          </a:xfrm>
          <a:prstGeom prst="rightArrow">
            <a:avLst/>
          </a:prstGeom>
          <a:solidFill>
            <a:srgbClr val="ED7D31"/>
          </a:solidFill>
          <a:ln w="12700" cap="flat" cmpd="sng" algn="ctr">
            <a:noFill/>
            <a:prstDash val="solid"/>
            <a:miter lim="800000"/>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pPr algn="ctr"/>
            <a:r>
              <a:rPr lang="es-CO" sz="1200" b="1">
                <a:solidFill>
                  <a:srgbClr val="FFFFFF"/>
                </a:solidFill>
                <a:latin typeface="Calibri"/>
                <a:ea typeface="Calibri"/>
                <a:cs typeface="Calibri"/>
              </a:rPr>
              <a:t>VIDEO</a:t>
            </a:r>
            <a:endParaRPr lang="es-CO" sz="1200" b="1" dirty="0">
              <a:solidFill>
                <a:srgbClr val="FFFFFF"/>
              </a:solidFill>
              <a:latin typeface="Calibri"/>
              <a:ea typeface="Calibri"/>
              <a:cs typeface="Calibri"/>
            </a:endParaRPr>
          </a:p>
        </p:txBody>
      </p:sp>
      <p:sp>
        <p:nvSpPr>
          <p:cNvPr id="12" name="CuadroTexto 11">
            <a:extLst>
              <a:ext uri="{FF2B5EF4-FFF2-40B4-BE49-F238E27FC236}">
                <a16:creationId xmlns:a16="http://schemas.microsoft.com/office/drawing/2014/main" id="{2259C2E5-D1CB-D7E6-FD8F-E5600261E3B8}"/>
              </a:ext>
            </a:extLst>
          </p:cNvPr>
          <p:cNvSpPr txBox="1"/>
          <p:nvPr/>
        </p:nvSpPr>
        <p:spPr>
          <a:xfrm>
            <a:off x="457200" y="304800"/>
            <a:ext cx="8229600" cy="533400"/>
          </a:xfrm>
          <a:prstGeom prst="rect">
            <a:avLst/>
          </a:prstGeom>
          <a:noFill/>
          <a:ln>
            <a:noFill/>
          </a:ln>
        </p:spPr>
        <p:txBody>
          <a:bodyPr wrap="square" rtlCol="0" anchor="t" anchorCtr="0">
            <a:noAutofit/>
          </a:bodyPr>
          <a:lstStyle/>
          <a:p>
            <a:r>
              <a:rPr lang="es-MX" sz="3000" b="1">
                <a:solidFill>
                  <a:srgbClr val="1F3864"/>
                </a:solidFill>
                <a:latin typeface="Calibri"/>
                <a:ea typeface="Calibri"/>
                <a:cs typeface="Calibri"/>
              </a:rPr>
              <a:t>Casos de riesgos materializados</a:t>
            </a:r>
            <a:endParaRPr lang="es-ES" sz="3000" b="1" dirty="0">
              <a:solidFill>
                <a:srgbClr val="1F3864"/>
              </a:solidFill>
              <a:latin typeface="Calibri"/>
              <a:ea typeface="Calibri"/>
              <a:cs typeface="Calibri"/>
            </a:endParaRPr>
          </a:p>
        </p:txBody>
      </p:sp>
      <p:sp>
        <p:nvSpPr>
          <p:cNvPr id="2" name="Rectángulo 1">
            <a:extLst>
              <a:ext uri="{FF2B5EF4-FFF2-40B4-BE49-F238E27FC236}">
                <a16:creationId xmlns:a16="http://schemas.microsoft.com/office/drawing/2014/main" id="{5F3DD00F-5EED-4BC6-953B-651867BE23E4}"/>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Rectángulo 3">
            <a:extLst>
              <a:ext uri="{FF2B5EF4-FFF2-40B4-BE49-F238E27FC236}">
                <a16:creationId xmlns:a16="http://schemas.microsoft.com/office/drawing/2014/main" id="{D8266F02-2CEA-43A0-8CE8-FCEB95FA41D2}"/>
              </a:ext>
            </a:extLst>
          </p:cNvPr>
          <p:cNvSpPr/>
          <p:nvPr/>
        </p:nvSpPr>
        <p:spPr>
          <a:xfrm>
            <a:off x="457200" y="3048000"/>
            <a:ext cx="8229600" cy="355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FFFFFF"/>
                </a:solidFill>
                <a:latin typeface="Calibri"/>
                <a:ea typeface="Calibri"/>
                <a:cs typeface="Calibri"/>
              </a:rPr>
              <a:t>Riesgo cibernético · Equifax, 2017</a:t>
            </a:r>
          </a:p>
        </p:txBody>
      </p:sp>
      <p:sp>
        <p:nvSpPr>
          <p:cNvPr id="7" name="Flecha: a la derecha 6">
            <a:hlinkClick r:id="rId3"/>
            <a:extLst>
              <a:ext uri="{FF2B5EF4-FFF2-40B4-BE49-F238E27FC236}">
                <a16:creationId xmlns:a16="http://schemas.microsoft.com/office/drawing/2014/main" id="{26D69E50-C00F-5CDA-E968-93A6E9B27352}"/>
              </a:ext>
            </a:extLst>
          </p:cNvPr>
          <p:cNvSpPr/>
          <p:nvPr/>
        </p:nvSpPr>
        <p:spPr>
          <a:xfrm>
            <a:off x="7683499" y="3044211"/>
            <a:ext cx="939801" cy="333989"/>
          </a:xfrm>
          <a:prstGeom prst="rightArrow">
            <a:avLst/>
          </a:prstGeom>
          <a:solidFill>
            <a:srgbClr val="ED7D31"/>
          </a:solidFill>
          <a:ln w="12700" cap="flat" cmpd="sng" algn="ctr">
            <a:noFill/>
            <a:prstDash val="solid"/>
            <a:miter lim="800000"/>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pPr algn="ctr"/>
            <a:r>
              <a:rPr lang="es-CO" sz="1200" b="1" dirty="0">
                <a:solidFill>
                  <a:srgbClr val="FFFFFF"/>
                </a:solidFill>
                <a:latin typeface="Calibri"/>
                <a:ea typeface="Calibri"/>
                <a:cs typeface="Calibri"/>
              </a:rPr>
              <a:t>VIDEO</a:t>
            </a:r>
          </a:p>
        </p:txBody>
      </p:sp>
    </p:spTree>
    <p:extLst>
      <p:ext uri="{BB962C8B-B14F-4D97-AF65-F5344CB8AC3E}">
        <p14:creationId xmlns:p14="http://schemas.microsoft.com/office/powerpoint/2010/main" val="41631269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DBA3F94-7EFA-4E21-85BC-263C97C2CC32}"/>
              </a:ext>
            </a:extLst>
          </p:cNvPr>
          <p:cNvSpPr txBox="1"/>
          <p:nvPr/>
        </p:nvSpPr>
        <p:spPr>
          <a:xfrm>
            <a:off x="457200" y="1524000"/>
            <a:ext cx="8229600" cy="1219200"/>
          </a:xfrm>
          <a:prstGeom prst="rect">
            <a:avLst/>
          </a:prstGeom>
          <a:solidFill>
            <a:srgbClr val="F2F5F9"/>
          </a:solidFill>
          <a:ln>
            <a:noFill/>
          </a:ln>
        </p:spPr>
        <p:txBody>
          <a:bodyPr wrap="square" anchor="t" anchorCtr="0">
            <a:noAutofit/>
          </a:bodyPr>
          <a:lstStyle/>
          <a:p>
            <a:pPr algn="l">
              <a:buNone/>
            </a:pPr>
            <a:r>
              <a:rPr lang="es-ES" sz="1400" i="0">
                <a:solidFill>
                  <a:srgbClr val="404040"/>
                </a:solidFill>
                <a:effectLst/>
                <a:latin typeface="Calibri"/>
                <a:ea typeface="Calibri"/>
                <a:cs typeface="Calibri"/>
              </a:rPr>
              <a:t>Planeado para 2011, abrió en 2020 con 7.000 millones de euros de sobrecosto. Fallaron la integración de los sistemas de incendios y seguridad, no hubo pruebas integrales y la gobernanza estaba repartida entre demasiados actores.</a:t>
            </a:r>
            <a:endParaRPr lang="es-MX" sz="1400" i="0" dirty="0">
              <a:solidFill>
                <a:srgbClr val="404040"/>
              </a:solidFill>
              <a:effectLst/>
              <a:latin typeface="Calibri"/>
              <a:ea typeface="Calibri"/>
              <a:cs typeface="Calibri"/>
            </a:endParaRPr>
          </a:p>
        </p:txBody>
      </p:sp>
      <p:sp>
        <p:nvSpPr>
          <p:cNvPr id="4" name="Flecha: a la derecha 3">
            <a:hlinkClick r:id="rId2"/>
            <a:extLst>
              <a:ext uri="{FF2B5EF4-FFF2-40B4-BE49-F238E27FC236}">
                <a16:creationId xmlns:a16="http://schemas.microsoft.com/office/drawing/2014/main" id="{23160460-A065-3E5F-4B0C-50182945922D}"/>
              </a:ext>
            </a:extLst>
          </p:cNvPr>
          <p:cNvSpPr/>
          <p:nvPr/>
        </p:nvSpPr>
        <p:spPr>
          <a:xfrm>
            <a:off x="7620000" y="1219200"/>
            <a:ext cx="939800" cy="254000"/>
          </a:xfrm>
          <a:prstGeom prst="rightArrow">
            <a:avLst/>
          </a:prstGeom>
          <a:solidFill>
            <a:srgbClr val="ED7D31"/>
          </a:solidFill>
          <a:ln w="12700" cap="flat" cmpd="sng" algn="ctr">
            <a:noFill/>
            <a:prstDash val="solid"/>
            <a:miter lim="800000"/>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pPr algn="ctr"/>
            <a:r>
              <a:rPr lang="es-CO" sz="1200" b="1">
                <a:solidFill>
                  <a:srgbClr val="FFFFFF"/>
                </a:solidFill>
                <a:latin typeface="Calibri"/>
                <a:ea typeface="Calibri"/>
                <a:cs typeface="Calibri"/>
              </a:rPr>
              <a:t>VIDEO</a:t>
            </a:r>
            <a:endParaRPr lang="es-CO" sz="1200" b="1" dirty="0">
              <a:solidFill>
                <a:srgbClr val="FFFFFF"/>
              </a:solidFill>
              <a:latin typeface="Calibri"/>
              <a:ea typeface="Calibri"/>
              <a:cs typeface="Calibri"/>
            </a:endParaRPr>
          </a:p>
        </p:txBody>
      </p:sp>
      <p:sp>
        <p:nvSpPr>
          <p:cNvPr id="6" name="CuadroTexto 5">
            <a:extLst>
              <a:ext uri="{FF2B5EF4-FFF2-40B4-BE49-F238E27FC236}">
                <a16:creationId xmlns:a16="http://schemas.microsoft.com/office/drawing/2014/main" id="{BB1E73DA-A760-EE4E-C034-A56728A30CE3}"/>
              </a:ext>
            </a:extLst>
          </p:cNvPr>
          <p:cNvSpPr txBox="1"/>
          <p:nvPr/>
        </p:nvSpPr>
        <p:spPr>
          <a:xfrm>
            <a:off x="457200" y="3403600"/>
            <a:ext cx="8229600" cy="1219200"/>
          </a:xfrm>
          <a:prstGeom prst="rect">
            <a:avLst/>
          </a:prstGeom>
          <a:solidFill>
            <a:srgbClr val="F2F5F9"/>
          </a:solidFill>
          <a:ln>
            <a:noFill/>
          </a:ln>
        </p:spPr>
        <p:txBody>
          <a:bodyPr wrap="square" anchor="t" anchorCtr="0">
            <a:noAutofit/>
          </a:bodyPr>
          <a:lstStyle/>
          <a:p>
            <a:pPr algn="l">
              <a:buNone/>
            </a:pPr>
            <a:r>
              <a:rPr lang="es-ES" sz="1400" i="0" dirty="0">
                <a:solidFill>
                  <a:srgbClr val="404040"/>
                </a:solidFill>
                <a:effectLst/>
                <a:latin typeface="Calibri"/>
                <a:ea typeface="Calibri"/>
                <a:cs typeface="Calibri"/>
              </a:rPr>
              <a:t>El </a:t>
            </a:r>
            <a:r>
              <a:rPr lang="es-ES" sz="1400" i="0" dirty="0" err="1">
                <a:solidFill>
                  <a:srgbClr val="404040"/>
                </a:solidFill>
                <a:effectLst/>
                <a:latin typeface="Calibri"/>
                <a:ea typeface="Calibri"/>
                <a:cs typeface="Calibri"/>
              </a:rPr>
              <a:t>trader</a:t>
            </a:r>
            <a:r>
              <a:rPr lang="es-ES" sz="1400" i="0" dirty="0">
                <a:solidFill>
                  <a:srgbClr val="404040"/>
                </a:solidFill>
                <a:effectLst/>
                <a:latin typeface="Calibri"/>
                <a:ea typeface="Calibri"/>
                <a:cs typeface="Calibri"/>
              </a:rPr>
              <a:t> Nick Leeson acumuló pérdidas de 1.400 millones de dólares y hundió el banco. No había controles ni límites de riesgo vigilados en tiempo real, lo que muestra el peso de la auditoría independiente y la supervisión.</a:t>
            </a:r>
            <a:endParaRPr lang="es-MX" sz="1400" i="0" dirty="0">
              <a:solidFill>
                <a:srgbClr val="404040"/>
              </a:solidFill>
              <a:effectLst/>
              <a:latin typeface="Calibri"/>
              <a:ea typeface="Calibri"/>
              <a:cs typeface="Calibri"/>
            </a:endParaRPr>
          </a:p>
        </p:txBody>
      </p:sp>
      <p:sp>
        <p:nvSpPr>
          <p:cNvPr id="7" name="Flecha: a la derecha 6">
            <a:hlinkClick r:id="rId3"/>
            <a:extLst>
              <a:ext uri="{FF2B5EF4-FFF2-40B4-BE49-F238E27FC236}">
                <a16:creationId xmlns:a16="http://schemas.microsoft.com/office/drawing/2014/main" id="{CBDAA9BA-541A-A9C4-A562-A491317FDA72}"/>
              </a:ext>
            </a:extLst>
          </p:cNvPr>
          <p:cNvSpPr/>
          <p:nvPr/>
        </p:nvSpPr>
        <p:spPr>
          <a:xfrm>
            <a:off x="7620000" y="3098800"/>
            <a:ext cx="939800" cy="254000"/>
          </a:xfrm>
          <a:prstGeom prst="rightArrow">
            <a:avLst/>
          </a:prstGeom>
          <a:solidFill>
            <a:srgbClr val="ED7D31"/>
          </a:solidFill>
          <a:ln w="12700" cap="flat" cmpd="sng" algn="ctr">
            <a:noFill/>
            <a:prstDash val="solid"/>
            <a:miter lim="800000"/>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pPr algn="ctr"/>
            <a:r>
              <a:rPr lang="es-CO" sz="1200" b="1">
                <a:solidFill>
                  <a:srgbClr val="FFFFFF"/>
                </a:solidFill>
                <a:latin typeface="Calibri"/>
                <a:ea typeface="Calibri"/>
                <a:cs typeface="Calibri"/>
              </a:rPr>
              <a:t>VIDEO</a:t>
            </a:r>
            <a:endParaRPr lang="es-CO" sz="1200" b="1" dirty="0">
              <a:solidFill>
                <a:srgbClr val="FFFFFF"/>
              </a:solidFill>
              <a:latin typeface="Calibri"/>
              <a:ea typeface="Calibri"/>
              <a:cs typeface="Calibri"/>
            </a:endParaRPr>
          </a:p>
        </p:txBody>
      </p:sp>
      <p:sp>
        <p:nvSpPr>
          <p:cNvPr id="8" name="CuadroTexto 7">
            <a:extLst>
              <a:ext uri="{FF2B5EF4-FFF2-40B4-BE49-F238E27FC236}">
                <a16:creationId xmlns:a16="http://schemas.microsoft.com/office/drawing/2014/main" id="{82FD715A-DEEF-82A0-6998-4C05AFFAA806}"/>
              </a:ext>
            </a:extLst>
          </p:cNvPr>
          <p:cNvSpPr txBox="1"/>
          <p:nvPr/>
        </p:nvSpPr>
        <p:spPr>
          <a:xfrm>
            <a:off x="457200" y="304800"/>
            <a:ext cx="8229600" cy="533400"/>
          </a:xfrm>
          <a:prstGeom prst="rect">
            <a:avLst/>
          </a:prstGeom>
          <a:noFill/>
          <a:ln>
            <a:noFill/>
          </a:ln>
        </p:spPr>
        <p:txBody>
          <a:bodyPr wrap="square" rtlCol="0" anchor="t" anchorCtr="0">
            <a:noAutofit/>
          </a:bodyPr>
          <a:lstStyle/>
          <a:p>
            <a:r>
              <a:rPr lang="es-MX" sz="3000" b="1">
                <a:solidFill>
                  <a:srgbClr val="1F3864"/>
                </a:solidFill>
                <a:latin typeface="Calibri"/>
                <a:ea typeface="Calibri"/>
                <a:cs typeface="Calibri"/>
              </a:rPr>
              <a:t>Casos de riesgos materializados</a:t>
            </a:r>
            <a:endParaRPr lang="es-ES" sz="3000" b="1" dirty="0">
              <a:solidFill>
                <a:srgbClr val="1F3864"/>
              </a:solidFill>
              <a:latin typeface="Calibri"/>
              <a:ea typeface="Calibri"/>
              <a:cs typeface="Calibri"/>
            </a:endParaRPr>
          </a:p>
        </p:txBody>
      </p:sp>
      <p:sp>
        <p:nvSpPr>
          <p:cNvPr id="2" name="Rectángulo 1">
            <a:extLst>
              <a:ext uri="{FF2B5EF4-FFF2-40B4-BE49-F238E27FC236}">
                <a16:creationId xmlns:a16="http://schemas.microsoft.com/office/drawing/2014/main" id="{1DE2799C-759E-400E-800A-B7C6D900AE1D}"/>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EDD41DF6-1E54-4689-9775-29DD73F8A389}"/>
              </a:ext>
            </a:extLst>
          </p:cNvPr>
          <p:cNvSpPr/>
          <p:nvPr/>
        </p:nvSpPr>
        <p:spPr>
          <a:xfrm>
            <a:off x="457200" y="1168400"/>
            <a:ext cx="8229600" cy="355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b="1">
                <a:solidFill>
                  <a:srgbClr val="FFFFFF"/>
                </a:solidFill>
                <a:latin typeface="Calibri"/>
                <a:ea typeface="Calibri"/>
                <a:cs typeface="Calibri"/>
              </a:rPr>
              <a:t>Riesgo de seguridad en proyectos · Aeropuerto de Berlín Brandeburgo</a:t>
            </a:r>
            <a:endParaRPr lang="es-CO" sz="1400" b="1">
              <a:solidFill>
                <a:srgbClr val="FFFFFF"/>
              </a:solidFill>
              <a:latin typeface="Calibri"/>
              <a:ea typeface="Calibri"/>
              <a:cs typeface="Calibri"/>
            </a:endParaRPr>
          </a:p>
        </p:txBody>
      </p:sp>
      <p:sp>
        <p:nvSpPr>
          <p:cNvPr id="9" name="Rectángulo 8">
            <a:extLst>
              <a:ext uri="{FF2B5EF4-FFF2-40B4-BE49-F238E27FC236}">
                <a16:creationId xmlns:a16="http://schemas.microsoft.com/office/drawing/2014/main" id="{1764D284-B5DC-4661-BEE1-2DF2EF3EA03E}"/>
              </a:ext>
            </a:extLst>
          </p:cNvPr>
          <p:cNvSpPr/>
          <p:nvPr/>
        </p:nvSpPr>
        <p:spPr>
          <a:xfrm>
            <a:off x="457200" y="3048000"/>
            <a:ext cx="8229600" cy="355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b="1">
                <a:solidFill>
                  <a:srgbClr val="FFFFFF"/>
                </a:solidFill>
                <a:latin typeface="Calibri"/>
                <a:ea typeface="Calibri"/>
                <a:cs typeface="Calibri"/>
              </a:rPr>
              <a:t>Riesgo financiero · Barings Bank, 1995</a:t>
            </a:r>
            <a:endParaRPr lang="es-CO" sz="1400" b="1">
              <a:solidFill>
                <a:srgbClr val="FFFFFF"/>
              </a:solidFill>
              <a:latin typeface="Calibri"/>
              <a:ea typeface="Calibri"/>
              <a:cs typeface="Calibri"/>
            </a:endParaRPr>
          </a:p>
        </p:txBody>
      </p:sp>
      <p:sp>
        <p:nvSpPr>
          <p:cNvPr id="11" name="Flecha: a la derecha 10">
            <a:hlinkClick r:id="rId2"/>
            <a:extLst>
              <a:ext uri="{FF2B5EF4-FFF2-40B4-BE49-F238E27FC236}">
                <a16:creationId xmlns:a16="http://schemas.microsoft.com/office/drawing/2014/main" id="{7D904F3D-F651-A899-B880-B70BCC83C633}"/>
              </a:ext>
            </a:extLst>
          </p:cNvPr>
          <p:cNvSpPr/>
          <p:nvPr/>
        </p:nvSpPr>
        <p:spPr>
          <a:xfrm>
            <a:off x="7740709" y="1193800"/>
            <a:ext cx="819091" cy="355600"/>
          </a:xfrm>
          <a:prstGeom prst="rightArrow">
            <a:avLst/>
          </a:prstGeom>
          <a:solidFill>
            <a:srgbClr val="ED7D31"/>
          </a:solidFill>
          <a:ln w="12700" cap="flat" cmpd="sng" algn="ctr">
            <a:noFill/>
            <a:prstDash val="solid"/>
            <a:miter lim="800000"/>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pPr algn="ctr"/>
            <a:r>
              <a:rPr lang="es-CO" sz="1200" b="1" dirty="0">
                <a:solidFill>
                  <a:srgbClr val="FFFFFF"/>
                </a:solidFill>
                <a:latin typeface="Calibri"/>
                <a:ea typeface="Calibri"/>
                <a:cs typeface="Calibri"/>
              </a:rPr>
              <a:t>VIDEO</a:t>
            </a:r>
          </a:p>
        </p:txBody>
      </p:sp>
      <p:sp>
        <p:nvSpPr>
          <p:cNvPr id="13" name="Flecha: a la derecha 12">
            <a:hlinkClick r:id="rId3"/>
            <a:extLst>
              <a:ext uri="{FF2B5EF4-FFF2-40B4-BE49-F238E27FC236}">
                <a16:creationId xmlns:a16="http://schemas.microsoft.com/office/drawing/2014/main" id="{747416BF-05E1-163E-C550-227DB97B05C5}"/>
              </a:ext>
            </a:extLst>
          </p:cNvPr>
          <p:cNvSpPr/>
          <p:nvPr/>
        </p:nvSpPr>
        <p:spPr>
          <a:xfrm>
            <a:off x="7740708" y="3048000"/>
            <a:ext cx="901267" cy="355600"/>
          </a:xfrm>
          <a:prstGeom prst="rightArrow">
            <a:avLst/>
          </a:prstGeom>
          <a:solidFill>
            <a:srgbClr val="ED7D31"/>
          </a:solidFill>
          <a:ln w="12700" cap="flat" cmpd="sng" algn="ctr">
            <a:noFill/>
            <a:prstDash val="solid"/>
            <a:miter lim="800000"/>
          </a:ln>
        </p:spPr>
        <p:style>
          <a:lnRef idx="2">
            <a:schemeClr val="accent3">
              <a:shade val="15000"/>
            </a:schemeClr>
          </a:lnRef>
          <a:fillRef idx="1">
            <a:schemeClr val="accent3"/>
          </a:fillRef>
          <a:effectRef idx="0">
            <a:schemeClr val="accent3"/>
          </a:effectRef>
          <a:fontRef idx="minor">
            <a:schemeClr val="lt1"/>
          </a:fontRef>
        </p:style>
        <p:txBody>
          <a:bodyPr wrap="square" rtlCol="0" anchor="ctr" anchorCtr="0">
            <a:noAutofit/>
          </a:bodyPr>
          <a:lstStyle/>
          <a:p>
            <a:pPr algn="ctr"/>
            <a:r>
              <a:rPr lang="es-CO" sz="1200" b="1" dirty="0">
                <a:solidFill>
                  <a:srgbClr val="FFFFFF"/>
                </a:solidFill>
                <a:latin typeface="Calibri"/>
                <a:ea typeface="Calibri"/>
                <a:cs typeface="Calibri"/>
              </a:rPr>
              <a:t>VIDEO</a:t>
            </a:r>
          </a:p>
        </p:txBody>
      </p:sp>
    </p:spTree>
    <p:extLst>
      <p:ext uri="{BB962C8B-B14F-4D97-AF65-F5344CB8AC3E}">
        <p14:creationId xmlns:p14="http://schemas.microsoft.com/office/powerpoint/2010/main" val="2823531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457200" y="304800"/>
            <a:ext cx="8229600" cy="533400"/>
          </a:xfrm>
          <a:noFill/>
          <a:ln>
            <a:noFill/>
          </a:ln>
        </p:spPr>
        <p:txBody>
          <a:bodyPr wrap="square" anchor="t" anchorCtr="0">
            <a:noAutofit/>
          </a:bodyPr>
          <a:lstStyle/>
          <a:p>
            <a:pPr algn="just"/>
            <a:r>
              <a:rPr lang="es-CO" sz="3000" b="1">
                <a:solidFill>
                  <a:srgbClr val="1F3864"/>
                </a:solidFill>
                <a:latin typeface="Calibri"/>
                <a:ea typeface="Calibri"/>
                <a:cs typeface="Calibri"/>
              </a:rPr>
              <a:t>Identificación de riesgos</a:t>
            </a:r>
            <a:endParaRPr lang="es-CO" sz="3000" b="1" dirty="0">
              <a:solidFill>
                <a:srgbClr val="1F3864"/>
              </a:solidFill>
              <a:latin typeface="Calibri"/>
              <a:ea typeface="Calibri"/>
              <a:cs typeface="Calibri"/>
            </a:endParaRPr>
          </a:p>
        </p:txBody>
      </p:sp>
      <p:pic>
        <p:nvPicPr>
          <p:cNvPr id="604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35400" y="3886200"/>
            <a:ext cx="1473200" cy="1714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ángulo 3">
            <a:extLst>
              <a:ext uri="{FF2B5EF4-FFF2-40B4-BE49-F238E27FC236}">
                <a16:creationId xmlns:a16="http://schemas.microsoft.com/office/drawing/2014/main" id="{EC871BD0-70C8-4DA7-B148-A8B76E3DFBD6}"/>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D2113EDD-4286-4768-825D-41E0D16AE40B}"/>
              </a:ext>
            </a:extLst>
          </p:cNvPr>
          <p:cNvSpPr/>
          <p:nvPr/>
        </p:nvSpPr>
        <p:spPr>
          <a:xfrm>
            <a:off x="457200" y="1168400"/>
            <a:ext cx="8229600" cy="711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700" b="1">
                <a:solidFill>
                  <a:srgbClr val="FFFFFF"/>
                </a:solidFill>
                <a:latin typeface="Calibri"/>
                <a:ea typeface="Calibri"/>
                <a:cs typeface="Calibri"/>
              </a:rPr>
              <a:t>La identificación va de lo global a lo específico: primero el entorno, luego el sector y por último el proyecto.</a:t>
            </a:r>
            <a:endParaRPr lang="es-CO" sz="1700" b="1">
              <a:solidFill>
                <a:srgbClr val="FFFFFF"/>
              </a:solidFill>
              <a:latin typeface="Calibri"/>
              <a:ea typeface="Calibri"/>
              <a:cs typeface="Calibri"/>
            </a:endParaRPr>
          </a:p>
        </p:txBody>
      </p:sp>
      <p:sp>
        <p:nvSpPr>
          <p:cNvPr id="6" name="Rectángulo 5">
            <a:extLst>
              <a:ext uri="{FF2B5EF4-FFF2-40B4-BE49-F238E27FC236}">
                <a16:creationId xmlns:a16="http://schemas.microsoft.com/office/drawing/2014/main" id="{E72D7FC4-217E-4765-BC78-03ED7DEE4921}"/>
              </a:ext>
            </a:extLst>
          </p:cNvPr>
          <p:cNvSpPr/>
          <p:nvPr/>
        </p:nvSpPr>
        <p:spPr>
          <a:xfrm>
            <a:off x="457200" y="2235200"/>
            <a:ext cx="2641600" cy="355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FFFFFF"/>
                </a:solidFill>
                <a:latin typeface="Calibri"/>
                <a:ea typeface="Calibri"/>
                <a:cs typeface="Calibri"/>
              </a:rPr>
              <a:t>1. Entorno global</a:t>
            </a:r>
          </a:p>
        </p:txBody>
      </p:sp>
      <p:sp>
        <p:nvSpPr>
          <p:cNvPr id="7" name="Rectángulo 6">
            <a:extLst>
              <a:ext uri="{FF2B5EF4-FFF2-40B4-BE49-F238E27FC236}">
                <a16:creationId xmlns:a16="http://schemas.microsoft.com/office/drawing/2014/main" id="{1DCCA65E-B6DF-4D86-B356-713CDD2F1456}"/>
              </a:ext>
            </a:extLst>
          </p:cNvPr>
          <p:cNvSpPr/>
          <p:nvPr/>
        </p:nvSpPr>
        <p:spPr>
          <a:xfrm>
            <a:off x="457200" y="2590800"/>
            <a:ext cx="2641600" cy="914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300">
                <a:solidFill>
                  <a:srgbClr val="404040"/>
                </a:solidFill>
                <a:latin typeface="Calibri"/>
                <a:ea typeface="Calibri"/>
                <a:cs typeface="Calibri"/>
              </a:rPr>
              <a:t>Variables macroeconómicas, políticas y sociales</a:t>
            </a:r>
            <a:endParaRPr lang="es-CO" sz="1300">
              <a:solidFill>
                <a:srgbClr val="404040"/>
              </a:solidFill>
              <a:latin typeface="Calibri"/>
              <a:ea typeface="Calibri"/>
              <a:cs typeface="Calibri"/>
            </a:endParaRPr>
          </a:p>
        </p:txBody>
      </p:sp>
      <p:sp>
        <p:nvSpPr>
          <p:cNvPr id="8" name="Flecha: a la derecha 7">
            <a:extLst>
              <a:ext uri="{FF2B5EF4-FFF2-40B4-BE49-F238E27FC236}">
                <a16:creationId xmlns:a16="http://schemas.microsoft.com/office/drawing/2014/main" id="{70C551A6-E04D-41B4-A5CC-7F24CFE4E12A}"/>
              </a:ext>
            </a:extLst>
          </p:cNvPr>
          <p:cNvSpPr/>
          <p:nvPr/>
        </p:nvSpPr>
        <p:spPr>
          <a:xfrm>
            <a:off x="3124200" y="2819400"/>
            <a:ext cx="228600" cy="203200"/>
          </a:xfrm>
          <a:prstGeom prst="rightArrow">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9" name="Rectángulo 8">
            <a:extLst>
              <a:ext uri="{FF2B5EF4-FFF2-40B4-BE49-F238E27FC236}">
                <a16:creationId xmlns:a16="http://schemas.microsoft.com/office/drawing/2014/main" id="{0A52C800-51D3-4536-8C2A-69B5B91103B8}"/>
              </a:ext>
            </a:extLst>
          </p:cNvPr>
          <p:cNvSpPr/>
          <p:nvPr/>
        </p:nvSpPr>
        <p:spPr>
          <a:xfrm>
            <a:off x="3251200" y="2235200"/>
            <a:ext cx="2641600" cy="355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FFFFFF"/>
                </a:solidFill>
                <a:latin typeface="Calibri"/>
                <a:ea typeface="Calibri"/>
                <a:cs typeface="Calibri"/>
              </a:rPr>
              <a:t>2. Sector</a:t>
            </a:r>
          </a:p>
        </p:txBody>
      </p:sp>
      <p:sp>
        <p:nvSpPr>
          <p:cNvPr id="10" name="Rectángulo 9">
            <a:extLst>
              <a:ext uri="{FF2B5EF4-FFF2-40B4-BE49-F238E27FC236}">
                <a16:creationId xmlns:a16="http://schemas.microsoft.com/office/drawing/2014/main" id="{898102D7-4466-4A67-BE05-FA4A37B42C88}"/>
              </a:ext>
            </a:extLst>
          </p:cNvPr>
          <p:cNvSpPr/>
          <p:nvPr/>
        </p:nvSpPr>
        <p:spPr>
          <a:xfrm>
            <a:off x="3251200" y="2590800"/>
            <a:ext cx="2641600" cy="914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300">
                <a:solidFill>
                  <a:srgbClr val="404040"/>
                </a:solidFill>
                <a:latin typeface="Calibri"/>
                <a:ea typeface="Calibri"/>
                <a:cs typeface="Calibri"/>
              </a:rPr>
              <a:t>Competencia, regulación y cadena de valor</a:t>
            </a:r>
            <a:endParaRPr lang="es-CO" sz="1300">
              <a:solidFill>
                <a:srgbClr val="404040"/>
              </a:solidFill>
              <a:latin typeface="Calibri"/>
              <a:ea typeface="Calibri"/>
              <a:cs typeface="Calibri"/>
            </a:endParaRPr>
          </a:p>
        </p:txBody>
      </p:sp>
      <p:sp>
        <p:nvSpPr>
          <p:cNvPr id="11" name="Flecha: a la derecha 10">
            <a:extLst>
              <a:ext uri="{FF2B5EF4-FFF2-40B4-BE49-F238E27FC236}">
                <a16:creationId xmlns:a16="http://schemas.microsoft.com/office/drawing/2014/main" id="{915D95D2-B07B-422E-95F7-EEDF57263F04}"/>
              </a:ext>
            </a:extLst>
          </p:cNvPr>
          <p:cNvSpPr/>
          <p:nvPr/>
        </p:nvSpPr>
        <p:spPr>
          <a:xfrm>
            <a:off x="5918200" y="2819400"/>
            <a:ext cx="228600" cy="203200"/>
          </a:xfrm>
          <a:prstGeom prst="rightArrow">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2" name="Rectángulo 11">
            <a:extLst>
              <a:ext uri="{FF2B5EF4-FFF2-40B4-BE49-F238E27FC236}">
                <a16:creationId xmlns:a16="http://schemas.microsoft.com/office/drawing/2014/main" id="{F600F32C-90BE-43C9-A51E-B486B729F5B5}"/>
              </a:ext>
            </a:extLst>
          </p:cNvPr>
          <p:cNvSpPr/>
          <p:nvPr/>
        </p:nvSpPr>
        <p:spPr>
          <a:xfrm>
            <a:off x="6045200" y="2235200"/>
            <a:ext cx="2641600" cy="355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FFFFFF"/>
                </a:solidFill>
                <a:latin typeface="Calibri"/>
                <a:ea typeface="Calibri"/>
                <a:cs typeface="Calibri"/>
              </a:rPr>
              <a:t>3. Proyecto</a:t>
            </a:r>
          </a:p>
        </p:txBody>
      </p:sp>
      <p:sp>
        <p:nvSpPr>
          <p:cNvPr id="13" name="Rectángulo 12">
            <a:extLst>
              <a:ext uri="{FF2B5EF4-FFF2-40B4-BE49-F238E27FC236}">
                <a16:creationId xmlns:a16="http://schemas.microsoft.com/office/drawing/2014/main" id="{D4279778-578D-4E44-9F48-918767D9B795}"/>
              </a:ext>
            </a:extLst>
          </p:cNvPr>
          <p:cNvSpPr/>
          <p:nvPr/>
        </p:nvSpPr>
        <p:spPr>
          <a:xfrm>
            <a:off x="6045200" y="2590800"/>
            <a:ext cx="2641600" cy="914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300">
                <a:solidFill>
                  <a:srgbClr val="404040"/>
                </a:solidFill>
                <a:latin typeface="Calibri"/>
                <a:ea typeface="Calibri"/>
                <a:cs typeface="Calibri"/>
              </a:rPr>
              <a:t>Alcance, tiempo, coste y calidad</a:t>
            </a:r>
            <a:endParaRPr lang="es-CO" sz="1300">
              <a:solidFill>
                <a:srgbClr val="404040"/>
              </a:solidFill>
              <a:latin typeface="Calibri"/>
              <a:ea typeface="Calibri"/>
              <a:cs typeface="Calibri"/>
            </a:endParaRPr>
          </a:p>
        </p:txBody>
      </p:sp>
      <p:sp>
        <p:nvSpPr>
          <p:cNvPr id="14" name="CuadroTexto 13">
            <a:extLst>
              <a:ext uri="{FF2B5EF4-FFF2-40B4-BE49-F238E27FC236}">
                <a16:creationId xmlns:a16="http://schemas.microsoft.com/office/drawing/2014/main" id="{9F7229AB-C787-437D-B973-516021D5F5D7}"/>
              </a:ext>
            </a:extLst>
          </p:cNvPr>
          <p:cNvSpPr txBox="1"/>
          <p:nvPr/>
        </p:nvSpPr>
        <p:spPr>
          <a:xfrm>
            <a:off x="457200" y="35814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Del entorno al proyecto: tres niveles de identificación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362306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304800"/>
            <a:ext cx="8229600" cy="533400"/>
          </a:xfrm>
          <a:prstGeom prst="rect">
            <a:avLst/>
          </a:prstGeom>
          <a:noFill/>
          <a:ln>
            <a:noFill/>
          </a:ln>
        </p:spPr>
        <p:txBody>
          <a:bodyPr wrap="square" anchor="t" anchorCtr="0">
            <a:noAutofit/>
          </a:bodyPr>
          <a:lstStyle/>
          <a:p>
            <a:pPr algn="l"/>
            <a:r>
              <a:rPr lang="es-ES" sz="3000" b="1">
                <a:solidFill>
                  <a:srgbClr val="1F3864"/>
                </a:solidFill>
                <a:latin typeface="Calibri"/>
                <a:ea typeface="Calibri"/>
                <a:cs typeface="Calibri"/>
              </a:rPr>
              <a:t>¿Qué es el riesgo país?</a:t>
            </a:r>
            <a:endParaRPr lang="es-ES" sz="3000" b="1" dirty="0">
              <a:solidFill>
                <a:srgbClr val="1F3864"/>
              </a:solidFill>
              <a:latin typeface="Calibri"/>
              <a:ea typeface="Calibri"/>
              <a:cs typeface="Calibri"/>
            </a:endParaRPr>
          </a:p>
        </p:txBody>
      </p:sp>
      <p:sp>
        <p:nvSpPr>
          <p:cNvPr id="3" name="Rectángulo 2"/>
          <p:cNvSpPr/>
          <p:nvPr/>
        </p:nvSpPr>
        <p:spPr>
          <a:xfrm>
            <a:off x="457200" y="1168400"/>
            <a:ext cx="8229600" cy="1117600"/>
          </a:xfrm>
          <a:prstGeom prst="rect">
            <a:avLst/>
          </a:prstGeom>
          <a:solidFill>
            <a:srgbClr val="1F3864"/>
          </a:solidFill>
          <a:ln>
            <a:noFill/>
          </a:ln>
        </p:spPr>
        <p:txBody>
          <a:bodyPr wrap="square" anchor="ctr" anchorCtr="0">
            <a:noAutofit/>
          </a:bodyPr>
          <a:lstStyle/>
          <a:p>
            <a:pPr algn="just"/>
            <a:r>
              <a:rPr lang="es-ES" sz="1700" b="1">
                <a:solidFill>
                  <a:srgbClr val="FFFFFF"/>
                </a:solidFill>
                <a:latin typeface="Calibri"/>
                <a:ea typeface="Calibri"/>
                <a:cs typeface="Calibri"/>
              </a:rPr>
              <a:t>Indicador financiero que mide la probabilidad adicional de incumplimiento de pagos soberanos o de pérdida en inversiones por factores propios de un país: económicos, políticos y sociales.</a:t>
            </a:r>
            <a:endParaRPr lang="es-CO" sz="1700" b="1" dirty="0">
              <a:solidFill>
                <a:srgbClr val="FFFFFF"/>
              </a:solidFill>
              <a:latin typeface="Calibri"/>
              <a:ea typeface="Calibri"/>
              <a:cs typeface="Calibri"/>
            </a:endParaRPr>
          </a:p>
        </p:txBody>
      </p:sp>
      <p:pic>
        <p:nvPicPr>
          <p:cNvPr id="7" name="Imagen 6"/>
          <p:cNvPicPr>
            <a:picLocks noChangeAspect="1"/>
          </p:cNvPicPr>
          <p:nvPr/>
        </p:nvPicPr>
        <p:blipFill>
          <a:blip r:embed="rId2"/>
          <a:srcRect l="12963" r="12963"/>
          <a:stretch>
            <a:fillRect/>
          </a:stretch>
        </p:blipFill>
        <p:spPr>
          <a:xfrm>
            <a:off x="457200" y="2540000"/>
            <a:ext cx="3352800" cy="2057400"/>
          </a:xfrm>
          <a:prstGeom prst="rect">
            <a:avLst/>
          </a:prstGeom>
          <a:effectLst>
            <a:softEdge rad="127000"/>
          </a:effectLst>
        </p:spPr>
      </p:pic>
      <p:sp>
        <p:nvSpPr>
          <p:cNvPr id="4" name="Rectángulo 3">
            <a:extLst>
              <a:ext uri="{FF2B5EF4-FFF2-40B4-BE49-F238E27FC236}">
                <a16:creationId xmlns:a16="http://schemas.microsoft.com/office/drawing/2014/main" id="{D2A34101-74A8-4E28-B7CC-D01C4AECE465}"/>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B904163D-9575-4F17-9EA6-C61E10C7170B}"/>
              </a:ext>
            </a:extLst>
          </p:cNvPr>
          <p:cNvSpPr txBox="1"/>
          <p:nvPr/>
        </p:nvSpPr>
        <p:spPr>
          <a:xfrm>
            <a:off x="457200" y="4673600"/>
            <a:ext cx="5080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El riesgo país se suma al riesgo crediticio normal del emisor</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448667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1168400"/>
            <a:ext cx="8229600" cy="939800"/>
          </a:xfrm>
          <a:prstGeom prst="rect">
            <a:avLst/>
          </a:prstGeom>
          <a:solidFill>
            <a:srgbClr val="1F3864"/>
          </a:solidFill>
          <a:ln>
            <a:noFill/>
          </a:ln>
        </p:spPr>
        <p:txBody>
          <a:bodyPr wrap="square" anchor="ctr" anchorCtr="0">
            <a:noAutofit/>
          </a:bodyPr>
          <a:lstStyle/>
          <a:p>
            <a:pPr algn="just"/>
            <a:r>
              <a:rPr lang="es-ES" sz="1600" b="1">
                <a:solidFill>
                  <a:srgbClr val="FFFFFF"/>
                </a:solidFill>
                <a:latin typeface="Calibri"/>
                <a:ea typeface="Calibri"/>
                <a:cs typeface="Calibri"/>
              </a:rPr>
              <a:t>El riesgo país es la sobretasa que paga un país por sus bonos frente a la tasa del Tesoro de Estados Unidos, sobre títulos de características similares.</a:t>
            </a:r>
            <a:endParaRPr lang="es-CO" sz="1600" b="1" dirty="0">
              <a:solidFill>
                <a:srgbClr val="FFFFFF"/>
              </a:solidFill>
              <a:latin typeface="Calibri"/>
              <a:ea typeface="Calibri"/>
              <a:cs typeface="Calibri"/>
            </a:endParaRPr>
          </a:p>
        </p:txBody>
      </p:sp>
      <p:sp>
        <p:nvSpPr>
          <p:cNvPr id="3" name="Rectángulo 2"/>
          <p:cNvSpPr/>
          <p:nvPr/>
        </p:nvSpPr>
        <p:spPr>
          <a:xfrm>
            <a:off x="457200" y="2946400"/>
            <a:ext cx="4267200" cy="1905000"/>
          </a:xfrm>
          <a:prstGeom prst="rect">
            <a:avLst/>
          </a:prstGeom>
          <a:solidFill>
            <a:srgbClr val="F2F5F9"/>
          </a:solidFill>
          <a:ln>
            <a:noFill/>
          </a:ln>
        </p:spPr>
        <p:txBody>
          <a:bodyPr wrap="square" anchor="t" anchorCtr="0">
            <a:noAutofit/>
          </a:bodyPr>
          <a:lstStyle/>
          <a:p>
            <a:pPr algn="just"/>
            <a:r>
              <a:rPr lang="es-ES" sz="1400">
                <a:solidFill>
                  <a:srgbClr val="404040"/>
                </a:solidFill>
                <a:latin typeface="Calibri"/>
                <a:ea typeface="Calibri"/>
                <a:cs typeface="Calibri"/>
              </a:rPr>
              <a:t>Lo calculan calificadoras internacionales: Moody's, Standard &amp; Poor's y J.P. Morgan, con su índice EMBI. También lo estiman Euromoney e Institutional Investor. Cada una usa su método y llegan a resultados similares.</a:t>
            </a:r>
            <a:endParaRPr lang="es-CO" sz="1400" dirty="0">
              <a:solidFill>
                <a:srgbClr val="404040"/>
              </a:solidFill>
              <a:latin typeface="Calibri"/>
              <a:ea typeface="Calibri"/>
              <a:cs typeface="Calibri"/>
            </a:endParaRPr>
          </a:p>
        </p:txBody>
      </p:sp>
      <p:pic>
        <p:nvPicPr>
          <p:cNvPr id="3074" name="Picture 2" descr="http://www.elfinancierocr.com/finanzas/Moodys-costarricense-especulativo-Ba1-Baa3_ELFIMA20140920_0001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0000" y="4191000"/>
            <a:ext cx="1905000" cy="74317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www.laeconomia.com.mx/wp-content/uploads/jp-300x245.jpg"/>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251364" y="3302000"/>
            <a:ext cx="933061" cy="762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5" name="Imagen 4"/>
          <p:cNvPicPr>
            <a:picLocks noChangeAspect="1"/>
          </p:cNvPicPr>
          <p:nvPr/>
        </p:nvPicPr>
        <p:blipFill>
          <a:blip r:embed="rId4"/>
          <a:stretch>
            <a:fillRect/>
          </a:stretch>
        </p:blipFill>
        <p:spPr>
          <a:xfrm>
            <a:off x="5080000" y="2500262"/>
            <a:ext cx="1127806" cy="587474"/>
          </a:xfrm>
          <a:prstGeom prst="rect">
            <a:avLst/>
          </a:prstGeom>
        </p:spPr>
      </p:pic>
      <p:sp>
        <p:nvSpPr>
          <p:cNvPr id="6" name="CuadroTexto 5">
            <a:extLst>
              <a:ext uri="{FF2B5EF4-FFF2-40B4-BE49-F238E27FC236}">
                <a16:creationId xmlns:a16="http://schemas.microsoft.com/office/drawing/2014/main" id="{4EC1EE78-1647-44DA-B0D2-B322596235DA}"/>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ES" sz="3000" b="1">
                <a:solidFill>
                  <a:srgbClr val="1F3864"/>
                </a:solidFill>
                <a:latin typeface="Calibri"/>
                <a:ea typeface="Calibri"/>
                <a:cs typeface="Calibri"/>
              </a:rPr>
              <a:t>El riesgo país como sobretasa</a:t>
            </a:r>
            <a:endParaRPr lang="es-CO" sz="3000" b="1">
              <a:solidFill>
                <a:srgbClr val="1F3864"/>
              </a:solidFill>
              <a:latin typeface="Calibri"/>
              <a:ea typeface="Calibri"/>
              <a:cs typeface="Calibri"/>
            </a:endParaRPr>
          </a:p>
        </p:txBody>
      </p:sp>
      <p:sp>
        <p:nvSpPr>
          <p:cNvPr id="7" name="Rectángulo 6">
            <a:extLst>
              <a:ext uri="{FF2B5EF4-FFF2-40B4-BE49-F238E27FC236}">
                <a16:creationId xmlns:a16="http://schemas.microsoft.com/office/drawing/2014/main" id="{22B97185-EC2E-48CE-816C-EB004CE5F857}"/>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7">
            <a:extLst>
              <a:ext uri="{FF2B5EF4-FFF2-40B4-BE49-F238E27FC236}">
                <a16:creationId xmlns:a16="http://schemas.microsoft.com/office/drawing/2014/main" id="{A3CE3805-AE49-4A94-B780-6FE0E01F1F8A}"/>
              </a:ext>
            </a:extLst>
          </p:cNvPr>
          <p:cNvSpPr/>
          <p:nvPr/>
        </p:nvSpPr>
        <p:spPr>
          <a:xfrm>
            <a:off x="457200" y="2286000"/>
            <a:ext cx="4267200" cy="558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QUIÉN LO CALCULA</a:t>
            </a:r>
          </a:p>
        </p:txBody>
      </p:sp>
      <p:sp>
        <p:nvSpPr>
          <p:cNvPr id="9" name="CuadroTexto 8">
            <a:extLst>
              <a:ext uri="{FF2B5EF4-FFF2-40B4-BE49-F238E27FC236}">
                <a16:creationId xmlns:a16="http://schemas.microsoft.com/office/drawing/2014/main" id="{F377B72C-EB11-4878-A016-D5D4F5E4B97C}"/>
              </a:ext>
            </a:extLst>
          </p:cNvPr>
          <p:cNvSpPr txBox="1"/>
          <p:nvPr/>
        </p:nvSpPr>
        <p:spPr>
          <a:xfrm>
            <a:off x="5080000" y="5080000"/>
            <a:ext cx="3606800" cy="203200"/>
          </a:xfrm>
          <a:prstGeom prst="rect">
            <a:avLst/>
          </a:prstGeom>
          <a:noFill/>
        </p:spPr>
        <p:txBody>
          <a:bodyPr vertOverflow="overflow" vert="horz" wrap="square" rtlCol="0" anchor="t">
            <a:noAutofit/>
          </a:bodyPr>
          <a:lstStyle/>
          <a:p>
            <a:pPr algn="l"/>
            <a:r>
              <a:rPr lang="es-CO" sz="1100">
                <a:solidFill>
                  <a:srgbClr val="7F7F7F"/>
                </a:solidFill>
                <a:latin typeface="Calibri"/>
                <a:ea typeface="Calibri"/>
                <a:cs typeface="Calibri"/>
              </a:rPr>
              <a:t>Principales calculadoras del índice</a:t>
            </a:r>
          </a:p>
        </p:txBody>
      </p:sp>
    </p:spTree>
    <p:extLst>
      <p:ext uri="{BB962C8B-B14F-4D97-AF65-F5344CB8AC3E}">
        <p14:creationId xmlns:p14="http://schemas.microsoft.com/office/powerpoint/2010/main" val="2958937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1168400"/>
            <a:ext cx="8229600" cy="1016000"/>
          </a:xfrm>
          <a:prstGeom prst="rect">
            <a:avLst/>
          </a:prstGeom>
          <a:solidFill>
            <a:srgbClr val="1F3864"/>
          </a:solidFill>
          <a:ln>
            <a:noFill/>
          </a:ln>
        </p:spPr>
        <p:txBody>
          <a:bodyPr wrap="square" anchor="ctr" anchorCtr="0">
            <a:noAutofit/>
          </a:bodyPr>
          <a:lstStyle/>
          <a:p>
            <a:pPr algn="ctr"/>
            <a:r>
              <a:rPr lang="es-ES" sz="2000" b="1">
                <a:solidFill>
                  <a:srgbClr val="FFFFFF"/>
                </a:solidFill>
                <a:latin typeface="Calibri"/>
                <a:ea typeface="Calibri"/>
                <a:cs typeface="Calibri"/>
              </a:rPr>
              <a:t>Se expresa en puntos básicos: 100 puntos equivalen a una sobretasa de 1%.</a:t>
            </a:r>
            <a:endParaRPr lang="es-CO" sz="2000" b="1" dirty="0">
              <a:solidFill>
                <a:srgbClr val="FFFFFF"/>
              </a:solidFill>
              <a:latin typeface="Calibri"/>
              <a:ea typeface="Calibri"/>
              <a:cs typeface="Calibri"/>
            </a:endParaRPr>
          </a:p>
        </p:txBody>
      </p:sp>
      <p:sp>
        <p:nvSpPr>
          <p:cNvPr id="4" name="Rectángulo 3"/>
          <p:cNvSpPr/>
          <p:nvPr/>
        </p:nvSpPr>
        <p:spPr>
          <a:xfrm>
            <a:off x="457200" y="304800"/>
            <a:ext cx="8229600" cy="533400"/>
          </a:xfrm>
          <a:prstGeom prst="rect">
            <a:avLst/>
          </a:prstGeom>
          <a:noFill/>
          <a:ln>
            <a:noFill/>
          </a:ln>
        </p:spPr>
        <p:txBody>
          <a:bodyPr wrap="square" anchor="t" anchorCtr="0">
            <a:noAutofit/>
          </a:bodyPr>
          <a:lstStyle/>
          <a:p>
            <a:pPr algn="l"/>
            <a:r>
              <a:rPr lang="es-ES" sz="3000" b="1">
                <a:solidFill>
                  <a:srgbClr val="1F3864"/>
                </a:solidFill>
                <a:latin typeface="Calibri"/>
                <a:ea typeface="Calibri"/>
                <a:cs typeface="Calibri"/>
              </a:rPr>
              <a:t>¿Cómo se expresa el riesgo país?</a:t>
            </a:r>
            <a:endParaRPr lang="es-ES" sz="3000" b="1" dirty="0">
              <a:solidFill>
                <a:srgbClr val="1F3864"/>
              </a:solidFill>
              <a:latin typeface="Calibri"/>
              <a:ea typeface="Calibri"/>
              <a:cs typeface="Calibri"/>
            </a:endParaRPr>
          </a:p>
        </p:txBody>
      </p:sp>
      <p:sp>
        <p:nvSpPr>
          <p:cNvPr id="3" name="Rectángulo 2">
            <a:extLst>
              <a:ext uri="{FF2B5EF4-FFF2-40B4-BE49-F238E27FC236}">
                <a16:creationId xmlns:a16="http://schemas.microsoft.com/office/drawing/2014/main" id="{5D6377A4-E575-463A-8417-8E549BAF0BE5}"/>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260AD68E-128F-4212-B43B-1DFADE156D35}"/>
              </a:ext>
            </a:extLst>
          </p:cNvPr>
          <p:cNvSpPr/>
          <p:nvPr/>
        </p:nvSpPr>
        <p:spPr>
          <a:xfrm>
            <a:off x="457200" y="2489200"/>
            <a:ext cx="8229600" cy="355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200" b="1">
                <a:solidFill>
                  <a:srgbClr val="1F3864"/>
                </a:solidFill>
                <a:latin typeface="Calibri"/>
                <a:ea typeface="Calibri"/>
                <a:cs typeface="Calibri"/>
              </a:rPr>
              <a:t>¿CUÁNTO DEBERÍA PAGAR UN PAÍS POR ENCIMA DE LOS BONOS DEL PAÍS BASE?</a:t>
            </a:r>
            <a:endParaRPr lang="es-CO" sz="1200" b="1">
              <a:solidFill>
                <a:srgbClr val="1F3864"/>
              </a:solidFill>
              <a:latin typeface="Calibri"/>
              <a:ea typeface="Calibri"/>
              <a:cs typeface="Calibri"/>
            </a:endParaRPr>
          </a:p>
        </p:txBody>
      </p:sp>
      <p:sp>
        <p:nvSpPr>
          <p:cNvPr id="6" name="Rectángulo 5">
            <a:extLst>
              <a:ext uri="{FF2B5EF4-FFF2-40B4-BE49-F238E27FC236}">
                <a16:creationId xmlns:a16="http://schemas.microsoft.com/office/drawing/2014/main" id="{D8953BC0-AAA6-44CA-8173-AE0CD14B2AC4}"/>
              </a:ext>
            </a:extLst>
          </p:cNvPr>
          <p:cNvSpPr/>
          <p:nvPr/>
        </p:nvSpPr>
        <p:spPr>
          <a:xfrm>
            <a:off x="457200" y="2844800"/>
            <a:ext cx="8229600" cy="1143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2800" b="1">
                <a:solidFill>
                  <a:srgbClr val="1F3864"/>
                </a:solidFill>
                <a:latin typeface="Calibri"/>
                <a:ea typeface="Calibri"/>
                <a:cs typeface="Calibri"/>
              </a:rPr>
              <a:t>Tr = (1 + RF) × (1 + RP) − 1</a:t>
            </a:r>
          </a:p>
        </p:txBody>
      </p:sp>
      <p:sp>
        <p:nvSpPr>
          <p:cNvPr id="7" name="Rectángulo 6">
            <a:extLst>
              <a:ext uri="{FF2B5EF4-FFF2-40B4-BE49-F238E27FC236}">
                <a16:creationId xmlns:a16="http://schemas.microsoft.com/office/drawing/2014/main" id="{70B55E07-3EE2-4071-AF76-ED9012D2E77B}"/>
              </a:ext>
            </a:extLst>
          </p:cNvPr>
          <p:cNvSpPr/>
          <p:nvPr/>
        </p:nvSpPr>
        <p:spPr>
          <a:xfrm>
            <a:off x="457200" y="4140200"/>
            <a:ext cx="82296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Tr: tasa requerida    ·    RF: tasa libre de riesgo del país base    ·    RP: riesgo país</a:t>
            </a:r>
            <a:endParaRPr lang="es-CO" sz="1400">
              <a:solidFill>
                <a:srgbClr val="404040"/>
              </a:solidFill>
              <a:latin typeface="Calibri"/>
              <a:ea typeface="Calibri"/>
              <a:cs typeface="Calibri"/>
            </a:endParaRPr>
          </a:p>
        </p:txBody>
      </p:sp>
    </p:spTree>
    <p:extLst>
      <p:ext uri="{BB962C8B-B14F-4D97-AF65-F5344CB8AC3E}">
        <p14:creationId xmlns:p14="http://schemas.microsoft.com/office/powerpoint/2010/main" val="2920635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C6AE287-2786-4FBD-BA9A-6E89B9DCA1BB}"/>
              </a:ext>
            </a:extLst>
          </p:cNvPr>
          <p:cNvSpPr txBox="1"/>
          <p:nvPr/>
        </p:nvSpPr>
        <p:spPr>
          <a:xfrm>
            <a:off x="457200" y="330200"/>
            <a:ext cx="8229600" cy="1143000"/>
          </a:xfrm>
          <a:prstGeom prst="rect">
            <a:avLst/>
          </a:prstGeom>
          <a:noFill/>
        </p:spPr>
        <p:txBody>
          <a:bodyPr vertOverflow="overflow" vert="horz" wrap="square" rtlCol="0" anchor="t">
            <a:noAutofit/>
          </a:bodyPr>
          <a:lstStyle/>
          <a:p>
            <a:pPr algn="l"/>
            <a:r>
              <a:rPr lang="es-ES" sz="2400" b="1">
                <a:solidFill>
                  <a:srgbClr val="1F3864"/>
                </a:solidFill>
                <a:latin typeface="Calibri"/>
                <a:ea typeface="Calibri"/>
                <a:cs typeface="Calibri"/>
              </a:rPr>
              <a:t>Colombia comprimió su riesgo país de 275 a 189 bps en 2026 y ya se ubica cerca de Brasil</a:t>
            </a:r>
            <a:endParaRPr lang="es-CO" sz="2400" b="1">
              <a:solidFill>
                <a:srgbClr val="1F3864"/>
              </a:solidFill>
              <a:latin typeface="Calibri"/>
              <a:ea typeface="Calibri"/>
              <a:cs typeface="Calibri"/>
            </a:endParaRPr>
          </a:p>
        </p:txBody>
      </p:sp>
      <p:sp>
        <p:nvSpPr>
          <p:cNvPr id="3" name="CuadroTexto 2">
            <a:extLst>
              <a:ext uri="{FF2B5EF4-FFF2-40B4-BE49-F238E27FC236}">
                <a16:creationId xmlns:a16="http://schemas.microsoft.com/office/drawing/2014/main" id="{A476D087-1B25-4B9E-A3F3-8B79FA9A857C}"/>
              </a:ext>
            </a:extLst>
          </p:cNvPr>
          <p:cNvSpPr txBox="1"/>
          <p:nvPr/>
        </p:nvSpPr>
        <p:spPr>
          <a:xfrm>
            <a:off x="457200" y="1168400"/>
            <a:ext cx="8229600" cy="254000"/>
          </a:xfrm>
          <a:prstGeom prst="rect">
            <a:avLst/>
          </a:prstGeom>
          <a:noFill/>
        </p:spPr>
        <p:txBody>
          <a:bodyPr vertOverflow="overflow" vert="horz" wrap="square" rtlCol="0" anchor="t">
            <a:noAutofit/>
          </a:bodyPr>
          <a:lstStyle/>
          <a:p>
            <a:pPr algn="l"/>
            <a:r>
              <a:rPr lang="es-ES" sz="1400">
                <a:solidFill>
                  <a:srgbClr val="595959"/>
                </a:solidFill>
                <a:latin typeface="Calibri"/>
                <a:ea typeface="Calibri"/>
                <a:cs typeface="Calibri"/>
              </a:rPr>
              <a:t>Riesgo país EMBI por país, cierre de agosto de 2026</a:t>
            </a:r>
            <a:endParaRPr lang="es-CO" sz="1400">
              <a:solidFill>
                <a:srgbClr val="595959"/>
              </a:solidFill>
              <a:latin typeface="Calibri"/>
              <a:ea typeface="Calibri"/>
              <a:cs typeface="Calibri"/>
            </a:endParaRPr>
          </a:p>
        </p:txBody>
      </p:sp>
      <p:sp>
        <p:nvSpPr>
          <p:cNvPr id="4" name="CuadroTexto 3">
            <a:extLst>
              <a:ext uri="{FF2B5EF4-FFF2-40B4-BE49-F238E27FC236}">
                <a16:creationId xmlns:a16="http://schemas.microsoft.com/office/drawing/2014/main" id="{E0F8A106-8DBA-4D7B-99B8-AE815E899DE6}"/>
              </a:ext>
            </a:extLst>
          </p:cNvPr>
          <p:cNvSpPr txBox="1"/>
          <p:nvPr/>
        </p:nvSpPr>
        <p:spPr>
          <a:xfrm>
            <a:off x="457200" y="5207000"/>
            <a:ext cx="8229600" cy="431800"/>
          </a:xfrm>
          <a:prstGeom prst="rect">
            <a:avLst/>
          </a:prstGeom>
          <a:noFill/>
        </p:spPr>
        <p:txBody>
          <a:bodyPr vertOverflow="overflow" vert="horz" wrap="square" rtlCol="0" anchor="t">
            <a:noAutofit/>
          </a:bodyPr>
          <a:lstStyle/>
          <a:p>
            <a:pPr algn="l"/>
            <a:r>
              <a:rPr lang="es-ES" sz="1000">
                <a:solidFill>
                  <a:srgbClr val="7F7F7F"/>
                </a:solidFill>
                <a:latin typeface="Calibri"/>
                <a:ea typeface="Calibri"/>
                <a:cs typeface="Calibri"/>
              </a:rPr>
              <a:t>Nota: Venezuela queda fuera de escala con 6.662 bps (en default desde 2017). Panamá, Costa Rica, Guatemala y Rep. Dominicana al cierre de julio de 2026.
Fuente: EMBI, J.P. Morgan, vía Bloomberg Línea, septiembre de 2026.</a:t>
            </a:r>
            <a:endParaRPr lang="es-CO" sz="1000">
              <a:solidFill>
                <a:srgbClr val="7F7F7F"/>
              </a:solidFill>
              <a:latin typeface="Calibri"/>
              <a:ea typeface="Calibri"/>
              <a:cs typeface="Calibri"/>
            </a:endParaRPr>
          </a:p>
        </p:txBody>
      </p:sp>
      <p:graphicFrame>
        <p:nvGraphicFramePr>
          <p:cNvPr id="5" name="Chart"/>
          <p:cNvGraphicFramePr/>
          <p:nvPr>
            <p:extLst>
              <p:ext uri="{D42A27DB-BD31-4B8C-83A1-F6EECF244321}">
                <p14:modId xmlns:p14="http://schemas.microsoft.com/office/powerpoint/2010/main" val="1383384781"/>
              </p:ext>
            </p:extLst>
          </p:nvPr>
        </p:nvGraphicFramePr>
        <p:xfrm>
          <a:off x="381000" y="1447800"/>
          <a:ext cx="8305800" cy="38100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397110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304800"/>
            <a:ext cx="8229600" cy="533400"/>
          </a:xfrm>
          <a:prstGeom prst="rect">
            <a:avLst/>
          </a:prstGeom>
          <a:noFill/>
          <a:ln>
            <a:noFill/>
          </a:ln>
        </p:spPr>
        <p:txBody>
          <a:bodyPr wrap="square" anchor="t" anchorCtr="0">
            <a:noAutofit/>
          </a:bodyPr>
          <a:lstStyle/>
          <a:p>
            <a:pPr algn="ctr"/>
            <a:r>
              <a:rPr lang="es-ES" sz="2600" b="1">
                <a:solidFill>
                  <a:srgbClr val="1F3864"/>
                </a:solidFill>
                <a:latin typeface="Calibri"/>
                <a:ea typeface="Calibri"/>
                <a:cs typeface="Calibri"/>
              </a:rPr>
              <a:t>¿Cómo se determina la calificación soberana?</a:t>
            </a:r>
            <a:endParaRPr lang="es-ES" sz="2600" b="1" dirty="0">
              <a:solidFill>
                <a:srgbClr val="1F3864"/>
              </a:solidFill>
              <a:latin typeface="Calibri"/>
              <a:ea typeface="Calibri"/>
              <a:cs typeface="Calibri"/>
            </a:endParaRPr>
          </a:p>
        </p:txBody>
      </p:sp>
      <p:sp>
        <p:nvSpPr>
          <p:cNvPr id="5" name="Rectángulo 4"/>
          <p:cNvSpPr/>
          <p:nvPr/>
        </p:nvSpPr>
        <p:spPr>
          <a:xfrm>
            <a:off x="457200" y="5384800"/>
            <a:ext cx="8229600" cy="203200"/>
          </a:xfrm>
          <a:prstGeom prst="rect">
            <a:avLst/>
          </a:prstGeom>
        </p:spPr>
        <p:txBody>
          <a:bodyPr wrap="square">
            <a:spAutoFit/>
          </a:bodyPr>
          <a:lstStyle/>
          <a:p>
            <a:pPr algn="l">
              <a:buNone/>
            </a:pPr>
            <a:r>
              <a:rPr lang="es-CO" sz="1000" dirty="0">
                <a:solidFill>
                  <a:srgbClr val="7F7F7F"/>
                </a:solidFill>
                <a:latin typeface="Calibri"/>
              </a:rPr>
              <a:t>Fuente: metodología de calificaciones soberanas, S&amp;P Global Ratings.</a:t>
            </a:r>
          </a:p>
        </p:txBody>
      </p:sp>
      <p:sp>
        <p:nvSpPr>
          <p:cNvPr id="4" name="Rectángulo 3">
            <a:extLst>
              <a:ext uri="{FF2B5EF4-FFF2-40B4-BE49-F238E27FC236}">
                <a16:creationId xmlns:a16="http://schemas.microsoft.com/office/drawing/2014/main" id="{958F16F0-5A79-403F-9499-F1447D7F9924}"/>
              </a:ext>
            </a:extLst>
          </p:cNvPr>
          <p:cNvSpPr/>
          <p:nvPr/>
        </p:nvSpPr>
        <p:spPr>
          <a:xfrm>
            <a:off x="457200" y="1168400"/>
            <a:ext cx="8229600" cy="2794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200" b="1">
                <a:solidFill>
                  <a:srgbClr val="FFFFFF"/>
                </a:solidFill>
                <a:latin typeface="Calibri"/>
                <a:ea typeface="Calibri"/>
                <a:cs typeface="Calibri"/>
              </a:rPr>
              <a:t>PERFIL INSTITUCIONAL Y ECONÓMICO  ·  eje horizontal de la matriz</a:t>
            </a:r>
            <a:endParaRPr lang="es-CO" sz="1200" b="1">
              <a:solidFill>
                <a:srgbClr val="FFFFFF"/>
              </a:solidFill>
              <a:latin typeface="Calibri"/>
              <a:ea typeface="Calibri"/>
              <a:cs typeface="Calibri"/>
            </a:endParaRPr>
          </a:p>
        </p:txBody>
      </p:sp>
      <p:sp>
        <p:nvSpPr>
          <p:cNvPr id="6" name="Rectángulo 5">
            <a:extLst>
              <a:ext uri="{FF2B5EF4-FFF2-40B4-BE49-F238E27FC236}">
                <a16:creationId xmlns:a16="http://schemas.microsoft.com/office/drawing/2014/main" id="{264F491D-A7F7-4097-BF32-3ECA78DDE397}"/>
              </a:ext>
            </a:extLst>
          </p:cNvPr>
          <p:cNvSpPr/>
          <p:nvPr/>
        </p:nvSpPr>
        <p:spPr>
          <a:xfrm>
            <a:off x="508000" y="1524000"/>
            <a:ext cx="3962400" cy="965200"/>
          </a:xfrm>
          <a:prstGeom prst="rect">
            <a:avLst/>
          </a:prstGeom>
          <a:solidFill>
            <a:srgbClr val="EDF2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lnSpc>
                <a:spcPct val="90000"/>
              </a:lnSpc>
              <a:spcAft>
                <a:spcPts val="200"/>
              </a:spcAft>
              <a:buNone/>
            </a:pPr>
            <a:r>
              <a:rPr lang="es-CO" sz="1500" b="1" dirty="0">
                <a:solidFill>
                  <a:srgbClr val="1F3864"/>
                </a:solidFill>
                <a:latin typeface="Calibri"/>
              </a:rPr>
              <a:t>Institucional</a:t>
            </a:r>
          </a:p>
          <a:p>
            <a:pPr algn="l">
              <a:lnSpc>
                <a:spcPct val="90000"/>
              </a:lnSpc>
              <a:buNone/>
            </a:pPr>
            <a:r>
              <a:rPr lang="es-CO" sz="1400" dirty="0">
                <a:solidFill>
                  <a:srgbClr val="404040"/>
                </a:solidFill>
                <a:latin typeface="Calibri"/>
              </a:rPr>
              <a:t>Previsibilidad de las instituciones, transparencia y voluntad de pago.</a:t>
            </a:r>
          </a:p>
        </p:txBody>
      </p:sp>
      <p:sp>
        <p:nvSpPr>
          <p:cNvPr id="7" name="Rectángulo 6">
            <a:extLst>
              <a:ext uri="{FF2B5EF4-FFF2-40B4-BE49-F238E27FC236}">
                <a16:creationId xmlns:a16="http://schemas.microsoft.com/office/drawing/2014/main" id="{5276B38A-8447-406B-A5F6-D415FBC64BBD}"/>
              </a:ext>
            </a:extLst>
          </p:cNvPr>
          <p:cNvSpPr/>
          <p:nvPr/>
        </p:nvSpPr>
        <p:spPr>
          <a:xfrm>
            <a:off x="4622800" y="1524000"/>
            <a:ext cx="3962400" cy="965200"/>
          </a:xfrm>
          <a:prstGeom prst="rect">
            <a:avLst/>
          </a:prstGeom>
          <a:solidFill>
            <a:srgbClr val="EDF2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lnSpc>
                <a:spcPct val="90000"/>
              </a:lnSpc>
              <a:spcAft>
                <a:spcPts val="200"/>
              </a:spcAft>
              <a:buNone/>
            </a:pPr>
            <a:r>
              <a:rPr lang="es-CO" sz="1500" b="1" dirty="0">
                <a:solidFill>
                  <a:srgbClr val="1F3864"/>
                </a:solidFill>
                <a:latin typeface="Calibri"/>
              </a:rPr>
              <a:t>Económico</a:t>
            </a:r>
          </a:p>
          <a:p>
            <a:pPr algn="l">
              <a:lnSpc>
                <a:spcPct val="90000"/>
              </a:lnSpc>
              <a:buNone/>
            </a:pPr>
            <a:r>
              <a:rPr lang="es-CO" sz="1400" dirty="0">
                <a:solidFill>
                  <a:srgbClr val="404040"/>
                </a:solidFill>
                <a:latin typeface="Calibri"/>
              </a:rPr>
              <a:t>Ingreso por habitante, crecimiento y diversificación productiva.</a:t>
            </a:r>
          </a:p>
        </p:txBody>
      </p:sp>
      <p:sp>
        <p:nvSpPr>
          <p:cNvPr id="8" name="Rectángulo 7">
            <a:extLst>
              <a:ext uri="{FF2B5EF4-FFF2-40B4-BE49-F238E27FC236}">
                <a16:creationId xmlns:a16="http://schemas.microsoft.com/office/drawing/2014/main" id="{224179C5-82E8-488A-A06C-A4E8847E84CD}"/>
              </a:ext>
            </a:extLst>
          </p:cNvPr>
          <p:cNvSpPr/>
          <p:nvPr/>
        </p:nvSpPr>
        <p:spPr>
          <a:xfrm>
            <a:off x="457200" y="2641600"/>
            <a:ext cx="8229600" cy="279400"/>
          </a:xfrm>
          <a:prstGeom prst="rect">
            <a:avLst/>
          </a:prstGeom>
          <a:solidFill>
            <a:srgbClr val="2E549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200" b="1">
                <a:solidFill>
                  <a:srgbClr val="FFFFFF"/>
                </a:solidFill>
                <a:latin typeface="Calibri"/>
                <a:ea typeface="Calibri"/>
                <a:cs typeface="Calibri"/>
              </a:rPr>
              <a:t>PERFIL DE FLEXIBILIDAD Y DESEMPEÑO  ·  eje vertical de la matriz</a:t>
            </a:r>
            <a:endParaRPr lang="es-CO" sz="1200" b="1">
              <a:solidFill>
                <a:srgbClr val="FFFFFF"/>
              </a:solidFill>
              <a:latin typeface="Calibri"/>
              <a:ea typeface="Calibri"/>
              <a:cs typeface="Calibri"/>
            </a:endParaRPr>
          </a:p>
        </p:txBody>
      </p:sp>
      <p:sp>
        <p:nvSpPr>
          <p:cNvPr id="9" name="Rectángulo 8">
            <a:extLst>
              <a:ext uri="{FF2B5EF4-FFF2-40B4-BE49-F238E27FC236}">
                <a16:creationId xmlns:a16="http://schemas.microsoft.com/office/drawing/2014/main" id="{F1E4A283-0F65-4ED6-A6BE-98A0FA7FE57D}"/>
              </a:ext>
            </a:extLst>
          </p:cNvPr>
          <p:cNvSpPr/>
          <p:nvPr/>
        </p:nvSpPr>
        <p:spPr>
          <a:xfrm>
            <a:off x="508000" y="2997200"/>
            <a:ext cx="2641600" cy="965200"/>
          </a:xfrm>
          <a:prstGeom prst="rect">
            <a:avLst/>
          </a:prstGeom>
          <a:solidFill>
            <a:srgbClr val="EDF2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lnSpc>
                <a:spcPct val="90000"/>
              </a:lnSpc>
              <a:spcAft>
                <a:spcPts val="200"/>
              </a:spcAft>
              <a:buNone/>
            </a:pPr>
            <a:r>
              <a:rPr lang="es-CO" sz="1500" b="1" dirty="0">
                <a:solidFill>
                  <a:srgbClr val="1F3864"/>
                </a:solidFill>
                <a:latin typeface="Calibri"/>
              </a:rPr>
              <a:t>Externo</a:t>
            </a:r>
          </a:p>
          <a:p>
            <a:pPr algn="l">
              <a:lnSpc>
                <a:spcPct val="90000"/>
              </a:lnSpc>
              <a:buNone/>
            </a:pPr>
            <a:r>
              <a:rPr lang="es-CO" sz="1400" dirty="0">
                <a:solidFill>
                  <a:srgbClr val="404040"/>
                </a:solidFill>
                <a:latin typeface="Calibri"/>
              </a:rPr>
              <a:t>Liquidez externa y deuda externa neta.</a:t>
            </a:r>
          </a:p>
        </p:txBody>
      </p:sp>
      <p:sp>
        <p:nvSpPr>
          <p:cNvPr id="10" name="Rectángulo 9">
            <a:extLst>
              <a:ext uri="{FF2B5EF4-FFF2-40B4-BE49-F238E27FC236}">
                <a16:creationId xmlns:a16="http://schemas.microsoft.com/office/drawing/2014/main" id="{02DD737E-B6C4-4AE9-9E08-863AE4E35990}"/>
              </a:ext>
            </a:extLst>
          </p:cNvPr>
          <p:cNvSpPr/>
          <p:nvPr/>
        </p:nvSpPr>
        <p:spPr>
          <a:xfrm>
            <a:off x="3251200" y="2997200"/>
            <a:ext cx="2641600" cy="965200"/>
          </a:xfrm>
          <a:prstGeom prst="rect">
            <a:avLst/>
          </a:prstGeom>
          <a:solidFill>
            <a:srgbClr val="EDF2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lnSpc>
                <a:spcPct val="90000"/>
              </a:lnSpc>
              <a:spcAft>
                <a:spcPts val="200"/>
              </a:spcAft>
              <a:buNone/>
            </a:pPr>
            <a:r>
              <a:rPr lang="es-CO" sz="1500" b="1" dirty="0">
                <a:solidFill>
                  <a:srgbClr val="1F3864"/>
                </a:solidFill>
                <a:latin typeface="Calibri"/>
              </a:rPr>
              <a:t>Fiscal</a:t>
            </a:r>
          </a:p>
          <a:p>
            <a:pPr algn="l">
              <a:lnSpc>
                <a:spcPct val="90000"/>
              </a:lnSpc>
              <a:buNone/>
            </a:pPr>
            <a:r>
              <a:rPr lang="es-CO" sz="1400" dirty="0">
                <a:solidFill>
                  <a:srgbClr val="404040"/>
                </a:solidFill>
                <a:latin typeface="Calibri"/>
              </a:rPr>
              <a:t>Trayectoria del déficit y carga de la deuda.</a:t>
            </a:r>
          </a:p>
        </p:txBody>
      </p:sp>
      <p:sp>
        <p:nvSpPr>
          <p:cNvPr id="11" name="Rectángulo 10">
            <a:extLst>
              <a:ext uri="{FF2B5EF4-FFF2-40B4-BE49-F238E27FC236}">
                <a16:creationId xmlns:a16="http://schemas.microsoft.com/office/drawing/2014/main" id="{A612B480-3792-4438-9C9B-D8A04479B93F}"/>
              </a:ext>
            </a:extLst>
          </p:cNvPr>
          <p:cNvSpPr/>
          <p:nvPr/>
        </p:nvSpPr>
        <p:spPr>
          <a:xfrm>
            <a:off x="5994400" y="2997200"/>
            <a:ext cx="2641600" cy="965200"/>
          </a:xfrm>
          <a:prstGeom prst="rect">
            <a:avLst/>
          </a:prstGeom>
          <a:solidFill>
            <a:srgbClr val="EDF2F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lnSpc>
                <a:spcPct val="90000"/>
              </a:lnSpc>
              <a:spcAft>
                <a:spcPts val="200"/>
              </a:spcAft>
              <a:buNone/>
            </a:pPr>
            <a:r>
              <a:rPr lang="es-CO" sz="1500" b="1" dirty="0">
                <a:solidFill>
                  <a:srgbClr val="1F3864"/>
                </a:solidFill>
                <a:latin typeface="Calibri"/>
              </a:rPr>
              <a:t>Monetario</a:t>
            </a:r>
          </a:p>
          <a:p>
            <a:pPr algn="l">
              <a:lnSpc>
                <a:spcPct val="90000"/>
              </a:lnSpc>
              <a:buNone/>
            </a:pPr>
            <a:r>
              <a:rPr lang="es-CO" sz="1400" dirty="0">
                <a:solidFill>
                  <a:srgbClr val="404040"/>
                </a:solidFill>
                <a:latin typeface="Calibri"/>
              </a:rPr>
              <a:t>Credibilidad monetaria, inflación y tipo de cambio.</a:t>
            </a:r>
          </a:p>
        </p:txBody>
      </p:sp>
      <p:sp>
        <p:nvSpPr>
          <p:cNvPr id="12" name="Rectángulo 11">
            <a:extLst>
              <a:ext uri="{FF2B5EF4-FFF2-40B4-BE49-F238E27FC236}">
                <a16:creationId xmlns:a16="http://schemas.microsoft.com/office/drawing/2014/main" id="{13F504F3-6A21-4F4F-A018-DDCC59B9C4A8}"/>
              </a:ext>
            </a:extLst>
          </p:cNvPr>
          <p:cNvSpPr/>
          <p:nvPr/>
        </p:nvSpPr>
        <p:spPr>
          <a:xfrm>
            <a:off x="457200" y="4191000"/>
            <a:ext cx="8229600" cy="558800"/>
          </a:xfrm>
          <a:prstGeom prst="rect">
            <a:avLst/>
          </a:prstGeom>
          <a:solidFill>
            <a:srgbClr val="FDEA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b="1">
                <a:solidFill>
                  <a:srgbClr val="843C0C"/>
                </a:solidFill>
                <a:latin typeface="Calibri"/>
                <a:ea typeface="Calibri"/>
                <a:cs typeface="Calibri"/>
              </a:rPr>
              <a:t>Los dos perfiles se cruzan en una matriz y arrojan la calificación soberana indicativa, de aaa a ccc.</a:t>
            </a:r>
            <a:endParaRPr lang="es-CO" sz="1400" b="1">
              <a:solidFill>
                <a:srgbClr val="843C0C"/>
              </a:solidFill>
              <a:latin typeface="Calibri"/>
              <a:ea typeface="Calibri"/>
              <a:cs typeface="Calibri"/>
            </a:endParaRPr>
          </a:p>
        </p:txBody>
      </p:sp>
      <p:sp>
        <p:nvSpPr>
          <p:cNvPr id="13" name="Rectángulo 12">
            <a:extLst>
              <a:ext uri="{FF2B5EF4-FFF2-40B4-BE49-F238E27FC236}">
                <a16:creationId xmlns:a16="http://schemas.microsoft.com/office/drawing/2014/main" id="{01724257-6DD2-4F72-93DD-59E232BA96E1}"/>
              </a:ext>
            </a:extLst>
          </p:cNvPr>
          <p:cNvSpPr/>
          <p:nvPr/>
        </p:nvSpPr>
        <p:spPr>
          <a:xfrm>
            <a:off x="457200" y="4826000"/>
            <a:ext cx="8229600" cy="5080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buNone/>
            </a:pPr>
            <a:r>
              <a:rPr lang="es-CO" sz="1200" dirty="0">
                <a:solidFill>
                  <a:srgbClr val="595959"/>
                </a:solidFill>
                <a:latin typeface="Calibri"/>
              </a:rPr>
              <a:t>Cada factor se califica de 1 (extremadamente fuerte) a 6 (extremadamente débil).</a:t>
            </a:r>
          </a:p>
        </p:txBody>
      </p:sp>
    </p:spTree>
    <p:extLst>
      <p:ext uri="{BB962C8B-B14F-4D97-AF65-F5344CB8AC3E}">
        <p14:creationId xmlns:p14="http://schemas.microsoft.com/office/powerpoint/2010/main" val="2786321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330200"/>
            <a:ext cx="8229600" cy="558800"/>
          </a:xfrm>
          <a:prstGeom prst="rect">
            <a:avLst/>
          </a:prstGeom>
        </p:spPr>
        <p:txBody>
          <a:bodyPr wrap="none">
            <a:spAutoFit/>
          </a:bodyPr>
          <a:lstStyle/>
          <a:p>
            <a:pPr algn="ctr"/>
            <a:r>
              <a:rPr lang="es-CO" sz="3200" b="1" dirty="0">
                <a:solidFill>
                  <a:schemeClr val="accent5">
                    <a:lumMod val="75000"/>
                  </a:schemeClr>
                </a:solidFill>
                <a:latin typeface="Helvetica" panose="020B0604020202030204" pitchFamily="34" charset="0"/>
              </a:rPr>
              <a:t>La matriz de calificación de S&amp;P</a:t>
            </a:r>
          </a:p>
        </p:txBody>
      </p:sp>
      <p:sp>
        <p:nvSpPr>
          <p:cNvPr id="5" name="Rectángulo 4"/>
          <p:cNvSpPr/>
          <p:nvPr/>
        </p:nvSpPr>
        <p:spPr>
          <a:xfrm>
            <a:off x="457200" y="5308600"/>
            <a:ext cx="8229600" cy="246221"/>
          </a:xfrm>
          <a:prstGeom prst="rect">
            <a:avLst/>
          </a:prstGeom>
        </p:spPr>
        <p:txBody>
          <a:bodyPr wrap="square">
            <a:spAutoFit/>
          </a:bodyPr>
          <a:lstStyle/>
          <a:p>
            <a:pPr algn="l">
              <a:buNone/>
            </a:pPr>
            <a:r>
              <a:rPr lang="es-CO" sz="1000" dirty="0">
                <a:solidFill>
                  <a:srgbClr val="7F7F7F"/>
                </a:solidFill>
                <a:latin typeface="Calibri"/>
              </a:rPr>
              <a:t>Versión simplificada: la matriz original tiene once columnas y nueve filas. Fuente: S&amp;P Global Ratings y Commonwealth Bank of Australia.</a:t>
            </a:r>
          </a:p>
        </p:txBody>
      </p:sp>
      <p:graphicFrame>
        <p:nvGraphicFramePr>
          <p:cNvPr id="8" name="Tabla 7">
            <a:extLst>
              <a:ext uri="{FF2B5EF4-FFF2-40B4-BE49-F238E27FC236}">
                <a16:creationId xmlns:a16="http://schemas.microsoft.com/office/drawing/2014/main" id="{38C689C0-B183-4757-A5AA-78C44C594A87}"/>
              </a:ext>
            </a:extLst>
          </p:cNvPr>
          <p:cNvGraphicFramePr>
            <a:graphicFrameLocks noGrp="1"/>
          </p:cNvGraphicFramePr>
          <p:nvPr>
            <p:extLst>
              <p:ext uri="{D42A27DB-BD31-4B8C-83A1-F6EECF244321}">
                <p14:modId xmlns:p14="http://schemas.microsoft.com/office/powerpoint/2010/main" val="1857016497"/>
              </p:ext>
            </p:extLst>
          </p:nvPr>
        </p:nvGraphicFramePr>
        <p:xfrm>
          <a:off x="457200" y="1320800"/>
          <a:ext cx="8229600" cy="292100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1866941879"/>
                    </a:ext>
                  </a:extLst>
                </a:gridCol>
                <a:gridCol w="1016000">
                  <a:extLst>
                    <a:ext uri="{9D8B030D-6E8A-4147-A177-3AD203B41FA5}">
                      <a16:colId xmlns:a16="http://schemas.microsoft.com/office/drawing/2014/main" val="3025813072"/>
                    </a:ext>
                  </a:extLst>
                </a:gridCol>
                <a:gridCol w="1016000">
                  <a:extLst>
                    <a:ext uri="{9D8B030D-6E8A-4147-A177-3AD203B41FA5}">
                      <a16:colId xmlns:a16="http://schemas.microsoft.com/office/drawing/2014/main" val="2713249030"/>
                    </a:ext>
                  </a:extLst>
                </a:gridCol>
                <a:gridCol w="1016000">
                  <a:extLst>
                    <a:ext uri="{9D8B030D-6E8A-4147-A177-3AD203B41FA5}">
                      <a16:colId xmlns:a16="http://schemas.microsoft.com/office/drawing/2014/main" val="4274934111"/>
                    </a:ext>
                  </a:extLst>
                </a:gridCol>
                <a:gridCol w="1016000">
                  <a:extLst>
                    <a:ext uri="{9D8B030D-6E8A-4147-A177-3AD203B41FA5}">
                      <a16:colId xmlns:a16="http://schemas.microsoft.com/office/drawing/2014/main" val="2566321791"/>
                    </a:ext>
                  </a:extLst>
                </a:gridCol>
                <a:gridCol w="1016000">
                  <a:extLst>
                    <a:ext uri="{9D8B030D-6E8A-4147-A177-3AD203B41FA5}">
                      <a16:colId xmlns:a16="http://schemas.microsoft.com/office/drawing/2014/main" val="1081217235"/>
                    </a:ext>
                  </a:extLst>
                </a:gridCol>
                <a:gridCol w="1016000">
                  <a:extLst>
                    <a:ext uri="{9D8B030D-6E8A-4147-A177-3AD203B41FA5}">
                      <a16:colId xmlns:a16="http://schemas.microsoft.com/office/drawing/2014/main" val="2327523641"/>
                    </a:ext>
                  </a:extLst>
                </a:gridCol>
              </a:tblGrid>
              <a:tr h="508000">
                <a:tc>
                  <a:txBody>
                    <a:bodyPr/>
                    <a:lstStyle/>
                    <a:p>
                      <a:pPr algn="l"/>
                      <a:r>
                        <a:rPr lang="es-CO" sz="1200" b="1">
                          <a:solidFill>
                            <a:srgbClr val="FFFFFF"/>
                          </a:solidFill>
                          <a:latin typeface="Calibri"/>
                          <a:ea typeface="Calibri"/>
                          <a:cs typeface="Calibri"/>
                        </a:rPr>
                        <a:t>Flexibilidad y desempeño ↓</a:t>
                      </a:r>
                    </a:p>
                  </a:txBody>
                  <a:tcPr anchor="ctr">
                    <a:solidFill>
                      <a:srgbClr val="1F3864"/>
                    </a:solidFill>
                  </a:tcPr>
                </a:tc>
                <a:tc>
                  <a:txBody>
                    <a:bodyPr/>
                    <a:lstStyle/>
                    <a:p>
                      <a:pPr algn="ctr"/>
                      <a:r>
                        <a:rPr lang="es-CO" sz="1200" b="1">
                          <a:solidFill>
                            <a:srgbClr val="FFFFFF"/>
                          </a:solidFill>
                          <a:latin typeface="Calibri"/>
                          <a:ea typeface="Calibri"/>
                          <a:cs typeface="Calibri"/>
                        </a:rPr>
                        <a:t>1 Superior</a:t>
                      </a:r>
                    </a:p>
                  </a:txBody>
                  <a:tcPr anchor="ctr">
                    <a:solidFill>
                      <a:srgbClr val="1F3864"/>
                    </a:solidFill>
                  </a:tcPr>
                </a:tc>
                <a:tc>
                  <a:txBody>
                    <a:bodyPr/>
                    <a:lstStyle/>
                    <a:p>
                      <a:pPr algn="ctr"/>
                      <a:r>
                        <a:rPr lang="es-CO" sz="1200" b="1">
                          <a:solidFill>
                            <a:srgbClr val="FFFFFF"/>
                          </a:solidFill>
                          <a:latin typeface="Calibri"/>
                          <a:ea typeface="Calibri"/>
                          <a:cs typeface="Calibri"/>
                        </a:rPr>
                        <a:t>2 Muy fuerte</a:t>
                      </a:r>
                    </a:p>
                  </a:txBody>
                  <a:tcPr anchor="ctr">
                    <a:solidFill>
                      <a:srgbClr val="1F3864"/>
                    </a:solidFill>
                  </a:tcPr>
                </a:tc>
                <a:tc>
                  <a:txBody>
                    <a:bodyPr/>
                    <a:lstStyle/>
                    <a:p>
                      <a:pPr algn="ctr"/>
                      <a:r>
                        <a:rPr lang="es-CO" sz="1200" b="1">
                          <a:solidFill>
                            <a:srgbClr val="FFFFFF"/>
                          </a:solidFill>
                          <a:latin typeface="Calibri"/>
                          <a:ea typeface="Calibri"/>
                          <a:cs typeface="Calibri"/>
                        </a:rPr>
                        <a:t>3 Mod. fuerte</a:t>
                      </a:r>
                    </a:p>
                  </a:txBody>
                  <a:tcPr anchor="ctr">
                    <a:solidFill>
                      <a:srgbClr val="1F3864"/>
                    </a:solidFill>
                  </a:tcPr>
                </a:tc>
                <a:tc>
                  <a:txBody>
                    <a:bodyPr/>
                    <a:lstStyle/>
                    <a:p>
                      <a:pPr algn="ctr"/>
                      <a:r>
                        <a:rPr lang="es-CO" sz="1200" b="1">
                          <a:solidFill>
                            <a:srgbClr val="FFFFFF"/>
                          </a:solidFill>
                          <a:latin typeface="Calibri"/>
                          <a:ea typeface="Calibri"/>
                          <a:cs typeface="Calibri"/>
                        </a:rPr>
                        <a:t>4 Mod. débil</a:t>
                      </a:r>
                    </a:p>
                  </a:txBody>
                  <a:tcPr anchor="ctr">
                    <a:solidFill>
                      <a:srgbClr val="1F3864"/>
                    </a:solidFill>
                  </a:tcPr>
                </a:tc>
                <a:tc>
                  <a:txBody>
                    <a:bodyPr/>
                    <a:lstStyle/>
                    <a:p>
                      <a:pPr algn="ctr"/>
                      <a:r>
                        <a:rPr lang="es-CO" sz="1200" b="1">
                          <a:solidFill>
                            <a:srgbClr val="FFFFFF"/>
                          </a:solidFill>
                          <a:latin typeface="Calibri"/>
                          <a:ea typeface="Calibri"/>
                          <a:cs typeface="Calibri"/>
                        </a:rPr>
                        <a:t>5 Muy débil</a:t>
                      </a:r>
                    </a:p>
                  </a:txBody>
                  <a:tcPr anchor="ctr">
                    <a:solidFill>
                      <a:srgbClr val="1F3864"/>
                    </a:solidFill>
                  </a:tcPr>
                </a:tc>
                <a:tc>
                  <a:txBody>
                    <a:bodyPr/>
                    <a:lstStyle/>
                    <a:p>
                      <a:pPr algn="ctr"/>
                      <a:r>
                        <a:rPr lang="es-CO" sz="1200" b="1">
                          <a:solidFill>
                            <a:srgbClr val="FFFFFF"/>
                          </a:solidFill>
                          <a:latin typeface="Calibri"/>
                          <a:ea typeface="Calibri"/>
                          <a:cs typeface="Calibri"/>
                        </a:rPr>
                        <a:t>6 Pobre</a:t>
                      </a:r>
                    </a:p>
                  </a:txBody>
                  <a:tcPr anchor="ctr">
                    <a:solidFill>
                      <a:srgbClr val="1F3864"/>
                    </a:solidFill>
                  </a:tcPr>
                </a:tc>
                <a:extLst>
                  <a:ext uri="{0D108BD9-81ED-4DB2-BD59-A6C34878D82A}">
                    <a16:rowId xmlns:a16="http://schemas.microsoft.com/office/drawing/2014/main" val="3257307725"/>
                  </a:ext>
                </a:extLst>
              </a:tr>
              <a:tr h="482600">
                <a:tc>
                  <a:txBody>
                    <a:bodyPr/>
                    <a:lstStyle/>
                    <a:p>
                      <a:pPr algn="l"/>
                      <a:r>
                        <a:rPr lang="es-CO" sz="1300" b="1">
                          <a:solidFill>
                            <a:srgbClr val="1F3864"/>
                          </a:solidFill>
                          <a:latin typeface="Calibri"/>
                          <a:ea typeface="Calibri"/>
                          <a:cs typeface="Calibri"/>
                        </a:rPr>
                        <a:t>Extremadamente fuerte</a:t>
                      </a:r>
                    </a:p>
                  </a:txBody>
                  <a:tcPr anchor="ctr">
                    <a:solidFill>
                      <a:srgbClr val="EDF2F8"/>
                    </a:solidFill>
                  </a:tcPr>
                </a:tc>
                <a:tc>
                  <a:txBody>
                    <a:bodyPr/>
                    <a:lstStyle/>
                    <a:p>
                      <a:pPr algn="ctr"/>
                      <a:r>
                        <a:rPr lang="es-CO" sz="1400">
                          <a:solidFill>
                            <a:srgbClr val="404040"/>
                          </a:solidFill>
                          <a:latin typeface="Calibri"/>
                          <a:ea typeface="Calibri"/>
                          <a:cs typeface="Calibri"/>
                        </a:rPr>
                        <a:t>aaa</a:t>
                      </a:r>
                    </a:p>
                  </a:txBody>
                  <a:tcPr anchor="ctr">
                    <a:solidFill>
                      <a:srgbClr val="FFFFFF"/>
                    </a:solidFill>
                  </a:tcPr>
                </a:tc>
                <a:tc>
                  <a:txBody>
                    <a:bodyPr/>
                    <a:lstStyle/>
                    <a:p>
                      <a:pPr algn="ctr"/>
                      <a:r>
                        <a:rPr lang="es-CO" sz="1400">
                          <a:solidFill>
                            <a:srgbClr val="404040"/>
                          </a:solidFill>
                          <a:latin typeface="Calibri"/>
                          <a:ea typeface="Calibri"/>
                          <a:cs typeface="Calibri"/>
                        </a:rPr>
                        <a:t>aaa</a:t>
                      </a:r>
                    </a:p>
                  </a:txBody>
                  <a:tcPr anchor="ctr">
                    <a:solidFill>
                      <a:srgbClr val="FFFFFF"/>
                    </a:solidFill>
                  </a:tcPr>
                </a:tc>
                <a:tc>
                  <a:txBody>
                    <a:bodyPr/>
                    <a:lstStyle/>
                    <a:p>
                      <a:pPr algn="ctr"/>
                      <a:r>
                        <a:rPr lang="es-CO" sz="1400">
                          <a:solidFill>
                            <a:srgbClr val="404040"/>
                          </a:solidFill>
                          <a:latin typeface="Calibri"/>
                          <a:ea typeface="Calibri"/>
                          <a:cs typeface="Calibri"/>
                        </a:rPr>
                        <a:t>aa</a:t>
                      </a:r>
                    </a:p>
                  </a:txBody>
                  <a:tcPr anchor="ctr">
                    <a:solidFill>
                      <a:srgbClr val="FFFFFF"/>
                    </a:solidFill>
                  </a:tcPr>
                </a:tc>
                <a:tc>
                  <a:txBody>
                    <a:bodyPr/>
                    <a:lstStyle/>
                    <a:p>
                      <a:pPr algn="ctr"/>
                      <a:r>
                        <a:rPr lang="es-CO" sz="1400">
                          <a:solidFill>
                            <a:srgbClr val="404040"/>
                          </a:solidFill>
                          <a:latin typeface="Calibri"/>
                          <a:ea typeface="Calibri"/>
                          <a:cs typeface="Calibri"/>
                        </a:rPr>
                        <a:t>a</a:t>
                      </a:r>
                    </a:p>
                  </a:txBody>
                  <a:tcPr anchor="ctr">
                    <a:solidFill>
                      <a:srgbClr val="FFFFFF"/>
                    </a:solidFill>
                  </a:tcPr>
                </a:tc>
                <a:tc>
                  <a:txBody>
                    <a:bodyPr/>
                    <a:lstStyle/>
                    <a:p>
                      <a:pPr algn="ctr"/>
                      <a:r>
                        <a:rPr lang="es-CO" sz="1400">
                          <a:solidFill>
                            <a:srgbClr val="404040"/>
                          </a:solidFill>
                          <a:latin typeface="Calibri"/>
                          <a:ea typeface="Calibri"/>
                          <a:cs typeface="Calibri"/>
                        </a:rPr>
                        <a:t>bbb+</a:t>
                      </a:r>
                    </a:p>
                  </a:txBody>
                  <a:tcPr anchor="ctr">
                    <a:solidFill>
                      <a:srgbClr val="FFFFFF"/>
                    </a:solidFill>
                  </a:tcPr>
                </a:tc>
                <a:tc>
                  <a:txBody>
                    <a:bodyPr/>
                    <a:lstStyle/>
                    <a:p>
                      <a:pPr algn="ctr"/>
                      <a:r>
                        <a:rPr lang="es-CO" sz="1400">
                          <a:solidFill>
                            <a:srgbClr val="404040"/>
                          </a:solidFill>
                          <a:latin typeface="Calibri"/>
                          <a:ea typeface="Calibri"/>
                          <a:cs typeface="Calibri"/>
                        </a:rPr>
                        <a:t>n/d</a:t>
                      </a:r>
                    </a:p>
                  </a:txBody>
                  <a:tcPr anchor="ctr">
                    <a:solidFill>
                      <a:srgbClr val="FFFFFF"/>
                    </a:solidFill>
                  </a:tcPr>
                </a:tc>
                <a:extLst>
                  <a:ext uri="{0D108BD9-81ED-4DB2-BD59-A6C34878D82A}">
                    <a16:rowId xmlns:a16="http://schemas.microsoft.com/office/drawing/2014/main" val="1429491361"/>
                  </a:ext>
                </a:extLst>
              </a:tr>
              <a:tr h="482600">
                <a:tc>
                  <a:txBody>
                    <a:bodyPr/>
                    <a:lstStyle/>
                    <a:p>
                      <a:pPr algn="l"/>
                      <a:r>
                        <a:rPr lang="es-CO" sz="1300" b="1">
                          <a:solidFill>
                            <a:srgbClr val="1F3864"/>
                          </a:solidFill>
                          <a:latin typeface="Calibri"/>
                          <a:ea typeface="Calibri"/>
                          <a:cs typeface="Calibri"/>
                        </a:rPr>
                        <a:t>Fuerte</a:t>
                      </a:r>
                    </a:p>
                  </a:txBody>
                  <a:tcPr anchor="ctr">
                    <a:solidFill>
                      <a:srgbClr val="EDF2F8"/>
                    </a:solidFill>
                  </a:tcPr>
                </a:tc>
                <a:tc>
                  <a:txBody>
                    <a:bodyPr/>
                    <a:lstStyle/>
                    <a:p>
                      <a:pPr algn="ctr"/>
                      <a:r>
                        <a:rPr lang="es-CO" sz="1400">
                          <a:solidFill>
                            <a:srgbClr val="404040"/>
                          </a:solidFill>
                          <a:latin typeface="Calibri"/>
                          <a:ea typeface="Calibri"/>
                          <a:cs typeface="Calibri"/>
                        </a:rPr>
                        <a:t>aaa</a:t>
                      </a:r>
                    </a:p>
                  </a:txBody>
                  <a:tcPr anchor="ctr">
                    <a:solidFill>
                      <a:srgbClr val="FFFFFF"/>
                    </a:solidFill>
                  </a:tcPr>
                </a:tc>
                <a:tc>
                  <a:txBody>
                    <a:bodyPr/>
                    <a:lstStyle/>
                    <a:p>
                      <a:pPr algn="ctr"/>
                      <a:r>
                        <a:rPr lang="es-CO" sz="1400">
                          <a:solidFill>
                            <a:srgbClr val="404040"/>
                          </a:solidFill>
                          <a:latin typeface="Calibri"/>
                          <a:ea typeface="Calibri"/>
                          <a:cs typeface="Calibri"/>
                        </a:rPr>
                        <a:t>aa</a:t>
                      </a:r>
                    </a:p>
                  </a:txBody>
                  <a:tcPr anchor="ctr">
                    <a:solidFill>
                      <a:srgbClr val="FFFFFF"/>
                    </a:solidFill>
                  </a:tcPr>
                </a:tc>
                <a:tc>
                  <a:txBody>
                    <a:bodyPr/>
                    <a:lstStyle/>
                    <a:p>
                      <a:pPr algn="ctr"/>
                      <a:r>
                        <a:rPr lang="es-CO" sz="1400">
                          <a:solidFill>
                            <a:srgbClr val="404040"/>
                          </a:solidFill>
                          <a:latin typeface="Calibri"/>
                          <a:ea typeface="Calibri"/>
                          <a:cs typeface="Calibri"/>
                        </a:rPr>
                        <a:t>a</a:t>
                      </a:r>
                    </a:p>
                  </a:txBody>
                  <a:tcPr anchor="ctr">
                    <a:solidFill>
                      <a:srgbClr val="FFFFFF"/>
                    </a:solidFill>
                  </a:tcPr>
                </a:tc>
                <a:tc>
                  <a:txBody>
                    <a:bodyPr/>
                    <a:lstStyle/>
                    <a:p>
                      <a:pPr algn="ctr"/>
                      <a:r>
                        <a:rPr lang="es-CO" sz="1400">
                          <a:solidFill>
                            <a:srgbClr val="404040"/>
                          </a:solidFill>
                          <a:latin typeface="Calibri"/>
                          <a:ea typeface="Calibri"/>
                          <a:cs typeface="Calibri"/>
                        </a:rPr>
                        <a:t>bbb+</a:t>
                      </a:r>
                    </a:p>
                  </a:txBody>
                  <a:tcPr anchor="ctr">
                    <a:solidFill>
                      <a:srgbClr val="FFFFFF"/>
                    </a:solidFill>
                  </a:tcPr>
                </a:tc>
                <a:tc>
                  <a:txBody>
                    <a:bodyPr/>
                    <a:lstStyle/>
                    <a:p>
                      <a:pPr algn="ctr"/>
                      <a:r>
                        <a:rPr lang="es-CO" sz="1400">
                          <a:solidFill>
                            <a:srgbClr val="404040"/>
                          </a:solidFill>
                          <a:latin typeface="Calibri"/>
                          <a:ea typeface="Calibri"/>
                          <a:cs typeface="Calibri"/>
                        </a:rPr>
                        <a:t>bb+</a:t>
                      </a:r>
                    </a:p>
                  </a:txBody>
                  <a:tcPr anchor="ctr">
                    <a:solidFill>
                      <a:srgbClr val="FFFFFF"/>
                    </a:solidFill>
                  </a:tcPr>
                </a:tc>
                <a:tc>
                  <a:txBody>
                    <a:bodyPr/>
                    <a:lstStyle/>
                    <a:p>
                      <a:pPr algn="ctr"/>
                      <a:r>
                        <a:rPr lang="es-CO" sz="1400">
                          <a:solidFill>
                            <a:srgbClr val="404040"/>
                          </a:solidFill>
                          <a:latin typeface="Calibri"/>
                          <a:ea typeface="Calibri"/>
                          <a:cs typeface="Calibri"/>
                        </a:rPr>
                        <a:t>b+</a:t>
                      </a:r>
                    </a:p>
                  </a:txBody>
                  <a:tcPr anchor="ctr">
                    <a:solidFill>
                      <a:srgbClr val="FFFFFF"/>
                    </a:solidFill>
                  </a:tcPr>
                </a:tc>
                <a:extLst>
                  <a:ext uri="{0D108BD9-81ED-4DB2-BD59-A6C34878D82A}">
                    <a16:rowId xmlns:a16="http://schemas.microsoft.com/office/drawing/2014/main" val="295464603"/>
                  </a:ext>
                </a:extLst>
              </a:tr>
              <a:tr h="482600">
                <a:tc>
                  <a:txBody>
                    <a:bodyPr/>
                    <a:lstStyle/>
                    <a:p>
                      <a:pPr algn="l"/>
                      <a:r>
                        <a:rPr lang="es-CO" sz="1300" b="1">
                          <a:solidFill>
                            <a:srgbClr val="1F3864"/>
                          </a:solidFill>
                          <a:latin typeface="Calibri"/>
                          <a:ea typeface="Calibri"/>
                          <a:cs typeface="Calibri"/>
                        </a:rPr>
                        <a:t>Intermedio</a:t>
                      </a:r>
                    </a:p>
                  </a:txBody>
                  <a:tcPr anchor="ctr">
                    <a:solidFill>
                      <a:srgbClr val="EDF2F8"/>
                    </a:solidFill>
                  </a:tcPr>
                </a:tc>
                <a:tc>
                  <a:txBody>
                    <a:bodyPr/>
                    <a:lstStyle/>
                    <a:p>
                      <a:pPr algn="ctr"/>
                      <a:r>
                        <a:rPr lang="es-CO" sz="1400">
                          <a:solidFill>
                            <a:srgbClr val="404040"/>
                          </a:solidFill>
                          <a:latin typeface="Calibri"/>
                          <a:ea typeface="Calibri"/>
                          <a:cs typeface="Calibri"/>
                        </a:rPr>
                        <a:t>aa</a:t>
                      </a:r>
                    </a:p>
                  </a:txBody>
                  <a:tcPr anchor="ctr">
                    <a:solidFill>
                      <a:srgbClr val="FFFFFF"/>
                    </a:solidFill>
                  </a:tcPr>
                </a:tc>
                <a:tc>
                  <a:txBody>
                    <a:bodyPr/>
                    <a:lstStyle/>
                    <a:p>
                      <a:pPr algn="ctr"/>
                      <a:r>
                        <a:rPr lang="es-CO" sz="1400">
                          <a:solidFill>
                            <a:srgbClr val="404040"/>
                          </a:solidFill>
                          <a:latin typeface="Calibri"/>
                          <a:ea typeface="Calibri"/>
                          <a:cs typeface="Calibri"/>
                        </a:rPr>
                        <a:t>a+</a:t>
                      </a:r>
                    </a:p>
                  </a:txBody>
                  <a:tcPr anchor="ctr">
                    <a:solidFill>
                      <a:srgbClr val="FFFFFF"/>
                    </a:solidFill>
                  </a:tcPr>
                </a:tc>
                <a:tc>
                  <a:txBody>
                    <a:bodyPr/>
                    <a:lstStyle/>
                    <a:p>
                      <a:pPr algn="ctr"/>
                      <a:r>
                        <a:rPr lang="es-CO" sz="1400">
                          <a:solidFill>
                            <a:srgbClr val="404040"/>
                          </a:solidFill>
                          <a:latin typeface="Calibri"/>
                          <a:ea typeface="Calibri"/>
                          <a:cs typeface="Calibri"/>
                        </a:rPr>
                        <a:t>bbb+</a:t>
                      </a:r>
                    </a:p>
                  </a:txBody>
                  <a:tcPr anchor="ctr">
                    <a:solidFill>
                      <a:srgbClr val="FFFFFF"/>
                    </a:solidFill>
                  </a:tcPr>
                </a:tc>
                <a:tc>
                  <a:txBody>
                    <a:bodyPr/>
                    <a:lstStyle/>
                    <a:p>
                      <a:pPr algn="ctr"/>
                      <a:r>
                        <a:rPr lang="es-CO" sz="1400">
                          <a:solidFill>
                            <a:srgbClr val="404040"/>
                          </a:solidFill>
                          <a:latin typeface="Calibri"/>
                          <a:ea typeface="Calibri"/>
                          <a:cs typeface="Calibri"/>
                        </a:rPr>
                        <a:t>bb+</a:t>
                      </a:r>
                    </a:p>
                  </a:txBody>
                  <a:tcPr anchor="ctr">
                    <a:solidFill>
                      <a:srgbClr val="FFFFFF"/>
                    </a:solidFill>
                  </a:tcPr>
                </a:tc>
                <a:tc>
                  <a:txBody>
                    <a:bodyPr/>
                    <a:lstStyle/>
                    <a:p>
                      <a:pPr algn="ctr"/>
                      <a:r>
                        <a:rPr lang="es-CO" sz="1400" b="1">
                          <a:solidFill>
                            <a:srgbClr val="FFFFFF"/>
                          </a:solidFill>
                          <a:latin typeface="Calibri"/>
                          <a:ea typeface="Calibri"/>
                          <a:cs typeface="Calibri"/>
                        </a:rPr>
                        <a:t>bb-</a:t>
                      </a:r>
                    </a:p>
                  </a:txBody>
                  <a:tcPr anchor="ctr">
                    <a:solidFill>
                      <a:srgbClr val="ED7D31"/>
                    </a:solidFill>
                  </a:tcPr>
                </a:tc>
                <a:tc>
                  <a:txBody>
                    <a:bodyPr/>
                    <a:lstStyle/>
                    <a:p>
                      <a:pPr algn="ctr"/>
                      <a:r>
                        <a:rPr lang="es-CO" sz="1400">
                          <a:solidFill>
                            <a:srgbClr val="404040"/>
                          </a:solidFill>
                          <a:latin typeface="Calibri"/>
                          <a:ea typeface="Calibri"/>
                          <a:cs typeface="Calibri"/>
                        </a:rPr>
                        <a:t>b</a:t>
                      </a:r>
                    </a:p>
                  </a:txBody>
                  <a:tcPr anchor="ctr">
                    <a:solidFill>
                      <a:srgbClr val="FFFFFF"/>
                    </a:solidFill>
                  </a:tcPr>
                </a:tc>
                <a:extLst>
                  <a:ext uri="{0D108BD9-81ED-4DB2-BD59-A6C34878D82A}">
                    <a16:rowId xmlns:a16="http://schemas.microsoft.com/office/drawing/2014/main" val="3218441671"/>
                  </a:ext>
                </a:extLst>
              </a:tr>
              <a:tr h="482600">
                <a:tc>
                  <a:txBody>
                    <a:bodyPr/>
                    <a:lstStyle/>
                    <a:p>
                      <a:pPr algn="l"/>
                      <a:r>
                        <a:rPr lang="es-CO" sz="1300" b="1">
                          <a:solidFill>
                            <a:srgbClr val="1F3864"/>
                          </a:solidFill>
                          <a:latin typeface="Calibri"/>
                          <a:ea typeface="Calibri"/>
                          <a:cs typeface="Calibri"/>
                        </a:rPr>
                        <a:t>Débil</a:t>
                      </a:r>
                    </a:p>
                  </a:txBody>
                  <a:tcPr anchor="ctr">
                    <a:solidFill>
                      <a:srgbClr val="EDF2F8"/>
                    </a:solidFill>
                  </a:tcPr>
                </a:tc>
                <a:tc>
                  <a:txBody>
                    <a:bodyPr/>
                    <a:lstStyle/>
                    <a:p>
                      <a:pPr algn="ctr"/>
                      <a:r>
                        <a:rPr lang="es-CO" sz="1400">
                          <a:solidFill>
                            <a:srgbClr val="404040"/>
                          </a:solidFill>
                          <a:latin typeface="Calibri"/>
                          <a:ea typeface="Calibri"/>
                          <a:cs typeface="Calibri"/>
                        </a:rPr>
                        <a:t>a</a:t>
                      </a:r>
                    </a:p>
                  </a:txBody>
                  <a:tcPr anchor="ctr">
                    <a:solidFill>
                      <a:srgbClr val="FFFFFF"/>
                    </a:solidFill>
                  </a:tcPr>
                </a:tc>
                <a:tc>
                  <a:txBody>
                    <a:bodyPr/>
                    <a:lstStyle/>
                    <a:p>
                      <a:pPr algn="ctr"/>
                      <a:r>
                        <a:rPr lang="es-CO" sz="1400">
                          <a:solidFill>
                            <a:srgbClr val="404040"/>
                          </a:solidFill>
                          <a:latin typeface="Calibri"/>
                          <a:ea typeface="Calibri"/>
                          <a:cs typeface="Calibri"/>
                        </a:rPr>
                        <a:t>bbb+</a:t>
                      </a:r>
                    </a:p>
                  </a:txBody>
                  <a:tcPr anchor="ctr">
                    <a:solidFill>
                      <a:srgbClr val="FFFFFF"/>
                    </a:solidFill>
                  </a:tcPr>
                </a:tc>
                <a:tc>
                  <a:txBody>
                    <a:bodyPr/>
                    <a:lstStyle/>
                    <a:p>
                      <a:pPr algn="ctr"/>
                      <a:r>
                        <a:rPr lang="es-CO" sz="1400">
                          <a:solidFill>
                            <a:srgbClr val="404040"/>
                          </a:solidFill>
                          <a:latin typeface="Calibri"/>
                          <a:ea typeface="Calibri"/>
                          <a:cs typeface="Calibri"/>
                        </a:rPr>
                        <a:t>bb+</a:t>
                      </a:r>
                    </a:p>
                  </a:txBody>
                  <a:tcPr anchor="ctr">
                    <a:solidFill>
                      <a:srgbClr val="FFFFFF"/>
                    </a:solidFill>
                  </a:tcPr>
                </a:tc>
                <a:tc>
                  <a:txBody>
                    <a:bodyPr/>
                    <a:lstStyle/>
                    <a:p>
                      <a:pPr algn="ctr"/>
                      <a:r>
                        <a:rPr lang="es-CO" sz="1400">
                          <a:solidFill>
                            <a:srgbClr val="404040"/>
                          </a:solidFill>
                          <a:latin typeface="Calibri"/>
                          <a:ea typeface="Calibri"/>
                          <a:cs typeface="Calibri"/>
                        </a:rPr>
                        <a:t>bb-</a:t>
                      </a:r>
                    </a:p>
                  </a:txBody>
                  <a:tcPr anchor="ctr">
                    <a:solidFill>
                      <a:srgbClr val="FFFFFF"/>
                    </a:solidFill>
                  </a:tcPr>
                </a:tc>
                <a:tc>
                  <a:txBody>
                    <a:bodyPr/>
                    <a:lstStyle/>
                    <a:p>
                      <a:pPr algn="ctr"/>
                      <a:r>
                        <a:rPr lang="es-CO" sz="1400">
                          <a:solidFill>
                            <a:srgbClr val="404040"/>
                          </a:solidFill>
                          <a:latin typeface="Calibri"/>
                          <a:ea typeface="Calibri"/>
                          <a:cs typeface="Calibri"/>
                        </a:rPr>
                        <a:t>b</a:t>
                      </a:r>
                    </a:p>
                  </a:txBody>
                  <a:tcPr anchor="ctr">
                    <a:solidFill>
                      <a:srgbClr val="FFFFFF"/>
                    </a:solidFill>
                  </a:tcPr>
                </a:tc>
                <a:tc>
                  <a:txBody>
                    <a:bodyPr/>
                    <a:lstStyle/>
                    <a:p>
                      <a:pPr algn="ctr"/>
                      <a:r>
                        <a:rPr lang="es-CO" sz="1400">
                          <a:solidFill>
                            <a:srgbClr val="404040"/>
                          </a:solidFill>
                          <a:latin typeface="Calibri"/>
                          <a:ea typeface="Calibri"/>
                          <a:cs typeface="Calibri"/>
                        </a:rPr>
                        <a:t>b-</a:t>
                      </a:r>
                    </a:p>
                  </a:txBody>
                  <a:tcPr anchor="ctr">
                    <a:solidFill>
                      <a:srgbClr val="FFFFFF"/>
                    </a:solidFill>
                  </a:tcPr>
                </a:tc>
                <a:extLst>
                  <a:ext uri="{0D108BD9-81ED-4DB2-BD59-A6C34878D82A}">
                    <a16:rowId xmlns:a16="http://schemas.microsoft.com/office/drawing/2014/main" val="1779893567"/>
                  </a:ext>
                </a:extLst>
              </a:tr>
              <a:tr h="482600">
                <a:tc>
                  <a:txBody>
                    <a:bodyPr/>
                    <a:lstStyle/>
                    <a:p>
                      <a:pPr algn="l"/>
                      <a:r>
                        <a:rPr lang="es-CO" sz="1300" b="1">
                          <a:solidFill>
                            <a:srgbClr val="1F3864"/>
                          </a:solidFill>
                          <a:latin typeface="Calibri"/>
                          <a:ea typeface="Calibri"/>
                          <a:cs typeface="Calibri"/>
                        </a:rPr>
                        <a:t>Extremadamente débil</a:t>
                      </a:r>
                    </a:p>
                  </a:txBody>
                  <a:tcPr anchor="ctr">
                    <a:solidFill>
                      <a:srgbClr val="EDF2F8"/>
                    </a:solidFill>
                  </a:tcPr>
                </a:tc>
                <a:tc>
                  <a:txBody>
                    <a:bodyPr/>
                    <a:lstStyle/>
                    <a:p>
                      <a:pPr algn="ctr"/>
                      <a:r>
                        <a:rPr lang="es-CO" sz="1400">
                          <a:solidFill>
                            <a:srgbClr val="404040"/>
                          </a:solidFill>
                          <a:latin typeface="Calibri"/>
                          <a:ea typeface="Calibri"/>
                          <a:cs typeface="Calibri"/>
                        </a:rPr>
                        <a:t>n/d</a:t>
                      </a:r>
                    </a:p>
                  </a:txBody>
                  <a:tcPr anchor="ctr">
                    <a:solidFill>
                      <a:srgbClr val="FFFFFF"/>
                    </a:solidFill>
                  </a:tcPr>
                </a:tc>
                <a:tc>
                  <a:txBody>
                    <a:bodyPr/>
                    <a:lstStyle/>
                    <a:p>
                      <a:pPr algn="ctr"/>
                      <a:r>
                        <a:rPr lang="es-CO" sz="1400">
                          <a:solidFill>
                            <a:srgbClr val="404040"/>
                          </a:solidFill>
                          <a:latin typeface="Calibri"/>
                          <a:ea typeface="Calibri"/>
                          <a:cs typeface="Calibri"/>
                        </a:rPr>
                        <a:t>bb</a:t>
                      </a:r>
                    </a:p>
                  </a:txBody>
                  <a:tcPr anchor="ctr">
                    <a:solidFill>
                      <a:srgbClr val="FFFFFF"/>
                    </a:solidFill>
                  </a:tcPr>
                </a:tc>
                <a:tc>
                  <a:txBody>
                    <a:bodyPr/>
                    <a:lstStyle/>
                    <a:p>
                      <a:pPr algn="ctr"/>
                      <a:r>
                        <a:rPr lang="es-CO" sz="1400">
                          <a:solidFill>
                            <a:srgbClr val="404040"/>
                          </a:solidFill>
                          <a:latin typeface="Calibri"/>
                          <a:ea typeface="Calibri"/>
                          <a:cs typeface="Calibri"/>
                        </a:rPr>
                        <a:t>b+</a:t>
                      </a:r>
                    </a:p>
                  </a:txBody>
                  <a:tcPr anchor="ctr">
                    <a:solidFill>
                      <a:srgbClr val="FFFFFF"/>
                    </a:solidFill>
                  </a:tcPr>
                </a:tc>
                <a:tc>
                  <a:txBody>
                    <a:bodyPr/>
                    <a:lstStyle/>
                    <a:p>
                      <a:pPr algn="ctr"/>
                      <a:r>
                        <a:rPr lang="es-CO" sz="1400">
                          <a:solidFill>
                            <a:srgbClr val="404040"/>
                          </a:solidFill>
                          <a:latin typeface="Calibri"/>
                          <a:ea typeface="Calibri"/>
                          <a:cs typeface="Calibri"/>
                        </a:rPr>
                        <a:t>b</a:t>
                      </a:r>
                    </a:p>
                  </a:txBody>
                  <a:tcPr anchor="ctr">
                    <a:solidFill>
                      <a:srgbClr val="FFFFFF"/>
                    </a:solidFill>
                  </a:tcPr>
                </a:tc>
                <a:tc>
                  <a:txBody>
                    <a:bodyPr/>
                    <a:lstStyle/>
                    <a:p>
                      <a:pPr algn="ctr"/>
                      <a:r>
                        <a:rPr lang="es-CO" sz="1400">
                          <a:solidFill>
                            <a:srgbClr val="404040"/>
                          </a:solidFill>
                          <a:latin typeface="Calibri"/>
                          <a:ea typeface="Calibri"/>
                          <a:cs typeface="Calibri"/>
                        </a:rPr>
                        <a:t>b-</a:t>
                      </a:r>
                    </a:p>
                  </a:txBody>
                  <a:tcPr anchor="ctr">
                    <a:solidFill>
                      <a:srgbClr val="FFFFFF"/>
                    </a:solidFill>
                  </a:tcPr>
                </a:tc>
                <a:tc>
                  <a:txBody>
                    <a:bodyPr/>
                    <a:lstStyle/>
                    <a:p>
                      <a:pPr algn="ctr"/>
                      <a:r>
                        <a:rPr lang="es-CO" sz="1400">
                          <a:solidFill>
                            <a:srgbClr val="404040"/>
                          </a:solidFill>
                          <a:latin typeface="Calibri"/>
                          <a:ea typeface="Calibri"/>
                          <a:cs typeface="Calibri"/>
                        </a:rPr>
                        <a:t>ccc/cc</a:t>
                      </a:r>
                    </a:p>
                  </a:txBody>
                  <a:tcPr anchor="ctr">
                    <a:solidFill>
                      <a:srgbClr val="FFFFFF"/>
                    </a:solidFill>
                  </a:tcPr>
                </a:tc>
                <a:extLst>
                  <a:ext uri="{0D108BD9-81ED-4DB2-BD59-A6C34878D82A}">
                    <a16:rowId xmlns:a16="http://schemas.microsoft.com/office/drawing/2014/main" val="911957256"/>
                  </a:ext>
                </a:extLst>
              </a:tr>
            </a:tbl>
          </a:graphicData>
        </a:graphic>
      </p:graphicFrame>
      <p:sp>
        <p:nvSpPr>
          <p:cNvPr id="9" name="Rectángulo 8">
            <a:extLst>
              <a:ext uri="{FF2B5EF4-FFF2-40B4-BE49-F238E27FC236}">
                <a16:creationId xmlns:a16="http://schemas.microsoft.com/office/drawing/2014/main" id="{AE5D65D7-2EBB-4B56-B26D-760260C616F4}"/>
              </a:ext>
            </a:extLst>
          </p:cNvPr>
          <p:cNvSpPr/>
          <p:nvPr/>
        </p:nvSpPr>
        <p:spPr>
          <a:xfrm>
            <a:off x="457200" y="4419600"/>
            <a:ext cx="8229600" cy="381000"/>
          </a:xfrm>
          <a:prstGeom prst="rect">
            <a:avLst/>
          </a:prstGeom>
          <a:solidFill>
            <a:srgbClr val="FDEAD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b="1">
                <a:solidFill>
                  <a:srgbClr val="843C0C"/>
                </a:solidFill>
                <a:latin typeface="Calibri"/>
                <a:ea typeface="Calibri"/>
                <a:cs typeface="Calibri"/>
              </a:rPr>
              <a:t>Colombia: BB- en moneda extranjera desde abril de 2026, con perspectiva estable.</a:t>
            </a:r>
            <a:endParaRPr lang="es-CO" sz="1400" b="1">
              <a:solidFill>
                <a:srgbClr val="843C0C"/>
              </a:solidFill>
              <a:latin typeface="Calibri"/>
              <a:ea typeface="Calibri"/>
              <a:cs typeface="Calibri"/>
            </a:endParaRPr>
          </a:p>
        </p:txBody>
      </p:sp>
      <p:sp>
        <p:nvSpPr>
          <p:cNvPr id="10" name="Rectángulo 9">
            <a:extLst>
              <a:ext uri="{FF2B5EF4-FFF2-40B4-BE49-F238E27FC236}">
                <a16:creationId xmlns:a16="http://schemas.microsoft.com/office/drawing/2014/main" id="{130B207B-9E79-41D3-AF06-8DA51A492936}"/>
              </a:ext>
            </a:extLst>
          </p:cNvPr>
          <p:cNvSpPr/>
          <p:nvPr/>
        </p:nvSpPr>
        <p:spPr>
          <a:xfrm>
            <a:off x="457200" y="4876800"/>
            <a:ext cx="8229600" cy="3302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buNone/>
            </a:pPr>
            <a:r>
              <a:rPr lang="es-CO" sz="1200" dirty="0">
                <a:solidFill>
                  <a:srgbClr val="595959"/>
                </a:solidFill>
                <a:latin typeface="Calibri"/>
              </a:rPr>
              <a:t>El cruce de fila y columna da la calificación indicativa en moneda extranjera.</a:t>
            </a:r>
          </a:p>
        </p:txBody>
      </p:sp>
    </p:spTree>
    <p:extLst>
      <p:ext uri="{BB962C8B-B14F-4D97-AF65-F5344CB8AC3E}">
        <p14:creationId xmlns:p14="http://schemas.microsoft.com/office/powerpoint/2010/main" val="34824274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168400"/>
            <a:ext cx="8229600" cy="914400"/>
          </a:xfrm>
          <a:solidFill>
            <a:srgbClr val="1F3864"/>
          </a:solidFill>
          <a:ln>
            <a:noFill/>
          </a:ln>
        </p:spPr>
        <p:txBody>
          <a:bodyPr wrap="square" anchor="ctr" anchorCtr="0">
            <a:noAutofit/>
          </a:bodyPr>
          <a:lstStyle/>
          <a:p>
            <a:pPr marL="0" indent="0">
              <a:buNone/>
            </a:pPr>
            <a:r>
              <a:rPr lang="es-ES" sz="1700" b="1">
                <a:solidFill>
                  <a:srgbClr val="FFFFFF"/>
                </a:solidFill>
                <a:latin typeface="Calibri"/>
                <a:ea typeface="Calibri"/>
                <a:cs typeface="Calibri"/>
              </a:rPr>
              <a:t>El riesgo país entra al proyecto por la tasa de descuento: se suma a la tasa libre de riesgo dentro del CAPM y eleva el WACC.</a:t>
            </a:r>
            <a:endParaRPr lang="es-CO" sz="1700" b="1" dirty="0">
              <a:solidFill>
                <a:srgbClr val="FFFFFF"/>
              </a:solidFill>
              <a:latin typeface="Calibri"/>
              <a:ea typeface="Calibri"/>
              <a:cs typeface="Calibri"/>
            </a:endParaRPr>
          </a:p>
        </p:txBody>
      </p:sp>
      <p:sp>
        <p:nvSpPr>
          <p:cNvPr id="4" name="CuadroTexto 3">
            <a:extLst>
              <a:ext uri="{FF2B5EF4-FFF2-40B4-BE49-F238E27FC236}">
                <a16:creationId xmlns:a16="http://schemas.microsoft.com/office/drawing/2014/main" id="{C0655683-5C5A-4B34-8394-0DA9D8F7E321}"/>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ES" sz="2800" b="1">
                <a:solidFill>
                  <a:srgbClr val="1F3864"/>
                </a:solidFill>
                <a:latin typeface="Calibri"/>
                <a:ea typeface="Calibri"/>
                <a:cs typeface="Calibri"/>
              </a:rPr>
              <a:t>¿Cómo afecta el riesgo país a un proyecto?</a:t>
            </a:r>
            <a:endParaRPr lang="es-CO" sz="2800" b="1">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9F04ACF8-A25D-4334-916D-4F77C24B1DBC}"/>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EA07FA8C-D46B-43AD-BBB2-342475E3E3F1}"/>
              </a:ext>
            </a:extLst>
          </p:cNvPr>
          <p:cNvSpPr/>
          <p:nvPr/>
        </p:nvSpPr>
        <p:spPr>
          <a:xfrm>
            <a:off x="457200" y="2387600"/>
            <a:ext cx="8229600" cy="355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200" b="1">
                <a:solidFill>
                  <a:srgbClr val="1F3864"/>
                </a:solidFill>
                <a:latin typeface="Calibri"/>
                <a:ea typeface="Calibri"/>
                <a:cs typeface="Calibri"/>
              </a:rPr>
              <a:t>VARIABLES DEL PROYECTO QUE SE VEN AFECTADAS</a:t>
            </a:r>
            <a:endParaRPr lang="es-CO" sz="1200" b="1">
              <a:solidFill>
                <a:srgbClr val="1F3864"/>
              </a:solidFill>
              <a:latin typeface="Calibri"/>
              <a:ea typeface="Calibri"/>
              <a:cs typeface="Calibri"/>
            </a:endParaRPr>
          </a:p>
        </p:txBody>
      </p:sp>
      <p:sp>
        <p:nvSpPr>
          <p:cNvPr id="7" name="Rectángulo 6">
            <a:extLst>
              <a:ext uri="{FF2B5EF4-FFF2-40B4-BE49-F238E27FC236}">
                <a16:creationId xmlns:a16="http://schemas.microsoft.com/office/drawing/2014/main" id="{ADC08016-31D9-417D-84D2-DD2EDCF9D4B5}"/>
              </a:ext>
            </a:extLst>
          </p:cNvPr>
          <p:cNvSpPr/>
          <p:nvPr/>
        </p:nvSpPr>
        <p:spPr>
          <a:xfrm>
            <a:off x="457200" y="2844800"/>
            <a:ext cx="19812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VPN</a:t>
            </a:r>
          </a:p>
        </p:txBody>
      </p:sp>
      <p:sp>
        <p:nvSpPr>
          <p:cNvPr id="8" name="Rectángulo 7">
            <a:extLst>
              <a:ext uri="{FF2B5EF4-FFF2-40B4-BE49-F238E27FC236}">
                <a16:creationId xmlns:a16="http://schemas.microsoft.com/office/drawing/2014/main" id="{D11602F2-5039-4414-8E54-01309BB9BA1E}"/>
              </a:ext>
            </a:extLst>
          </p:cNvPr>
          <p:cNvSpPr/>
          <p:nvPr/>
        </p:nvSpPr>
        <p:spPr>
          <a:xfrm>
            <a:off x="2540000" y="2844800"/>
            <a:ext cx="19812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Inversión</a:t>
            </a:r>
          </a:p>
        </p:txBody>
      </p:sp>
      <p:sp>
        <p:nvSpPr>
          <p:cNvPr id="9" name="Rectángulo 8">
            <a:extLst>
              <a:ext uri="{FF2B5EF4-FFF2-40B4-BE49-F238E27FC236}">
                <a16:creationId xmlns:a16="http://schemas.microsoft.com/office/drawing/2014/main" id="{9401D1E3-CAF9-4BE7-ACAA-188AFA841AFC}"/>
              </a:ext>
            </a:extLst>
          </p:cNvPr>
          <p:cNvSpPr/>
          <p:nvPr/>
        </p:nvSpPr>
        <p:spPr>
          <a:xfrm>
            <a:off x="4622800" y="2844800"/>
            <a:ext cx="19812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TIO</a:t>
            </a:r>
          </a:p>
        </p:txBody>
      </p:sp>
      <p:sp>
        <p:nvSpPr>
          <p:cNvPr id="10" name="Rectángulo 9">
            <a:extLst>
              <a:ext uri="{FF2B5EF4-FFF2-40B4-BE49-F238E27FC236}">
                <a16:creationId xmlns:a16="http://schemas.microsoft.com/office/drawing/2014/main" id="{6A8B75B4-5C02-4846-85C0-F2AA1F12435F}"/>
              </a:ext>
            </a:extLst>
          </p:cNvPr>
          <p:cNvSpPr/>
          <p:nvPr/>
        </p:nvSpPr>
        <p:spPr>
          <a:xfrm>
            <a:off x="6705600" y="2844800"/>
            <a:ext cx="19812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WACC o CPPC</a:t>
            </a:r>
          </a:p>
        </p:txBody>
      </p:sp>
      <p:sp>
        <p:nvSpPr>
          <p:cNvPr id="11" name="Rectángulo 10">
            <a:extLst>
              <a:ext uri="{FF2B5EF4-FFF2-40B4-BE49-F238E27FC236}">
                <a16:creationId xmlns:a16="http://schemas.microsoft.com/office/drawing/2014/main" id="{45A08CFA-DC7C-46E3-AA94-6D1F2220EE2F}"/>
              </a:ext>
            </a:extLst>
          </p:cNvPr>
          <p:cNvSpPr/>
          <p:nvPr/>
        </p:nvSpPr>
        <p:spPr>
          <a:xfrm>
            <a:off x="457200" y="3759200"/>
            <a:ext cx="8229600" cy="914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algn="l"/>
            <a:r>
              <a:rPr lang="es-ES" sz="1400">
                <a:solidFill>
                  <a:srgbClr val="404040"/>
                </a:solidFill>
                <a:latin typeface="Calibri"/>
                <a:ea typeface="Calibri"/>
                <a:cs typeface="Calibri"/>
              </a:rPr>
              <a:t>El WACC se puede calcular por varios métodos. El CAPM incorpora el riesgo país al introducirlo en la tasa libre de riesgo, de modo que un mayor riesgo país exige mayor rentabilidad al proyecto.</a:t>
            </a:r>
            <a:endParaRPr lang="es-CO" sz="1400">
              <a:solidFill>
                <a:srgbClr val="404040"/>
              </a:solidFill>
              <a:latin typeface="Calibri"/>
              <a:ea typeface="Calibri"/>
              <a:cs typeface="Calibri"/>
            </a:endParaRPr>
          </a:p>
        </p:txBody>
      </p:sp>
    </p:spTree>
    <p:extLst>
      <p:ext uri="{BB962C8B-B14F-4D97-AF65-F5344CB8AC3E}">
        <p14:creationId xmlns:p14="http://schemas.microsoft.com/office/powerpoint/2010/main" val="18831958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1168400"/>
            <a:ext cx="8229600" cy="762000"/>
          </a:xfrm>
          <a:prstGeom prst="rect">
            <a:avLst/>
          </a:prstGeom>
          <a:solidFill>
            <a:srgbClr val="1F3864"/>
          </a:solidFill>
          <a:ln>
            <a:noFill/>
          </a:ln>
        </p:spPr>
        <p:txBody>
          <a:bodyPr wrap="square" anchor="ctr" anchorCtr="0">
            <a:noAutofit/>
          </a:bodyPr>
          <a:lstStyle/>
          <a:p>
            <a:pPr algn="ctr"/>
            <a:r>
              <a:rPr lang="es-ES" b="1">
                <a:solidFill>
                  <a:srgbClr val="FFFFFF"/>
                </a:solidFill>
                <a:latin typeface="Calibri"/>
                <a:ea typeface="Calibri"/>
                <a:cs typeface="Calibri"/>
              </a:rPr>
              <a:t>100 puntos básicos = 1% de sobretasa</a:t>
            </a:r>
            <a:endParaRPr lang="es-CO" b="1" dirty="0">
              <a:solidFill>
                <a:srgbClr val="FFFFFF"/>
              </a:solidFill>
              <a:latin typeface="Calibri"/>
              <a:ea typeface="Calibri"/>
              <a:cs typeface="Calibri"/>
            </a:endParaRPr>
          </a:p>
        </p:txBody>
      </p:sp>
      <p:sp>
        <p:nvSpPr>
          <p:cNvPr id="4" name="Rectángulo 3"/>
          <p:cNvSpPr/>
          <p:nvPr/>
        </p:nvSpPr>
        <p:spPr>
          <a:xfrm>
            <a:off x="457200" y="304800"/>
            <a:ext cx="8229600" cy="533400"/>
          </a:xfrm>
          <a:prstGeom prst="rect">
            <a:avLst/>
          </a:prstGeom>
          <a:noFill/>
          <a:ln>
            <a:noFill/>
          </a:ln>
        </p:spPr>
        <p:txBody>
          <a:bodyPr wrap="square" anchor="t" anchorCtr="0">
            <a:noAutofit/>
          </a:bodyPr>
          <a:lstStyle/>
          <a:p>
            <a:pPr algn="l"/>
            <a:r>
              <a:rPr lang="es-ES" sz="3000" b="1">
                <a:solidFill>
                  <a:srgbClr val="1F3864"/>
                </a:solidFill>
                <a:latin typeface="Calibri"/>
                <a:ea typeface="Calibri"/>
                <a:cs typeface="Calibri"/>
              </a:rPr>
              <a:t>Conversión de puntos básicos a tasa</a:t>
            </a:r>
            <a:endParaRPr lang="es-ES" sz="3000" b="1" dirty="0">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1B11CA9C-14DE-4800-A939-4F71EE8306D4}"/>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A78A9CC3-06E5-49EC-BB15-B7A9A5B90FA4}"/>
              </a:ext>
            </a:extLst>
          </p:cNvPr>
          <p:cNvSpPr txBox="1"/>
          <p:nvPr/>
        </p:nvSpPr>
        <p:spPr>
          <a:xfrm>
            <a:off x="960120" y="5330952"/>
            <a:ext cx="7223760" cy="201168"/>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Ejemplo de conversión de puntos básicos a tasa requerida</a:t>
            </a:r>
            <a:endParaRPr lang="es-CO" sz="1100">
              <a:solidFill>
                <a:srgbClr val="7F7F7F"/>
              </a:solidFill>
              <a:latin typeface="Calibri"/>
              <a:ea typeface="Calibri"/>
              <a:cs typeface="Calibri"/>
            </a:endParaRPr>
          </a:p>
        </p:txBody>
      </p:sp>
      <p:graphicFrame>
        <p:nvGraphicFramePr>
          <p:cNvPr id="7" name="Tabla editable de ponderaciones del riesgo país"/>
          <p:cNvGraphicFramePr>
            <a:graphicFrameLocks noGrp="1"/>
          </p:cNvGraphicFramePr>
          <p:nvPr/>
        </p:nvGraphicFramePr>
        <p:xfrm>
          <a:off x="960120" y="2139696"/>
          <a:ext cx="7223760" cy="3195828"/>
        </p:xfrm>
        <a:graphic>
          <a:graphicData uri="http://schemas.openxmlformats.org/drawingml/2006/table">
            <a:tbl>
              <a:tblPr firstRow="1">
                <a:tableStyleId>{5C22544A-7EE6-4342-B048-85BDC9FD1C3A}</a:tableStyleId>
              </a:tblPr>
              <a:tblGrid>
                <a:gridCol w="562356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tblGrid>
              <a:tr h="356616">
                <a:tc>
                  <a:txBody>
                    <a:bodyPr/>
                    <a:lstStyle/>
                    <a:p>
                      <a:pPr algn="ctr">
                        <a:lnSpc>
                          <a:spcPct val="100000"/>
                        </a:lnSpc>
                        <a:spcBef>
                          <a:spcPts val="0"/>
                        </a:spcBef>
                        <a:spcAft>
                          <a:spcPts val="0"/>
                        </a:spcAft>
                      </a:pPr>
                      <a:r>
                        <a:rPr sz="1400" b="1">
                          <a:solidFill>
                            <a:srgbClr val="FFFFFF"/>
                          </a:solidFill>
                          <a:latin typeface="Calibri"/>
                        </a:rPr>
                        <a:t>Cálculo del riesgo país según Euromoney</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tc>
                  <a:txBody>
                    <a:bodyPr/>
                    <a:lstStyle/>
                    <a:p>
                      <a:pPr algn="ctr">
                        <a:lnSpc>
                          <a:spcPct val="100000"/>
                        </a:lnSpc>
                        <a:spcBef>
                          <a:spcPts val="0"/>
                        </a:spcBef>
                        <a:spcAft>
                          <a:spcPts val="0"/>
                        </a:spcAft>
                      </a:pPr>
                      <a:r>
                        <a:rPr sz="1400" b="1">
                          <a:solidFill>
                            <a:srgbClr val="FFFFFF"/>
                          </a:solidFill>
                          <a:latin typeface="Calibri"/>
                        </a:rPr>
                        <a:t>Ponderación</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1F3864"/>
                    </a:solidFill>
                  </a:tcPr>
                </a:tc>
                <a:extLst>
                  <a:ext uri="{0D108BD9-81ED-4DB2-BD59-A6C34878D82A}">
                    <a16:rowId xmlns:a16="http://schemas.microsoft.com/office/drawing/2014/main" val="10000"/>
                  </a:ext>
                </a:extLst>
              </a:tr>
              <a:tr h="265176">
                <a:tc>
                  <a:txBody>
                    <a:bodyPr/>
                    <a:lstStyle/>
                    <a:p>
                      <a:pPr algn="l">
                        <a:lnSpc>
                          <a:spcPct val="100000"/>
                        </a:lnSpc>
                        <a:spcBef>
                          <a:spcPts val="0"/>
                        </a:spcBef>
                        <a:spcAft>
                          <a:spcPts val="0"/>
                        </a:spcAft>
                      </a:pPr>
                      <a:r>
                        <a:rPr sz="1350" b="1">
                          <a:solidFill>
                            <a:srgbClr val="1F3864"/>
                          </a:solidFill>
                          <a:latin typeface="Calibri"/>
                        </a:rPr>
                        <a:t>Indicadores analíticos</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350" b="1">
                          <a:solidFill>
                            <a:srgbClr val="1F3864"/>
                          </a:solidFill>
                          <a:latin typeface="Calibri"/>
                        </a:rPr>
                        <a:t>50%</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1"/>
                  </a:ext>
                </a:extLst>
              </a:tr>
              <a:tr h="219456">
                <a:tc>
                  <a:txBody>
                    <a:bodyPr/>
                    <a:lstStyle/>
                    <a:p>
                      <a:pPr algn="l">
                        <a:lnSpc>
                          <a:spcPct val="100000"/>
                        </a:lnSpc>
                        <a:spcBef>
                          <a:spcPts val="0"/>
                        </a:spcBef>
                        <a:spcAft>
                          <a:spcPts val="0"/>
                        </a:spcAft>
                      </a:pPr>
                      <a:r>
                        <a:rPr sz="1250" b="0">
                          <a:solidFill>
                            <a:srgbClr val="404040"/>
                          </a:solidFill>
                          <a:latin typeface="Calibri"/>
                        </a:rPr>
                        <a:t>Desempeño económico</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250" b="1">
                          <a:solidFill>
                            <a:srgbClr val="F27A35"/>
                          </a:solidFill>
                          <a:latin typeface="Calibri"/>
                        </a:rPr>
                        <a:t>25%</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2"/>
                  </a:ext>
                </a:extLst>
              </a:tr>
              <a:tr h="219456">
                <a:tc>
                  <a:txBody>
                    <a:bodyPr/>
                    <a:lstStyle/>
                    <a:p>
                      <a:pPr algn="l">
                        <a:lnSpc>
                          <a:spcPct val="100000"/>
                        </a:lnSpc>
                        <a:spcBef>
                          <a:spcPts val="0"/>
                        </a:spcBef>
                        <a:spcAft>
                          <a:spcPts val="0"/>
                        </a:spcAft>
                      </a:pPr>
                      <a:r>
                        <a:rPr sz="1250" b="0">
                          <a:solidFill>
                            <a:srgbClr val="404040"/>
                          </a:solidFill>
                          <a:latin typeface="Calibri"/>
                        </a:rPr>
                        <a:t>Riesgo político</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tc>
                  <a:txBody>
                    <a:bodyPr/>
                    <a:lstStyle/>
                    <a:p>
                      <a:pPr algn="ctr">
                        <a:lnSpc>
                          <a:spcPct val="100000"/>
                        </a:lnSpc>
                        <a:spcBef>
                          <a:spcPts val="0"/>
                        </a:spcBef>
                        <a:spcAft>
                          <a:spcPts val="0"/>
                        </a:spcAft>
                      </a:pPr>
                      <a:r>
                        <a:rPr sz="1250" b="1">
                          <a:solidFill>
                            <a:srgbClr val="F27A35"/>
                          </a:solidFill>
                          <a:latin typeface="Calibri"/>
                        </a:rPr>
                        <a:t>25%</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extLst>
                  <a:ext uri="{0D108BD9-81ED-4DB2-BD59-A6C34878D82A}">
                    <a16:rowId xmlns:a16="http://schemas.microsoft.com/office/drawing/2014/main" val="10003"/>
                  </a:ext>
                </a:extLst>
              </a:tr>
              <a:tr h="265176">
                <a:tc>
                  <a:txBody>
                    <a:bodyPr/>
                    <a:lstStyle/>
                    <a:p>
                      <a:pPr algn="l">
                        <a:lnSpc>
                          <a:spcPct val="100000"/>
                        </a:lnSpc>
                        <a:spcBef>
                          <a:spcPts val="0"/>
                        </a:spcBef>
                        <a:spcAft>
                          <a:spcPts val="0"/>
                        </a:spcAft>
                      </a:pPr>
                      <a:r>
                        <a:rPr sz="1350" b="1">
                          <a:solidFill>
                            <a:srgbClr val="1F3864"/>
                          </a:solidFill>
                          <a:latin typeface="Calibri"/>
                        </a:rPr>
                        <a:t>Indicadores crediticios</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350" b="1">
                          <a:solidFill>
                            <a:srgbClr val="1F3864"/>
                          </a:solidFill>
                          <a:latin typeface="Calibri"/>
                        </a:rPr>
                        <a:t>30%</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4"/>
                  </a:ext>
                </a:extLst>
              </a:tr>
              <a:tr h="219456">
                <a:tc>
                  <a:txBody>
                    <a:bodyPr/>
                    <a:lstStyle/>
                    <a:p>
                      <a:pPr algn="l">
                        <a:lnSpc>
                          <a:spcPct val="100000"/>
                        </a:lnSpc>
                        <a:spcBef>
                          <a:spcPts val="0"/>
                        </a:spcBef>
                        <a:spcAft>
                          <a:spcPts val="0"/>
                        </a:spcAft>
                      </a:pPr>
                      <a:r>
                        <a:rPr sz="1250" b="0">
                          <a:solidFill>
                            <a:srgbClr val="404040"/>
                          </a:solidFill>
                          <a:latin typeface="Calibri"/>
                        </a:rPr>
                        <a:t>Indicadores de deuda</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tc>
                  <a:txBody>
                    <a:bodyPr/>
                    <a:lstStyle/>
                    <a:p>
                      <a:pPr algn="ctr">
                        <a:lnSpc>
                          <a:spcPct val="100000"/>
                        </a:lnSpc>
                        <a:spcBef>
                          <a:spcPts val="0"/>
                        </a:spcBef>
                        <a:spcAft>
                          <a:spcPts val="0"/>
                        </a:spcAft>
                      </a:pPr>
                      <a:r>
                        <a:rPr sz="1250" b="1">
                          <a:solidFill>
                            <a:srgbClr val="F27A35"/>
                          </a:solidFill>
                          <a:latin typeface="Calibri"/>
                        </a:rPr>
                        <a:t>10%</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extLst>
                  <a:ext uri="{0D108BD9-81ED-4DB2-BD59-A6C34878D82A}">
                    <a16:rowId xmlns:a16="http://schemas.microsoft.com/office/drawing/2014/main" val="10005"/>
                  </a:ext>
                </a:extLst>
              </a:tr>
              <a:tr h="219456">
                <a:tc>
                  <a:txBody>
                    <a:bodyPr/>
                    <a:lstStyle/>
                    <a:p>
                      <a:pPr algn="l">
                        <a:lnSpc>
                          <a:spcPct val="100000"/>
                        </a:lnSpc>
                        <a:spcBef>
                          <a:spcPts val="0"/>
                        </a:spcBef>
                        <a:spcAft>
                          <a:spcPts val="0"/>
                        </a:spcAft>
                      </a:pPr>
                      <a:r>
                        <a:rPr sz="1250" b="0">
                          <a:solidFill>
                            <a:srgbClr val="404040"/>
                          </a:solidFill>
                          <a:latin typeface="Calibri"/>
                        </a:rPr>
                        <a:t>Deuda en default o reprogramada</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250" b="1">
                          <a:solidFill>
                            <a:srgbClr val="F27A35"/>
                          </a:solidFill>
                          <a:latin typeface="Calibri"/>
                        </a:rPr>
                        <a:t>10%</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06"/>
                  </a:ext>
                </a:extLst>
              </a:tr>
              <a:tr h="219456">
                <a:tc>
                  <a:txBody>
                    <a:bodyPr/>
                    <a:lstStyle/>
                    <a:p>
                      <a:pPr algn="l">
                        <a:lnSpc>
                          <a:spcPct val="100000"/>
                        </a:lnSpc>
                        <a:spcBef>
                          <a:spcPts val="0"/>
                        </a:spcBef>
                        <a:spcAft>
                          <a:spcPts val="0"/>
                        </a:spcAft>
                      </a:pPr>
                      <a:r>
                        <a:rPr sz="1250" b="0">
                          <a:solidFill>
                            <a:srgbClr val="404040"/>
                          </a:solidFill>
                          <a:latin typeface="Calibri"/>
                        </a:rPr>
                        <a:t>Calificación crediticia</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tc>
                  <a:txBody>
                    <a:bodyPr/>
                    <a:lstStyle/>
                    <a:p>
                      <a:pPr algn="ctr">
                        <a:lnSpc>
                          <a:spcPct val="100000"/>
                        </a:lnSpc>
                        <a:spcBef>
                          <a:spcPts val="0"/>
                        </a:spcBef>
                        <a:spcAft>
                          <a:spcPts val="0"/>
                        </a:spcAft>
                      </a:pPr>
                      <a:r>
                        <a:rPr sz="1250" b="1">
                          <a:solidFill>
                            <a:srgbClr val="F27A35"/>
                          </a:solidFill>
                          <a:latin typeface="Calibri"/>
                        </a:rPr>
                        <a:t>10%</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extLst>
                  <a:ext uri="{0D108BD9-81ED-4DB2-BD59-A6C34878D82A}">
                    <a16:rowId xmlns:a16="http://schemas.microsoft.com/office/drawing/2014/main" val="10007"/>
                  </a:ext>
                </a:extLst>
              </a:tr>
              <a:tr h="265176">
                <a:tc>
                  <a:txBody>
                    <a:bodyPr/>
                    <a:lstStyle/>
                    <a:p>
                      <a:pPr algn="l">
                        <a:lnSpc>
                          <a:spcPct val="100000"/>
                        </a:lnSpc>
                        <a:spcBef>
                          <a:spcPts val="0"/>
                        </a:spcBef>
                        <a:spcAft>
                          <a:spcPts val="0"/>
                        </a:spcAft>
                      </a:pPr>
                      <a:r>
                        <a:rPr sz="1350" b="1">
                          <a:solidFill>
                            <a:srgbClr val="1F3864"/>
                          </a:solidFill>
                          <a:latin typeface="Calibri"/>
                        </a:rPr>
                        <a:t>Indicadores de mercado</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tc>
                  <a:txBody>
                    <a:bodyPr/>
                    <a:lstStyle/>
                    <a:p>
                      <a:pPr algn="ctr">
                        <a:lnSpc>
                          <a:spcPct val="100000"/>
                        </a:lnSpc>
                        <a:spcBef>
                          <a:spcPts val="0"/>
                        </a:spcBef>
                        <a:spcAft>
                          <a:spcPts val="0"/>
                        </a:spcAft>
                      </a:pPr>
                      <a:r>
                        <a:rPr sz="1350" b="1">
                          <a:solidFill>
                            <a:srgbClr val="1F3864"/>
                          </a:solidFill>
                          <a:latin typeface="Calibri"/>
                        </a:rPr>
                        <a:t>20%</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EDF2F8"/>
                    </a:solidFill>
                  </a:tcPr>
                </a:tc>
                <a:extLst>
                  <a:ext uri="{0D108BD9-81ED-4DB2-BD59-A6C34878D82A}">
                    <a16:rowId xmlns:a16="http://schemas.microsoft.com/office/drawing/2014/main" val="10008"/>
                  </a:ext>
                </a:extLst>
              </a:tr>
              <a:tr h="219456">
                <a:tc>
                  <a:txBody>
                    <a:bodyPr/>
                    <a:lstStyle/>
                    <a:p>
                      <a:pPr algn="l">
                        <a:lnSpc>
                          <a:spcPct val="100000"/>
                        </a:lnSpc>
                        <a:spcBef>
                          <a:spcPts val="0"/>
                        </a:spcBef>
                        <a:spcAft>
                          <a:spcPts val="0"/>
                        </a:spcAft>
                      </a:pPr>
                      <a:r>
                        <a:rPr sz="1250" b="0">
                          <a:solidFill>
                            <a:srgbClr val="404040"/>
                          </a:solidFill>
                          <a:latin typeface="Calibri"/>
                        </a:rPr>
                        <a:t>Acceso a financiamiento bancario</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tc>
                  <a:txBody>
                    <a:bodyPr/>
                    <a:lstStyle/>
                    <a:p>
                      <a:pPr algn="ctr">
                        <a:lnSpc>
                          <a:spcPct val="100000"/>
                        </a:lnSpc>
                        <a:spcBef>
                          <a:spcPts val="0"/>
                        </a:spcBef>
                        <a:spcAft>
                          <a:spcPts val="0"/>
                        </a:spcAft>
                      </a:pPr>
                      <a:r>
                        <a:rPr sz="1250" b="1">
                          <a:solidFill>
                            <a:srgbClr val="F27A35"/>
                          </a:solidFill>
                          <a:latin typeface="Calibri"/>
                        </a:rPr>
                        <a:t>5%</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extLst>
                  <a:ext uri="{0D108BD9-81ED-4DB2-BD59-A6C34878D82A}">
                    <a16:rowId xmlns:a16="http://schemas.microsoft.com/office/drawing/2014/main" val="10009"/>
                  </a:ext>
                </a:extLst>
              </a:tr>
              <a:tr h="219456">
                <a:tc>
                  <a:txBody>
                    <a:bodyPr/>
                    <a:lstStyle/>
                    <a:p>
                      <a:pPr algn="l">
                        <a:lnSpc>
                          <a:spcPct val="100000"/>
                        </a:lnSpc>
                        <a:spcBef>
                          <a:spcPts val="0"/>
                        </a:spcBef>
                        <a:spcAft>
                          <a:spcPts val="0"/>
                        </a:spcAft>
                      </a:pPr>
                      <a:r>
                        <a:rPr sz="1250" b="0">
                          <a:solidFill>
                            <a:srgbClr val="404040"/>
                          </a:solidFill>
                          <a:latin typeface="Calibri"/>
                        </a:rPr>
                        <a:t>Acceso a financiamiento de corto plazo</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250" b="1">
                          <a:solidFill>
                            <a:srgbClr val="F27A35"/>
                          </a:solidFill>
                          <a:latin typeface="Calibri"/>
                        </a:rPr>
                        <a:t>5%</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10"/>
                  </a:ext>
                </a:extLst>
              </a:tr>
              <a:tr h="219456">
                <a:tc>
                  <a:txBody>
                    <a:bodyPr/>
                    <a:lstStyle/>
                    <a:p>
                      <a:pPr algn="l">
                        <a:lnSpc>
                          <a:spcPct val="100000"/>
                        </a:lnSpc>
                        <a:spcBef>
                          <a:spcPts val="0"/>
                        </a:spcBef>
                        <a:spcAft>
                          <a:spcPts val="0"/>
                        </a:spcAft>
                      </a:pPr>
                      <a:r>
                        <a:rPr sz="1250" b="0">
                          <a:solidFill>
                            <a:srgbClr val="404040"/>
                          </a:solidFill>
                          <a:latin typeface="Calibri"/>
                        </a:rPr>
                        <a:t>Descuento por incumplimiento</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tc>
                  <a:txBody>
                    <a:bodyPr/>
                    <a:lstStyle/>
                    <a:p>
                      <a:pPr algn="ctr">
                        <a:lnSpc>
                          <a:spcPct val="100000"/>
                        </a:lnSpc>
                        <a:spcBef>
                          <a:spcPts val="0"/>
                        </a:spcBef>
                        <a:spcAft>
                          <a:spcPts val="0"/>
                        </a:spcAft>
                      </a:pPr>
                      <a:r>
                        <a:rPr sz="1250" b="1">
                          <a:solidFill>
                            <a:srgbClr val="F27A35"/>
                          </a:solidFill>
                          <a:latin typeface="Calibri"/>
                        </a:rPr>
                        <a:t>5%</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7F9FC"/>
                    </a:solidFill>
                  </a:tcPr>
                </a:tc>
                <a:extLst>
                  <a:ext uri="{0D108BD9-81ED-4DB2-BD59-A6C34878D82A}">
                    <a16:rowId xmlns:a16="http://schemas.microsoft.com/office/drawing/2014/main" val="10011"/>
                  </a:ext>
                </a:extLst>
              </a:tr>
              <a:tr h="219456">
                <a:tc>
                  <a:txBody>
                    <a:bodyPr/>
                    <a:lstStyle/>
                    <a:p>
                      <a:pPr algn="l">
                        <a:lnSpc>
                          <a:spcPct val="100000"/>
                        </a:lnSpc>
                        <a:spcBef>
                          <a:spcPts val="0"/>
                        </a:spcBef>
                        <a:spcAft>
                          <a:spcPts val="0"/>
                        </a:spcAft>
                      </a:pPr>
                      <a:r>
                        <a:rPr sz="1250" b="0">
                          <a:solidFill>
                            <a:srgbClr val="404040"/>
                          </a:solidFill>
                          <a:latin typeface="Calibri"/>
                        </a:rPr>
                        <a:t>Acceso a mercado de capitales</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tc>
                  <a:txBody>
                    <a:bodyPr/>
                    <a:lstStyle/>
                    <a:p>
                      <a:pPr algn="ctr">
                        <a:lnSpc>
                          <a:spcPct val="100000"/>
                        </a:lnSpc>
                        <a:spcBef>
                          <a:spcPts val="0"/>
                        </a:spcBef>
                        <a:spcAft>
                          <a:spcPts val="0"/>
                        </a:spcAft>
                      </a:pPr>
                      <a:r>
                        <a:rPr sz="1250" b="1">
                          <a:solidFill>
                            <a:srgbClr val="F27A35"/>
                          </a:solidFill>
                          <a:latin typeface="Calibri"/>
                        </a:rPr>
                        <a:t>5%</a:t>
                      </a:r>
                    </a:p>
                  </a:txBody>
                  <a:tcPr marL="73152" marR="73152" marT="18288" marB="18288" anchor="ctr">
                    <a:lnL w="6350">
                      <a:solidFill>
                        <a:srgbClr val="B7C4D6"/>
                      </a:solidFill>
                      <a:prstDash val="solid"/>
                    </a:lnL>
                    <a:lnR w="6350">
                      <a:solidFill>
                        <a:srgbClr val="B7C4D6"/>
                      </a:solidFill>
                      <a:prstDash val="solid"/>
                    </a:lnR>
                    <a:lnT w="6350">
                      <a:solidFill>
                        <a:srgbClr val="B7C4D6"/>
                      </a:solidFill>
                      <a:prstDash val="solid"/>
                    </a:lnT>
                    <a:lnB w="6350">
                      <a:solidFill>
                        <a:srgbClr val="B7C4D6"/>
                      </a:solidFill>
                      <a:prstDash val="solid"/>
                    </a:lnB>
                    <a:solidFill>
                      <a:srgbClr val="FFFFFF"/>
                    </a:solidFill>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31475481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C6EF68E-A9B6-4408-95DE-3BB42A6CD0F1}"/>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ES" sz="2800" b="1">
                <a:solidFill>
                  <a:srgbClr val="1F3864"/>
                </a:solidFill>
                <a:latin typeface="Calibri"/>
                <a:ea typeface="Calibri"/>
                <a:cs typeface="Calibri"/>
              </a:rPr>
              <a:t>Saldo de la deuda externa de Colombia</a:t>
            </a:r>
            <a:endParaRPr lang="es-CO" sz="2800" b="1">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F6E471A5-7FAB-4E66-B837-94321BB7911A}"/>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797A080D-D632-4141-9A1B-757A05D3F9DB}"/>
              </a:ext>
            </a:extLst>
          </p:cNvPr>
          <p:cNvSpPr txBox="1"/>
          <p:nvPr/>
        </p:nvSpPr>
        <p:spPr>
          <a:xfrm>
            <a:off x="762000" y="5054600"/>
            <a:ext cx="7620000" cy="203200"/>
          </a:xfrm>
          <a:prstGeom prst="rect">
            <a:avLst/>
          </a:prstGeom>
          <a:noFill/>
        </p:spPr>
        <p:txBody>
          <a:bodyPr vertOverflow="overflow" vert="horz" wrap="square" rtlCol="0" anchor="t">
            <a:noAutofit/>
          </a:bodyPr>
          <a:lstStyle/>
          <a:p>
            <a:pPr algn="l"/>
            <a:r>
              <a:rPr lang="es-ES" sz="1100" dirty="0">
                <a:solidFill>
                  <a:srgbClr val="7F7F7F"/>
                </a:solidFill>
                <a:latin typeface="Calibri"/>
                <a:ea typeface="Calibri"/>
                <a:cs typeface="Calibri"/>
              </a:rPr>
              <a:t>Deuda externa pública y privada en millones de dólares y como porcentaje del PIB. Fuente: Banco de la República, Subgerencia de Política Monetaria e Información Económica, marzo de 2026.</a:t>
            </a:r>
            <a:endParaRPr lang="es-CO" sz="1100" dirty="0">
              <a:solidFill>
                <a:srgbClr val="7F7F7F"/>
              </a:solidFill>
              <a:latin typeface="Calibri"/>
              <a:ea typeface="Calibri"/>
              <a:cs typeface="Calibri"/>
            </a:endParaRPr>
          </a:p>
        </p:txBody>
      </p:sp>
      <p:pic>
        <p:nvPicPr>
          <p:cNvPr id="10" name="Imagen 9">
            <a:extLst>
              <a:ext uri="{FF2B5EF4-FFF2-40B4-BE49-F238E27FC236}">
                <a16:creationId xmlns:a16="http://schemas.microsoft.com/office/drawing/2014/main" id="{C6BD036A-1BAF-84EE-6764-62DE91ED069A}"/>
              </a:ext>
            </a:extLst>
          </p:cNvPr>
          <p:cNvPicPr>
            <a:picLocks noChangeAspect="1"/>
          </p:cNvPicPr>
          <p:nvPr/>
        </p:nvPicPr>
        <p:blipFill>
          <a:blip r:embed="rId2"/>
          <a:stretch>
            <a:fillRect/>
          </a:stretch>
        </p:blipFill>
        <p:spPr>
          <a:xfrm>
            <a:off x="708210" y="1041400"/>
            <a:ext cx="7082117" cy="3983691"/>
          </a:xfrm>
          <a:prstGeom prst="rect">
            <a:avLst/>
          </a:prstGeom>
        </p:spPr>
      </p:pic>
    </p:spTree>
    <p:extLst>
      <p:ext uri="{BB962C8B-B14F-4D97-AF65-F5344CB8AC3E}">
        <p14:creationId xmlns:p14="http://schemas.microsoft.com/office/powerpoint/2010/main" val="11017832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1270000"/>
            <a:ext cx="8229600" cy="812800"/>
          </a:xfrm>
          <a:prstGeom prst="rect">
            <a:avLst/>
          </a:prstGeom>
          <a:solidFill>
            <a:srgbClr val="F2F5F9"/>
          </a:solidFill>
          <a:ln>
            <a:noFill/>
          </a:ln>
        </p:spPr>
        <p:txBody>
          <a:bodyPr wrap="square" anchor="t" anchorCtr="0">
            <a:noAutofit/>
          </a:bodyPr>
          <a:lstStyle/>
          <a:p>
            <a:r>
              <a:rPr lang="es-CO" sz="1500" dirty="0">
                <a:solidFill>
                  <a:srgbClr val="404040"/>
                </a:solidFill>
                <a:latin typeface="Calibri"/>
                <a:ea typeface="Calibri"/>
                <a:cs typeface="Calibri"/>
              </a:rPr>
              <a:t>1. </a:t>
            </a:r>
            <a:r>
              <a:rPr lang="es-CO" sz="1500" dirty="0">
                <a:solidFill>
                  <a:srgbClr val="404040"/>
                </a:solidFill>
                <a:latin typeface="Calibri"/>
                <a:ea typeface="Calibri"/>
                <a:cs typeface="Calibri"/>
                <a:hlinkClick r:id="rId2"/>
              </a:rPr>
              <a:t>ambito.com/</a:t>
            </a:r>
            <a:r>
              <a:rPr lang="es-CO" sz="1500" dirty="0" err="1">
                <a:solidFill>
                  <a:srgbClr val="404040"/>
                </a:solidFill>
                <a:latin typeface="Calibri"/>
                <a:ea typeface="Calibri"/>
                <a:cs typeface="Calibri"/>
                <a:hlinkClick r:id="rId2"/>
              </a:rPr>
              <a:t>economia</a:t>
            </a:r>
            <a:r>
              <a:rPr lang="es-CO" sz="1500" dirty="0">
                <a:solidFill>
                  <a:srgbClr val="404040"/>
                </a:solidFill>
                <a:latin typeface="Calibri"/>
                <a:ea typeface="Calibri"/>
                <a:cs typeface="Calibri"/>
                <a:hlinkClick r:id="rId2"/>
              </a:rPr>
              <a:t>/mercados/riesgo-</a:t>
            </a:r>
            <a:r>
              <a:rPr lang="es-CO" sz="1500" dirty="0" err="1">
                <a:solidFill>
                  <a:srgbClr val="404040"/>
                </a:solidFill>
                <a:latin typeface="Calibri"/>
                <a:ea typeface="Calibri"/>
                <a:cs typeface="Calibri"/>
                <a:hlinkClick r:id="rId2"/>
              </a:rPr>
              <a:t>pais</a:t>
            </a:r>
            <a:r>
              <a:rPr lang="es-CO" sz="1500" dirty="0">
                <a:solidFill>
                  <a:srgbClr val="404040"/>
                </a:solidFill>
                <a:latin typeface="Calibri"/>
                <a:ea typeface="Calibri"/>
                <a:cs typeface="Calibri"/>
              </a:rPr>
              <a:t>
2. </a:t>
            </a:r>
            <a:r>
              <a:rPr lang="es-CO" sz="1500" dirty="0">
                <a:solidFill>
                  <a:srgbClr val="404040"/>
                </a:solidFill>
                <a:latin typeface="Calibri"/>
                <a:ea typeface="Calibri"/>
                <a:cs typeface="Calibri"/>
                <a:hlinkClick r:id="rId3"/>
              </a:rPr>
              <a:t>datosmacro.com/prima-riesgo/</a:t>
            </a:r>
            <a:r>
              <a:rPr lang="es-CO" sz="1500" dirty="0" err="1">
                <a:solidFill>
                  <a:srgbClr val="404040"/>
                </a:solidFill>
                <a:latin typeface="Calibri"/>
                <a:ea typeface="Calibri"/>
                <a:cs typeface="Calibri"/>
                <a:hlinkClick r:id="rId3"/>
              </a:rPr>
              <a:t>colombia</a:t>
            </a:r>
            <a:endParaRPr lang="es-CO" sz="1500" dirty="0">
              <a:solidFill>
                <a:srgbClr val="404040"/>
              </a:solidFill>
              <a:latin typeface="Calibri"/>
              <a:ea typeface="Calibri"/>
              <a:cs typeface="Calibri"/>
            </a:endParaRPr>
          </a:p>
        </p:txBody>
      </p:sp>
      <p:sp>
        <p:nvSpPr>
          <p:cNvPr id="4" name="Rectángulo 3"/>
          <p:cNvSpPr/>
          <p:nvPr/>
        </p:nvSpPr>
        <p:spPr>
          <a:xfrm>
            <a:off x="457200" y="304800"/>
            <a:ext cx="8229600" cy="533400"/>
          </a:xfrm>
          <a:prstGeom prst="rect">
            <a:avLst/>
          </a:prstGeom>
          <a:noFill/>
          <a:ln>
            <a:noFill/>
          </a:ln>
        </p:spPr>
        <p:txBody>
          <a:bodyPr wrap="square" anchor="t" anchorCtr="0">
            <a:noAutofit/>
          </a:bodyPr>
          <a:lstStyle/>
          <a:p>
            <a:pPr algn="ctr"/>
            <a:r>
              <a:rPr lang="es-ES" sz="3000" b="1">
                <a:solidFill>
                  <a:srgbClr val="1F3864"/>
                </a:solidFill>
                <a:latin typeface="Calibri"/>
                <a:ea typeface="Calibri"/>
                <a:cs typeface="Calibri"/>
              </a:rPr>
              <a:t>¿Dónde consultar el riesgo país?</a:t>
            </a:r>
            <a:endParaRPr lang="es-ES" sz="3000" b="1" dirty="0">
              <a:solidFill>
                <a:srgbClr val="1F3864"/>
              </a:solidFill>
              <a:latin typeface="Calibri"/>
              <a:ea typeface="Calibri"/>
              <a:cs typeface="Calibri"/>
            </a:endParaRPr>
          </a:p>
        </p:txBody>
      </p:sp>
      <p:sp>
        <p:nvSpPr>
          <p:cNvPr id="3" name="Rectángulo 2">
            <a:extLst>
              <a:ext uri="{FF2B5EF4-FFF2-40B4-BE49-F238E27FC236}">
                <a16:creationId xmlns:a16="http://schemas.microsoft.com/office/drawing/2014/main" id="{2B9B3211-5BC2-418F-8A2D-14B1C75DC488}"/>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A5591385-C05C-4723-9CB6-14ED7A010427}"/>
              </a:ext>
            </a:extLst>
          </p:cNvPr>
          <p:cNvSpPr/>
          <p:nvPr/>
        </p:nvSpPr>
        <p:spPr>
          <a:xfrm>
            <a:off x="457200" y="2286000"/>
            <a:ext cx="4038600" cy="1016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Ámbito
Riesgo país de Argentina y de la región, con serie diaria.</a:t>
            </a:r>
            <a:endParaRPr lang="es-CO" sz="1400">
              <a:solidFill>
                <a:srgbClr val="404040"/>
              </a:solidFill>
              <a:latin typeface="Calibri"/>
              <a:ea typeface="Calibri"/>
              <a:cs typeface="Calibri"/>
            </a:endParaRPr>
          </a:p>
        </p:txBody>
      </p:sp>
      <p:sp>
        <p:nvSpPr>
          <p:cNvPr id="6" name="Rectángulo 5">
            <a:extLst>
              <a:ext uri="{FF2B5EF4-FFF2-40B4-BE49-F238E27FC236}">
                <a16:creationId xmlns:a16="http://schemas.microsoft.com/office/drawing/2014/main" id="{FE5B9663-0F1E-4F3B-8F36-EEA2C11F0D39}"/>
              </a:ext>
            </a:extLst>
          </p:cNvPr>
          <p:cNvSpPr/>
          <p:nvPr/>
        </p:nvSpPr>
        <p:spPr>
          <a:xfrm>
            <a:off x="4648200" y="2286000"/>
            <a:ext cx="4038600" cy="1016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Datosmacro
Prima de riesgo de Colombia y comparación entre países.</a:t>
            </a:r>
            <a:endParaRPr lang="es-CO" sz="1400">
              <a:solidFill>
                <a:srgbClr val="404040"/>
              </a:solidFill>
              <a:latin typeface="Calibri"/>
              <a:ea typeface="Calibri"/>
              <a:cs typeface="Calibri"/>
            </a:endParaRPr>
          </a:p>
        </p:txBody>
      </p:sp>
      <p:sp>
        <p:nvSpPr>
          <p:cNvPr id="7" name="CuadroTexto 6">
            <a:extLst>
              <a:ext uri="{FF2B5EF4-FFF2-40B4-BE49-F238E27FC236}">
                <a16:creationId xmlns:a16="http://schemas.microsoft.com/office/drawing/2014/main" id="{5F5AEC26-B6AF-4D72-B788-08BF239288EF}"/>
              </a:ext>
            </a:extLst>
          </p:cNvPr>
          <p:cNvSpPr txBox="1"/>
          <p:nvPr/>
        </p:nvSpPr>
        <p:spPr>
          <a:xfrm>
            <a:off x="457200" y="34290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Ambas fuentes publican el EMBI calculado por J.P. Morgan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4754982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3A38E95-E429-4050-A5C0-962639B277F1}"/>
              </a:ext>
            </a:extLst>
          </p:cNvPr>
          <p:cNvSpPr txBox="1"/>
          <p:nvPr/>
        </p:nvSpPr>
        <p:spPr>
          <a:xfrm>
            <a:off x="457200" y="2286000"/>
            <a:ext cx="8229600" cy="1397000"/>
          </a:xfrm>
          <a:prstGeom prst="rect">
            <a:avLst/>
          </a:prstGeom>
          <a:solidFill>
            <a:srgbClr val="1F3864"/>
          </a:solidFill>
          <a:ln>
            <a:noFill/>
          </a:ln>
        </p:spPr>
        <p:txBody>
          <a:bodyPr wrap="square" rtlCol="0" anchor="ctr" anchorCtr="0">
            <a:noAutofit/>
          </a:bodyPr>
          <a:lstStyle/>
          <a:p>
            <a:pPr algn="ctr"/>
            <a:r>
              <a:rPr lang="es-ES" sz="3400" b="1">
                <a:solidFill>
                  <a:srgbClr val="FFFFFF"/>
                </a:solidFill>
                <a:latin typeface="Calibri"/>
                <a:ea typeface="Calibri"/>
                <a:cs typeface="Calibri"/>
              </a:rPr>
              <a:t>El riesgo en las organizaciones</a:t>
            </a:r>
            <a:endParaRPr lang="es-ES" sz="3400" b="1" dirty="0">
              <a:solidFill>
                <a:srgbClr val="FFFFFF"/>
              </a:solidFill>
              <a:latin typeface="Calibri"/>
              <a:ea typeface="Calibri"/>
              <a:cs typeface="Calibri"/>
            </a:endParaRPr>
          </a:p>
        </p:txBody>
      </p:sp>
    </p:spTree>
    <p:extLst>
      <p:ext uri="{BB962C8B-B14F-4D97-AF65-F5344CB8AC3E}">
        <p14:creationId xmlns:p14="http://schemas.microsoft.com/office/powerpoint/2010/main" val="2015192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p:cNvPicPr>
            <a:picLocks noChangeAspect="1"/>
          </p:cNvPicPr>
          <p:nvPr/>
        </p:nvPicPr>
        <p:blipFill>
          <a:blip r:embed="rId2"/>
          <a:stretch>
            <a:fillRect/>
          </a:stretch>
        </p:blipFill>
        <p:spPr>
          <a:xfrm>
            <a:off x="4826000" y="1168400"/>
            <a:ext cx="3860800" cy="2705100"/>
          </a:xfrm>
          <a:prstGeom prst="rect">
            <a:avLst/>
          </a:prstGeom>
        </p:spPr>
      </p:pic>
      <p:sp>
        <p:nvSpPr>
          <p:cNvPr id="2" name="CuadroTexto 1"/>
          <p:cNvSpPr txBox="1"/>
          <p:nvPr/>
        </p:nvSpPr>
        <p:spPr>
          <a:xfrm>
            <a:off x="457200" y="1168400"/>
            <a:ext cx="4064000" cy="660400"/>
          </a:xfrm>
          <a:prstGeom prst="rect">
            <a:avLst/>
          </a:prstGeom>
          <a:solidFill>
            <a:srgbClr val="1F3864"/>
          </a:solidFill>
          <a:ln>
            <a:noFill/>
          </a:ln>
        </p:spPr>
        <p:txBody>
          <a:bodyPr wrap="square" rtlCol="0" anchor="ctr" anchorCtr="0">
            <a:noAutofit/>
          </a:bodyPr>
          <a:lstStyle/>
          <a:p>
            <a:pPr>
              <a:lnSpc>
                <a:spcPct val="150000"/>
              </a:lnSpc>
            </a:pPr>
            <a:r>
              <a:rPr lang="es-ES" sz="1500" b="1">
                <a:solidFill>
                  <a:srgbClr val="FFFFFF"/>
                </a:solidFill>
                <a:latin typeface="Calibri"/>
                <a:ea typeface="Calibri"/>
                <a:cs typeface="Calibri"/>
              </a:rPr>
              <a:t>1. Gestión de riesgos operacionales</a:t>
            </a:r>
            <a:endParaRPr lang="es-CO" sz="1500" b="1" dirty="0">
              <a:solidFill>
                <a:srgbClr val="FFFFFF"/>
              </a:solidFill>
              <a:latin typeface="Calibri"/>
              <a:ea typeface="Calibri"/>
              <a:cs typeface="Calibri"/>
            </a:endParaRPr>
          </a:p>
        </p:txBody>
      </p:sp>
      <p:sp>
        <p:nvSpPr>
          <p:cNvPr id="3" name="CuadroTexto 2"/>
          <p:cNvSpPr txBox="1"/>
          <p:nvPr/>
        </p:nvSpPr>
        <p:spPr>
          <a:xfrm>
            <a:off x="457200" y="304800"/>
            <a:ext cx="8229600" cy="533400"/>
          </a:xfrm>
          <a:prstGeom prst="rect">
            <a:avLst/>
          </a:prstGeom>
          <a:noFill/>
          <a:ln>
            <a:noFill/>
          </a:ln>
        </p:spPr>
        <p:txBody>
          <a:bodyPr wrap="square" rtlCol="0" anchor="t" anchorCtr="0">
            <a:noAutofit/>
          </a:bodyPr>
          <a:lstStyle/>
          <a:p>
            <a:pPr algn="l"/>
            <a:r>
              <a:rPr lang="es-ES" sz="3000" b="1">
                <a:solidFill>
                  <a:srgbClr val="1F3864"/>
                </a:solidFill>
                <a:latin typeface="Calibri"/>
                <a:ea typeface="Calibri"/>
                <a:cs typeface="Calibri"/>
              </a:rPr>
              <a:t>Clasificación de los riesgos del negocio</a:t>
            </a:r>
            <a:endParaRPr lang="es-ES" sz="3000" b="1" dirty="0">
              <a:solidFill>
                <a:srgbClr val="1F3864"/>
              </a:solidFill>
              <a:latin typeface="Calibri"/>
              <a:ea typeface="Calibri"/>
              <a:cs typeface="Calibri"/>
            </a:endParaRPr>
          </a:p>
        </p:txBody>
      </p:sp>
      <p:sp>
        <p:nvSpPr>
          <p:cNvPr id="5" name="Rectángulo 4"/>
          <p:cNvSpPr/>
          <p:nvPr/>
        </p:nvSpPr>
        <p:spPr>
          <a:xfrm>
            <a:off x="457200" y="5174777"/>
            <a:ext cx="8229600" cy="464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s-CO" sz="1200" dirty="0">
                <a:solidFill>
                  <a:schemeClr val="tx1"/>
                </a:solidFill>
              </a:rPr>
              <a:t>Tomado de: Modelación de Riesgos. </a:t>
            </a:r>
            <a:r>
              <a:rPr lang="es-CO" sz="1200" dirty="0" err="1">
                <a:solidFill>
                  <a:schemeClr val="tx1"/>
                </a:solidFill>
              </a:rPr>
              <a:t>Vol</a:t>
            </a:r>
            <a:r>
              <a:rPr lang="es-CO" sz="1200" dirty="0">
                <a:solidFill>
                  <a:schemeClr val="tx1"/>
                </a:solidFill>
              </a:rPr>
              <a:t> I. Johnathan Mun. Y Real </a:t>
            </a:r>
            <a:r>
              <a:rPr lang="es-CO" sz="1200" dirty="0" err="1">
                <a:solidFill>
                  <a:schemeClr val="tx1"/>
                </a:solidFill>
              </a:rPr>
              <a:t>Option</a:t>
            </a:r>
            <a:r>
              <a:rPr lang="es-CO" sz="1200" dirty="0">
                <a:solidFill>
                  <a:schemeClr val="tx1"/>
                </a:solidFill>
              </a:rPr>
              <a:t> </a:t>
            </a:r>
            <a:r>
              <a:rPr lang="es-CO" sz="1200" dirty="0" err="1">
                <a:solidFill>
                  <a:schemeClr val="tx1"/>
                </a:solidFill>
              </a:rPr>
              <a:t>Valuation</a:t>
            </a:r>
            <a:r>
              <a:rPr lang="es-CO" sz="1200" dirty="0">
                <a:solidFill>
                  <a:schemeClr val="tx1"/>
                </a:solidFill>
              </a:rPr>
              <a:t> </a:t>
            </a:r>
          </a:p>
        </p:txBody>
      </p:sp>
      <p:sp>
        <p:nvSpPr>
          <p:cNvPr id="4" name="Rectángulo 3">
            <a:extLst>
              <a:ext uri="{FF2B5EF4-FFF2-40B4-BE49-F238E27FC236}">
                <a16:creationId xmlns:a16="http://schemas.microsoft.com/office/drawing/2014/main" id="{F1FE3D2F-5BC3-4875-885D-1FA58FDB4E51}"/>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BC1E42CE-C957-45B8-BEF4-C540618729F8}"/>
              </a:ext>
            </a:extLst>
          </p:cNvPr>
          <p:cNvSpPr/>
          <p:nvPr/>
        </p:nvSpPr>
        <p:spPr>
          <a:xfrm>
            <a:off x="457200" y="1981200"/>
            <a:ext cx="4064000" cy="6604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b="1">
                <a:solidFill>
                  <a:srgbClr val="FFFFFF"/>
                </a:solidFill>
                <a:latin typeface="Calibri"/>
                <a:ea typeface="Calibri"/>
                <a:cs typeface="Calibri"/>
              </a:rPr>
              <a:t>2. Gestión de riesgos financieros</a:t>
            </a:r>
            <a:endParaRPr lang="es-CO" sz="1500" b="1">
              <a:solidFill>
                <a:srgbClr val="FFFFFF"/>
              </a:solidFill>
              <a:latin typeface="Calibri"/>
              <a:ea typeface="Calibri"/>
              <a:cs typeface="Calibri"/>
            </a:endParaRPr>
          </a:p>
        </p:txBody>
      </p:sp>
      <p:sp>
        <p:nvSpPr>
          <p:cNvPr id="8" name="Rectángulo 7">
            <a:extLst>
              <a:ext uri="{FF2B5EF4-FFF2-40B4-BE49-F238E27FC236}">
                <a16:creationId xmlns:a16="http://schemas.microsoft.com/office/drawing/2014/main" id="{2AA6D414-1A23-4034-BEE0-1EC439E471F2}"/>
              </a:ext>
            </a:extLst>
          </p:cNvPr>
          <p:cNvSpPr/>
          <p:nvPr/>
        </p:nvSpPr>
        <p:spPr>
          <a:xfrm>
            <a:off x="457200" y="27940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Mercado</a:t>
            </a:r>
          </a:p>
        </p:txBody>
      </p:sp>
      <p:sp>
        <p:nvSpPr>
          <p:cNvPr id="9" name="Rectángulo 8">
            <a:extLst>
              <a:ext uri="{FF2B5EF4-FFF2-40B4-BE49-F238E27FC236}">
                <a16:creationId xmlns:a16="http://schemas.microsoft.com/office/drawing/2014/main" id="{C6ABDE6C-1A89-4CF9-86F8-269213DDFB29}"/>
              </a:ext>
            </a:extLst>
          </p:cNvPr>
          <p:cNvSpPr/>
          <p:nvPr/>
        </p:nvSpPr>
        <p:spPr>
          <a:xfrm>
            <a:off x="1828800" y="27940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Privado</a:t>
            </a:r>
          </a:p>
        </p:txBody>
      </p:sp>
      <p:sp>
        <p:nvSpPr>
          <p:cNvPr id="10" name="Rectángulo 9">
            <a:extLst>
              <a:ext uri="{FF2B5EF4-FFF2-40B4-BE49-F238E27FC236}">
                <a16:creationId xmlns:a16="http://schemas.microsoft.com/office/drawing/2014/main" id="{60B3F083-29A8-4A1A-A897-18478F6EB8BA}"/>
              </a:ext>
            </a:extLst>
          </p:cNvPr>
          <p:cNvSpPr/>
          <p:nvPr/>
        </p:nvSpPr>
        <p:spPr>
          <a:xfrm>
            <a:off x="3200400" y="27940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Crédito</a:t>
            </a:r>
          </a:p>
        </p:txBody>
      </p:sp>
      <p:sp>
        <p:nvSpPr>
          <p:cNvPr id="11" name="Rectángulo 10">
            <a:extLst>
              <a:ext uri="{FF2B5EF4-FFF2-40B4-BE49-F238E27FC236}">
                <a16:creationId xmlns:a16="http://schemas.microsoft.com/office/drawing/2014/main" id="{BDEEF862-0559-4AA4-B2C5-0B6843FE1F45}"/>
              </a:ext>
            </a:extLst>
          </p:cNvPr>
          <p:cNvSpPr/>
          <p:nvPr/>
        </p:nvSpPr>
        <p:spPr>
          <a:xfrm>
            <a:off x="457200" y="33274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Quiebra</a:t>
            </a:r>
          </a:p>
        </p:txBody>
      </p:sp>
      <p:sp>
        <p:nvSpPr>
          <p:cNvPr id="12" name="Rectángulo 11">
            <a:extLst>
              <a:ext uri="{FF2B5EF4-FFF2-40B4-BE49-F238E27FC236}">
                <a16:creationId xmlns:a16="http://schemas.microsoft.com/office/drawing/2014/main" id="{545CA0DE-377C-434F-BC5B-EBB86FB10AAF}"/>
              </a:ext>
            </a:extLst>
          </p:cNvPr>
          <p:cNvSpPr/>
          <p:nvPr/>
        </p:nvSpPr>
        <p:spPr>
          <a:xfrm>
            <a:off x="1828800" y="33274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Maduración</a:t>
            </a:r>
          </a:p>
        </p:txBody>
      </p:sp>
      <p:sp>
        <p:nvSpPr>
          <p:cNvPr id="13" name="Rectángulo 12">
            <a:extLst>
              <a:ext uri="{FF2B5EF4-FFF2-40B4-BE49-F238E27FC236}">
                <a16:creationId xmlns:a16="http://schemas.microsoft.com/office/drawing/2014/main" id="{55DF9D69-50C6-44AA-9EB6-B90754F1B482}"/>
              </a:ext>
            </a:extLst>
          </p:cNvPr>
          <p:cNvSpPr/>
          <p:nvPr/>
        </p:nvSpPr>
        <p:spPr>
          <a:xfrm>
            <a:off x="3200400" y="33274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Liquidez</a:t>
            </a:r>
          </a:p>
        </p:txBody>
      </p:sp>
      <p:sp>
        <p:nvSpPr>
          <p:cNvPr id="14" name="Rectángulo 13">
            <a:extLst>
              <a:ext uri="{FF2B5EF4-FFF2-40B4-BE49-F238E27FC236}">
                <a16:creationId xmlns:a16="http://schemas.microsoft.com/office/drawing/2014/main" id="{25870E60-9EE0-43DA-B892-5DBC3ED3FF12}"/>
              </a:ext>
            </a:extLst>
          </p:cNvPr>
          <p:cNvSpPr/>
          <p:nvPr/>
        </p:nvSpPr>
        <p:spPr>
          <a:xfrm>
            <a:off x="457200" y="38608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Inflacionario</a:t>
            </a:r>
          </a:p>
        </p:txBody>
      </p:sp>
      <p:sp>
        <p:nvSpPr>
          <p:cNvPr id="15" name="Rectángulo 14">
            <a:extLst>
              <a:ext uri="{FF2B5EF4-FFF2-40B4-BE49-F238E27FC236}">
                <a16:creationId xmlns:a16="http://schemas.microsoft.com/office/drawing/2014/main" id="{9820501E-F561-4115-9643-7C4AF9E06507}"/>
              </a:ext>
            </a:extLst>
          </p:cNvPr>
          <p:cNvSpPr/>
          <p:nvPr/>
        </p:nvSpPr>
        <p:spPr>
          <a:xfrm>
            <a:off x="1828800" y="38608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Tasa de interés</a:t>
            </a:r>
          </a:p>
        </p:txBody>
      </p:sp>
      <p:sp>
        <p:nvSpPr>
          <p:cNvPr id="16" name="Rectángulo 15">
            <a:extLst>
              <a:ext uri="{FF2B5EF4-FFF2-40B4-BE49-F238E27FC236}">
                <a16:creationId xmlns:a16="http://schemas.microsoft.com/office/drawing/2014/main" id="{62F2A8E4-1731-40B9-937F-459572800959}"/>
              </a:ext>
            </a:extLst>
          </p:cNvPr>
          <p:cNvSpPr/>
          <p:nvPr/>
        </p:nvSpPr>
        <p:spPr>
          <a:xfrm>
            <a:off x="3200400" y="3860800"/>
            <a:ext cx="1270000" cy="431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País</a:t>
            </a:r>
          </a:p>
        </p:txBody>
      </p:sp>
      <p:sp>
        <p:nvSpPr>
          <p:cNvPr id="17" name="CuadroTexto 16">
            <a:extLst>
              <a:ext uri="{FF2B5EF4-FFF2-40B4-BE49-F238E27FC236}">
                <a16:creationId xmlns:a16="http://schemas.microsoft.com/office/drawing/2014/main" id="{AB2C6FBE-D424-4658-BBB5-B987353663FE}"/>
              </a:ext>
            </a:extLst>
          </p:cNvPr>
          <p:cNvSpPr txBox="1"/>
          <p:nvPr/>
        </p:nvSpPr>
        <p:spPr>
          <a:xfrm>
            <a:off x="457200" y="4445000"/>
            <a:ext cx="4064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Tipos de riesgo financiero según J. Mun</a:t>
            </a:r>
            <a:endParaRPr lang="es-CO" sz="1100">
              <a:solidFill>
                <a:srgbClr val="7F7F7F"/>
              </a:solidFill>
              <a:latin typeface="Calibri"/>
              <a:ea typeface="Calibri"/>
              <a:cs typeface="Calibri"/>
            </a:endParaRPr>
          </a:p>
        </p:txBody>
      </p:sp>
      <p:sp>
        <p:nvSpPr>
          <p:cNvPr id="18" name="CuadroTexto 17">
            <a:extLst>
              <a:ext uri="{FF2B5EF4-FFF2-40B4-BE49-F238E27FC236}">
                <a16:creationId xmlns:a16="http://schemas.microsoft.com/office/drawing/2014/main" id="{EF9D2853-E8BD-4017-B236-86BAA23E98D2}"/>
              </a:ext>
            </a:extLst>
          </p:cNvPr>
          <p:cNvSpPr txBox="1"/>
          <p:nvPr/>
        </p:nvSpPr>
        <p:spPr>
          <a:xfrm>
            <a:off x="4826000" y="3937000"/>
            <a:ext cx="38608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Mapa de riesgos del negocio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092182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57200" y="1346200"/>
            <a:ext cx="8229600" cy="812800"/>
          </a:xfrm>
          <a:prstGeom prst="rect">
            <a:avLst/>
          </a:prstGeom>
          <a:solidFill>
            <a:srgbClr val="1F3864"/>
          </a:solidFill>
          <a:ln>
            <a:noFill/>
          </a:ln>
        </p:spPr>
        <p:txBody>
          <a:bodyPr wrap="square" rtlCol="0" anchor="ctr" anchorCtr="0">
            <a:noAutofit/>
          </a:bodyPr>
          <a:lstStyle/>
          <a:p>
            <a:pPr>
              <a:lnSpc>
                <a:spcPct val="150000"/>
              </a:lnSpc>
            </a:pPr>
            <a:r>
              <a:rPr lang="es-ES" sz="1700" b="1">
                <a:solidFill>
                  <a:srgbClr val="FFFFFF"/>
                </a:solidFill>
                <a:latin typeface="Calibri"/>
                <a:ea typeface="Calibri"/>
                <a:cs typeface="Calibri"/>
              </a:rPr>
              <a:t>Surgen de la propia producción de bienes y servicios o de acontecimientos externos.</a:t>
            </a:r>
            <a:endParaRPr lang="es-ES" sz="1700" b="1" dirty="0">
              <a:solidFill>
                <a:srgbClr val="FFFFFF"/>
              </a:solidFill>
              <a:latin typeface="Calibri"/>
              <a:ea typeface="Calibri"/>
              <a:cs typeface="Calibri"/>
            </a:endParaRPr>
          </a:p>
        </p:txBody>
      </p:sp>
      <p:sp>
        <p:nvSpPr>
          <p:cNvPr id="3" name="CuadroTexto 2"/>
          <p:cNvSpPr txBox="1"/>
          <p:nvPr/>
        </p:nvSpPr>
        <p:spPr>
          <a:xfrm>
            <a:off x="457200" y="533400"/>
            <a:ext cx="8229600" cy="508000"/>
          </a:xfrm>
          <a:prstGeom prst="rect">
            <a:avLst/>
          </a:prstGeom>
          <a:noFill/>
          <a:ln>
            <a:noFill/>
          </a:ln>
        </p:spPr>
        <p:txBody>
          <a:bodyPr wrap="square" rtlCol="0" anchor="t" anchorCtr="0">
            <a:noAutofit/>
          </a:bodyPr>
          <a:lstStyle/>
          <a:p>
            <a:pPr algn="l"/>
            <a:r>
              <a:rPr lang="es-ES" sz="3000" b="1">
                <a:solidFill>
                  <a:srgbClr val="1F3864"/>
                </a:solidFill>
                <a:latin typeface="Calibri"/>
                <a:ea typeface="Calibri"/>
                <a:cs typeface="Calibri"/>
              </a:rPr>
              <a:t>Riesgos del negocio u operativos</a:t>
            </a:r>
            <a:endParaRPr lang="es-ES" sz="3000" b="1" dirty="0">
              <a:solidFill>
                <a:srgbClr val="1F3864"/>
              </a:solidFill>
              <a:latin typeface="Calibri"/>
              <a:ea typeface="Calibri"/>
              <a:cs typeface="Calibri"/>
            </a:endParaRPr>
          </a:p>
        </p:txBody>
      </p:sp>
      <p:sp>
        <p:nvSpPr>
          <p:cNvPr id="6" name="Rectángulo 5"/>
          <p:cNvSpPr/>
          <p:nvPr/>
        </p:nvSpPr>
        <p:spPr>
          <a:xfrm>
            <a:off x="457200" y="5174777"/>
            <a:ext cx="8229600" cy="464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s-CO" sz="1200" dirty="0">
                <a:solidFill>
                  <a:schemeClr val="tx1"/>
                </a:solidFill>
              </a:rPr>
              <a:t>Tomado de: El riesgo en la empresa. </a:t>
            </a:r>
            <a:r>
              <a:rPr lang="es-CO" sz="1200" dirty="0" err="1">
                <a:solidFill>
                  <a:schemeClr val="tx1"/>
                </a:solidFill>
              </a:rPr>
              <a:t>Palisade</a:t>
            </a:r>
            <a:r>
              <a:rPr lang="es-CO" sz="1200" dirty="0">
                <a:solidFill>
                  <a:schemeClr val="tx1"/>
                </a:solidFill>
              </a:rPr>
              <a:t> </a:t>
            </a:r>
            <a:r>
              <a:rPr lang="es-CO" sz="1200" dirty="0" err="1">
                <a:solidFill>
                  <a:schemeClr val="tx1"/>
                </a:solidFill>
              </a:rPr>
              <a:t>Corporation</a:t>
            </a:r>
            <a:r>
              <a:rPr lang="es-CO" sz="1200" dirty="0">
                <a:solidFill>
                  <a:schemeClr val="tx1"/>
                </a:solidFill>
              </a:rPr>
              <a:t>. USA, 2007</a:t>
            </a:r>
          </a:p>
        </p:txBody>
      </p:sp>
      <p:sp>
        <p:nvSpPr>
          <p:cNvPr id="4" name="CuadroTexto 3">
            <a:extLst>
              <a:ext uri="{FF2B5EF4-FFF2-40B4-BE49-F238E27FC236}">
                <a16:creationId xmlns:a16="http://schemas.microsoft.com/office/drawing/2014/main" id="{6FD44720-8159-494B-AEDC-E0D86705B578}"/>
              </a:ext>
            </a:extLst>
          </p:cNvPr>
          <p:cNvSpPr txBox="1"/>
          <p:nvPr/>
        </p:nvSpPr>
        <p:spPr>
          <a:xfrm>
            <a:off x="457200" y="279400"/>
            <a:ext cx="5080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TIPOLOGÍA DE RIESGOS · 1 DE 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22E35ACD-1CEE-4E4E-8E6E-3895707617DE}"/>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18395B37-EBE7-4BC3-B1C6-13E1E525B190}"/>
              </a:ext>
            </a:extLst>
          </p:cNvPr>
          <p:cNvSpPr/>
          <p:nvPr/>
        </p:nvSpPr>
        <p:spPr>
          <a:xfrm>
            <a:off x="457200" y="24130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Operaciones</a:t>
            </a:r>
          </a:p>
        </p:txBody>
      </p:sp>
      <p:sp>
        <p:nvSpPr>
          <p:cNvPr id="8" name="Rectángulo 7">
            <a:extLst>
              <a:ext uri="{FF2B5EF4-FFF2-40B4-BE49-F238E27FC236}">
                <a16:creationId xmlns:a16="http://schemas.microsoft.com/office/drawing/2014/main" id="{4A0E9051-8FFA-4EC9-8116-A81026286D7B}"/>
              </a:ext>
            </a:extLst>
          </p:cNvPr>
          <p:cNvSpPr/>
          <p:nvPr/>
        </p:nvSpPr>
        <p:spPr>
          <a:xfrm>
            <a:off x="3251200" y="24130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Tecnología</a:t>
            </a:r>
          </a:p>
        </p:txBody>
      </p:sp>
      <p:sp>
        <p:nvSpPr>
          <p:cNvPr id="9" name="Rectángulo 8">
            <a:extLst>
              <a:ext uri="{FF2B5EF4-FFF2-40B4-BE49-F238E27FC236}">
                <a16:creationId xmlns:a16="http://schemas.microsoft.com/office/drawing/2014/main" id="{42181CEE-EEEC-4C02-B229-B2257B41A736}"/>
              </a:ext>
            </a:extLst>
          </p:cNvPr>
          <p:cNvSpPr/>
          <p:nvPr/>
        </p:nvSpPr>
        <p:spPr>
          <a:xfrm>
            <a:off x="6045200" y="24130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Competencia</a:t>
            </a:r>
          </a:p>
        </p:txBody>
      </p:sp>
      <p:sp>
        <p:nvSpPr>
          <p:cNvPr id="10" name="Rectángulo 9">
            <a:extLst>
              <a:ext uri="{FF2B5EF4-FFF2-40B4-BE49-F238E27FC236}">
                <a16:creationId xmlns:a16="http://schemas.microsoft.com/office/drawing/2014/main" id="{94FB0516-5901-46BF-A93C-EDBB2A7EB134}"/>
              </a:ext>
            </a:extLst>
          </p:cNvPr>
          <p:cNvSpPr/>
          <p:nvPr/>
        </p:nvSpPr>
        <p:spPr>
          <a:xfrm>
            <a:off x="457200" y="31496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Regulación</a:t>
            </a:r>
          </a:p>
        </p:txBody>
      </p:sp>
      <p:sp>
        <p:nvSpPr>
          <p:cNvPr id="11" name="Rectángulo 10">
            <a:extLst>
              <a:ext uri="{FF2B5EF4-FFF2-40B4-BE49-F238E27FC236}">
                <a16:creationId xmlns:a16="http://schemas.microsoft.com/office/drawing/2014/main" id="{AD4C5C3E-7E97-48E6-8B0F-7DAE9CA45D27}"/>
              </a:ext>
            </a:extLst>
          </p:cNvPr>
          <p:cNvSpPr/>
          <p:nvPr/>
        </p:nvSpPr>
        <p:spPr>
          <a:xfrm>
            <a:off x="3251200" y="31496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Coyuntura</a:t>
            </a:r>
          </a:p>
        </p:txBody>
      </p:sp>
      <p:sp>
        <p:nvSpPr>
          <p:cNvPr id="12" name="Rectángulo 11">
            <a:extLst>
              <a:ext uri="{FF2B5EF4-FFF2-40B4-BE49-F238E27FC236}">
                <a16:creationId xmlns:a16="http://schemas.microsoft.com/office/drawing/2014/main" id="{1E2FD187-3B67-4303-B5BA-4B5D6F3D0FFD}"/>
              </a:ext>
            </a:extLst>
          </p:cNvPr>
          <p:cNvSpPr/>
          <p:nvPr/>
        </p:nvSpPr>
        <p:spPr>
          <a:xfrm>
            <a:off x="6045200" y="31496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Medio ambiente</a:t>
            </a:r>
          </a:p>
        </p:txBody>
      </p:sp>
      <p:sp>
        <p:nvSpPr>
          <p:cNvPr id="13" name="Rectángulo 12">
            <a:extLst>
              <a:ext uri="{FF2B5EF4-FFF2-40B4-BE49-F238E27FC236}">
                <a16:creationId xmlns:a16="http://schemas.microsoft.com/office/drawing/2014/main" id="{FBA3212F-005F-4CEB-BEAE-EFD6887E15A8}"/>
              </a:ext>
            </a:extLst>
          </p:cNvPr>
          <p:cNvSpPr/>
          <p:nvPr/>
        </p:nvSpPr>
        <p:spPr>
          <a:xfrm>
            <a:off x="457200" y="3886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Crecimiento</a:t>
            </a:r>
          </a:p>
        </p:txBody>
      </p:sp>
      <p:sp>
        <p:nvSpPr>
          <p:cNvPr id="14" name="Rectángulo 13">
            <a:extLst>
              <a:ext uri="{FF2B5EF4-FFF2-40B4-BE49-F238E27FC236}">
                <a16:creationId xmlns:a16="http://schemas.microsoft.com/office/drawing/2014/main" id="{DA1E384C-F767-49E1-A8CC-D17399296465}"/>
              </a:ext>
            </a:extLst>
          </p:cNvPr>
          <p:cNvSpPr/>
          <p:nvPr/>
        </p:nvSpPr>
        <p:spPr>
          <a:xfrm>
            <a:off x="3251200" y="3886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Reputación</a:t>
            </a:r>
          </a:p>
        </p:txBody>
      </p:sp>
      <p:sp>
        <p:nvSpPr>
          <p:cNvPr id="15" name="Rectángulo 14">
            <a:extLst>
              <a:ext uri="{FF2B5EF4-FFF2-40B4-BE49-F238E27FC236}">
                <a16:creationId xmlns:a16="http://schemas.microsoft.com/office/drawing/2014/main" id="{3DD24CC2-6CDC-4A9B-8C18-BF7E224E7AAD}"/>
              </a:ext>
            </a:extLst>
          </p:cNvPr>
          <p:cNvSpPr/>
          <p:nvPr/>
        </p:nvSpPr>
        <p:spPr>
          <a:xfrm>
            <a:off x="6045200" y="3886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Capital humano</a:t>
            </a:r>
          </a:p>
        </p:txBody>
      </p:sp>
      <p:sp>
        <p:nvSpPr>
          <p:cNvPr id="16" name="CuadroTexto 15">
            <a:extLst>
              <a:ext uri="{FF2B5EF4-FFF2-40B4-BE49-F238E27FC236}">
                <a16:creationId xmlns:a16="http://schemas.microsoft.com/office/drawing/2014/main" id="{702E484B-E5E7-4780-84DA-C65145F92615}"/>
              </a:ext>
            </a:extLst>
          </p:cNvPr>
          <p:cNvSpPr txBox="1"/>
          <p:nvPr/>
        </p:nvSpPr>
        <p:spPr>
          <a:xfrm>
            <a:off x="457200" y="46990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nueve riesgos operativos que enfrenta la organización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4356140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57200" y="1346200"/>
            <a:ext cx="8229600" cy="812800"/>
          </a:xfrm>
          <a:prstGeom prst="rect">
            <a:avLst/>
          </a:prstGeom>
          <a:solidFill>
            <a:srgbClr val="1F3864"/>
          </a:solidFill>
          <a:ln>
            <a:noFill/>
          </a:ln>
        </p:spPr>
        <p:txBody>
          <a:bodyPr wrap="square" rtlCol="0" anchor="ctr" anchorCtr="0">
            <a:noAutofit/>
          </a:bodyPr>
          <a:lstStyle/>
          <a:p>
            <a:pPr>
              <a:lnSpc>
                <a:spcPct val="150000"/>
              </a:lnSpc>
            </a:pPr>
            <a:r>
              <a:rPr lang="es-ES" sz="1700" b="1">
                <a:solidFill>
                  <a:srgbClr val="FFFFFF"/>
                </a:solidFill>
                <a:latin typeface="Calibri"/>
                <a:ea typeface="Calibri"/>
                <a:cs typeface="Calibri"/>
              </a:rPr>
              <a:t>Surgen de la estructura de capital: la deuda y el capital necesarios para operar.</a:t>
            </a:r>
            <a:endParaRPr lang="es-CO" sz="1700" b="1" dirty="0">
              <a:solidFill>
                <a:srgbClr val="FFFFFF"/>
              </a:solidFill>
              <a:latin typeface="Calibri"/>
              <a:ea typeface="Calibri"/>
              <a:cs typeface="Calibri"/>
            </a:endParaRPr>
          </a:p>
        </p:txBody>
      </p:sp>
      <p:sp>
        <p:nvSpPr>
          <p:cNvPr id="3" name="CuadroTexto 2"/>
          <p:cNvSpPr txBox="1"/>
          <p:nvPr/>
        </p:nvSpPr>
        <p:spPr>
          <a:xfrm>
            <a:off x="457200" y="533400"/>
            <a:ext cx="8229600" cy="508000"/>
          </a:xfrm>
          <a:prstGeom prst="rect">
            <a:avLst/>
          </a:prstGeom>
          <a:noFill/>
          <a:ln>
            <a:noFill/>
          </a:ln>
        </p:spPr>
        <p:txBody>
          <a:bodyPr wrap="square" rtlCol="0" anchor="t" anchorCtr="0">
            <a:noAutofit/>
          </a:bodyPr>
          <a:lstStyle/>
          <a:p>
            <a:pPr algn="l"/>
            <a:r>
              <a:rPr lang="es-MX" sz="3000" b="1">
                <a:solidFill>
                  <a:srgbClr val="1F3864"/>
                </a:solidFill>
                <a:latin typeface="Calibri"/>
                <a:ea typeface="Calibri"/>
                <a:cs typeface="Calibri"/>
              </a:rPr>
              <a:t>Riesgos financieros</a:t>
            </a:r>
            <a:endParaRPr lang="es-ES" sz="3000" b="1" dirty="0">
              <a:solidFill>
                <a:srgbClr val="1F3864"/>
              </a:solidFill>
              <a:latin typeface="Calibri"/>
              <a:ea typeface="Calibri"/>
              <a:cs typeface="Calibri"/>
            </a:endParaRPr>
          </a:p>
        </p:txBody>
      </p:sp>
      <p:sp>
        <p:nvSpPr>
          <p:cNvPr id="6" name="Rectángulo 5"/>
          <p:cNvSpPr/>
          <p:nvPr/>
        </p:nvSpPr>
        <p:spPr>
          <a:xfrm>
            <a:off x="457200" y="5174777"/>
            <a:ext cx="8229600" cy="464023"/>
          </a:xfrm>
          <a:prstGeom prst="rect">
            <a:avLst/>
          </a:prstGeom>
          <a:solidFill>
            <a:srgbClr val="1F3864"/>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s-CO" sz="1200" dirty="0">
                <a:solidFill>
                  <a:srgbClr val="D6DCE5"/>
                </a:solidFill>
              </a:rPr>
              <a:t>Tomado de: El riesgo en la empresa. </a:t>
            </a:r>
            <a:r>
              <a:rPr lang="es-CO" sz="1200" dirty="0" err="1">
                <a:solidFill>
                  <a:srgbClr val="D6DCE5"/>
                </a:solidFill>
              </a:rPr>
              <a:t>Palisade</a:t>
            </a:r>
            <a:r>
              <a:rPr lang="es-CO" sz="1200" dirty="0">
                <a:solidFill>
                  <a:srgbClr val="D6DCE5"/>
                </a:solidFill>
              </a:rPr>
              <a:t> </a:t>
            </a:r>
            <a:r>
              <a:rPr lang="es-CO" sz="1200" dirty="0" err="1">
                <a:solidFill>
                  <a:srgbClr val="D6DCE5"/>
                </a:solidFill>
              </a:rPr>
              <a:t>Corporation</a:t>
            </a:r>
            <a:r>
              <a:rPr lang="es-CO" sz="1200" dirty="0">
                <a:solidFill>
                  <a:srgbClr val="D6DCE5"/>
                </a:solidFill>
              </a:rPr>
              <a:t>. USA, 2007</a:t>
            </a:r>
          </a:p>
        </p:txBody>
      </p:sp>
      <p:sp>
        <p:nvSpPr>
          <p:cNvPr id="4" name="CuadroTexto 3">
            <a:extLst>
              <a:ext uri="{FF2B5EF4-FFF2-40B4-BE49-F238E27FC236}">
                <a16:creationId xmlns:a16="http://schemas.microsoft.com/office/drawing/2014/main" id="{C34D92E3-673B-40E8-9993-1DC2EA5B44DB}"/>
              </a:ext>
            </a:extLst>
          </p:cNvPr>
          <p:cNvSpPr txBox="1"/>
          <p:nvPr/>
        </p:nvSpPr>
        <p:spPr>
          <a:xfrm>
            <a:off x="457200" y="279400"/>
            <a:ext cx="5080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TIPOLOGÍA DE RIESGOS · 2 DE 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67ACE11C-A087-42A8-8961-F9BF1E358203}"/>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D0A8C311-622C-4183-9F43-26CFF0F817DC}"/>
              </a:ext>
            </a:extLst>
          </p:cNvPr>
          <p:cNvSpPr/>
          <p:nvPr/>
        </p:nvSpPr>
        <p:spPr>
          <a:xfrm>
            <a:off x="457200" y="24130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Crédito o solvencia</a:t>
            </a:r>
          </a:p>
        </p:txBody>
      </p:sp>
      <p:sp>
        <p:nvSpPr>
          <p:cNvPr id="8" name="Rectángulo 7">
            <a:extLst>
              <a:ext uri="{FF2B5EF4-FFF2-40B4-BE49-F238E27FC236}">
                <a16:creationId xmlns:a16="http://schemas.microsoft.com/office/drawing/2014/main" id="{5555DD2F-809F-4C8A-B81C-35ADE8629CC5}"/>
              </a:ext>
            </a:extLst>
          </p:cNvPr>
          <p:cNvSpPr/>
          <p:nvPr/>
        </p:nvSpPr>
        <p:spPr>
          <a:xfrm>
            <a:off x="2540000" y="24130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Mercado</a:t>
            </a:r>
          </a:p>
        </p:txBody>
      </p:sp>
      <p:sp>
        <p:nvSpPr>
          <p:cNvPr id="9" name="Rectángulo 8">
            <a:extLst>
              <a:ext uri="{FF2B5EF4-FFF2-40B4-BE49-F238E27FC236}">
                <a16:creationId xmlns:a16="http://schemas.microsoft.com/office/drawing/2014/main" id="{E67312F4-C29D-4A23-8D97-68F163D5839F}"/>
              </a:ext>
            </a:extLst>
          </p:cNvPr>
          <p:cNvSpPr/>
          <p:nvPr/>
        </p:nvSpPr>
        <p:spPr>
          <a:xfrm>
            <a:off x="4622800" y="24130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Liquidez</a:t>
            </a:r>
          </a:p>
        </p:txBody>
      </p:sp>
      <p:sp>
        <p:nvSpPr>
          <p:cNvPr id="10" name="Rectángulo 9">
            <a:extLst>
              <a:ext uri="{FF2B5EF4-FFF2-40B4-BE49-F238E27FC236}">
                <a16:creationId xmlns:a16="http://schemas.microsoft.com/office/drawing/2014/main" id="{67FE2C34-8359-4BEF-9986-3B1428CD997F}"/>
              </a:ext>
            </a:extLst>
          </p:cNvPr>
          <p:cNvSpPr/>
          <p:nvPr/>
        </p:nvSpPr>
        <p:spPr>
          <a:xfrm>
            <a:off x="6705600" y="24130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Contrapartida</a:t>
            </a:r>
          </a:p>
        </p:txBody>
      </p:sp>
      <p:sp>
        <p:nvSpPr>
          <p:cNvPr id="11" name="Rectángulo 10">
            <a:extLst>
              <a:ext uri="{FF2B5EF4-FFF2-40B4-BE49-F238E27FC236}">
                <a16:creationId xmlns:a16="http://schemas.microsoft.com/office/drawing/2014/main" id="{29488AD0-EA2C-4807-A00C-448DE0332537}"/>
              </a:ext>
            </a:extLst>
          </p:cNvPr>
          <p:cNvSpPr/>
          <p:nvPr/>
        </p:nvSpPr>
        <p:spPr>
          <a:xfrm>
            <a:off x="457200" y="31496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Reinversión</a:t>
            </a:r>
          </a:p>
        </p:txBody>
      </p:sp>
      <p:sp>
        <p:nvSpPr>
          <p:cNvPr id="12" name="Rectángulo 11">
            <a:extLst>
              <a:ext uri="{FF2B5EF4-FFF2-40B4-BE49-F238E27FC236}">
                <a16:creationId xmlns:a16="http://schemas.microsoft.com/office/drawing/2014/main" id="{90D7BBA6-D7BA-422F-9B91-1DA017E73C67}"/>
              </a:ext>
            </a:extLst>
          </p:cNvPr>
          <p:cNvSpPr/>
          <p:nvPr/>
        </p:nvSpPr>
        <p:spPr>
          <a:xfrm>
            <a:off x="2540000" y="31496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Tipo de interés</a:t>
            </a:r>
          </a:p>
        </p:txBody>
      </p:sp>
      <p:sp>
        <p:nvSpPr>
          <p:cNvPr id="13" name="Rectángulo 12">
            <a:extLst>
              <a:ext uri="{FF2B5EF4-FFF2-40B4-BE49-F238E27FC236}">
                <a16:creationId xmlns:a16="http://schemas.microsoft.com/office/drawing/2014/main" id="{26F6B2FF-4CD2-4FDA-8C39-9D17D5C7FC45}"/>
              </a:ext>
            </a:extLst>
          </p:cNvPr>
          <p:cNvSpPr/>
          <p:nvPr/>
        </p:nvSpPr>
        <p:spPr>
          <a:xfrm>
            <a:off x="4622800" y="31496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Sistema</a:t>
            </a:r>
          </a:p>
        </p:txBody>
      </p:sp>
      <p:sp>
        <p:nvSpPr>
          <p:cNvPr id="14" name="Rectángulo 13">
            <a:extLst>
              <a:ext uri="{FF2B5EF4-FFF2-40B4-BE49-F238E27FC236}">
                <a16:creationId xmlns:a16="http://schemas.microsoft.com/office/drawing/2014/main" id="{94849ACE-3414-40F5-8B99-4B4B8CE6DB7D}"/>
              </a:ext>
            </a:extLst>
          </p:cNvPr>
          <p:cNvSpPr/>
          <p:nvPr/>
        </p:nvSpPr>
        <p:spPr>
          <a:xfrm>
            <a:off x="457200" y="3987800"/>
            <a:ext cx="82296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600" b="1">
                <a:solidFill>
                  <a:srgbClr val="1F3864"/>
                </a:solidFill>
                <a:latin typeface="Calibri"/>
                <a:ea typeface="Calibri"/>
                <a:cs typeface="Calibri"/>
              </a:rPr>
              <a:t>Dos condiciones definen el riesgo financiero: el rendimiento y la liquidez.</a:t>
            </a:r>
            <a:endParaRPr lang="es-CO" sz="1600" b="1">
              <a:solidFill>
                <a:srgbClr val="1F3864"/>
              </a:solidFill>
              <a:latin typeface="Calibri"/>
              <a:ea typeface="Calibri"/>
              <a:cs typeface="Calibri"/>
            </a:endParaRPr>
          </a:p>
        </p:txBody>
      </p:sp>
    </p:spTree>
    <p:extLst>
      <p:ext uri="{BB962C8B-B14F-4D97-AF65-F5344CB8AC3E}">
        <p14:creationId xmlns:p14="http://schemas.microsoft.com/office/powerpoint/2010/main" val="3979361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457200" y="304800"/>
            <a:ext cx="8229600" cy="533400"/>
          </a:xfrm>
          <a:noFill/>
          <a:ln>
            <a:noFill/>
          </a:ln>
        </p:spPr>
        <p:txBody>
          <a:bodyPr wrap="square" anchor="t" anchorCtr="0">
            <a:noAutofit/>
          </a:bodyPr>
          <a:lstStyle/>
          <a:p>
            <a:pPr eaLnBrk="1" hangingPunct="1"/>
            <a:r>
              <a:rPr lang="es-ES" sz="3000" b="1">
                <a:solidFill>
                  <a:srgbClr val="1F3864"/>
                </a:solidFill>
                <a:latin typeface="Calibri"/>
                <a:ea typeface="Calibri"/>
                <a:cs typeface="Calibri"/>
              </a:rPr>
              <a:t>¿Qué son los riesgos financieros?</a:t>
            </a:r>
            <a:endParaRPr lang="es-ES" sz="3000" b="1" dirty="0">
              <a:solidFill>
                <a:srgbClr val="1F3864"/>
              </a:solidFill>
              <a:latin typeface="Calibri"/>
              <a:ea typeface="Calibri"/>
              <a:cs typeface="Calibri"/>
            </a:endParaRPr>
          </a:p>
        </p:txBody>
      </p:sp>
      <p:sp>
        <p:nvSpPr>
          <p:cNvPr id="229381" name="Rectangle 5"/>
          <p:cNvSpPr>
            <a:spLocks noChangeArrowheads="1"/>
          </p:cNvSpPr>
          <p:nvPr/>
        </p:nvSpPr>
        <p:spPr bwMode="auto">
          <a:xfrm>
            <a:off x="6553200" y="1397000"/>
            <a:ext cx="2133600" cy="812800"/>
          </a:xfrm>
          <a:prstGeom prst="rect">
            <a:avLst/>
          </a:prstGeom>
          <a:solidFill>
            <a:srgbClr val="F2F5F9"/>
          </a:solidFill>
          <a:ln w="9525">
            <a:noFill/>
            <a:miter lim="800000"/>
            <a:headEnd/>
            <a:tailEnd/>
          </a:ln>
          <a:effectLst>
            <a:outerShdw dist="12700" dir="5400000" algn="ctr" rotWithShape="0">
              <a:srgbClr val="003399"/>
            </a:outerShdw>
          </a:effectLst>
        </p:spPr>
        <p:txBody>
          <a:bodyPr wrap="square" anchor="ctr" anchorCtr="0">
            <a:noAutofit/>
          </a:bodyPr>
          <a:lstStyle/>
          <a:p>
            <a:pPr marL="342900" indent="-342900">
              <a:spcBef>
                <a:spcPct val="50000"/>
              </a:spcBef>
              <a:spcAft>
                <a:spcPct val="50000"/>
              </a:spcAft>
              <a:buClr>
                <a:schemeClr val="hlink"/>
              </a:buClr>
              <a:buSzPct val="65000"/>
            </a:pPr>
            <a:r>
              <a:rPr lang="es-ES" sz="1500">
                <a:solidFill>
                  <a:srgbClr val="404040"/>
                </a:solidFill>
                <a:latin typeface="Calibri"/>
                <a:ea typeface="Calibri"/>
                <a:cs typeface="Calibri"/>
              </a:rPr>
              <a:t>El evento no deseado es observar pérdidas</a:t>
            </a:r>
            <a:endParaRPr lang="es-MX" sz="1500" dirty="0">
              <a:solidFill>
                <a:srgbClr val="404040"/>
              </a:solidFill>
              <a:latin typeface="Calibri"/>
              <a:ea typeface="Calibri"/>
              <a:cs typeface="Calibri"/>
            </a:endParaRPr>
          </a:p>
        </p:txBody>
      </p:sp>
      <p:sp>
        <p:nvSpPr>
          <p:cNvPr id="229382" name="Rectangle 6"/>
          <p:cNvSpPr>
            <a:spLocks noChangeArrowheads="1"/>
          </p:cNvSpPr>
          <p:nvPr/>
        </p:nvSpPr>
        <p:spPr bwMode="auto">
          <a:xfrm>
            <a:off x="457200" y="2616200"/>
            <a:ext cx="8229600" cy="1219200"/>
          </a:xfrm>
          <a:prstGeom prst="rect">
            <a:avLst/>
          </a:prstGeom>
          <a:solidFill>
            <a:srgbClr val="1F3864"/>
          </a:solidFill>
          <a:ln w="9525">
            <a:noFill/>
            <a:miter lim="800000"/>
            <a:headEnd/>
            <a:tailEnd/>
          </a:ln>
          <a:effectLst>
            <a:outerShdw dist="12700" dir="5400000" algn="ctr" rotWithShape="0">
              <a:srgbClr val="003399"/>
            </a:outerShdw>
          </a:effectLst>
        </p:spPr>
        <p:txBody>
          <a:bodyPr wrap="square" anchor="ctr" anchorCtr="0">
            <a:noAutofit/>
          </a:bodyPr>
          <a:lstStyle/>
          <a:p>
            <a:pPr algn="ctr">
              <a:spcBef>
                <a:spcPct val="50000"/>
              </a:spcBef>
              <a:spcAft>
                <a:spcPct val="50000"/>
              </a:spcAft>
              <a:buClr>
                <a:schemeClr val="hlink"/>
              </a:buClr>
              <a:buSzPct val="65000"/>
              <a:buFont typeface="Wingdings" pitchFamily="2" charset="2"/>
              <a:buNone/>
            </a:pPr>
            <a:r>
              <a:rPr lang="es-ES" altLang="en-US" sz="1700" b="1">
                <a:solidFill>
                  <a:srgbClr val="FFFFFF"/>
                </a:solidFill>
                <a:latin typeface="Calibri"/>
                <a:ea typeface="Calibri"/>
                <a:cs typeface="Calibri"/>
              </a:rPr>
              <a:t>Los riesgos financieros son la probabilidad de que ocurran eventos que generen rendimientos distintos a los esperados.</a:t>
            </a:r>
            <a:endParaRPr lang="es-MX" sz="1700" b="1" dirty="0">
              <a:solidFill>
                <a:srgbClr val="FFFFFF"/>
              </a:solidFill>
              <a:latin typeface="Calibri"/>
              <a:ea typeface="Calibri"/>
              <a:cs typeface="Calibri"/>
            </a:endParaRPr>
          </a:p>
        </p:txBody>
      </p:sp>
      <p:sp>
        <p:nvSpPr>
          <p:cNvPr id="2" name="Elipse 1"/>
          <p:cNvSpPr/>
          <p:nvPr/>
        </p:nvSpPr>
        <p:spPr>
          <a:xfrm>
            <a:off x="457200" y="1397000"/>
            <a:ext cx="812800" cy="812800"/>
          </a:xfrm>
          <a:prstGeom prst="ellipse">
            <a:avLst/>
          </a:prstGeom>
          <a:solidFill>
            <a:srgbClr val="1F3864"/>
          </a:solidFill>
          <a:ln w="12700" cap="flat" cmpd="sng" algn="ctr">
            <a:noFill/>
            <a:prstDash val="solid"/>
            <a:miter lim="800000"/>
          </a:ln>
        </p:spPr>
        <p:style>
          <a:lnRef idx="2">
            <a:schemeClr val="accent6">
              <a:shade val="50000"/>
            </a:schemeClr>
          </a:lnRef>
          <a:fillRef idx="1">
            <a:schemeClr val="accent6"/>
          </a:fillRef>
          <a:effectRef idx="0">
            <a:schemeClr val="accent6"/>
          </a:effectRef>
          <a:fontRef idx="minor">
            <a:schemeClr val="lt1"/>
          </a:fontRef>
        </p:style>
        <p:txBody>
          <a:bodyPr wrap="square" rtlCol="0" anchor="ctr" anchorCtr="0">
            <a:noAutofit/>
          </a:bodyPr>
          <a:lstStyle/>
          <a:p>
            <a:pPr algn="ctr"/>
            <a:r>
              <a:rPr lang="es-CO" sz="1400" b="1">
                <a:solidFill>
                  <a:srgbClr val="FFFFFF"/>
                </a:solidFill>
                <a:latin typeface="Calibri"/>
                <a:ea typeface="Calibri"/>
                <a:cs typeface="Calibri"/>
              </a:rPr>
              <a:t>SI</a:t>
            </a:r>
            <a:endParaRPr lang="es-CO" sz="1400" b="1" dirty="0">
              <a:solidFill>
                <a:srgbClr val="FFFFFF"/>
              </a:solidFill>
              <a:latin typeface="Calibri"/>
              <a:ea typeface="Calibri"/>
              <a:cs typeface="Calibri"/>
            </a:endParaRPr>
          </a:p>
        </p:txBody>
      </p:sp>
      <p:sp>
        <p:nvSpPr>
          <p:cNvPr id="6" name="Elipse 5"/>
          <p:cNvSpPr/>
          <p:nvPr/>
        </p:nvSpPr>
        <p:spPr>
          <a:xfrm>
            <a:off x="5283200" y="1397000"/>
            <a:ext cx="1117600" cy="812800"/>
          </a:xfrm>
          <a:prstGeom prst="ellipse">
            <a:avLst/>
          </a:prstGeom>
          <a:solidFill>
            <a:srgbClr val="1F3864"/>
          </a:solidFill>
          <a:ln w="12700" cap="flat" cmpd="sng" algn="ctr">
            <a:noFill/>
            <a:prstDash val="solid"/>
            <a:miter lim="800000"/>
          </a:ln>
        </p:spPr>
        <p:style>
          <a:lnRef idx="2">
            <a:schemeClr val="accent6">
              <a:shade val="50000"/>
            </a:schemeClr>
          </a:lnRef>
          <a:fillRef idx="1">
            <a:schemeClr val="accent6"/>
          </a:fillRef>
          <a:effectRef idx="0">
            <a:schemeClr val="accent6"/>
          </a:effectRef>
          <a:fontRef idx="minor">
            <a:schemeClr val="lt1"/>
          </a:fontRef>
        </p:style>
        <p:txBody>
          <a:bodyPr wrap="square" rtlCol="0" anchor="ctr" anchorCtr="0">
            <a:noAutofit/>
          </a:bodyPr>
          <a:lstStyle/>
          <a:p>
            <a:pPr algn="ctr"/>
            <a:r>
              <a:rPr lang="es-CO" sz="1400" b="1">
                <a:solidFill>
                  <a:srgbClr val="FFFFFF"/>
                </a:solidFill>
                <a:latin typeface="Calibri"/>
                <a:ea typeface="Calibri"/>
                <a:cs typeface="Calibri"/>
              </a:rPr>
              <a:t>LUEGO</a:t>
            </a:r>
            <a:endParaRPr lang="es-CO" sz="1400" b="1" dirty="0">
              <a:solidFill>
                <a:srgbClr val="FFFFFF"/>
              </a:solidFill>
              <a:latin typeface="Calibri"/>
              <a:ea typeface="Calibri"/>
              <a:cs typeface="Calibri"/>
            </a:endParaRPr>
          </a:p>
        </p:txBody>
      </p:sp>
      <p:sp>
        <p:nvSpPr>
          <p:cNvPr id="3" name="Rectángulo 2"/>
          <p:cNvSpPr/>
          <p:nvPr/>
        </p:nvSpPr>
        <p:spPr>
          <a:xfrm>
            <a:off x="1422400" y="1397000"/>
            <a:ext cx="3048000" cy="812800"/>
          </a:xfrm>
          <a:prstGeom prst="rect">
            <a:avLst/>
          </a:prstGeom>
          <a:solidFill>
            <a:srgbClr val="F2F5F9"/>
          </a:solidFill>
          <a:ln>
            <a:noFill/>
          </a:ln>
        </p:spPr>
        <p:txBody>
          <a:bodyPr wrap="square" anchor="ctr" anchorCtr="0">
            <a:noAutofit/>
          </a:bodyPr>
          <a:lstStyle/>
          <a:p>
            <a:pPr marL="342900" indent="-342900">
              <a:spcBef>
                <a:spcPct val="50000"/>
              </a:spcBef>
              <a:spcAft>
                <a:spcPct val="50000"/>
              </a:spcAft>
              <a:buClr>
                <a:schemeClr val="hlink"/>
              </a:buClr>
              <a:buSzPct val="65000"/>
            </a:pPr>
            <a:r>
              <a:rPr lang="es-ES" sz="1500">
                <a:solidFill>
                  <a:srgbClr val="404040"/>
                </a:solidFill>
                <a:latin typeface="Calibri"/>
                <a:ea typeface="Calibri"/>
                <a:cs typeface="Calibri"/>
              </a:rPr>
              <a:t>Cualquier posición financiera implica expectativa de rendimiento</a:t>
            </a:r>
            <a:endParaRPr lang="es-MX" sz="1500" dirty="0">
              <a:solidFill>
                <a:srgbClr val="404040"/>
              </a:solidFill>
              <a:latin typeface="Calibri"/>
              <a:ea typeface="Calibri"/>
              <a:cs typeface="Calibri"/>
            </a:endParaRPr>
          </a:p>
        </p:txBody>
      </p:sp>
      <p:sp>
        <p:nvSpPr>
          <p:cNvPr id="4" name="Flecha derecha 3"/>
          <p:cNvSpPr/>
          <p:nvPr/>
        </p:nvSpPr>
        <p:spPr>
          <a:xfrm>
            <a:off x="4622800" y="1625600"/>
            <a:ext cx="508000" cy="355600"/>
          </a:xfrm>
          <a:prstGeom prst="rightArrow">
            <a:avLst/>
          </a:prstGeom>
          <a:solidFill>
            <a:srgbClr val="ED7D31"/>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Rectángulo 6">
            <a:extLst>
              <a:ext uri="{FF2B5EF4-FFF2-40B4-BE49-F238E27FC236}">
                <a16:creationId xmlns:a16="http://schemas.microsoft.com/office/drawing/2014/main" id="{7F09841B-F108-4DCA-8965-C4CEB14AE33F}"/>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CuadroTexto 7">
            <a:extLst>
              <a:ext uri="{FF2B5EF4-FFF2-40B4-BE49-F238E27FC236}">
                <a16:creationId xmlns:a16="http://schemas.microsoft.com/office/drawing/2014/main" id="{69851285-BCBA-46AE-87BA-F6DF81454943}"/>
              </a:ext>
            </a:extLst>
          </p:cNvPr>
          <p:cNvSpPr txBox="1"/>
          <p:nvPr/>
        </p:nvSpPr>
        <p:spPr>
          <a:xfrm>
            <a:off x="457200" y="39624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Del supuesto a la definición del riesgo financiero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315837306"/>
      </p:ext>
    </p:extLst>
  </p:cSld>
  <p:clrMapOvr>
    <a:masterClrMapping/>
  </p:clrMapOvr>
  <p:transition>
    <p:pull dir="l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29378"/>
                                        </p:tgtEl>
                                        <p:attrNameLst>
                                          <p:attrName>style.visibility</p:attrName>
                                        </p:attrNameLst>
                                      </p:cBhvr>
                                      <p:to>
                                        <p:strVal val="visible"/>
                                      </p:to>
                                    </p:set>
                                    <p:anim calcmode="lin" valueType="num">
                                      <p:cBhvr>
                                        <p:cTn id="7" dur="500" fill="hold"/>
                                        <p:tgtEl>
                                          <p:spTgt spid="229378"/>
                                        </p:tgtEl>
                                        <p:attrNameLst>
                                          <p:attrName>ppt_w</p:attrName>
                                        </p:attrNameLst>
                                      </p:cBhvr>
                                      <p:tavLst>
                                        <p:tav tm="0">
                                          <p:val>
                                            <p:fltVal val="0"/>
                                          </p:val>
                                        </p:tav>
                                        <p:tav tm="100000">
                                          <p:val>
                                            <p:strVal val="#ppt_w"/>
                                          </p:val>
                                        </p:tav>
                                      </p:tavLst>
                                    </p:anim>
                                    <p:anim calcmode="lin" valueType="num">
                                      <p:cBhvr>
                                        <p:cTn id="8" dur="500" fill="hold"/>
                                        <p:tgtEl>
                                          <p:spTgt spid="229378"/>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50" presetClass="entr" presetSubtype="0" decel="100000" fill="hold" grpId="0" nodeType="clickEffect">
                                  <p:stCondLst>
                                    <p:cond delay="0"/>
                                  </p:stCondLst>
                                  <p:childTnLst>
                                    <p:set>
                                      <p:cBhvr>
                                        <p:cTn id="12" dur="1" fill="hold">
                                          <p:stCondLst>
                                            <p:cond delay="0"/>
                                          </p:stCondLst>
                                        </p:cTn>
                                        <p:tgtEl>
                                          <p:spTgt spid="229381"/>
                                        </p:tgtEl>
                                        <p:attrNameLst>
                                          <p:attrName>style.visibility</p:attrName>
                                        </p:attrNameLst>
                                      </p:cBhvr>
                                      <p:to>
                                        <p:strVal val="visible"/>
                                      </p:to>
                                    </p:set>
                                    <p:anim calcmode="lin" valueType="num">
                                      <p:cBhvr>
                                        <p:cTn id="13" dur="1000" fill="hold"/>
                                        <p:tgtEl>
                                          <p:spTgt spid="229381"/>
                                        </p:tgtEl>
                                        <p:attrNameLst>
                                          <p:attrName>ppt_w</p:attrName>
                                        </p:attrNameLst>
                                      </p:cBhvr>
                                      <p:tavLst>
                                        <p:tav tm="0">
                                          <p:val>
                                            <p:strVal val="#ppt_w+.3"/>
                                          </p:val>
                                        </p:tav>
                                        <p:tav tm="100000">
                                          <p:val>
                                            <p:strVal val="#ppt_w"/>
                                          </p:val>
                                        </p:tav>
                                      </p:tavLst>
                                    </p:anim>
                                    <p:anim calcmode="lin" valueType="num">
                                      <p:cBhvr>
                                        <p:cTn id="14" dur="1000" fill="hold"/>
                                        <p:tgtEl>
                                          <p:spTgt spid="229381"/>
                                        </p:tgtEl>
                                        <p:attrNameLst>
                                          <p:attrName>ppt_h</p:attrName>
                                        </p:attrNameLst>
                                      </p:cBhvr>
                                      <p:tavLst>
                                        <p:tav tm="0">
                                          <p:val>
                                            <p:strVal val="#ppt_h"/>
                                          </p:val>
                                        </p:tav>
                                        <p:tav tm="100000">
                                          <p:val>
                                            <p:strVal val="#ppt_h"/>
                                          </p:val>
                                        </p:tav>
                                      </p:tavLst>
                                    </p:anim>
                                    <p:animEffect transition="in" filter="fade">
                                      <p:cBhvr>
                                        <p:cTn id="15" dur="1000"/>
                                        <p:tgtEl>
                                          <p:spTgt spid="229381"/>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229382"/>
                                        </p:tgtEl>
                                        <p:attrNameLst>
                                          <p:attrName>style.visibility</p:attrName>
                                        </p:attrNameLst>
                                      </p:cBhvr>
                                      <p:to>
                                        <p:strVal val="visible"/>
                                      </p:to>
                                    </p:set>
                                    <p:animEffect transition="in" filter="fade">
                                      <p:cBhvr>
                                        <p:cTn id="20" dur="1000"/>
                                        <p:tgtEl>
                                          <p:spTgt spid="229382"/>
                                        </p:tgtEl>
                                      </p:cBhvr>
                                    </p:animEffect>
                                    <p:anim calcmode="lin" valueType="num">
                                      <p:cBhvr>
                                        <p:cTn id="21" dur="1000" fill="hold"/>
                                        <p:tgtEl>
                                          <p:spTgt spid="229382"/>
                                        </p:tgtEl>
                                        <p:attrNameLst>
                                          <p:attrName>ppt_x</p:attrName>
                                        </p:attrNameLst>
                                      </p:cBhvr>
                                      <p:tavLst>
                                        <p:tav tm="0">
                                          <p:val>
                                            <p:strVal val="#ppt_x"/>
                                          </p:val>
                                        </p:tav>
                                        <p:tav tm="100000">
                                          <p:val>
                                            <p:strVal val="#ppt_x"/>
                                          </p:val>
                                        </p:tav>
                                      </p:tavLst>
                                    </p:anim>
                                    <p:anim calcmode="lin" valueType="num">
                                      <p:cBhvr>
                                        <p:cTn id="22" dur="1000" fill="hold"/>
                                        <p:tgtEl>
                                          <p:spTgt spid="22938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p:bldP spid="229381" grpId="0" animBg="1"/>
      <p:bldP spid="229382"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57200" y="1346200"/>
            <a:ext cx="8229600" cy="914400"/>
          </a:xfrm>
          <a:prstGeom prst="rect">
            <a:avLst/>
          </a:prstGeom>
          <a:solidFill>
            <a:srgbClr val="1F3864"/>
          </a:solidFill>
          <a:ln>
            <a:noFill/>
          </a:ln>
        </p:spPr>
        <p:txBody>
          <a:bodyPr wrap="square" rtlCol="0" anchor="ctr" anchorCtr="0">
            <a:noAutofit/>
          </a:bodyPr>
          <a:lstStyle/>
          <a:p>
            <a:pPr>
              <a:lnSpc>
                <a:spcPct val="150000"/>
              </a:lnSpc>
            </a:pPr>
            <a:r>
              <a:rPr lang="es-ES" sz="1700" b="1">
                <a:solidFill>
                  <a:srgbClr val="FFFFFF"/>
                </a:solidFill>
                <a:latin typeface="Calibri"/>
                <a:ea typeface="Calibri"/>
                <a:cs typeface="Calibri"/>
              </a:rPr>
              <a:t>Surgen del entorno económico, social, político y global, y de la incertidumbre que generan.</a:t>
            </a:r>
            <a:endParaRPr lang="es-CO" sz="1700" b="1" dirty="0">
              <a:solidFill>
                <a:srgbClr val="FFFFFF"/>
              </a:solidFill>
              <a:latin typeface="Calibri"/>
              <a:ea typeface="Calibri"/>
              <a:cs typeface="Calibri"/>
            </a:endParaRPr>
          </a:p>
        </p:txBody>
      </p:sp>
      <p:sp>
        <p:nvSpPr>
          <p:cNvPr id="3" name="CuadroTexto 2"/>
          <p:cNvSpPr txBox="1"/>
          <p:nvPr/>
        </p:nvSpPr>
        <p:spPr>
          <a:xfrm>
            <a:off x="457200" y="533400"/>
            <a:ext cx="8229600" cy="508000"/>
          </a:xfrm>
          <a:prstGeom prst="rect">
            <a:avLst/>
          </a:prstGeom>
          <a:noFill/>
          <a:ln>
            <a:noFill/>
          </a:ln>
        </p:spPr>
        <p:txBody>
          <a:bodyPr wrap="square" rtlCol="0" anchor="t" anchorCtr="0">
            <a:noAutofit/>
          </a:bodyPr>
          <a:lstStyle/>
          <a:p>
            <a:pPr algn="l"/>
            <a:r>
              <a:rPr lang="es-MX" sz="3000" b="1">
                <a:solidFill>
                  <a:srgbClr val="1F3864"/>
                </a:solidFill>
                <a:latin typeface="Calibri"/>
                <a:ea typeface="Calibri"/>
                <a:cs typeface="Calibri"/>
              </a:rPr>
              <a:t>Riesgos del entorno</a:t>
            </a:r>
            <a:endParaRPr lang="es-ES" sz="3000" b="1" dirty="0">
              <a:solidFill>
                <a:srgbClr val="1F3864"/>
              </a:solidFill>
              <a:latin typeface="Calibri"/>
              <a:ea typeface="Calibri"/>
              <a:cs typeface="Calibri"/>
            </a:endParaRPr>
          </a:p>
        </p:txBody>
      </p:sp>
      <p:sp>
        <p:nvSpPr>
          <p:cNvPr id="6" name="Rectángulo 5"/>
          <p:cNvSpPr/>
          <p:nvPr/>
        </p:nvSpPr>
        <p:spPr>
          <a:xfrm>
            <a:off x="457200" y="5174777"/>
            <a:ext cx="8229600" cy="464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s-CO" sz="1200" dirty="0">
                <a:solidFill>
                  <a:schemeClr val="tx1"/>
                </a:solidFill>
              </a:rPr>
              <a:t>Tomado de: El riesgo en la empresa. </a:t>
            </a:r>
            <a:r>
              <a:rPr lang="es-CO" sz="1200" dirty="0" err="1">
                <a:solidFill>
                  <a:schemeClr val="tx1"/>
                </a:solidFill>
              </a:rPr>
              <a:t>Palisade</a:t>
            </a:r>
            <a:r>
              <a:rPr lang="es-CO" sz="1200" dirty="0">
                <a:solidFill>
                  <a:schemeClr val="tx1"/>
                </a:solidFill>
              </a:rPr>
              <a:t> </a:t>
            </a:r>
            <a:r>
              <a:rPr lang="es-CO" sz="1200" dirty="0" err="1">
                <a:solidFill>
                  <a:schemeClr val="tx1"/>
                </a:solidFill>
              </a:rPr>
              <a:t>Corporation</a:t>
            </a:r>
            <a:r>
              <a:rPr lang="es-CO" sz="1200" dirty="0">
                <a:solidFill>
                  <a:schemeClr val="tx1"/>
                </a:solidFill>
              </a:rPr>
              <a:t>. USA, 2007</a:t>
            </a:r>
          </a:p>
        </p:txBody>
      </p:sp>
      <p:sp>
        <p:nvSpPr>
          <p:cNvPr id="4" name="CuadroTexto 3">
            <a:extLst>
              <a:ext uri="{FF2B5EF4-FFF2-40B4-BE49-F238E27FC236}">
                <a16:creationId xmlns:a16="http://schemas.microsoft.com/office/drawing/2014/main" id="{DD04768B-07D9-4527-B4B4-B5DD929EE4EF}"/>
              </a:ext>
            </a:extLst>
          </p:cNvPr>
          <p:cNvSpPr txBox="1"/>
          <p:nvPr/>
        </p:nvSpPr>
        <p:spPr>
          <a:xfrm>
            <a:off x="457200" y="279400"/>
            <a:ext cx="5080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TIPOLOGÍA DE RIESGOS · 3 DE 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B9266372-8238-4220-B804-FD1F1254C0B9}"/>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B0CBFD6C-667A-4513-9053-67A8B8ADAD5B}"/>
              </a:ext>
            </a:extLst>
          </p:cNvPr>
          <p:cNvSpPr/>
          <p:nvPr/>
        </p:nvSpPr>
        <p:spPr>
          <a:xfrm>
            <a:off x="457200" y="2540000"/>
            <a:ext cx="19812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Legal</a:t>
            </a:r>
          </a:p>
        </p:txBody>
      </p:sp>
      <p:sp>
        <p:nvSpPr>
          <p:cNvPr id="8" name="Rectángulo 7">
            <a:extLst>
              <a:ext uri="{FF2B5EF4-FFF2-40B4-BE49-F238E27FC236}">
                <a16:creationId xmlns:a16="http://schemas.microsoft.com/office/drawing/2014/main" id="{56E5D095-F371-4104-9BB3-A0A39CCE7A26}"/>
              </a:ext>
            </a:extLst>
          </p:cNvPr>
          <p:cNvSpPr/>
          <p:nvPr/>
        </p:nvSpPr>
        <p:spPr>
          <a:xfrm>
            <a:off x="2540000" y="2540000"/>
            <a:ext cx="19812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Estratégico</a:t>
            </a:r>
          </a:p>
        </p:txBody>
      </p:sp>
      <p:sp>
        <p:nvSpPr>
          <p:cNvPr id="9" name="Rectángulo 8">
            <a:extLst>
              <a:ext uri="{FF2B5EF4-FFF2-40B4-BE49-F238E27FC236}">
                <a16:creationId xmlns:a16="http://schemas.microsoft.com/office/drawing/2014/main" id="{F1D5C58E-FFAD-4B78-B78D-25C97ED9D580}"/>
              </a:ext>
            </a:extLst>
          </p:cNvPr>
          <p:cNvSpPr/>
          <p:nvPr/>
        </p:nvSpPr>
        <p:spPr>
          <a:xfrm>
            <a:off x="4622800" y="2540000"/>
            <a:ext cx="19812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Reputacional</a:t>
            </a:r>
          </a:p>
        </p:txBody>
      </p:sp>
      <p:sp>
        <p:nvSpPr>
          <p:cNvPr id="10" name="Rectángulo 9">
            <a:extLst>
              <a:ext uri="{FF2B5EF4-FFF2-40B4-BE49-F238E27FC236}">
                <a16:creationId xmlns:a16="http://schemas.microsoft.com/office/drawing/2014/main" id="{48369CA1-9058-40BD-A303-8508ABBA27A9}"/>
              </a:ext>
            </a:extLst>
          </p:cNvPr>
          <p:cNvSpPr/>
          <p:nvPr/>
        </p:nvSpPr>
        <p:spPr>
          <a:xfrm>
            <a:off x="6705600" y="2540000"/>
            <a:ext cx="19812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País</a:t>
            </a:r>
          </a:p>
        </p:txBody>
      </p:sp>
      <p:sp>
        <p:nvSpPr>
          <p:cNvPr id="11" name="CuadroTexto 10">
            <a:extLst>
              <a:ext uri="{FF2B5EF4-FFF2-40B4-BE49-F238E27FC236}">
                <a16:creationId xmlns:a16="http://schemas.microsoft.com/office/drawing/2014/main" id="{DA782177-7ADC-4564-A94E-1D779CFAB8B8}"/>
              </a:ext>
            </a:extLst>
          </p:cNvPr>
          <p:cNvSpPr txBox="1"/>
          <p:nvPr/>
        </p:nvSpPr>
        <p:spPr>
          <a:xfrm>
            <a:off x="457200" y="34798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cuatro riesgos que llegan desde fuera de la organización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5755439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57200" y="1346200"/>
            <a:ext cx="8229600" cy="812800"/>
          </a:xfrm>
          <a:prstGeom prst="rect">
            <a:avLst/>
          </a:prstGeom>
          <a:solidFill>
            <a:srgbClr val="1F3864"/>
          </a:solidFill>
          <a:ln>
            <a:noFill/>
          </a:ln>
        </p:spPr>
        <p:txBody>
          <a:bodyPr wrap="square" rtlCol="0" anchor="ctr" anchorCtr="0">
            <a:noAutofit/>
          </a:bodyPr>
          <a:lstStyle/>
          <a:p>
            <a:pPr>
              <a:lnSpc>
                <a:spcPct val="150000"/>
              </a:lnSpc>
            </a:pPr>
            <a:r>
              <a:rPr lang="es-ES" sz="1700" b="1">
                <a:solidFill>
                  <a:srgbClr val="FFFFFF"/>
                </a:solidFill>
                <a:latin typeface="Calibri"/>
                <a:ea typeface="Calibri"/>
                <a:cs typeface="Calibri"/>
              </a:rPr>
              <a:t>Si ocurren, dejan a la organización con alta probabilidad de pérdida. La mayoría son asegurables.</a:t>
            </a:r>
            <a:endParaRPr lang="es-CO" sz="1700" b="1" dirty="0">
              <a:solidFill>
                <a:srgbClr val="FFFFFF"/>
              </a:solidFill>
              <a:latin typeface="Calibri"/>
              <a:ea typeface="Calibri"/>
              <a:cs typeface="Calibri"/>
            </a:endParaRPr>
          </a:p>
        </p:txBody>
      </p:sp>
      <p:sp>
        <p:nvSpPr>
          <p:cNvPr id="3" name="CuadroTexto 2"/>
          <p:cNvSpPr txBox="1"/>
          <p:nvPr/>
        </p:nvSpPr>
        <p:spPr>
          <a:xfrm>
            <a:off x="457200" y="533400"/>
            <a:ext cx="8229600" cy="508000"/>
          </a:xfrm>
          <a:prstGeom prst="rect">
            <a:avLst/>
          </a:prstGeom>
          <a:noFill/>
          <a:ln>
            <a:noFill/>
          </a:ln>
        </p:spPr>
        <p:txBody>
          <a:bodyPr wrap="square" rtlCol="0" anchor="t" anchorCtr="0">
            <a:noAutofit/>
          </a:bodyPr>
          <a:lstStyle/>
          <a:p>
            <a:pPr algn="ctr"/>
            <a:r>
              <a:rPr lang="es-MX" sz="3000" b="1">
                <a:solidFill>
                  <a:srgbClr val="1F3864"/>
                </a:solidFill>
                <a:latin typeface="Calibri"/>
                <a:ea typeface="Calibri"/>
                <a:cs typeface="Calibri"/>
              </a:rPr>
              <a:t>Riesgos puros</a:t>
            </a:r>
            <a:endParaRPr lang="es-ES" sz="3000" b="1" dirty="0">
              <a:solidFill>
                <a:srgbClr val="1F3864"/>
              </a:solidFill>
              <a:latin typeface="Calibri"/>
              <a:ea typeface="Calibri"/>
              <a:cs typeface="Calibri"/>
            </a:endParaRPr>
          </a:p>
        </p:txBody>
      </p:sp>
      <p:sp>
        <p:nvSpPr>
          <p:cNvPr id="6" name="Rectángulo 5"/>
          <p:cNvSpPr/>
          <p:nvPr/>
        </p:nvSpPr>
        <p:spPr>
          <a:xfrm>
            <a:off x="457200" y="5174777"/>
            <a:ext cx="8229600" cy="464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s-CO" sz="1200" dirty="0">
                <a:solidFill>
                  <a:schemeClr val="tx1"/>
                </a:solidFill>
              </a:rPr>
              <a:t>Tomado de: El riesgo en la empresa. </a:t>
            </a:r>
            <a:r>
              <a:rPr lang="es-CO" sz="1200" dirty="0" err="1">
                <a:solidFill>
                  <a:schemeClr val="tx1"/>
                </a:solidFill>
              </a:rPr>
              <a:t>Palisade</a:t>
            </a:r>
            <a:r>
              <a:rPr lang="es-CO" sz="1200" dirty="0">
                <a:solidFill>
                  <a:schemeClr val="tx1"/>
                </a:solidFill>
              </a:rPr>
              <a:t> </a:t>
            </a:r>
            <a:r>
              <a:rPr lang="es-CO" sz="1200" dirty="0" err="1">
                <a:solidFill>
                  <a:schemeClr val="tx1"/>
                </a:solidFill>
              </a:rPr>
              <a:t>Corporation</a:t>
            </a:r>
            <a:r>
              <a:rPr lang="es-CO" sz="1200" dirty="0">
                <a:solidFill>
                  <a:schemeClr val="tx1"/>
                </a:solidFill>
              </a:rPr>
              <a:t>. USA, 2007</a:t>
            </a:r>
          </a:p>
        </p:txBody>
      </p:sp>
      <p:pic>
        <p:nvPicPr>
          <p:cNvPr id="37890" name="Picture 2" descr="Image result for fabricas animadas"/>
          <p:cNvPicPr>
            <a:picLocks noChangeAspect="1" noChangeArrowheads="1"/>
          </p:cNvPicPr>
          <p:nvPr/>
        </p:nvPicPr>
        <p:blipFill rotWithShape="1">
          <a:blip r:embed="rId2">
            <a:extLst>
              <a:ext uri="{28A0092B-C50C-407E-A947-70E740481C1C}">
                <a14:useLocalDpi xmlns:a14="http://schemas.microsoft.com/office/drawing/2010/main" val="0"/>
              </a:ext>
            </a:extLst>
          </a:blip>
          <a:srcRect t="72783" b="6249"/>
          <a:stretch/>
        </p:blipFill>
        <p:spPr bwMode="auto">
          <a:xfrm>
            <a:off x="596900" y="3683000"/>
            <a:ext cx="8013700" cy="1054100"/>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5C4576B9-1195-4174-99F6-C124D1C76AED}"/>
              </a:ext>
            </a:extLst>
          </p:cNvPr>
          <p:cNvSpPr txBox="1"/>
          <p:nvPr/>
        </p:nvSpPr>
        <p:spPr>
          <a:xfrm>
            <a:off x="457200" y="279400"/>
            <a:ext cx="5080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GRUPOS DE RIESGOS · 1 DE 2</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1C5DA5EB-6FF3-43F7-9B8A-1DBAE83DD97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78A8F58B-670D-4C18-B164-CEF3CA3AF289}"/>
              </a:ext>
            </a:extLst>
          </p:cNvPr>
          <p:cNvSpPr/>
          <p:nvPr/>
        </p:nvSpPr>
        <p:spPr>
          <a:xfrm>
            <a:off x="457200" y="2413000"/>
            <a:ext cx="1549400" cy="787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Incendio</a:t>
            </a:r>
          </a:p>
        </p:txBody>
      </p:sp>
      <p:sp>
        <p:nvSpPr>
          <p:cNvPr id="8" name="Rectángulo 7">
            <a:extLst>
              <a:ext uri="{FF2B5EF4-FFF2-40B4-BE49-F238E27FC236}">
                <a16:creationId xmlns:a16="http://schemas.microsoft.com/office/drawing/2014/main" id="{2ABA687C-CC79-43E7-9112-679F79C13E20}"/>
              </a:ext>
            </a:extLst>
          </p:cNvPr>
          <p:cNvSpPr/>
          <p:nvPr/>
        </p:nvSpPr>
        <p:spPr>
          <a:xfrm>
            <a:off x="2108200" y="2413000"/>
            <a:ext cx="1549400" cy="787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Robo</a:t>
            </a:r>
          </a:p>
        </p:txBody>
      </p:sp>
      <p:sp>
        <p:nvSpPr>
          <p:cNvPr id="9" name="Rectángulo 8">
            <a:extLst>
              <a:ext uri="{FF2B5EF4-FFF2-40B4-BE49-F238E27FC236}">
                <a16:creationId xmlns:a16="http://schemas.microsoft.com/office/drawing/2014/main" id="{F2E532CE-86E0-420C-9647-7A7118F97D0D}"/>
              </a:ext>
            </a:extLst>
          </p:cNvPr>
          <p:cNvSpPr/>
          <p:nvPr/>
        </p:nvSpPr>
        <p:spPr>
          <a:xfrm>
            <a:off x="3759200" y="2413000"/>
            <a:ext cx="1549400" cy="787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Naturaleza</a:t>
            </a:r>
          </a:p>
        </p:txBody>
      </p:sp>
      <p:sp>
        <p:nvSpPr>
          <p:cNvPr id="10" name="Rectángulo 9">
            <a:extLst>
              <a:ext uri="{FF2B5EF4-FFF2-40B4-BE49-F238E27FC236}">
                <a16:creationId xmlns:a16="http://schemas.microsoft.com/office/drawing/2014/main" id="{9582802E-06A0-487A-A071-AED00CA77D48}"/>
              </a:ext>
            </a:extLst>
          </p:cNvPr>
          <p:cNvSpPr/>
          <p:nvPr/>
        </p:nvSpPr>
        <p:spPr>
          <a:xfrm>
            <a:off x="5410200" y="2413000"/>
            <a:ext cx="1549400" cy="787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Devaluación</a:t>
            </a:r>
          </a:p>
        </p:txBody>
      </p:sp>
      <p:sp>
        <p:nvSpPr>
          <p:cNvPr id="11" name="Rectángulo 10">
            <a:extLst>
              <a:ext uri="{FF2B5EF4-FFF2-40B4-BE49-F238E27FC236}">
                <a16:creationId xmlns:a16="http://schemas.microsoft.com/office/drawing/2014/main" id="{F19C62CD-4C89-4785-8B5D-37D111E1A3B5}"/>
              </a:ext>
            </a:extLst>
          </p:cNvPr>
          <p:cNvSpPr/>
          <p:nvPr/>
        </p:nvSpPr>
        <p:spPr>
          <a:xfrm>
            <a:off x="7061200" y="2413000"/>
            <a:ext cx="1549400" cy="787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Suspensión de pagos</a:t>
            </a:r>
          </a:p>
        </p:txBody>
      </p:sp>
      <p:sp>
        <p:nvSpPr>
          <p:cNvPr id="12" name="CuadroTexto 11">
            <a:extLst>
              <a:ext uri="{FF2B5EF4-FFF2-40B4-BE49-F238E27FC236}">
                <a16:creationId xmlns:a16="http://schemas.microsoft.com/office/drawing/2014/main" id="{0FD9391F-3579-432C-9EA9-070BD7E896AD}"/>
              </a:ext>
            </a:extLst>
          </p:cNvPr>
          <p:cNvSpPr txBox="1"/>
          <p:nvPr/>
        </p:nvSpPr>
        <p:spPr>
          <a:xfrm>
            <a:off x="457200" y="3276600"/>
            <a:ext cx="8229600" cy="203200"/>
          </a:xfrm>
          <a:prstGeom prst="rect">
            <a:avLst/>
          </a:prstGeom>
          <a:noFill/>
        </p:spPr>
        <p:txBody>
          <a:bodyPr vertOverflow="overflow" vert="horz" wrap="square" rtlCol="0" anchor="t">
            <a:noAutofit/>
          </a:bodyPr>
          <a:lstStyle/>
          <a:p>
            <a:pPr algn="l"/>
            <a:r>
              <a:rPr lang="es-CO" sz="1100">
                <a:solidFill>
                  <a:srgbClr val="7F7F7F"/>
                </a:solidFill>
                <a:latin typeface="Calibri"/>
                <a:ea typeface="Calibri"/>
                <a:cs typeface="Calibri"/>
              </a:rPr>
              <a:t>Ejemplos de riesgos puros</a:t>
            </a:r>
          </a:p>
        </p:txBody>
      </p:sp>
    </p:spTree>
    <p:extLst>
      <p:ext uri="{BB962C8B-B14F-4D97-AF65-F5344CB8AC3E}">
        <p14:creationId xmlns:p14="http://schemas.microsoft.com/office/powerpoint/2010/main" val="34472561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descr="Image result for fabricas animadas"/>
          <p:cNvPicPr>
            <a:picLocks noChangeAspect="1" noChangeArrowheads="1"/>
          </p:cNvPicPr>
          <p:nvPr/>
        </p:nvPicPr>
        <p:blipFill rotWithShape="1">
          <a:blip r:embed="rId2">
            <a:extLst>
              <a:ext uri="{28A0092B-C50C-407E-A947-70E740481C1C}">
                <a14:useLocalDpi xmlns:a14="http://schemas.microsoft.com/office/drawing/2010/main" val="0"/>
              </a:ext>
            </a:extLst>
          </a:blip>
          <a:srcRect t="47159" b="27519"/>
          <a:stretch/>
        </p:blipFill>
        <p:spPr bwMode="auto">
          <a:xfrm>
            <a:off x="673100" y="3454400"/>
            <a:ext cx="8153400" cy="1511300"/>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p:cNvSpPr txBox="1"/>
          <p:nvPr/>
        </p:nvSpPr>
        <p:spPr>
          <a:xfrm>
            <a:off x="457200" y="1346200"/>
            <a:ext cx="8229600" cy="914400"/>
          </a:xfrm>
          <a:prstGeom prst="rect">
            <a:avLst/>
          </a:prstGeom>
          <a:solidFill>
            <a:srgbClr val="1F3864"/>
          </a:solidFill>
          <a:ln>
            <a:noFill/>
          </a:ln>
        </p:spPr>
        <p:txBody>
          <a:bodyPr wrap="square" rtlCol="0" anchor="ctr" anchorCtr="0">
            <a:noAutofit/>
          </a:bodyPr>
          <a:lstStyle/>
          <a:p>
            <a:pPr>
              <a:lnSpc>
                <a:spcPct val="150000"/>
              </a:lnSpc>
            </a:pPr>
            <a:r>
              <a:rPr lang="es-ES" sz="1700" b="1">
                <a:solidFill>
                  <a:srgbClr val="FFFFFF"/>
                </a:solidFill>
                <a:latin typeface="Calibri"/>
                <a:ea typeface="Calibri"/>
                <a:cs typeface="Calibri"/>
              </a:rPr>
              <a:t>La mayoría de las decisiones empresariales caen aquí: se relacionan con las ventas, los beneficios y otros factores del negocio.</a:t>
            </a:r>
            <a:endParaRPr lang="es-CO" sz="1700" b="1" dirty="0">
              <a:solidFill>
                <a:srgbClr val="FFFFFF"/>
              </a:solidFill>
              <a:latin typeface="Calibri"/>
              <a:ea typeface="Calibri"/>
              <a:cs typeface="Calibri"/>
            </a:endParaRPr>
          </a:p>
        </p:txBody>
      </p:sp>
      <p:sp>
        <p:nvSpPr>
          <p:cNvPr id="3" name="CuadroTexto 2"/>
          <p:cNvSpPr txBox="1"/>
          <p:nvPr/>
        </p:nvSpPr>
        <p:spPr>
          <a:xfrm>
            <a:off x="457200" y="533400"/>
            <a:ext cx="8229600" cy="508000"/>
          </a:xfrm>
          <a:prstGeom prst="rect">
            <a:avLst/>
          </a:prstGeom>
          <a:noFill/>
          <a:ln>
            <a:noFill/>
          </a:ln>
        </p:spPr>
        <p:txBody>
          <a:bodyPr wrap="square" rtlCol="0" anchor="t" anchorCtr="0">
            <a:noAutofit/>
          </a:bodyPr>
          <a:lstStyle/>
          <a:p>
            <a:pPr algn="ctr"/>
            <a:r>
              <a:rPr lang="es-MX" sz="3000" b="1">
                <a:solidFill>
                  <a:srgbClr val="1F3864"/>
                </a:solidFill>
                <a:latin typeface="Calibri"/>
                <a:ea typeface="Calibri"/>
                <a:cs typeface="Calibri"/>
              </a:rPr>
              <a:t>Riesgos especulativos</a:t>
            </a:r>
            <a:endParaRPr lang="es-ES" sz="3000" b="1" dirty="0">
              <a:solidFill>
                <a:srgbClr val="1F3864"/>
              </a:solidFill>
              <a:latin typeface="Calibri"/>
              <a:ea typeface="Calibri"/>
              <a:cs typeface="Calibri"/>
            </a:endParaRPr>
          </a:p>
        </p:txBody>
      </p:sp>
      <p:sp>
        <p:nvSpPr>
          <p:cNvPr id="6" name="Rectángulo 5"/>
          <p:cNvSpPr/>
          <p:nvPr/>
        </p:nvSpPr>
        <p:spPr>
          <a:xfrm>
            <a:off x="457200" y="5174777"/>
            <a:ext cx="8229600" cy="464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s-CO" sz="1200" dirty="0">
                <a:solidFill>
                  <a:schemeClr val="tx1"/>
                </a:solidFill>
              </a:rPr>
              <a:t>Tomado de: El riesgo en la empresa. </a:t>
            </a:r>
            <a:r>
              <a:rPr lang="es-CO" sz="1200" dirty="0" err="1">
                <a:solidFill>
                  <a:schemeClr val="tx1"/>
                </a:solidFill>
              </a:rPr>
              <a:t>Palisade</a:t>
            </a:r>
            <a:r>
              <a:rPr lang="es-CO" sz="1200" dirty="0">
                <a:solidFill>
                  <a:schemeClr val="tx1"/>
                </a:solidFill>
              </a:rPr>
              <a:t> </a:t>
            </a:r>
            <a:r>
              <a:rPr lang="es-CO" sz="1200" dirty="0" err="1">
                <a:solidFill>
                  <a:schemeClr val="tx1"/>
                </a:solidFill>
              </a:rPr>
              <a:t>Corporation</a:t>
            </a:r>
            <a:r>
              <a:rPr lang="es-CO" sz="1200" dirty="0">
                <a:solidFill>
                  <a:schemeClr val="tx1"/>
                </a:solidFill>
              </a:rPr>
              <a:t>. USA, 2007</a:t>
            </a:r>
          </a:p>
        </p:txBody>
      </p:sp>
      <p:sp>
        <p:nvSpPr>
          <p:cNvPr id="4" name="CuadroTexto 3">
            <a:extLst>
              <a:ext uri="{FF2B5EF4-FFF2-40B4-BE49-F238E27FC236}">
                <a16:creationId xmlns:a16="http://schemas.microsoft.com/office/drawing/2014/main" id="{05833E6D-1890-4F5E-9099-E34AA07498C7}"/>
              </a:ext>
            </a:extLst>
          </p:cNvPr>
          <p:cNvSpPr txBox="1"/>
          <p:nvPr/>
        </p:nvSpPr>
        <p:spPr>
          <a:xfrm>
            <a:off x="457200" y="279400"/>
            <a:ext cx="5080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GRUPOS DE RIESGOS · 2 DE 2</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F1D70015-A7BF-43F4-BAB8-2CE2468DB9DE}"/>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F831CC49-2D43-477F-9855-4FF1CF69685B}"/>
              </a:ext>
            </a:extLst>
          </p:cNvPr>
          <p:cNvSpPr/>
          <p:nvPr/>
        </p:nvSpPr>
        <p:spPr>
          <a:xfrm>
            <a:off x="457200" y="2489200"/>
            <a:ext cx="8229600" cy="685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b="1">
                <a:solidFill>
                  <a:srgbClr val="1F3864"/>
                </a:solidFill>
                <a:latin typeface="Calibri"/>
                <a:ea typeface="Calibri"/>
                <a:cs typeface="Calibri"/>
              </a:rPr>
              <a:t>No se pueden asegurar, pero sí se pueden gestionar.</a:t>
            </a:r>
            <a:endParaRPr lang="es-CO" b="1">
              <a:solidFill>
                <a:srgbClr val="1F3864"/>
              </a:solidFill>
              <a:latin typeface="Calibri"/>
              <a:ea typeface="Calibri"/>
              <a:cs typeface="Calibri"/>
            </a:endParaRPr>
          </a:p>
        </p:txBody>
      </p:sp>
    </p:spTree>
    <p:extLst>
      <p:ext uri="{BB962C8B-B14F-4D97-AF65-F5344CB8AC3E}">
        <p14:creationId xmlns:p14="http://schemas.microsoft.com/office/powerpoint/2010/main" val="36790407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2413000"/>
            <a:ext cx="2540000" cy="1841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2 Marcador de texto"/>
          <p:cNvSpPr>
            <a:spLocks noGrp="1"/>
          </p:cNvSpPr>
          <p:nvPr>
            <p:ph type="body" idx="1"/>
          </p:nvPr>
        </p:nvSpPr>
        <p:spPr>
          <a:xfrm>
            <a:off x="457200" y="1168400"/>
            <a:ext cx="4038600" cy="914400"/>
          </a:xfrm>
          <a:solidFill>
            <a:srgbClr val="F2F5F9"/>
          </a:solidFill>
          <a:ln>
            <a:noFill/>
          </a:ln>
        </p:spPr>
        <p:txBody>
          <a:bodyPr wrap="square" anchor="ctr" anchorCtr="0">
            <a:noAutofit/>
          </a:bodyPr>
          <a:lstStyle/>
          <a:p>
            <a:r>
              <a:rPr lang="es-ES" sz="1500" b="0">
                <a:solidFill>
                  <a:srgbClr val="404040"/>
                </a:solidFill>
                <a:latin typeface="Calibri"/>
                <a:ea typeface="Calibri"/>
                <a:cs typeface="Calibri"/>
              </a:rPr>
              <a:t>Ya analizamos el riesgo global y aprendimos sobre el riesgo en las organizaciones.</a:t>
            </a:r>
            <a:endParaRPr lang="es-CO" sz="1500" b="0" dirty="0">
              <a:solidFill>
                <a:srgbClr val="404040"/>
              </a:solidFill>
              <a:latin typeface="Calibri"/>
              <a:ea typeface="Calibri"/>
              <a:cs typeface="Calibri"/>
            </a:endParaRPr>
          </a:p>
        </p:txBody>
      </p:sp>
      <p:sp>
        <p:nvSpPr>
          <p:cNvPr id="12" name="4 Marcador de texto"/>
          <p:cNvSpPr>
            <a:spLocks noGrp="1"/>
          </p:cNvSpPr>
          <p:nvPr>
            <p:ph type="body" sz="quarter" idx="3"/>
          </p:nvPr>
        </p:nvSpPr>
        <p:spPr>
          <a:xfrm>
            <a:off x="4648200" y="1168400"/>
            <a:ext cx="4038600" cy="914400"/>
          </a:xfrm>
          <a:solidFill>
            <a:srgbClr val="1F3864"/>
          </a:solidFill>
          <a:ln>
            <a:noFill/>
          </a:ln>
        </p:spPr>
        <p:txBody>
          <a:bodyPr wrap="square" anchor="ctr" anchorCtr="0">
            <a:noAutofit/>
          </a:bodyPr>
          <a:lstStyle/>
          <a:p>
            <a:r>
              <a:rPr lang="es-ES" sz="1500">
                <a:solidFill>
                  <a:srgbClr val="FFFFFF"/>
                </a:solidFill>
                <a:latin typeface="Calibri"/>
                <a:ea typeface="Calibri"/>
                <a:cs typeface="Calibri"/>
              </a:rPr>
              <a:t>Ahora entramos en la organización a analizar los riesgos de un proyecto.</a:t>
            </a:r>
            <a:endParaRPr lang="es-CO" sz="1500" dirty="0">
              <a:solidFill>
                <a:srgbClr val="FFFFFF"/>
              </a:solidFill>
              <a:latin typeface="Calibri"/>
              <a:ea typeface="Calibri"/>
              <a:cs typeface="Calibri"/>
            </a:endParaRPr>
          </a:p>
        </p:txBody>
      </p:sp>
      <p:pic>
        <p:nvPicPr>
          <p:cNvPr id="35846" name="Picture 6" descr="Image result for fabrica animada"/>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7265"/>
          <a:stretch/>
        </p:blipFill>
        <p:spPr bwMode="auto">
          <a:xfrm>
            <a:off x="6426200" y="2413000"/>
            <a:ext cx="1981200" cy="1841500"/>
          </a:xfrm>
          <a:prstGeom prst="rect">
            <a:avLst/>
          </a:prstGeom>
          <a:noFill/>
          <a:effectLst>
            <a:softEdge rad="317500"/>
          </a:effectLst>
          <a:extLst>
            <a:ext uri="{909E8E84-426E-40DD-AFC4-6F175D3DCCD1}">
              <a14:hiddenFill xmlns:a14="http://schemas.microsoft.com/office/drawing/2010/main">
                <a:solidFill>
                  <a:srgbClr val="FFFFFF"/>
                </a:solidFill>
              </a14:hiddenFill>
            </a:ext>
          </a:extLst>
        </p:spPr>
      </p:pic>
      <p:pic>
        <p:nvPicPr>
          <p:cNvPr id="10" name="Picture 2" descr="Resultado de imagen para administracion de proyec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1200" y="2413000"/>
            <a:ext cx="2921000" cy="1778000"/>
          </a:xfrm>
          <a:prstGeom prst="rect">
            <a:avLst/>
          </a:prstGeom>
          <a:noFill/>
          <a:extLst>
            <a:ext uri="{909E8E84-426E-40DD-AFC4-6F175D3DCCD1}">
              <a14:hiddenFill xmlns:a14="http://schemas.microsoft.com/office/drawing/2010/main">
                <a:solidFill>
                  <a:srgbClr val="FFFFFF"/>
                </a:solidFill>
              </a14:hiddenFill>
            </a:ext>
          </a:extLst>
        </p:spPr>
      </p:pic>
      <p:sp>
        <p:nvSpPr>
          <p:cNvPr id="13" name="4 Marcador de texto"/>
          <p:cNvSpPr txBox="1">
            <a:spLocks/>
          </p:cNvSpPr>
          <p:nvPr/>
        </p:nvSpPr>
        <p:spPr>
          <a:xfrm>
            <a:off x="457200" y="304800"/>
            <a:ext cx="8229600" cy="533400"/>
          </a:xfrm>
          <a:prstGeom prst="rect">
            <a:avLst/>
          </a:prstGeom>
          <a:noFill/>
          <a:ln>
            <a:noFill/>
          </a:ln>
        </p:spPr>
        <p:txBody>
          <a:bodyPr vert="horz" wrap="square" lIns="91440" tIns="45720" rIns="91440" bIns="45720" rtlCol="0" anchor="t" anchorCtr="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s-ES" sz="2800">
                <a:solidFill>
                  <a:srgbClr val="1F3864"/>
                </a:solidFill>
                <a:latin typeface="Calibri"/>
                <a:ea typeface="Calibri"/>
                <a:cs typeface="Calibri"/>
              </a:rPr>
              <a:t>Del análisis global al interior de la organización</a:t>
            </a:r>
            <a:endParaRPr lang="es-CO" sz="2800" dirty="0">
              <a:solidFill>
                <a:srgbClr val="1F3864"/>
              </a:solidFill>
              <a:latin typeface="Calibri"/>
              <a:ea typeface="Calibri"/>
              <a:cs typeface="Calibri"/>
            </a:endParaRPr>
          </a:p>
        </p:txBody>
      </p:sp>
      <p:sp>
        <p:nvSpPr>
          <p:cNvPr id="6" name="Rectángulo 5">
            <a:extLst>
              <a:ext uri="{FF2B5EF4-FFF2-40B4-BE49-F238E27FC236}">
                <a16:creationId xmlns:a16="http://schemas.microsoft.com/office/drawing/2014/main" id="{E76D9899-78C5-4BA5-B75E-AA12125F2076}"/>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CuadroTexto 6">
            <a:extLst>
              <a:ext uri="{FF2B5EF4-FFF2-40B4-BE49-F238E27FC236}">
                <a16:creationId xmlns:a16="http://schemas.microsoft.com/office/drawing/2014/main" id="{CE8B79B2-8921-4307-9EBF-06E130C6AD28}"/>
              </a:ext>
            </a:extLst>
          </p:cNvPr>
          <p:cNvSpPr txBox="1"/>
          <p:nvPr/>
        </p:nvSpPr>
        <p:spPr>
          <a:xfrm>
            <a:off x="457200" y="43688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Del entorno global a la organización y de ahí al proyecto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655792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Image result for proyecto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000" y="2362200"/>
            <a:ext cx="2844800" cy="2514600"/>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title"/>
          </p:nvPr>
        </p:nvSpPr>
        <p:spPr>
          <a:xfrm>
            <a:off x="457200" y="304800"/>
            <a:ext cx="8229600" cy="533400"/>
          </a:xfrm>
          <a:noFill/>
          <a:ln>
            <a:noFill/>
          </a:ln>
        </p:spPr>
        <p:txBody>
          <a:bodyPr wrap="square" anchor="t" anchorCtr="0">
            <a:noAutofit/>
          </a:bodyPr>
          <a:lstStyle/>
          <a:p>
            <a:pPr algn="l" fontAlgn="base">
              <a:lnSpc>
                <a:spcPct val="150000"/>
              </a:lnSpc>
              <a:spcAft>
                <a:spcPct val="0"/>
              </a:spcAft>
            </a:pPr>
            <a:r>
              <a:rPr lang="es-CO" sz="3000" b="1">
                <a:solidFill>
                  <a:srgbClr val="1F3864"/>
                </a:solidFill>
                <a:effectLst>
                  <a:outerShdw blurRad="38100" dist="38100" dir="2700000" algn="tl">
                    <a:srgbClr val="000000"/>
                  </a:outerShdw>
                </a:effectLst>
                <a:latin typeface="Calibri"/>
                <a:ea typeface="Calibri"/>
                <a:cs typeface="Calibri"/>
              </a:rPr>
              <a:t>Riesgo en proyectos</a:t>
            </a:r>
            <a:endParaRPr lang="es-CO" sz="3000" b="1" dirty="0">
              <a:solidFill>
                <a:srgbClr val="1F3864"/>
              </a:solidFill>
              <a:effectLst>
                <a:outerShdw blurRad="38100" dist="38100" dir="2700000" algn="tl">
                  <a:srgbClr val="000000"/>
                </a:outerShdw>
              </a:effectLst>
              <a:latin typeface="Calibri"/>
              <a:ea typeface="Calibri"/>
              <a:cs typeface="Calibri"/>
            </a:endParaRPr>
          </a:p>
        </p:txBody>
      </p:sp>
      <p:sp>
        <p:nvSpPr>
          <p:cNvPr id="7" name="6 Rectángulo"/>
          <p:cNvSpPr/>
          <p:nvPr/>
        </p:nvSpPr>
        <p:spPr>
          <a:xfrm>
            <a:off x="457200" y="1168400"/>
            <a:ext cx="8229600" cy="939800"/>
          </a:xfrm>
          <a:prstGeom prst="rect">
            <a:avLst/>
          </a:prstGeom>
          <a:solidFill>
            <a:srgbClr val="1F3864"/>
          </a:solidFill>
          <a:ln>
            <a:noFill/>
          </a:ln>
        </p:spPr>
        <p:txBody>
          <a:bodyPr wrap="square" anchor="ctr" anchorCtr="0">
            <a:noAutofit/>
          </a:bodyPr>
          <a:lstStyle/>
          <a:p>
            <a:pPr>
              <a:lnSpc>
                <a:spcPct val="200000"/>
              </a:lnSpc>
            </a:pPr>
            <a:r>
              <a:rPr lang="es-ES" sz="1600" b="1">
                <a:solidFill>
                  <a:srgbClr val="FFFFFF"/>
                </a:solidFill>
                <a:latin typeface="Calibri"/>
                <a:ea typeface="Calibri"/>
                <a:cs typeface="Calibri"/>
              </a:rPr>
              <a:t>Son los procesos para planificar la gestión del riesgo, identificarlo, medirlo, responder y hacer seguimiento, de modo que baje su probabilidad y su impacto negativo.</a:t>
            </a:r>
            <a:endParaRPr lang="es-CO" sz="1600" b="1" dirty="0">
              <a:solidFill>
                <a:srgbClr val="FFFFFF"/>
              </a:solidFill>
              <a:latin typeface="Calibri"/>
              <a:ea typeface="Calibri"/>
              <a:cs typeface="Calibri"/>
            </a:endParaRPr>
          </a:p>
        </p:txBody>
      </p:sp>
      <p:sp>
        <p:nvSpPr>
          <p:cNvPr id="4" name="Rectángulo 3">
            <a:extLst>
              <a:ext uri="{FF2B5EF4-FFF2-40B4-BE49-F238E27FC236}">
                <a16:creationId xmlns:a16="http://schemas.microsoft.com/office/drawing/2014/main" id="{1AA56A15-B640-4464-AAF8-FAEFF80D6071}"/>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865703F8-1D50-4466-A260-AEEF94BAA36E}"/>
              </a:ext>
            </a:extLst>
          </p:cNvPr>
          <p:cNvSpPr/>
          <p:nvPr/>
        </p:nvSpPr>
        <p:spPr>
          <a:xfrm>
            <a:off x="457200" y="2362200"/>
            <a:ext cx="16764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Planificar</a:t>
            </a:r>
          </a:p>
        </p:txBody>
      </p:sp>
      <p:sp>
        <p:nvSpPr>
          <p:cNvPr id="6" name="Rectángulo 5">
            <a:extLst>
              <a:ext uri="{FF2B5EF4-FFF2-40B4-BE49-F238E27FC236}">
                <a16:creationId xmlns:a16="http://schemas.microsoft.com/office/drawing/2014/main" id="{FAE10741-5AFC-4535-A179-F23463C7C8E9}"/>
              </a:ext>
            </a:extLst>
          </p:cNvPr>
          <p:cNvSpPr/>
          <p:nvPr/>
        </p:nvSpPr>
        <p:spPr>
          <a:xfrm>
            <a:off x="2235200" y="2362200"/>
            <a:ext cx="16764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Identificar</a:t>
            </a:r>
          </a:p>
        </p:txBody>
      </p:sp>
      <p:sp>
        <p:nvSpPr>
          <p:cNvPr id="8" name="Rectángulo 7">
            <a:extLst>
              <a:ext uri="{FF2B5EF4-FFF2-40B4-BE49-F238E27FC236}">
                <a16:creationId xmlns:a16="http://schemas.microsoft.com/office/drawing/2014/main" id="{72178A85-69BE-4708-827F-255916D75736}"/>
              </a:ext>
            </a:extLst>
          </p:cNvPr>
          <p:cNvSpPr/>
          <p:nvPr/>
        </p:nvSpPr>
        <p:spPr>
          <a:xfrm>
            <a:off x="4013200" y="2362200"/>
            <a:ext cx="16764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Cualificar</a:t>
            </a:r>
          </a:p>
        </p:txBody>
      </p:sp>
      <p:sp>
        <p:nvSpPr>
          <p:cNvPr id="9" name="Rectángulo 8">
            <a:extLst>
              <a:ext uri="{FF2B5EF4-FFF2-40B4-BE49-F238E27FC236}">
                <a16:creationId xmlns:a16="http://schemas.microsoft.com/office/drawing/2014/main" id="{C071571F-0FFB-4268-82D4-1006B5FF02AE}"/>
              </a:ext>
            </a:extLst>
          </p:cNvPr>
          <p:cNvSpPr/>
          <p:nvPr/>
        </p:nvSpPr>
        <p:spPr>
          <a:xfrm>
            <a:off x="457200" y="3098800"/>
            <a:ext cx="16764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Cuantificar</a:t>
            </a:r>
          </a:p>
        </p:txBody>
      </p:sp>
      <p:sp>
        <p:nvSpPr>
          <p:cNvPr id="10" name="Rectángulo 9">
            <a:extLst>
              <a:ext uri="{FF2B5EF4-FFF2-40B4-BE49-F238E27FC236}">
                <a16:creationId xmlns:a16="http://schemas.microsoft.com/office/drawing/2014/main" id="{ED97D104-53E7-439F-91D5-8517845E47C9}"/>
              </a:ext>
            </a:extLst>
          </p:cNvPr>
          <p:cNvSpPr/>
          <p:nvPr/>
        </p:nvSpPr>
        <p:spPr>
          <a:xfrm>
            <a:off x="2235200" y="3098800"/>
            <a:ext cx="16764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Responder</a:t>
            </a:r>
          </a:p>
        </p:txBody>
      </p:sp>
      <p:sp>
        <p:nvSpPr>
          <p:cNvPr id="11" name="Rectángulo 10">
            <a:extLst>
              <a:ext uri="{FF2B5EF4-FFF2-40B4-BE49-F238E27FC236}">
                <a16:creationId xmlns:a16="http://schemas.microsoft.com/office/drawing/2014/main" id="{D240B49C-E70C-4D0D-84C9-6194D74F06AA}"/>
              </a:ext>
            </a:extLst>
          </p:cNvPr>
          <p:cNvSpPr/>
          <p:nvPr/>
        </p:nvSpPr>
        <p:spPr>
          <a:xfrm>
            <a:off x="4013200" y="3098800"/>
            <a:ext cx="16764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1F3864"/>
                </a:solidFill>
                <a:latin typeface="Calibri"/>
                <a:ea typeface="Calibri"/>
                <a:cs typeface="Calibri"/>
              </a:rPr>
              <a:t>Seguir y controlar</a:t>
            </a:r>
          </a:p>
        </p:txBody>
      </p:sp>
      <p:sp>
        <p:nvSpPr>
          <p:cNvPr id="12" name="CuadroTexto 11">
            <a:extLst>
              <a:ext uri="{FF2B5EF4-FFF2-40B4-BE49-F238E27FC236}">
                <a16:creationId xmlns:a16="http://schemas.microsoft.com/office/drawing/2014/main" id="{CEA7CF61-DDE9-43E0-881D-1A2DB21224EA}"/>
              </a:ext>
            </a:extLst>
          </p:cNvPr>
          <p:cNvSpPr txBox="1"/>
          <p:nvPr/>
        </p:nvSpPr>
        <p:spPr>
          <a:xfrm>
            <a:off x="457200" y="3886200"/>
            <a:ext cx="5334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seis procesos de la gestión del riesgo del proyecto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5672078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p:cNvSpPr>
          <p:nvPr/>
        </p:nvSpPr>
        <p:spPr>
          <a:xfrm>
            <a:off x="457200" y="1168400"/>
            <a:ext cx="8229600" cy="1168400"/>
          </a:xfrm>
          <a:prstGeom prst="rect">
            <a:avLst/>
          </a:prstGeom>
          <a:solidFill>
            <a:srgbClr val="1F3864"/>
          </a:solidFill>
          <a:ln>
            <a:noFill/>
          </a:ln>
        </p:spPr>
        <p:txBody>
          <a:bodyPr vert="horz" wrap="square" lIns="91440" tIns="45720" rIns="91440" bIns="45720" rtlCol="0" anchor="ctr" anchorCtr="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nSpc>
                <a:spcPct val="120000"/>
              </a:lnSpc>
              <a:defRPr/>
            </a:pPr>
            <a:r>
              <a:rPr lang="es-ES" sz="1800" b="1" u="sng">
                <a:solidFill>
                  <a:srgbClr val="FFFFFF"/>
                </a:solidFill>
                <a:latin typeface="Calibri"/>
                <a:ea typeface="Calibri"/>
                <a:cs typeface="Calibri"/>
              </a:rPr>
              <a:t>La gestión de riesgos aumenta la probabilidad de los eventos positivos del proyecto y reduce la de los negativos.</a:t>
            </a:r>
            <a:endParaRPr lang="es-ES" sz="1800" b="1" u="sng" dirty="0">
              <a:solidFill>
                <a:srgbClr val="FFFFFF"/>
              </a:solidFill>
              <a:latin typeface="Calibri"/>
              <a:ea typeface="Calibri"/>
              <a:cs typeface="Calibri"/>
            </a:endParaRPr>
          </a:p>
        </p:txBody>
      </p:sp>
      <p:sp>
        <p:nvSpPr>
          <p:cNvPr id="7" name="6 CuadroTexto"/>
          <p:cNvSpPr txBox="1"/>
          <p:nvPr/>
        </p:nvSpPr>
        <p:spPr>
          <a:xfrm>
            <a:off x="457200" y="2641600"/>
            <a:ext cx="5080000" cy="1016000"/>
          </a:xfrm>
          <a:prstGeom prst="rect">
            <a:avLst/>
          </a:prstGeom>
          <a:solidFill>
            <a:srgbClr val="F2F5F9"/>
          </a:solidFill>
          <a:ln>
            <a:noFill/>
          </a:ln>
        </p:spPr>
        <p:txBody>
          <a:bodyPr wrap="square" anchor="ctr" anchorCtr="0">
            <a:noAutofit/>
          </a:bodyPr>
          <a:lstStyle/>
          <a:p>
            <a:pPr algn="just">
              <a:defRPr/>
            </a:pPr>
            <a:r>
              <a:rPr lang="es-ES" sz="1600" b="1">
                <a:solidFill>
                  <a:srgbClr val="1F3864"/>
                </a:solidFill>
                <a:latin typeface="Calibri"/>
                <a:ea typeface="Calibri"/>
                <a:cs typeface="Calibri"/>
              </a:rPr>
              <a:t>Los riesgos se identifican por primera vez durante la iniciación del proyecto.</a:t>
            </a:r>
            <a:endParaRPr lang="es-CO" sz="1600" b="1" dirty="0">
              <a:solidFill>
                <a:srgbClr val="1F3864"/>
              </a:solidFill>
              <a:latin typeface="Calibri"/>
              <a:ea typeface="Calibri"/>
              <a:cs typeface="Calibri"/>
            </a:endParaRPr>
          </a:p>
        </p:txBody>
      </p:sp>
      <p:sp>
        <p:nvSpPr>
          <p:cNvPr id="9" name="8 Rectángulo"/>
          <p:cNvSpPr/>
          <p:nvPr/>
        </p:nvSpPr>
        <p:spPr>
          <a:xfrm>
            <a:off x="457200" y="304800"/>
            <a:ext cx="8229600" cy="533400"/>
          </a:xfrm>
          <a:prstGeom prst="rect">
            <a:avLst/>
          </a:prstGeom>
          <a:noFill/>
          <a:ln>
            <a:noFill/>
          </a:ln>
        </p:spPr>
        <p:txBody>
          <a:bodyPr wrap="square" anchor="t" anchorCtr="0">
            <a:noAutofit/>
          </a:bodyPr>
          <a:lstStyle/>
          <a:p>
            <a:pPr algn="ctr"/>
            <a:r>
              <a:rPr lang="es-ES" sz="3000" b="1">
                <a:solidFill>
                  <a:srgbClr val="1F3864"/>
                </a:solidFill>
                <a:latin typeface="Calibri"/>
                <a:ea typeface="Calibri"/>
                <a:cs typeface="Calibri"/>
              </a:rPr>
              <a:t>¿Cuál es el fin de la gestión de riesgos?</a:t>
            </a:r>
            <a:endParaRPr lang="es-CO" sz="3000" b="1" dirty="0">
              <a:solidFill>
                <a:srgbClr val="1F3864"/>
              </a:solidFill>
              <a:latin typeface="Calibri"/>
              <a:ea typeface="Calibri"/>
              <a:cs typeface="Calibri"/>
            </a:endParaRPr>
          </a:p>
        </p:txBody>
      </p:sp>
      <p:pic>
        <p:nvPicPr>
          <p:cNvPr id="38914" name="Picture 2"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42000" y="2641600"/>
            <a:ext cx="2844800" cy="213360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F191A262-7974-4190-838C-CC5D34E1EC3E}"/>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E3871F95-E970-4CDC-A6EA-46C5ECEC1716}"/>
              </a:ext>
            </a:extLst>
          </p:cNvPr>
          <p:cNvSpPr txBox="1"/>
          <p:nvPr/>
        </p:nvSpPr>
        <p:spPr>
          <a:xfrm>
            <a:off x="457200" y="3759200"/>
            <a:ext cx="5080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La identificación arranca en la iniciación, no en la ejecución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858514441"/>
      </p:ext>
    </p:extLst>
  </p:cSld>
  <p:clrMapOvr>
    <a:masterClrMapping/>
  </p:clrMapOvr>
  <p:transition spd="slow">
    <p:randomBar dir="vert"/>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140"/>
          <p:cNvGraphicFramePr>
            <a:graphicFrameLocks/>
          </p:cNvGraphicFramePr>
          <p:nvPr>
            <p:extLst>
              <p:ext uri="{D42A27DB-BD31-4B8C-83A1-F6EECF244321}">
                <p14:modId xmlns:p14="http://schemas.microsoft.com/office/powerpoint/2010/main" val="2745387043"/>
              </p:ext>
            </p:extLst>
          </p:nvPr>
        </p:nvGraphicFramePr>
        <p:xfrm>
          <a:off x="444500" y="1219200"/>
          <a:ext cx="8282764" cy="4032449"/>
        </p:xfrm>
        <a:graphic>
          <a:graphicData uri="http://schemas.openxmlformats.org/drawingml/2006/table">
            <a:tbl>
              <a:tblPr/>
              <a:tblGrid>
                <a:gridCol w="1802650">
                  <a:extLst>
                    <a:ext uri="{9D8B030D-6E8A-4147-A177-3AD203B41FA5}">
                      <a16:colId xmlns:a16="http://schemas.microsoft.com/office/drawing/2014/main" val="20000"/>
                    </a:ext>
                  </a:extLst>
                </a:gridCol>
                <a:gridCol w="2272459">
                  <a:extLst>
                    <a:ext uri="{9D8B030D-6E8A-4147-A177-3AD203B41FA5}">
                      <a16:colId xmlns:a16="http://schemas.microsoft.com/office/drawing/2014/main" val="20001"/>
                    </a:ext>
                  </a:extLst>
                </a:gridCol>
                <a:gridCol w="2070691">
                  <a:extLst>
                    <a:ext uri="{9D8B030D-6E8A-4147-A177-3AD203B41FA5}">
                      <a16:colId xmlns:a16="http://schemas.microsoft.com/office/drawing/2014/main" val="20002"/>
                    </a:ext>
                  </a:extLst>
                </a:gridCol>
                <a:gridCol w="2136964">
                  <a:extLst>
                    <a:ext uri="{9D8B030D-6E8A-4147-A177-3AD203B41FA5}">
                      <a16:colId xmlns:a16="http://schemas.microsoft.com/office/drawing/2014/main" val="20003"/>
                    </a:ext>
                  </a:extLst>
                </a:gridCol>
              </a:tblGrid>
              <a:tr h="1008466">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s-MX" sz="1600" b="1" i="0" u="none" strike="noStrike" cap="none" normalizeH="0" baseline="0" dirty="0">
                          <a:ln>
                            <a:noFill/>
                          </a:ln>
                          <a:solidFill>
                            <a:srgbClr val="000000"/>
                          </a:solidFill>
                          <a:effectLst/>
                          <a:latin typeface="Calibri" pitchFamily="34" charset="0"/>
                          <a:ea typeface="ＭＳ Ｐゴシック" pitchFamily="34" charset="-128"/>
                        </a:rPr>
                        <a:t>Por la fuente que los origina</a:t>
                      </a:r>
                      <a:endParaRPr kumimoji="0" lang="es-ES" sz="1600" b="1" i="0" u="none" strike="noStrike" cap="none" normalizeH="0" baseline="0" dirty="0">
                        <a:ln>
                          <a:noFill/>
                        </a:ln>
                        <a:solidFill>
                          <a:schemeClr val="tx1"/>
                        </a:solidFill>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s-MX" sz="1600" b="1" i="0" u="none" strike="noStrike" cap="none" normalizeH="0" baseline="0" dirty="0">
                          <a:ln>
                            <a:noFill/>
                          </a:ln>
                          <a:solidFill>
                            <a:srgbClr val="000000"/>
                          </a:solidFill>
                          <a:effectLst/>
                          <a:latin typeface="Calibri" pitchFamily="34" charset="0"/>
                          <a:ea typeface="ＭＳ Ｐゴシック" pitchFamily="34" charset="-128"/>
                        </a:rPr>
                        <a:t>Por la forma en que se perciben</a:t>
                      </a:r>
                      <a:endParaRPr kumimoji="0" lang="es-ES" sz="1600" b="1" i="0" u="none" strike="noStrike" cap="none" normalizeH="0" baseline="0" dirty="0">
                        <a:ln>
                          <a:noFill/>
                        </a:ln>
                        <a:solidFill>
                          <a:schemeClr val="tx1"/>
                        </a:solidFill>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s-MX" sz="1600" b="1" i="0" u="none" strike="noStrike" cap="none" normalizeH="0" baseline="0">
                          <a:ln>
                            <a:noFill/>
                          </a:ln>
                          <a:solidFill>
                            <a:srgbClr val="000000"/>
                          </a:solidFill>
                          <a:effectLst/>
                          <a:latin typeface="Calibri" pitchFamily="34" charset="0"/>
                          <a:ea typeface="ＭＳ Ｐゴシック" pitchFamily="34" charset="-128"/>
                        </a:rPr>
                        <a:t>Por la posibilidad de evitarlos</a:t>
                      </a:r>
                      <a:endParaRPr kumimoji="0" lang="es-ES" sz="1600" b="1" i="0" u="none" strike="noStrike" cap="none" normalizeH="0" baseline="0">
                        <a:ln>
                          <a:noFill/>
                        </a:ln>
                        <a:solidFill>
                          <a:schemeClr val="tx1"/>
                        </a:solidFill>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s-MX" sz="1600" b="1" i="0" u="none" strike="noStrike" cap="none" normalizeH="0" baseline="0">
                          <a:ln>
                            <a:noFill/>
                          </a:ln>
                          <a:solidFill>
                            <a:srgbClr val="000000"/>
                          </a:solidFill>
                          <a:effectLst/>
                          <a:latin typeface="Calibri" pitchFamily="34" charset="0"/>
                          <a:ea typeface="ＭＳ Ｐゴシック" pitchFamily="34" charset="-128"/>
                        </a:rPr>
                        <a:t>Por la forma de calcularlos</a:t>
                      </a:r>
                      <a:endParaRPr kumimoji="0" lang="es-ES" sz="1600" b="1" i="0" u="none" strike="noStrike" cap="none" normalizeH="0" baseline="0">
                        <a:ln>
                          <a:noFill/>
                        </a:ln>
                        <a:solidFill>
                          <a:schemeClr val="tx1"/>
                        </a:solidFill>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0"/>
                  </a:ext>
                </a:extLst>
              </a:tr>
              <a:tr h="1008466">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a:ln>
                            <a:noFill/>
                          </a:ln>
                          <a:solidFill>
                            <a:srgbClr val="000000"/>
                          </a:solidFill>
                          <a:effectLst>
                            <a:outerShdw blurRad="38100" dist="38100" dir="2700000" algn="tl">
                              <a:srgbClr val="FFFFFF"/>
                            </a:outerShdw>
                          </a:effectLst>
                          <a:latin typeface="Calibri" pitchFamily="34" charset="0"/>
                          <a:ea typeface="ＭＳ Ｐゴシック" pitchFamily="34" charset="-128"/>
                        </a:rPr>
                        <a:t>Externos</a:t>
                      </a:r>
                      <a:endParaRPr kumimoji="0" lang="es-ES" sz="1600" b="0" i="0" u="none" strike="noStrike" cap="none" normalizeH="0" baseline="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a:ln>
                            <a:noFill/>
                          </a:ln>
                          <a:solidFill>
                            <a:srgbClr val="000000"/>
                          </a:solidFill>
                          <a:effectLst>
                            <a:outerShdw blurRad="38100" dist="38100" dir="2700000" algn="tl">
                              <a:srgbClr val="FFFFFF"/>
                            </a:outerShdw>
                          </a:effectLst>
                          <a:latin typeface="Calibri" pitchFamily="34" charset="0"/>
                          <a:ea typeface="ＭＳ Ｐゴシック" pitchFamily="34" charset="-128"/>
                        </a:rPr>
                        <a:t>Directamente perceptibles</a:t>
                      </a:r>
                      <a:endParaRPr kumimoji="0" lang="es-ES" sz="1600" b="0" i="0" u="none" strike="noStrike" cap="none" normalizeH="0" baseline="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dirty="0">
                          <a:ln>
                            <a:noFill/>
                          </a:ln>
                          <a:solidFill>
                            <a:srgbClr val="000000"/>
                          </a:solidFill>
                          <a:effectLst>
                            <a:outerShdw blurRad="38100" dist="38100" dir="2700000" algn="tl">
                              <a:srgbClr val="FFFFFF"/>
                            </a:outerShdw>
                          </a:effectLst>
                          <a:latin typeface="Calibri" pitchFamily="34" charset="0"/>
                          <a:ea typeface="ＭＳ Ｐゴシック" pitchFamily="34" charset="-128"/>
                        </a:rPr>
                        <a:t>Voluntarios</a:t>
                      </a:r>
                      <a:endParaRPr kumimoji="0" lang="es-ES" sz="1600" b="0" i="0" u="none" strike="noStrike" cap="none" normalizeH="0" baseline="0" dirty="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a:ln>
                            <a:noFill/>
                          </a:ln>
                          <a:solidFill>
                            <a:srgbClr val="000000"/>
                          </a:solidFill>
                          <a:effectLst>
                            <a:outerShdw blurRad="38100" dist="38100" dir="2700000" algn="tl">
                              <a:srgbClr val="FFFFFF"/>
                            </a:outerShdw>
                          </a:effectLst>
                          <a:latin typeface="Calibri" pitchFamily="34" charset="0"/>
                          <a:ea typeface="ＭＳ Ｐゴシック" pitchFamily="34" charset="-128"/>
                        </a:rPr>
                        <a:t>Cuantitativos</a:t>
                      </a:r>
                      <a:endParaRPr kumimoji="0" lang="es-ES" sz="1600" b="0" i="0" u="none" strike="noStrike" cap="none" normalizeH="0" baseline="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1"/>
                  </a:ext>
                </a:extLst>
              </a:tr>
              <a:tr h="1007051">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a:ln>
                            <a:noFill/>
                          </a:ln>
                          <a:solidFill>
                            <a:srgbClr val="000000"/>
                          </a:solidFill>
                          <a:effectLst>
                            <a:outerShdw blurRad="38100" dist="38100" dir="2700000" algn="tl">
                              <a:srgbClr val="FFFFFF"/>
                            </a:outerShdw>
                          </a:effectLst>
                          <a:latin typeface="Calibri" pitchFamily="34" charset="0"/>
                          <a:ea typeface="ＭＳ Ｐゴシック" pitchFamily="34" charset="-128"/>
                        </a:rPr>
                        <a:t>Internos</a:t>
                      </a:r>
                      <a:endParaRPr kumimoji="0" lang="es-ES" sz="1600" b="0" i="0" u="none" strike="noStrike" cap="none" normalizeH="0" baseline="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a:ln>
                            <a:noFill/>
                          </a:ln>
                          <a:solidFill>
                            <a:srgbClr val="000000"/>
                          </a:solidFill>
                          <a:effectLst>
                            <a:outerShdw blurRad="38100" dist="38100" dir="2700000" algn="tl">
                              <a:srgbClr val="FFFFFF"/>
                            </a:outerShdw>
                          </a:effectLst>
                          <a:latin typeface="Calibri" pitchFamily="34" charset="0"/>
                          <a:ea typeface="ＭＳ Ｐゴシック" pitchFamily="34" charset="-128"/>
                        </a:rPr>
                        <a:t>Perceptibles a través de la ciencia</a:t>
                      </a:r>
                      <a:endParaRPr kumimoji="0" lang="es-ES" sz="1600" b="0" i="0" u="none" strike="noStrike" cap="none" normalizeH="0" baseline="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a:ln>
                            <a:noFill/>
                          </a:ln>
                          <a:solidFill>
                            <a:srgbClr val="000000"/>
                          </a:solidFill>
                          <a:effectLst>
                            <a:outerShdw blurRad="38100" dist="38100" dir="2700000" algn="tl">
                              <a:srgbClr val="FFFFFF"/>
                            </a:outerShdw>
                          </a:effectLst>
                          <a:latin typeface="Calibri" pitchFamily="34" charset="0"/>
                          <a:ea typeface="ＭＳ Ｐゴシック" pitchFamily="34" charset="-128"/>
                        </a:rPr>
                        <a:t>Forzosos</a:t>
                      </a:r>
                      <a:endParaRPr kumimoji="0" lang="es-ES" sz="1600" b="0" i="0" u="none" strike="noStrike" cap="none" normalizeH="0" baseline="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a:ln>
                            <a:noFill/>
                          </a:ln>
                          <a:solidFill>
                            <a:srgbClr val="000000"/>
                          </a:solidFill>
                          <a:effectLst>
                            <a:outerShdw blurRad="38100" dist="38100" dir="2700000" algn="tl">
                              <a:srgbClr val="FFFFFF"/>
                            </a:outerShdw>
                          </a:effectLst>
                          <a:latin typeface="Calibri" pitchFamily="34" charset="0"/>
                          <a:ea typeface="ＭＳ Ｐゴシック" pitchFamily="34" charset="-128"/>
                        </a:rPr>
                        <a:t>Cualitativos</a:t>
                      </a:r>
                      <a:endParaRPr kumimoji="0" lang="es-ES" sz="1600" b="0" i="0" u="none" strike="noStrike" cap="none" normalizeH="0" baseline="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1008466">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s-MX" sz="1600" b="0" i="0" u="none" strike="noStrike" cap="none" normalizeH="0" baseline="0" dirty="0">
                        <a:ln>
                          <a:noFill/>
                        </a:ln>
                        <a:solidFill>
                          <a:srgbClr val="003399"/>
                        </a:solidFill>
                        <a:effectLst>
                          <a:outerShdw blurRad="38100" dist="38100" dir="2700000" algn="tl">
                            <a:srgbClr val="000000"/>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a:txBody>
                    <a:bodyPr/>
                    <a:lstStyle/>
                    <a:p>
                      <a:pPr marL="268288" marR="0" lvl="0" indent="-268288" algn="l" defTabSz="914400" rtl="0" eaLnBrk="1" fontAlgn="base" latinLnBrk="0" hangingPunct="1">
                        <a:lnSpc>
                          <a:spcPct val="100000"/>
                        </a:lnSpc>
                        <a:spcBef>
                          <a:spcPct val="20000"/>
                        </a:spcBef>
                        <a:spcAft>
                          <a:spcPct val="0"/>
                        </a:spcAft>
                        <a:buClr>
                          <a:schemeClr val="hlink"/>
                        </a:buClr>
                        <a:buSzPct val="125000"/>
                        <a:buFont typeface="Wingdings" pitchFamily="2" charset="2"/>
                        <a:buBlip>
                          <a:blip r:embed="rId2"/>
                        </a:buBlip>
                        <a:tabLst/>
                      </a:pPr>
                      <a:r>
                        <a:rPr kumimoji="0" lang="es-MX" sz="1600" b="0" i="0" u="none" strike="noStrike" cap="none" normalizeH="0" baseline="0" dirty="0">
                          <a:ln>
                            <a:noFill/>
                          </a:ln>
                          <a:solidFill>
                            <a:srgbClr val="000000"/>
                          </a:solidFill>
                          <a:effectLst>
                            <a:outerShdw blurRad="38100" dist="38100" dir="2700000" algn="tl">
                              <a:srgbClr val="FFFFFF"/>
                            </a:outerShdw>
                          </a:effectLst>
                          <a:latin typeface="Calibri" pitchFamily="34" charset="0"/>
                          <a:ea typeface="ＭＳ Ｐゴシック" pitchFamily="34" charset="-128"/>
                        </a:rPr>
                        <a:t>Virtuales</a:t>
                      </a:r>
                      <a:endParaRPr kumimoji="0" lang="es-ES" sz="1600" b="0" i="0" u="none" strike="noStrike" cap="none" normalizeH="0" baseline="0" dirty="0">
                        <a:ln>
                          <a:noFill/>
                        </a:ln>
                        <a:solidFill>
                          <a:schemeClr val="tx1"/>
                        </a:solidFill>
                        <a:effectLst>
                          <a:outerShdw blurRad="38100" dist="38100" dir="2700000" algn="tl">
                            <a:srgbClr val="FFFFFF"/>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gridSpan="2">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endParaRPr kumimoji="0" lang="es-MX" sz="1600" b="0" i="0" u="none" strike="noStrike" cap="none" normalizeH="0" baseline="0" dirty="0">
                        <a:ln>
                          <a:noFill/>
                        </a:ln>
                        <a:solidFill>
                          <a:srgbClr val="003399"/>
                        </a:solidFill>
                        <a:effectLst>
                          <a:outerShdw blurRad="38100" dist="38100" dir="2700000" algn="tl">
                            <a:srgbClr val="000000"/>
                          </a:outerShdw>
                        </a:effectLst>
                        <a:latin typeface="Verdana" pitchFamily="34" charset="0"/>
                        <a:ea typeface="ＭＳ Ｐゴシック" pitchFamily="34" charset="-128"/>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E9EDF4"/>
                    </a:solidFill>
                  </a:tcPr>
                </a:tc>
                <a:tc hMerge="1">
                  <a:txBody>
                    <a:bodyPr/>
                    <a:lstStyle/>
                    <a:p>
                      <a:endParaRPr lang="es-CO"/>
                    </a:p>
                  </a:txBody>
                  <a:tcPr/>
                </a:tc>
                <a:extLst>
                  <a:ext uri="{0D108BD9-81ED-4DB2-BD59-A6C34878D82A}">
                    <a16:rowId xmlns:a16="http://schemas.microsoft.com/office/drawing/2014/main" val="10003"/>
                  </a:ext>
                </a:extLst>
              </a:tr>
            </a:tbl>
          </a:graphicData>
        </a:graphic>
      </p:graphicFrame>
      <p:sp>
        <p:nvSpPr>
          <p:cNvPr id="3" name="Rectángulo 2"/>
          <p:cNvSpPr/>
          <p:nvPr/>
        </p:nvSpPr>
        <p:spPr>
          <a:xfrm>
            <a:off x="457200" y="304800"/>
            <a:ext cx="8229600" cy="533400"/>
          </a:xfrm>
          <a:prstGeom prst="rect">
            <a:avLst/>
          </a:prstGeom>
          <a:noFill/>
          <a:ln>
            <a:noFill/>
          </a:ln>
        </p:spPr>
        <p:txBody>
          <a:bodyPr wrap="square" anchor="t" anchorCtr="0">
            <a:noAutofit/>
          </a:bodyPr>
          <a:lstStyle/>
          <a:p>
            <a:pPr algn="ctr"/>
            <a:r>
              <a:rPr lang="es-ES" sz="3000" b="1">
                <a:solidFill>
                  <a:srgbClr val="1F3864"/>
                </a:solidFill>
                <a:latin typeface="Calibri"/>
                <a:ea typeface="Calibri"/>
                <a:cs typeface="Calibri"/>
              </a:rPr>
              <a:t>Cuatro formas de clasificar los riesgos</a:t>
            </a:r>
            <a:endParaRPr lang="es-ES" sz="3000" b="1" dirty="0">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1885660C-4A81-4714-80E0-6A3CC56AD4FA}"/>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E7F5E59A-88A3-4544-B8F6-35B418A3378E}"/>
              </a:ext>
            </a:extLst>
          </p:cNvPr>
          <p:cNvSpPr txBox="1"/>
          <p:nvPr/>
        </p:nvSpPr>
        <p:spPr>
          <a:xfrm>
            <a:off x="457200" y="53848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Según su origen, su percepción, la posibilidad de evitarlos y la forma de calcularlos</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96739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7"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900" decel="100000" fill="hold"/>
                                        <p:tgtEl>
                                          <p:spTgt spid="2"/>
                                        </p:tgtEl>
                                        <p:attrNameLst>
                                          <p:attrName>ppt_y</p:attrName>
                                        </p:attrNameLst>
                                      </p:cBhvr>
                                      <p:tavLst>
                                        <p:tav tm="0">
                                          <p:val>
                                            <p:strVal val="#ppt_y+1"/>
                                          </p:val>
                                        </p:tav>
                                        <p:tav tm="100000">
                                          <p:val>
                                            <p:strVal val="#ppt_y-.03"/>
                                          </p:val>
                                        </p:tav>
                                      </p:tavLst>
                                    </p:anim>
                                    <p:anim calcmode="lin" valueType="num">
                                      <p:cBhvr>
                                        <p:cTn id="1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a:xfrm>
            <a:off x="457200" y="1168400"/>
            <a:ext cx="4038600" cy="1066800"/>
          </a:xfrm>
          <a:prstGeom prst="rect">
            <a:avLst/>
          </a:prstGeom>
          <a:solidFill>
            <a:srgbClr val="F2F5F9"/>
          </a:solidFill>
          <a:ln>
            <a:noFill/>
          </a:ln>
        </p:spPr>
        <p:txBody>
          <a:bodyPr wrap="square"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lnSpc>
                <a:spcPct val="85000"/>
              </a:lnSpc>
              <a:spcBef>
                <a:spcPct val="30000"/>
              </a:spcBef>
              <a:spcAft>
                <a:spcPct val="30000"/>
              </a:spcAft>
              <a:buFont typeface="+mj-lt"/>
              <a:buNone/>
            </a:pPr>
            <a:r>
              <a:rPr lang="es-ES" sz="1400">
                <a:solidFill>
                  <a:srgbClr val="404040"/>
                </a:solidFill>
                <a:latin typeface="Calibri"/>
                <a:ea typeface="Calibri"/>
                <a:cs typeface="Calibri"/>
              </a:rPr>
              <a:t>Todos tenemos cierto grado de propensión a asumir riesgos, y ese grado varía de una persona a otra.</a:t>
            </a:r>
            <a:endParaRPr lang="es-MX" sz="1400" dirty="0">
              <a:solidFill>
                <a:srgbClr val="404040"/>
              </a:solidFill>
              <a:latin typeface="Calibri"/>
              <a:ea typeface="Calibri"/>
              <a:cs typeface="Calibri"/>
            </a:endParaRPr>
          </a:p>
        </p:txBody>
      </p:sp>
      <p:sp>
        <p:nvSpPr>
          <p:cNvPr id="3" name="Rectángulo 2"/>
          <p:cNvSpPr/>
          <p:nvPr/>
        </p:nvSpPr>
        <p:spPr>
          <a:xfrm>
            <a:off x="457200" y="304800"/>
            <a:ext cx="8229600" cy="533400"/>
          </a:xfrm>
          <a:prstGeom prst="rect">
            <a:avLst/>
          </a:prstGeom>
          <a:noFill/>
          <a:ln>
            <a:noFill/>
          </a:ln>
        </p:spPr>
        <p:txBody>
          <a:bodyPr wrap="square" anchor="t" anchorCtr="0">
            <a:noAutofit/>
          </a:bodyPr>
          <a:lstStyle/>
          <a:p>
            <a:pPr algn="l"/>
            <a:r>
              <a:rPr lang="es-ES" sz="2800" b="1">
                <a:solidFill>
                  <a:srgbClr val="1F3864"/>
                </a:solidFill>
                <a:latin typeface="Calibri"/>
                <a:ea typeface="Calibri"/>
                <a:cs typeface="Calibri"/>
              </a:rPr>
              <a:t>Postulados sobre la propensión al riesgo</a:t>
            </a:r>
            <a:endParaRPr lang="es-ES" sz="2800" b="1" dirty="0">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DA5D4724-472D-46F7-A4F6-86073A2D0567}"/>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884DA25D-F9BF-4566-8E34-71123CDEFD02}"/>
              </a:ext>
            </a:extLst>
          </p:cNvPr>
          <p:cNvSpPr/>
          <p:nvPr/>
        </p:nvSpPr>
        <p:spPr>
          <a:xfrm>
            <a:off x="4648200" y="1168400"/>
            <a:ext cx="4038600" cy="1066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Autofit/>
          </a:bodyPr>
          <a:lstStyle/>
          <a:p>
            <a:pPr marL="0" indent="0" algn="l">
              <a:buNone/>
            </a:pPr>
            <a:r>
              <a:rPr lang="es-ES" sz="1400">
                <a:solidFill>
                  <a:srgbClr val="404040"/>
                </a:solidFill>
                <a:latin typeface="Calibri"/>
                <a:ea typeface="Calibri"/>
                <a:cs typeface="Calibri"/>
              </a:rPr>
              <a:t>La propensión depende de los beneficios que se esperan de exponerse al riesgo.</a:t>
            </a:r>
            <a:endParaRPr lang="es-CO" sz="1400">
              <a:solidFill>
                <a:srgbClr val="404040"/>
              </a:solidFill>
              <a:latin typeface="Calibri"/>
              <a:ea typeface="Calibri"/>
              <a:cs typeface="Calibri"/>
            </a:endParaRPr>
          </a:p>
        </p:txBody>
      </p:sp>
      <p:sp>
        <p:nvSpPr>
          <p:cNvPr id="6" name="Rectángulo 5">
            <a:extLst>
              <a:ext uri="{FF2B5EF4-FFF2-40B4-BE49-F238E27FC236}">
                <a16:creationId xmlns:a16="http://schemas.microsoft.com/office/drawing/2014/main" id="{DB6E8585-7F8C-4F2F-BD39-FD8D0EADA319}"/>
              </a:ext>
            </a:extLst>
          </p:cNvPr>
          <p:cNvSpPr/>
          <p:nvPr/>
        </p:nvSpPr>
        <p:spPr>
          <a:xfrm>
            <a:off x="457200" y="2387600"/>
            <a:ext cx="82296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La percepción del riesgo se forma con la experiencia propia y ajena de eventos de pérdida.</a:t>
            </a:r>
            <a:endParaRPr lang="es-CO" sz="1500">
              <a:solidFill>
                <a:srgbClr val="404040"/>
              </a:solidFill>
              <a:latin typeface="Calibri"/>
              <a:ea typeface="Calibri"/>
              <a:cs typeface="Calibri"/>
            </a:endParaRPr>
          </a:p>
        </p:txBody>
      </p:sp>
      <p:sp>
        <p:nvSpPr>
          <p:cNvPr id="7" name="Rectángulo 6">
            <a:extLst>
              <a:ext uri="{FF2B5EF4-FFF2-40B4-BE49-F238E27FC236}">
                <a16:creationId xmlns:a16="http://schemas.microsoft.com/office/drawing/2014/main" id="{ED4E998F-B04E-4344-9B94-8D9D165FDE38}"/>
              </a:ext>
            </a:extLst>
          </p:cNvPr>
          <p:cNvSpPr/>
          <p:nvPr/>
        </p:nvSpPr>
        <p:spPr>
          <a:xfrm>
            <a:off x="457200" y="3302000"/>
            <a:ext cx="8229600" cy="1117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700" b="1">
                <a:solidFill>
                  <a:srgbClr val="FFFFFF"/>
                </a:solidFill>
                <a:latin typeface="Calibri"/>
                <a:ea typeface="Calibri"/>
                <a:cs typeface="Calibri"/>
              </a:rPr>
              <a:t>Decidir cuánto riesgo asumir es un acto de equilibrio: se pondera la percepción del riesgo contra la propensión a asumirlo.</a:t>
            </a:r>
            <a:endParaRPr lang="es-CO" sz="1700" b="1">
              <a:solidFill>
                <a:srgbClr val="FFFFFF"/>
              </a:solidFill>
              <a:latin typeface="Calibri"/>
              <a:ea typeface="Calibri"/>
              <a:cs typeface="Calibri"/>
            </a:endParaRPr>
          </a:p>
        </p:txBody>
      </p:sp>
    </p:spTree>
    <p:extLst>
      <p:ext uri="{BB962C8B-B14F-4D97-AF65-F5344CB8AC3E}">
        <p14:creationId xmlns:p14="http://schemas.microsoft.com/office/powerpoint/2010/main" val="183673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p:cTn id="7" dur="1000" fill="hold"/>
                                        <p:tgtEl>
                                          <p:spTgt spid="2">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a:xfrm>
            <a:off x="457200" y="304800"/>
            <a:ext cx="8229600" cy="533400"/>
          </a:xfrm>
          <a:prstGeom prst="rect">
            <a:avLst/>
          </a:prstGeom>
          <a:noFill/>
          <a:ln>
            <a:noFill/>
          </a:ln>
        </p:spPr>
        <p:txBody>
          <a:bodyPr wrap="square"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3000" b="1">
                <a:solidFill>
                  <a:srgbClr val="1F3864"/>
                </a:solidFill>
                <a:latin typeface="Calibri"/>
                <a:ea typeface="Calibri"/>
                <a:cs typeface="Calibri"/>
              </a:rPr>
              <a:t>¿Qué es la administración de riesgos?</a:t>
            </a:r>
            <a:endParaRPr lang="es-ES" sz="3000" b="1" dirty="0">
              <a:solidFill>
                <a:srgbClr val="1F3864"/>
              </a:solidFill>
              <a:latin typeface="Calibri"/>
              <a:ea typeface="Calibri"/>
              <a:cs typeface="Calibri"/>
            </a:endParaRPr>
          </a:p>
        </p:txBody>
      </p:sp>
      <p:sp>
        <p:nvSpPr>
          <p:cNvPr id="3" name="Rectangle 3"/>
          <p:cNvSpPr txBox="1">
            <a:spLocks noChangeArrowheads="1"/>
          </p:cNvSpPr>
          <p:nvPr/>
        </p:nvSpPr>
        <p:spPr>
          <a:xfrm>
            <a:off x="457200" y="1168400"/>
            <a:ext cx="4038600" cy="914400"/>
          </a:xfrm>
          <a:prstGeom prst="rect">
            <a:avLst/>
          </a:prstGeom>
          <a:solidFill>
            <a:srgbClr val="F2F5F9"/>
          </a:solidFill>
          <a:ln>
            <a:noFill/>
          </a:ln>
        </p:spPr>
        <p:txBody>
          <a:bodyPr wrap="square"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50000"/>
              </a:spcBef>
              <a:spcAft>
                <a:spcPct val="50000"/>
              </a:spcAft>
              <a:buNone/>
            </a:pPr>
            <a:r>
              <a:rPr lang="es-ES" sz="1500">
                <a:solidFill>
                  <a:srgbClr val="404040"/>
                </a:solidFill>
                <a:latin typeface="Calibri"/>
                <a:ea typeface="Calibri"/>
                <a:cs typeface="Calibri"/>
              </a:rPr>
              <a:t>El objetivo no es evitar la exposición al riesgo.</a:t>
            </a:r>
            <a:endParaRPr lang="es-MX" sz="1500" dirty="0">
              <a:solidFill>
                <a:srgbClr val="404040"/>
              </a:solidFill>
              <a:latin typeface="Calibri"/>
              <a:ea typeface="Calibri"/>
              <a:cs typeface="Calibri"/>
            </a:endParaRPr>
          </a:p>
        </p:txBody>
      </p:sp>
      <p:grpSp>
        <p:nvGrpSpPr>
          <p:cNvPr id="4" name="Group 9"/>
          <p:cNvGrpSpPr>
            <a:grpSpLocks/>
          </p:cNvGrpSpPr>
          <p:nvPr/>
        </p:nvGrpSpPr>
        <p:grpSpPr bwMode="auto">
          <a:xfrm>
            <a:off x="1409700" y="2362200"/>
            <a:ext cx="6337300" cy="1371600"/>
            <a:chOff x="884" y="1752"/>
            <a:chExt cx="3991" cy="862"/>
          </a:xfrm>
        </p:grpSpPr>
        <p:sp>
          <p:nvSpPr>
            <p:cNvPr id="5" name="AutoShape 6"/>
            <p:cNvSpPr>
              <a:spLocks noChangeArrowheads="1"/>
            </p:cNvSpPr>
            <p:nvPr/>
          </p:nvSpPr>
          <p:spPr bwMode="auto">
            <a:xfrm rot="298292">
              <a:off x="3107" y="1882"/>
              <a:ext cx="1531" cy="460"/>
            </a:xfrm>
            <a:prstGeom prst="triangle">
              <a:avLst>
                <a:gd name="adj" fmla="val 50032"/>
              </a:avLst>
            </a:prstGeom>
            <a:solidFill>
              <a:schemeClr val="accent4">
                <a:lumMod val="60000"/>
                <a:lumOff val="40000"/>
              </a:schemeClr>
            </a:solidFill>
            <a:ln w="9525">
              <a:solidFill>
                <a:schemeClr val="tx1">
                  <a:lumMod val="95000"/>
                  <a:lumOff val="5000"/>
                </a:schemeClr>
              </a:solidFill>
              <a:miter lim="800000"/>
              <a:headEnd/>
              <a:tailEnd/>
            </a:ln>
            <a:effectLst>
              <a:prstShdw prst="shdw17" dist="17961" dir="2700000">
                <a:srgbClr val="995C1F"/>
              </a:prstShdw>
            </a:effectLst>
          </p:spPr>
          <p:txBody>
            <a:bodyPr wrap="none" anchor="ctr" anchorCtr="1">
              <a:spAutoFit/>
            </a:bodyPr>
            <a:lstStyle/>
            <a:p>
              <a:pPr algn="ctr">
                <a:defRPr/>
              </a:pPr>
              <a:r>
                <a:rPr lang="es-MX" sz="1400">
                  <a:solidFill>
                    <a:srgbClr val="003399"/>
                  </a:solidFill>
                  <a:effectLst>
                    <a:outerShdw blurRad="38100" dist="38100" dir="2700000" algn="tl">
                      <a:srgbClr val="000000"/>
                    </a:outerShdw>
                  </a:effectLst>
                  <a:latin typeface="Verdana" pitchFamily="34" charset="0"/>
                  <a:ea typeface="ＭＳ Ｐゴシック" charset="0"/>
                  <a:cs typeface="ＭＳ Ｐゴシック" charset="0"/>
                </a:rPr>
                <a:t>Rendimiento</a:t>
              </a:r>
              <a:endParaRPr lang="es-ES" sz="1400">
                <a:solidFill>
                  <a:srgbClr val="003399"/>
                </a:solidFill>
                <a:effectLst>
                  <a:outerShdw blurRad="38100" dist="38100" dir="2700000" algn="tl">
                    <a:srgbClr val="000000"/>
                  </a:outerShdw>
                </a:effectLst>
                <a:latin typeface="Verdana" pitchFamily="34" charset="0"/>
                <a:ea typeface="ＭＳ Ｐゴシック" charset="0"/>
                <a:cs typeface="ＭＳ Ｐゴシック" charset="0"/>
              </a:endParaRPr>
            </a:p>
          </p:txBody>
        </p:sp>
        <p:sp>
          <p:nvSpPr>
            <p:cNvPr id="6" name="AutoShape 5"/>
            <p:cNvSpPr>
              <a:spLocks noChangeArrowheads="1"/>
            </p:cNvSpPr>
            <p:nvPr/>
          </p:nvSpPr>
          <p:spPr bwMode="auto">
            <a:xfrm rot="223884">
              <a:off x="1156" y="1752"/>
              <a:ext cx="1542" cy="460"/>
            </a:xfrm>
            <a:prstGeom prst="triangle">
              <a:avLst>
                <a:gd name="adj" fmla="val 50000"/>
              </a:avLst>
            </a:prstGeom>
            <a:solidFill>
              <a:schemeClr val="accent6">
                <a:lumMod val="75000"/>
              </a:schemeClr>
            </a:solidFill>
            <a:ln w="9525">
              <a:solidFill>
                <a:schemeClr val="tx1">
                  <a:lumMod val="95000"/>
                  <a:lumOff val="5000"/>
                </a:schemeClr>
              </a:solidFill>
              <a:miter lim="800000"/>
              <a:headEnd/>
              <a:tailEnd/>
            </a:ln>
            <a:effectLst>
              <a:prstShdw prst="shdw17" dist="17961" dir="2700000">
                <a:srgbClr val="995C1F"/>
              </a:prstShdw>
            </a:effectLst>
          </p:spPr>
          <p:txBody>
            <a:bodyPr wrap="none" anchor="ctr"/>
            <a:lstStyle/>
            <a:p>
              <a:pPr algn="ctr">
                <a:defRPr/>
              </a:pPr>
              <a:r>
                <a:rPr lang="es-MX" sz="1400" dirty="0">
                  <a:effectLst>
                    <a:outerShdw blurRad="38100" dist="38100" dir="2700000" algn="tl">
                      <a:srgbClr val="000000"/>
                    </a:outerShdw>
                  </a:effectLst>
                  <a:latin typeface="Verdana" pitchFamily="34" charset="0"/>
                  <a:ea typeface="ＭＳ Ｐゴシック" charset="0"/>
                  <a:cs typeface="ＭＳ Ｐゴシック" charset="0"/>
                </a:rPr>
                <a:t>Riesgo</a:t>
              </a:r>
              <a:endParaRPr lang="es-ES" sz="1400" dirty="0">
                <a:effectLst>
                  <a:outerShdw blurRad="38100" dist="38100" dir="2700000" algn="tl">
                    <a:srgbClr val="000000"/>
                  </a:outerShdw>
                </a:effectLst>
                <a:latin typeface="Verdana" pitchFamily="34" charset="0"/>
                <a:ea typeface="ＭＳ Ｐゴシック" charset="0"/>
                <a:cs typeface="ＭＳ Ｐゴシック" charset="0"/>
              </a:endParaRPr>
            </a:p>
          </p:txBody>
        </p:sp>
        <p:sp>
          <p:nvSpPr>
            <p:cNvPr id="7" name="Line 7"/>
            <p:cNvSpPr>
              <a:spLocks noChangeShapeType="1"/>
            </p:cNvSpPr>
            <p:nvPr/>
          </p:nvSpPr>
          <p:spPr bwMode="auto">
            <a:xfrm>
              <a:off x="2880" y="2024"/>
              <a:ext cx="0" cy="590"/>
            </a:xfrm>
            <a:prstGeom prst="line">
              <a:avLst/>
            </a:prstGeom>
            <a:noFill/>
            <a:ln w="50800">
              <a:solidFill>
                <a:schemeClr val="tx1">
                  <a:lumMod val="95000"/>
                  <a:lumOff val="5000"/>
                </a:schemeClr>
              </a:solidFill>
              <a:round/>
              <a:headEnd/>
              <a:tailEnd/>
            </a:ln>
          </p:spPr>
          <p:txBody>
            <a:bodyPr/>
            <a:lstStyle/>
            <a:p>
              <a:endParaRPr lang="es-CO"/>
            </a:p>
          </p:txBody>
        </p:sp>
        <p:sp>
          <p:nvSpPr>
            <p:cNvPr id="8" name="Line 8"/>
            <p:cNvSpPr>
              <a:spLocks noChangeShapeType="1"/>
            </p:cNvSpPr>
            <p:nvPr/>
          </p:nvSpPr>
          <p:spPr bwMode="auto">
            <a:xfrm rot="16200000" flipV="1">
              <a:off x="2771" y="374"/>
              <a:ext cx="217" cy="3991"/>
            </a:xfrm>
            <a:prstGeom prst="line">
              <a:avLst/>
            </a:prstGeom>
            <a:noFill/>
            <a:ln w="50800">
              <a:solidFill>
                <a:schemeClr val="tx1">
                  <a:lumMod val="95000"/>
                  <a:lumOff val="5000"/>
                </a:schemeClr>
              </a:solidFill>
              <a:round/>
              <a:headEnd/>
              <a:tailEnd/>
            </a:ln>
          </p:spPr>
          <p:txBody>
            <a:bodyPr/>
            <a:lstStyle/>
            <a:p>
              <a:endParaRPr lang="es-CO"/>
            </a:p>
          </p:txBody>
        </p:sp>
      </p:grpSp>
      <p:sp>
        <p:nvSpPr>
          <p:cNvPr id="9" name="Rectangle 4"/>
          <p:cNvSpPr>
            <a:spLocks noChangeArrowheads="1"/>
          </p:cNvSpPr>
          <p:nvPr/>
        </p:nvSpPr>
        <p:spPr bwMode="auto">
          <a:xfrm>
            <a:off x="457200" y="3987800"/>
            <a:ext cx="8229600" cy="1117600"/>
          </a:xfrm>
          <a:prstGeom prst="rect">
            <a:avLst/>
          </a:prstGeom>
          <a:solidFill>
            <a:srgbClr val="1F3864"/>
          </a:solidFill>
          <a:ln w="9525">
            <a:noFill/>
            <a:miter lim="800000"/>
            <a:headEnd/>
            <a:tailEnd/>
          </a:ln>
          <a:effectLst>
            <a:outerShdw dist="12700" dir="5400000" algn="ctr" rotWithShape="0">
              <a:srgbClr val="003399"/>
            </a:outerShdw>
          </a:effectLst>
        </p:spPr>
        <p:txBody>
          <a:bodyPr wrap="square" anchor="ctr" anchorCtr="0">
            <a:noAutofit/>
          </a:bodyPr>
          <a:lstStyle/>
          <a:p>
            <a:pPr algn="ctr">
              <a:lnSpc>
                <a:spcPct val="90000"/>
              </a:lnSpc>
              <a:spcBef>
                <a:spcPct val="50000"/>
              </a:spcBef>
              <a:spcAft>
                <a:spcPct val="50000"/>
              </a:spcAft>
              <a:buClr>
                <a:schemeClr val="hlink"/>
              </a:buClr>
              <a:buSzPct val="65000"/>
            </a:pPr>
            <a:r>
              <a:rPr lang="es-ES" sz="1700" b="1">
                <a:solidFill>
                  <a:srgbClr val="FFFFFF"/>
                </a:solidFill>
                <a:latin typeface="Calibri"/>
                <a:ea typeface="Calibri"/>
                <a:cs typeface="Calibri"/>
              </a:rPr>
              <a:t>Administrar el riesgo es equilibrar los beneficios de exponerse a eventos indeseables contra el costo de no exponerse.</a:t>
            </a:r>
            <a:endParaRPr lang="es-MX" sz="1700" b="1" dirty="0">
              <a:solidFill>
                <a:srgbClr val="FFFFFF"/>
              </a:solidFill>
              <a:latin typeface="Calibri"/>
              <a:ea typeface="Calibri"/>
              <a:cs typeface="Calibri"/>
            </a:endParaRPr>
          </a:p>
        </p:txBody>
      </p:sp>
      <p:sp>
        <p:nvSpPr>
          <p:cNvPr id="10" name="Rectangle 3"/>
          <p:cNvSpPr txBox="1">
            <a:spLocks noChangeArrowheads="1"/>
          </p:cNvSpPr>
          <p:nvPr/>
        </p:nvSpPr>
        <p:spPr>
          <a:xfrm>
            <a:off x="4648200" y="1168400"/>
            <a:ext cx="4038600" cy="914400"/>
          </a:xfrm>
          <a:prstGeom prst="rect">
            <a:avLst/>
          </a:prstGeom>
          <a:solidFill>
            <a:srgbClr val="F2F5F9"/>
          </a:solidFill>
          <a:ln>
            <a:noFill/>
          </a:ln>
        </p:spPr>
        <p:txBody>
          <a:bodyPr wrap="square"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spcBef>
                <a:spcPct val="50000"/>
              </a:spcBef>
              <a:spcAft>
                <a:spcPct val="50000"/>
              </a:spcAft>
              <a:buNone/>
            </a:pPr>
            <a:r>
              <a:rPr lang="es-ES" sz="1500">
                <a:solidFill>
                  <a:srgbClr val="404040"/>
                </a:solidFill>
                <a:latin typeface="Calibri"/>
                <a:ea typeface="Calibri"/>
                <a:cs typeface="Calibri"/>
              </a:rPr>
              <a:t>Medir el riesgo es solo una fase del proceso de administrarlo.</a:t>
            </a:r>
            <a:endParaRPr lang="es-ES" sz="1500" i="1" dirty="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D295F744-67E0-4EB9-A28D-B7CC8C403779}"/>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471121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1"/>
                                          </p:val>
                                        </p:tav>
                                        <p:tav tm="100000">
                                          <p:val>
                                            <p:strVal val="#ppt_x"/>
                                          </p:val>
                                        </p:tav>
                                      </p:tavLst>
                                    </p:anim>
                                    <p:anim calcmode="lin" valueType="num">
                                      <p:cBhvr>
                                        <p:cTn id="9" dur="10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7"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900" decel="100000" fill="hold"/>
                                        <p:tgtEl>
                                          <p:spTgt spid="3">
                                            <p:txEl>
                                              <p:pRg st="0" end="0"/>
                                            </p:txEl>
                                          </p:spTgt>
                                        </p:tgtEl>
                                        <p:attrNameLst>
                                          <p:attrName>ppt_y</p:attrName>
                                        </p:attrNameLst>
                                      </p:cBhvr>
                                      <p:tavLst>
                                        <p:tav tm="0">
                                          <p:val>
                                            <p:strVal val="#ppt_y+1"/>
                                          </p:val>
                                        </p:tav>
                                        <p:tav tm="100000">
                                          <p:val>
                                            <p:strVal val="#ppt_y-.03"/>
                                          </p:val>
                                        </p:tav>
                                      </p:tavLst>
                                    </p:anim>
                                    <p:anim calcmode="lin" valueType="num">
                                      <p:cBhvr>
                                        <p:cTn id="17" dur="100" accel="100000" fill="hold">
                                          <p:stCondLst>
                                            <p:cond delay="900"/>
                                          </p:stCondLst>
                                        </p:cTn>
                                        <p:tgtEl>
                                          <p:spTgt spid="3">
                                            <p:txEl>
                                              <p:pRg st="0" end="0"/>
                                            </p:txEl>
                                          </p:spTgt>
                                        </p:tgtEl>
                                        <p:attrNameLst>
                                          <p:attrName>ppt_y</p:attrName>
                                        </p:attrNameLst>
                                      </p:cBhvr>
                                      <p:tavLst>
                                        <p:tav tm="0">
                                          <p:val>
                                            <p:strVal val="#ppt_y-.03"/>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50" presetClass="entr" presetSubtype="0" decel="100000"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1000" fill="hold"/>
                                        <p:tgtEl>
                                          <p:spTgt spid="9"/>
                                        </p:tgtEl>
                                        <p:attrNameLst>
                                          <p:attrName>ppt_w</p:attrName>
                                        </p:attrNameLst>
                                      </p:cBhvr>
                                      <p:tavLst>
                                        <p:tav tm="0">
                                          <p:val>
                                            <p:strVal val="#ppt_w+.3"/>
                                          </p:val>
                                        </p:tav>
                                        <p:tav tm="100000">
                                          <p:val>
                                            <p:strVal val="#ppt_w"/>
                                          </p:val>
                                        </p:tav>
                                      </p:tavLst>
                                    </p:anim>
                                    <p:anim calcmode="lin" valueType="num">
                                      <p:cBhvr>
                                        <p:cTn id="29" dur="1000" fill="hold"/>
                                        <p:tgtEl>
                                          <p:spTgt spid="9"/>
                                        </p:tgtEl>
                                        <p:attrNameLst>
                                          <p:attrName>ppt_h</p:attrName>
                                        </p:attrNameLst>
                                      </p:cBhvr>
                                      <p:tavLst>
                                        <p:tav tm="0">
                                          <p:val>
                                            <p:strVal val="#ppt_h"/>
                                          </p:val>
                                        </p:tav>
                                        <p:tav tm="100000">
                                          <p:val>
                                            <p:strVal val="#ppt_h"/>
                                          </p:val>
                                        </p:tav>
                                      </p:tavLst>
                                    </p:anim>
                                    <p:animEffect transition="in" filter="fade">
                                      <p:cBhvr>
                                        <p:cTn id="30" dur="10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10">
                                            <p:txEl>
                                              <p:pRg st="0" end="0"/>
                                            </p:txEl>
                                          </p:spTgt>
                                        </p:tgtEl>
                                        <p:attrNameLst>
                                          <p:attrName>style.visibility</p:attrName>
                                        </p:attrNameLst>
                                      </p:cBhvr>
                                      <p:to>
                                        <p:strVal val="visible"/>
                                      </p:to>
                                    </p:set>
                                    <p:animEffect transition="in" filter="fade">
                                      <p:cBhvr>
                                        <p:cTn id="35" dur="1000"/>
                                        <p:tgtEl>
                                          <p:spTgt spid="10">
                                            <p:txEl>
                                              <p:pRg st="0" end="0"/>
                                            </p:txEl>
                                          </p:spTgt>
                                        </p:tgtEl>
                                      </p:cBhvr>
                                    </p:animEffect>
                                    <p:anim calcmode="lin" valueType="num">
                                      <p:cBhvr>
                                        <p:cTn id="36"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7" dur="900" decel="100000" fill="hold"/>
                                        <p:tgtEl>
                                          <p:spTgt spid="10">
                                            <p:txEl>
                                              <p:pRg st="0" end="0"/>
                                            </p:txEl>
                                          </p:spTgt>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10">
                                            <p:txEl>
                                              <p:pRg st="0" end="0"/>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9" grpId="0" animBg="1"/>
      <p:bldP spid="10"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 name="Diagrama 32">
            <a:extLst>
              <a:ext uri="{FF2B5EF4-FFF2-40B4-BE49-F238E27FC236}">
                <a16:creationId xmlns:a16="http://schemas.microsoft.com/office/drawing/2014/main" id="{3977E569-A616-4EF5-BF15-9C74F2ED9735}"/>
              </a:ext>
            </a:extLst>
          </p:cNvPr>
          <p:cNvGraphicFramePr/>
          <p:nvPr>
            <p:extLst>
              <p:ext uri="{D42A27DB-BD31-4B8C-83A1-F6EECF244321}">
                <p14:modId xmlns:p14="http://schemas.microsoft.com/office/powerpoint/2010/main" val="2891927826"/>
              </p:ext>
            </p:extLst>
          </p:nvPr>
        </p:nvGraphicFramePr>
        <p:xfrm>
          <a:off x="524107" y="1530078"/>
          <a:ext cx="7956958" cy="39342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4" name="Rectángulo 33">
            <a:extLst>
              <a:ext uri="{FF2B5EF4-FFF2-40B4-BE49-F238E27FC236}">
                <a16:creationId xmlns:a16="http://schemas.microsoft.com/office/drawing/2014/main" id="{F81A61EA-7DB9-4681-B41A-7455C8968255}"/>
              </a:ext>
            </a:extLst>
          </p:cNvPr>
          <p:cNvSpPr/>
          <p:nvPr/>
        </p:nvSpPr>
        <p:spPr>
          <a:xfrm>
            <a:off x="457200" y="304800"/>
            <a:ext cx="8229600" cy="533400"/>
          </a:xfrm>
          <a:prstGeom prst="rect">
            <a:avLst/>
          </a:prstGeom>
          <a:noFill/>
          <a:ln>
            <a:noFill/>
          </a:ln>
        </p:spPr>
        <p:txBody>
          <a:bodyPr wrap="square" anchor="t" anchorCtr="0">
            <a:noAutofit/>
          </a:bodyPr>
          <a:lstStyle/>
          <a:p>
            <a:r>
              <a:rPr lang="es-ES" sz="3000" b="1">
                <a:solidFill>
                  <a:srgbClr val="1F3864"/>
                </a:solidFill>
                <a:latin typeface="Calibri"/>
                <a:ea typeface="Calibri"/>
                <a:cs typeface="Calibri"/>
              </a:rPr>
              <a:t>El proceso de administración de riesgos</a:t>
            </a:r>
            <a:endParaRPr lang="es-CO" sz="3000" b="1">
              <a:solidFill>
                <a:srgbClr val="1F3864"/>
              </a:solidFill>
              <a:latin typeface="Calibri"/>
              <a:ea typeface="Calibri"/>
              <a:cs typeface="Calibri"/>
            </a:endParaRPr>
          </a:p>
        </p:txBody>
      </p:sp>
      <p:sp>
        <p:nvSpPr>
          <p:cNvPr id="36" name="CuadroTexto 35">
            <a:extLst>
              <a:ext uri="{FF2B5EF4-FFF2-40B4-BE49-F238E27FC236}">
                <a16:creationId xmlns:a16="http://schemas.microsoft.com/office/drawing/2014/main" id="{AC0A0112-5B6C-40F9-ACCC-DBA4319611E8}"/>
              </a:ext>
            </a:extLst>
          </p:cNvPr>
          <p:cNvSpPr txBox="1"/>
          <p:nvPr/>
        </p:nvSpPr>
        <p:spPr>
          <a:xfrm>
            <a:off x="5083270" y="1154167"/>
            <a:ext cx="1080745" cy="369332"/>
          </a:xfrm>
          <a:prstGeom prst="rect">
            <a:avLst/>
          </a:prstGeom>
          <a:noFill/>
        </p:spPr>
        <p:txBody>
          <a:bodyPr wrap="none" rtlCol="0">
            <a:spAutoFit/>
          </a:bodyPr>
          <a:lstStyle/>
          <a:p>
            <a:r>
              <a:rPr lang="es-CO" b="1">
                <a:solidFill>
                  <a:schemeClr val="bg1"/>
                </a:solidFill>
              </a:rPr>
              <a:t>Medición</a:t>
            </a:r>
          </a:p>
        </p:txBody>
      </p:sp>
      <p:sp>
        <p:nvSpPr>
          <p:cNvPr id="37" name="CuadroTexto 36">
            <a:extLst>
              <a:ext uri="{FF2B5EF4-FFF2-40B4-BE49-F238E27FC236}">
                <a16:creationId xmlns:a16="http://schemas.microsoft.com/office/drawing/2014/main" id="{893F8321-5E14-4C6C-BE54-EA412CDD9D56}"/>
              </a:ext>
            </a:extLst>
          </p:cNvPr>
          <p:cNvSpPr txBox="1"/>
          <p:nvPr/>
        </p:nvSpPr>
        <p:spPr>
          <a:xfrm>
            <a:off x="1189783" y="1154167"/>
            <a:ext cx="340158" cy="461665"/>
          </a:xfrm>
          <a:prstGeom prst="rect">
            <a:avLst/>
          </a:prstGeom>
          <a:noFill/>
        </p:spPr>
        <p:txBody>
          <a:bodyPr wrap="none" rtlCol="0">
            <a:spAutoFit/>
          </a:bodyPr>
          <a:lstStyle/>
          <a:p>
            <a:r>
              <a:rPr lang="es-CO" sz="2400"/>
              <a:t>1</a:t>
            </a:r>
            <a:endParaRPr lang="es-CO"/>
          </a:p>
        </p:txBody>
      </p:sp>
      <p:sp>
        <p:nvSpPr>
          <p:cNvPr id="38" name="CuadroTexto 37">
            <a:extLst>
              <a:ext uri="{FF2B5EF4-FFF2-40B4-BE49-F238E27FC236}">
                <a16:creationId xmlns:a16="http://schemas.microsoft.com/office/drawing/2014/main" id="{3BECDD0C-4CA4-4346-ACA9-FC55129AEF76}"/>
              </a:ext>
            </a:extLst>
          </p:cNvPr>
          <p:cNvSpPr txBox="1"/>
          <p:nvPr/>
        </p:nvSpPr>
        <p:spPr>
          <a:xfrm>
            <a:off x="5377288" y="2422303"/>
            <a:ext cx="340158" cy="461665"/>
          </a:xfrm>
          <a:prstGeom prst="rect">
            <a:avLst/>
          </a:prstGeom>
          <a:noFill/>
        </p:spPr>
        <p:txBody>
          <a:bodyPr wrap="none" rtlCol="0">
            <a:spAutoFit/>
          </a:bodyPr>
          <a:lstStyle/>
          <a:p>
            <a:r>
              <a:rPr lang="es-CO" sz="2400"/>
              <a:t>2</a:t>
            </a:r>
            <a:endParaRPr lang="es-CO"/>
          </a:p>
        </p:txBody>
      </p:sp>
      <p:sp>
        <p:nvSpPr>
          <p:cNvPr id="39" name="CuadroTexto 38">
            <a:extLst>
              <a:ext uri="{FF2B5EF4-FFF2-40B4-BE49-F238E27FC236}">
                <a16:creationId xmlns:a16="http://schemas.microsoft.com/office/drawing/2014/main" id="{F62BDD49-8CEB-4574-AE51-DA18B60CD668}"/>
              </a:ext>
            </a:extLst>
          </p:cNvPr>
          <p:cNvSpPr txBox="1"/>
          <p:nvPr/>
        </p:nvSpPr>
        <p:spPr>
          <a:xfrm>
            <a:off x="1454093" y="3885712"/>
            <a:ext cx="340158" cy="461665"/>
          </a:xfrm>
          <a:prstGeom prst="rect">
            <a:avLst/>
          </a:prstGeom>
          <a:noFill/>
        </p:spPr>
        <p:txBody>
          <a:bodyPr wrap="none" rtlCol="0">
            <a:spAutoFit/>
          </a:bodyPr>
          <a:lstStyle/>
          <a:p>
            <a:r>
              <a:rPr lang="es-CO" sz="2400" dirty="0"/>
              <a:t>6</a:t>
            </a:r>
            <a:endParaRPr lang="es-CO" dirty="0"/>
          </a:p>
        </p:txBody>
      </p:sp>
      <p:sp>
        <p:nvSpPr>
          <p:cNvPr id="40" name="CuadroTexto 39">
            <a:extLst>
              <a:ext uri="{FF2B5EF4-FFF2-40B4-BE49-F238E27FC236}">
                <a16:creationId xmlns:a16="http://schemas.microsoft.com/office/drawing/2014/main" id="{1FC3B7D6-2A2A-47A5-BB25-BA837440A2EC}"/>
              </a:ext>
            </a:extLst>
          </p:cNvPr>
          <p:cNvSpPr txBox="1"/>
          <p:nvPr/>
        </p:nvSpPr>
        <p:spPr>
          <a:xfrm>
            <a:off x="3280041" y="3922554"/>
            <a:ext cx="340158" cy="461665"/>
          </a:xfrm>
          <a:prstGeom prst="rect">
            <a:avLst/>
          </a:prstGeom>
          <a:noFill/>
        </p:spPr>
        <p:txBody>
          <a:bodyPr wrap="none" rtlCol="0">
            <a:spAutoFit/>
          </a:bodyPr>
          <a:lstStyle/>
          <a:p>
            <a:r>
              <a:rPr lang="es-CO" sz="2400" dirty="0"/>
              <a:t>5</a:t>
            </a:r>
            <a:endParaRPr lang="es-CO" dirty="0"/>
          </a:p>
        </p:txBody>
      </p:sp>
      <p:sp>
        <p:nvSpPr>
          <p:cNvPr id="41" name="CuadroTexto 40">
            <a:extLst>
              <a:ext uri="{FF2B5EF4-FFF2-40B4-BE49-F238E27FC236}">
                <a16:creationId xmlns:a16="http://schemas.microsoft.com/office/drawing/2014/main" id="{5F471821-57C3-4B3C-8611-BBD1EC3C0672}"/>
              </a:ext>
            </a:extLst>
          </p:cNvPr>
          <p:cNvSpPr txBox="1"/>
          <p:nvPr/>
        </p:nvSpPr>
        <p:spPr>
          <a:xfrm>
            <a:off x="5446349" y="3922554"/>
            <a:ext cx="340158" cy="461665"/>
          </a:xfrm>
          <a:prstGeom prst="rect">
            <a:avLst/>
          </a:prstGeom>
          <a:noFill/>
        </p:spPr>
        <p:txBody>
          <a:bodyPr wrap="none" rtlCol="0">
            <a:spAutoFit/>
          </a:bodyPr>
          <a:lstStyle/>
          <a:p>
            <a:r>
              <a:rPr lang="es-CO" sz="2400" dirty="0"/>
              <a:t>4</a:t>
            </a:r>
            <a:endParaRPr lang="es-CO" dirty="0"/>
          </a:p>
        </p:txBody>
      </p:sp>
      <p:sp>
        <p:nvSpPr>
          <p:cNvPr id="42" name="CuadroTexto 41">
            <a:extLst>
              <a:ext uri="{FF2B5EF4-FFF2-40B4-BE49-F238E27FC236}">
                <a16:creationId xmlns:a16="http://schemas.microsoft.com/office/drawing/2014/main" id="{0A1E0598-7A54-411E-9D01-C24F4BA9FAC5}"/>
              </a:ext>
            </a:extLst>
          </p:cNvPr>
          <p:cNvSpPr txBox="1"/>
          <p:nvPr/>
        </p:nvSpPr>
        <p:spPr>
          <a:xfrm>
            <a:off x="7600467" y="3909019"/>
            <a:ext cx="340158" cy="461665"/>
          </a:xfrm>
          <a:prstGeom prst="rect">
            <a:avLst/>
          </a:prstGeom>
          <a:noFill/>
        </p:spPr>
        <p:txBody>
          <a:bodyPr wrap="none" rtlCol="0">
            <a:spAutoFit/>
          </a:bodyPr>
          <a:lstStyle/>
          <a:p>
            <a:r>
              <a:rPr lang="es-CO" sz="2400" dirty="0"/>
              <a:t>3</a:t>
            </a:r>
            <a:endParaRPr lang="es-CO" dirty="0"/>
          </a:p>
        </p:txBody>
      </p:sp>
      <p:sp>
        <p:nvSpPr>
          <p:cNvPr id="43" name="CuadroTexto 42">
            <a:extLst>
              <a:ext uri="{FF2B5EF4-FFF2-40B4-BE49-F238E27FC236}">
                <a16:creationId xmlns:a16="http://schemas.microsoft.com/office/drawing/2014/main" id="{A6E6F807-0392-4D5C-9D03-6B234BFB126A}"/>
              </a:ext>
            </a:extLst>
          </p:cNvPr>
          <p:cNvSpPr txBox="1"/>
          <p:nvPr/>
        </p:nvSpPr>
        <p:spPr>
          <a:xfrm>
            <a:off x="2086254" y="4866257"/>
            <a:ext cx="340158" cy="461665"/>
          </a:xfrm>
          <a:prstGeom prst="rect">
            <a:avLst/>
          </a:prstGeom>
          <a:noFill/>
        </p:spPr>
        <p:txBody>
          <a:bodyPr wrap="none" rtlCol="0">
            <a:spAutoFit/>
          </a:bodyPr>
          <a:lstStyle/>
          <a:p>
            <a:r>
              <a:rPr lang="es-CO" sz="2400" dirty="0"/>
              <a:t>7</a:t>
            </a:r>
            <a:endParaRPr lang="es-CO" dirty="0"/>
          </a:p>
        </p:txBody>
      </p:sp>
      <p:sp>
        <p:nvSpPr>
          <p:cNvPr id="4" name="Rectángulo 3">
            <a:extLst>
              <a:ext uri="{FF2B5EF4-FFF2-40B4-BE49-F238E27FC236}">
                <a16:creationId xmlns:a16="http://schemas.microsoft.com/office/drawing/2014/main" id="{BB3CE3BA-9D93-47C9-8374-6383A8FDFDC9}"/>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BAACD391-9317-4B27-9519-AFC76E491811}"/>
              </a:ext>
            </a:extLst>
          </p:cNvPr>
          <p:cNvSpPr txBox="1"/>
          <p:nvPr/>
        </p:nvSpPr>
        <p:spPr>
          <a:xfrm>
            <a:off x="2572871" y="4347377"/>
            <a:ext cx="6212541" cy="260481"/>
          </a:xfrm>
          <a:prstGeom prst="rect">
            <a:avLst/>
          </a:prstGeom>
          <a:noFill/>
        </p:spPr>
        <p:txBody>
          <a:bodyPr vertOverflow="overflow" vert="horz" wrap="square" rtlCol="0" anchor="t">
            <a:noAutofit/>
          </a:bodyPr>
          <a:lstStyle/>
          <a:p>
            <a:pPr algn="l"/>
            <a:r>
              <a:rPr lang="es-ES" sz="1100" dirty="0">
                <a:solidFill>
                  <a:srgbClr val="7F7F7F"/>
                </a:solidFill>
                <a:latin typeface="Calibri"/>
                <a:ea typeface="Calibri"/>
                <a:cs typeface="Calibri"/>
              </a:rPr>
              <a:t>Siete etapas: de la identificación al control, con la medición como bloque central</a:t>
            </a:r>
            <a:endParaRPr lang="es-CO" sz="1100" dirty="0">
              <a:solidFill>
                <a:srgbClr val="7F7F7F"/>
              </a:solidFill>
              <a:latin typeface="Calibri"/>
              <a:ea typeface="Calibri"/>
              <a:cs typeface="Calibri"/>
            </a:endParaRPr>
          </a:p>
        </p:txBody>
      </p:sp>
    </p:spTree>
    <p:extLst>
      <p:ext uri="{BB962C8B-B14F-4D97-AF65-F5344CB8AC3E}">
        <p14:creationId xmlns:p14="http://schemas.microsoft.com/office/powerpoint/2010/main" val="17294241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Etapa 1. Identificación</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168400"/>
            <a:ext cx="8229600" cy="812800"/>
          </a:xfrm>
          <a:solidFill>
            <a:srgbClr val="1F3864"/>
          </a:solidFill>
          <a:ln>
            <a:noFill/>
          </a:ln>
        </p:spPr>
        <p:txBody>
          <a:bodyPr wrap="square" anchor="ctr" anchorCtr="0">
            <a:noAutofit/>
          </a:bodyPr>
          <a:lstStyle/>
          <a:p>
            <a:pPr marL="0" indent="0">
              <a:buNone/>
            </a:pPr>
            <a:r>
              <a:rPr lang="es-ES" sz="1600" b="1">
                <a:solidFill>
                  <a:srgbClr val="FFFFFF"/>
                </a:solidFill>
                <a:latin typeface="Calibri"/>
                <a:ea typeface="Calibri"/>
                <a:cs typeface="Calibri"/>
              </a:rPr>
              <a:t>Las entidades identifican los riesgos a los que están expuestas, considerando sus factores de riesgo.</a:t>
            </a:r>
            <a:endParaRPr lang="es-CO" sz="1600" b="1" dirty="0">
              <a:solidFill>
                <a:srgbClr val="FFFFFF"/>
              </a:solidFill>
              <a:latin typeface="Calibri"/>
              <a:ea typeface="Calibri"/>
              <a:cs typeface="Calibri"/>
            </a:endParaRPr>
          </a:p>
        </p:txBody>
      </p:sp>
      <p:sp>
        <p:nvSpPr>
          <p:cNvPr id="4" name="Rectángulo 3">
            <a:extLst>
              <a:ext uri="{FF2B5EF4-FFF2-40B4-BE49-F238E27FC236}">
                <a16:creationId xmlns:a16="http://schemas.microsoft.com/office/drawing/2014/main" id="{9835C9BA-F148-484C-B64F-CCE625272C5F}"/>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5B7D3629-D93A-4D8E-B67E-689C509553FF}"/>
              </a:ext>
            </a:extLst>
          </p:cNvPr>
          <p:cNvSpPr/>
          <p:nvPr/>
        </p:nvSpPr>
        <p:spPr>
          <a:xfrm>
            <a:off x="457200" y="2184400"/>
            <a:ext cx="8229600" cy="330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ACTIVIDADES DE LA ETAPA</a:t>
            </a:r>
          </a:p>
        </p:txBody>
      </p:sp>
      <p:sp>
        <p:nvSpPr>
          <p:cNvPr id="6" name="Rectángulo 5">
            <a:extLst>
              <a:ext uri="{FF2B5EF4-FFF2-40B4-BE49-F238E27FC236}">
                <a16:creationId xmlns:a16="http://schemas.microsoft.com/office/drawing/2014/main" id="{9CA1A84F-7EBD-45E4-8729-6F2CCED5DC30}"/>
              </a:ext>
            </a:extLst>
          </p:cNvPr>
          <p:cNvSpPr/>
          <p:nvPr/>
        </p:nvSpPr>
        <p:spPr>
          <a:xfrm>
            <a:off x="457200" y="2616200"/>
            <a:ext cx="508000" cy="558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1</a:t>
            </a:r>
          </a:p>
        </p:txBody>
      </p:sp>
      <p:sp>
        <p:nvSpPr>
          <p:cNvPr id="7" name="Rectángulo 6">
            <a:extLst>
              <a:ext uri="{FF2B5EF4-FFF2-40B4-BE49-F238E27FC236}">
                <a16:creationId xmlns:a16="http://schemas.microsoft.com/office/drawing/2014/main" id="{0F3D0B2B-F217-4DFA-BF23-0B16BAC2E4B0}"/>
              </a:ext>
            </a:extLst>
          </p:cNvPr>
          <p:cNvSpPr/>
          <p:nvPr/>
        </p:nvSpPr>
        <p:spPr>
          <a:xfrm>
            <a:off x="1016000" y="2616200"/>
            <a:ext cx="76708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Identificar y documentar la totalidad de los procesos.</a:t>
            </a:r>
            <a:endParaRPr lang="es-CO" sz="1400">
              <a:solidFill>
                <a:srgbClr val="404040"/>
              </a:solidFill>
              <a:latin typeface="Calibri"/>
              <a:ea typeface="Calibri"/>
              <a:cs typeface="Calibri"/>
            </a:endParaRPr>
          </a:p>
        </p:txBody>
      </p:sp>
      <p:sp>
        <p:nvSpPr>
          <p:cNvPr id="8" name="Rectángulo 7">
            <a:extLst>
              <a:ext uri="{FF2B5EF4-FFF2-40B4-BE49-F238E27FC236}">
                <a16:creationId xmlns:a16="http://schemas.microsoft.com/office/drawing/2014/main" id="{62329529-ED13-419C-BB16-59BBFCDC447C}"/>
              </a:ext>
            </a:extLst>
          </p:cNvPr>
          <p:cNvSpPr/>
          <p:nvPr/>
        </p:nvSpPr>
        <p:spPr>
          <a:xfrm>
            <a:off x="457200" y="3302000"/>
            <a:ext cx="508000" cy="558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2</a:t>
            </a:r>
          </a:p>
        </p:txBody>
      </p:sp>
      <p:sp>
        <p:nvSpPr>
          <p:cNvPr id="9" name="Rectángulo 8">
            <a:extLst>
              <a:ext uri="{FF2B5EF4-FFF2-40B4-BE49-F238E27FC236}">
                <a16:creationId xmlns:a16="http://schemas.microsoft.com/office/drawing/2014/main" id="{BCCD5EEE-50AA-474E-BC72-0653E4640CD2}"/>
              </a:ext>
            </a:extLst>
          </p:cNvPr>
          <p:cNvSpPr/>
          <p:nvPr/>
        </p:nvSpPr>
        <p:spPr>
          <a:xfrm>
            <a:off x="1016000" y="3302000"/>
            <a:ext cx="76708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Establecer metodologías de identificación aplicables a esos procesos.</a:t>
            </a:r>
            <a:endParaRPr lang="es-CO" sz="1400">
              <a:solidFill>
                <a:srgbClr val="404040"/>
              </a:solidFill>
              <a:latin typeface="Calibri"/>
              <a:ea typeface="Calibri"/>
              <a:cs typeface="Calibri"/>
            </a:endParaRPr>
          </a:p>
        </p:txBody>
      </p:sp>
      <p:sp>
        <p:nvSpPr>
          <p:cNvPr id="10" name="Rectángulo 9">
            <a:extLst>
              <a:ext uri="{FF2B5EF4-FFF2-40B4-BE49-F238E27FC236}">
                <a16:creationId xmlns:a16="http://schemas.microsoft.com/office/drawing/2014/main" id="{2F95E256-3030-448D-87DE-18E81D0DF620}"/>
              </a:ext>
            </a:extLst>
          </p:cNvPr>
          <p:cNvSpPr/>
          <p:nvPr/>
        </p:nvSpPr>
        <p:spPr>
          <a:xfrm>
            <a:off x="457200" y="3987800"/>
            <a:ext cx="508000" cy="558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3</a:t>
            </a:r>
          </a:p>
        </p:txBody>
      </p:sp>
      <p:sp>
        <p:nvSpPr>
          <p:cNvPr id="11" name="Rectángulo 10">
            <a:extLst>
              <a:ext uri="{FF2B5EF4-FFF2-40B4-BE49-F238E27FC236}">
                <a16:creationId xmlns:a16="http://schemas.microsoft.com/office/drawing/2014/main" id="{38229548-C020-4D73-B47C-834322B1AB5C}"/>
              </a:ext>
            </a:extLst>
          </p:cNvPr>
          <p:cNvSpPr/>
          <p:nvPr/>
        </p:nvSpPr>
        <p:spPr>
          <a:xfrm>
            <a:off x="1016000" y="3987800"/>
            <a:ext cx="76708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Identificar los riesgos potenciales y ocurridos en cada proceso.</a:t>
            </a:r>
            <a:endParaRPr lang="es-CO" sz="1400">
              <a:solidFill>
                <a:srgbClr val="404040"/>
              </a:solidFill>
              <a:latin typeface="Calibri"/>
              <a:ea typeface="Calibri"/>
              <a:cs typeface="Calibri"/>
            </a:endParaRPr>
          </a:p>
        </p:txBody>
      </p:sp>
      <p:sp>
        <p:nvSpPr>
          <p:cNvPr id="12" name="Rectángulo 11">
            <a:extLst>
              <a:ext uri="{FF2B5EF4-FFF2-40B4-BE49-F238E27FC236}">
                <a16:creationId xmlns:a16="http://schemas.microsoft.com/office/drawing/2014/main" id="{6BD53BD4-B1B1-4AF7-A985-5E9107D7EC31}"/>
              </a:ext>
            </a:extLst>
          </p:cNvPr>
          <p:cNvSpPr/>
          <p:nvPr/>
        </p:nvSpPr>
        <p:spPr>
          <a:xfrm>
            <a:off x="457200" y="4749800"/>
            <a:ext cx="8229600" cy="685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La identificación se hace antes de implementar o modificar un proceso, y también en fusiones, adquisiciones y cesiones.</a:t>
            </a:r>
            <a:endParaRPr lang="es-CO" sz="1400">
              <a:solidFill>
                <a:srgbClr val="404040"/>
              </a:solidFill>
              <a:latin typeface="Calibri"/>
              <a:ea typeface="Calibri"/>
              <a:cs typeface="Calibri"/>
            </a:endParaRPr>
          </a:p>
        </p:txBody>
      </p:sp>
    </p:spTree>
    <p:extLst>
      <p:ext uri="{BB962C8B-B14F-4D97-AF65-F5344CB8AC3E}">
        <p14:creationId xmlns:p14="http://schemas.microsoft.com/office/powerpoint/2010/main" val="4261639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ES" sz="3000" b="1">
                <a:solidFill>
                  <a:srgbClr val="1F3864"/>
                </a:solidFill>
                <a:latin typeface="Calibri"/>
                <a:ea typeface="Calibri"/>
                <a:cs typeface="Calibri"/>
              </a:rPr>
              <a:t>Técnicas de identificación de riesgos</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168400"/>
            <a:ext cx="3302000" cy="635000"/>
          </a:xfrm>
          <a:solidFill>
            <a:srgbClr val="1F3864"/>
          </a:solidFill>
          <a:ln>
            <a:noFill/>
          </a:ln>
        </p:spPr>
        <p:txBody>
          <a:bodyPr wrap="square" anchor="ctr" anchorCtr="0">
            <a:noAutofit/>
          </a:bodyPr>
          <a:lstStyle/>
          <a:p>
            <a:pPr marL="0" indent="0" algn="l">
              <a:buNone/>
            </a:pPr>
            <a:r>
              <a:rPr lang="es-CO" sz="1500" b="1">
                <a:solidFill>
                  <a:srgbClr val="FFFFFF"/>
                </a:solidFill>
                <a:latin typeface="Calibri"/>
                <a:ea typeface="Calibri"/>
                <a:cs typeface="Calibri"/>
              </a:rPr>
              <a:t>Cinco técnicas de uso corriente</a:t>
            </a:r>
            <a:endParaRPr lang="es-CO" sz="1500" b="1" dirty="0">
              <a:solidFill>
                <a:srgbClr val="FFFFFF"/>
              </a:solidFill>
              <a:latin typeface="Calibri"/>
              <a:ea typeface="Calibri"/>
              <a:cs typeface="Calibri"/>
            </a:endParaRPr>
          </a:p>
        </p:txBody>
      </p:sp>
      <p:pic>
        <p:nvPicPr>
          <p:cNvPr id="4" name="Picture 2" descr="Resultado de imagen para proyec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0200" y="1270000"/>
            <a:ext cx="4546600" cy="368300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B29577D7-F1B6-4117-8010-055F7C597CD0}"/>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657B42E8-A714-4A8F-8A97-1FC7E4B93123}"/>
              </a:ext>
            </a:extLst>
          </p:cNvPr>
          <p:cNvSpPr/>
          <p:nvPr/>
        </p:nvSpPr>
        <p:spPr>
          <a:xfrm>
            <a:off x="457200" y="1955800"/>
            <a:ext cx="33020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Lluvia de ideas</a:t>
            </a:r>
          </a:p>
        </p:txBody>
      </p:sp>
      <p:sp>
        <p:nvSpPr>
          <p:cNvPr id="7" name="Rectángulo 6">
            <a:extLst>
              <a:ext uri="{FF2B5EF4-FFF2-40B4-BE49-F238E27FC236}">
                <a16:creationId xmlns:a16="http://schemas.microsoft.com/office/drawing/2014/main" id="{0AD306AC-B11C-47C4-A05C-E2ADBBC3C0A9}"/>
              </a:ext>
            </a:extLst>
          </p:cNvPr>
          <p:cNvSpPr/>
          <p:nvPr/>
        </p:nvSpPr>
        <p:spPr>
          <a:xfrm>
            <a:off x="457200" y="2616200"/>
            <a:ext cx="33020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Lista de chequeo</a:t>
            </a:r>
          </a:p>
        </p:txBody>
      </p:sp>
      <p:sp>
        <p:nvSpPr>
          <p:cNvPr id="8" name="Rectángulo 7">
            <a:extLst>
              <a:ext uri="{FF2B5EF4-FFF2-40B4-BE49-F238E27FC236}">
                <a16:creationId xmlns:a16="http://schemas.microsoft.com/office/drawing/2014/main" id="{AA024386-2C26-43D5-BBBB-06FBD776C62D}"/>
              </a:ext>
            </a:extLst>
          </p:cNvPr>
          <p:cNvSpPr/>
          <p:nvPr/>
        </p:nvSpPr>
        <p:spPr>
          <a:xfrm>
            <a:off x="457200" y="3276600"/>
            <a:ext cx="33020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Entrevistas</a:t>
            </a:r>
          </a:p>
        </p:txBody>
      </p:sp>
      <p:sp>
        <p:nvSpPr>
          <p:cNvPr id="9" name="Rectángulo 8">
            <a:extLst>
              <a:ext uri="{FF2B5EF4-FFF2-40B4-BE49-F238E27FC236}">
                <a16:creationId xmlns:a16="http://schemas.microsoft.com/office/drawing/2014/main" id="{357326DE-C532-4142-B697-1ECF439FE125}"/>
              </a:ext>
            </a:extLst>
          </p:cNvPr>
          <p:cNvSpPr/>
          <p:nvPr/>
        </p:nvSpPr>
        <p:spPr>
          <a:xfrm>
            <a:off x="457200" y="3937000"/>
            <a:ext cx="33020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Encuestas</a:t>
            </a:r>
          </a:p>
        </p:txBody>
      </p:sp>
      <p:sp>
        <p:nvSpPr>
          <p:cNvPr id="10" name="Rectángulo 9">
            <a:extLst>
              <a:ext uri="{FF2B5EF4-FFF2-40B4-BE49-F238E27FC236}">
                <a16:creationId xmlns:a16="http://schemas.microsoft.com/office/drawing/2014/main" id="{F1CB3F3C-932F-4424-B5B5-C1C86B28E67F}"/>
              </a:ext>
            </a:extLst>
          </p:cNvPr>
          <p:cNvSpPr/>
          <p:nvPr/>
        </p:nvSpPr>
        <p:spPr>
          <a:xfrm>
            <a:off x="457200" y="4597400"/>
            <a:ext cx="3302000" cy="558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500" b="1">
                <a:solidFill>
                  <a:srgbClr val="1F3864"/>
                </a:solidFill>
                <a:latin typeface="Calibri"/>
                <a:ea typeface="Calibri"/>
                <a:cs typeface="Calibri"/>
              </a:rPr>
              <a:t>Método Delphi</a:t>
            </a:r>
          </a:p>
        </p:txBody>
      </p:sp>
      <p:sp>
        <p:nvSpPr>
          <p:cNvPr id="11" name="CuadroTexto 10">
            <a:extLst>
              <a:ext uri="{FF2B5EF4-FFF2-40B4-BE49-F238E27FC236}">
                <a16:creationId xmlns:a16="http://schemas.microsoft.com/office/drawing/2014/main" id="{492E1E65-0C3E-4474-AACE-8183BCF0D5C6}"/>
              </a:ext>
            </a:extLst>
          </p:cNvPr>
          <p:cNvSpPr txBox="1"/>
          <p:nvPr/>
        </p:nvSpPr>
        <p:spPr>
          <a:xfrm>
            <a:off x="457200" y="52832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Cada técnica se detalla en las diapositivas siguientes</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959341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0C292E1D-9BD1-4795-80C4-3516E44645EE}"/>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TÉCNICAS DE IDENTIFICACIÓN · 1 DE 5</a:t>
            </a:r>
            <a:endParaRPr lang="es-CO" sz="1200" b="1">
              <a:solidFill>
                <a:srgbClr val="ED7D31"/>
              </a:solidFill>
              <a:latin typeface="Calibri"/>
              <a:ea typeface="Calibri"/>
              <a:cs typeface="Calibri"/>
            </a:endParaRPr>
          </a:p>
        </p:txBody>
      </p:sp>
      <p:sp>
        <p:nvSpPr>
          <p:cNvPr id="5" name="CuadroTexto 4">
            <a:extLst>
              <a:ext uri="{FF2B5EF4-FFF2-40B4-BE49-F238E27FC236}">
                <a16:creationId xmlns:a16="http://schemas.microsoft.com/office/drawing/2014/main" id="{7124C4C0-54C4-43E5-8CA7-B45E5F7E101D}"/>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Lluvia de ideas</a:t>
            </a:r>
          </a:p>
        </p:txBody>
      </p:sp>
      <p:sp>
        <p:nvSpPr>
          <p:cNvPr id="6" name="Rectángulo 5">
            <a:extLst>
              <a:ext uri="{FF2B5EF4-FFF2-40B4-BE49-F238E27FC236}">
                <a16:creationId xmlns:a16="http://schemas.microsoft.com/office/drawing/2014/main" id="{1287CC4B-B45E-43F5-AA03-97BE3D9DE805}"/>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A12A9D1F-948A-41AB-838F-48DFAD6912A3}"/>
              </a:ext>
            </a:extLst>
          </p:cNvPr>
          <p:cNvSpPr/>
          <p:nvPr/>
        </p:nvSpPr>
        <p:spPr>
          <a:xfrm>
            <a:off x="457200" y="1346200"/>
            <a:ext cx="1397000" cy="10795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PROCESO</a:t>
            </a:r>
          </a:p>
        </p:txBody>
      </p:sp>
      <p:sp>
        <p:nvSpPr>
          <p:cNvPr id="8" name="Rectángulo 7">
            <a:extLst>
              <a:ext uri="{FF2B5EF4-FFF2-40B4-BE49-F238E27FC236}">
                <a16:creationId xmlns:a16="http://schemas.microsoft.com/office/drawing/2014/main" id="{C22E5CF3-5754-46AB-B44F-DA08F9624CB9}"/>
              </a:ext>
            </a:extLst>
          </p:cNvPr>
          <p:cNvSpPr/>
          <p:nvPr/>
        </p:nvSpPr>
        <p:spPr>
          <a:xfrm>
            <a:off x="1905000" y="1346200"/>
            <a:ext cx="6781800" cy="10795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Preparación de la reunión: objetivos y reglas de juego
El facilitador propicia la discusión y la participación de los expertos
Se plasman las ideas presentadas</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743EE213-5161-48B4-8AD1-1D0C08F897FA}"/>
              </a:ext>
            </a:extLst>
          </p:cNvPr>
          <p:cNvSpPr/>
          <p:nvPr/>
        </p:nvSpPr>
        <p:spPr>
          <a:xfrm>
            <a:off x="457200" y="2552700"/>
            <a:ext cx="1397000" cy="10795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VENTAJAS</a:t>
            </a:r>
          </a:p>
        </p:txBody>
      </p:sp>
      <p:sp>
        <p:nvSpPr>
          <p:cNvPr id="10" name="Rectángulo 9">
            <a:extLst>
              <a:ext uri="{FF2B5EF4-FFF2-40B4-BE49-F238E27FC236}">
                <a16:creationId xmlns:a16="http://schemas.microsoft.com/office/drawing/2014/main" id="{013B8850-246D-4DAF-9944-1BE82582F6A7}"/>
              </a:ext>
            </a:extLst>
          </p:cNvPr>
          <p:cNvSpPr/>
          <p:nvPr/>
        </p:nvSpPr>
        <p:spPr>
          <a:xfrm>
            <a:off x="1905000" y="2552700"/>
            <a:ext cx="6781800" cy="10795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Estimula la imaginación para identificar riesgos nuevos
Facilita la comunicación entre actores distintos
Es relativamente rápida y fácil</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EC2CB18E-C5ED-459E-BD98-3BA383D8FF55}"/>
              </a:ext>
            </a:extLst>
          </p:cNvPr>
          <p:cNvSpPr/>
          <p:nvPr/>
        </p:nvSpPr>
        <p:spPr>
          <a:xfrm>
            <a:off x="457200" y="3759200"/>
            <a:ext cx="1397000" cy="10795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DESVENTAJAS</a:t>
            </a:r>
          </a:p>
        </p:txBody>
      </p:sp>
      <p:sp>
        <p:nvSpPr>
          <p:cNvPr id="12" name="Rectángulo 11">
            <a:extLst>
              <a:ext uri="{FF2B5EF4-FFF2-40B4-BE49-F238E27FC236}">
                <a16:creationId xmlns:a16="http://schemas.microsoft.com/office/drawing/2014/main" id="{225209BA-90B5-4243-992F-79E68E3AD2D4}"/>
              </a:ext>
            </a:extLst>
          </p:cNvPr>
          <p:cNvSpPr/>
          <p:nvPr/>
        </p:nvSpPr>
        <p:spPr>
          <a:xfrm>
            <a:off x="1905000" y="3759200"/>
            <a:ext cx="6781800" cy="10795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Los participantes pueden carecer de conocimiento
Es difícil demostrar que no falta ningún riesgo
Algunas personas se sienten intimidadas para participar</a:t>
            </a:r>
            <a:endParaRPr lang="es-CO" sz="1400">
              <a:solidFill>
                <a:srgbClr val="404040"/>
              </a:solidFill>
              <a:latin typeface="Calibri"/>
              <a:ea typeface="Calibri"/>
              <a:cs typeface="Calibri"/>
            </a:endParaRPr>
          </a:p>
        </p:txBody>
      </p:sp>
    </p:spTree>
    <p:extLst>
      <p:ext uri="{BB962C8B-B14F-4D97-AF65-F5344CB8AC3E}">
        <p14:creationId xmlns:p14="http://schemas.microsoft.com/office/powerpoint/2010/main" val="7644445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A8421ED-CE52-42C2-92E7-6FE95C4B4987}"/>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TÉCNICAS DE IDENTIFICACIÓN · 2 DE 5</a:t>
            </a:r>
            <a:endParaRPr lang="es-CO" sz="1200" b="1">
              <a:solidFill>
                <a:srgbClr val="ED7D31"/>
              </a:solidFill>
              <a:latin typeface="Calibri"/>
              <a:ea typeface="Calibri"/>
              <a:cs typeface="Calibri"/>
            </a:endParaRPr>
          </a:p>
        </p:txBody>
      </p:sp>
      <p:sp>
        <p:nvSpPr>
          <p:cNvPr id="5" name="CuadroTexto 4">
            <a:extLst>
              <a:ext uri="{FF2B5EF4-FFF2-40B4-BE49-F238E27FC236}">
                <a16:creationId xmlns:a16="http://schemas.microsoft.com/office/drawing/2014/main" id="{52A7CE8A-019F-46FC-BD3F-CD2491B432D8}"/>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Listas de chequeo</a:t>
            </a:r>
          </a:p>
        </p:txBody>
      </p:sp>
      <p:sp>
        <p:nvSpPr>
          <p:cNvPr id="6" name="Rectángulo 5">
            <a:extLst>
              <a:ext uri="{FF2B5EF4-FFF2-40B4-BE49-F238E27FC236}">
                <a16:creationId xmlns:a16="http://schemas.microsoft.com/office/drawing/2014/main" id="{BA2AFBAD-90E2-428F-8952-3DEA56238E1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707EA433-ED92-41D4-8632-65EEAB7E22B8}"/>
              </a:ext>
            </a:extLst>
          </p:cNvPr>
          <p:cNvSpPr/>
          <p:nvPr/>
        </p:nvSpPr>
        <p:spPr>
          <a:xfrm>
            <a:off x="457200" y="1346200"/>
            <a:ext cx="1397000" cy="10795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PROCESO</a:t>
            </a:r>
          </a:p>
        </p:txBody>
      </p:sp>
      <p:sp>
        <p:nvSpPr>
          <p:cNvPr id="8" name="Rectángulo 7">
            <a:extLst>
              <a:ext uri="{FF2B5EF4-FFF2-40B4-BE49-F238E27FC236}">
                <a16:creationId xmlns:a16="http://schemas.microsoft.com/office/drawing/2014/main" id="{AA76757B-C8E2-430F-84F4-BD7F293D2373}"/>
              </a:ext>
            </a:extLst>
          </p:cNvPr>
          <p:cNvSpPr/>
          <p:nvPr/>
        </p:nvSpPr>
        <p:spPr>
          <a:xfrm>
            <a:off x="1905000" y="1346200"/>
            <a:ext cx="6781800" cy="10795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Se define el objetivo y el alcance de la actividad
Se selecciona la lista de chequeo
Se convoca un grupo de expertos para analizarla</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DD1F9976-6D3C-4BE3-A878-574BBBFD6CA1}"/>
              </a:ext>
            </a:extLst>
          </p:cNvPr>
          <p:cNvSpPr/>
          <p:nvPr/>
        </p:nvSpPr>
        <p:spPr>
          <a:xfrm>
            <a:off x="457200" y="2552700"/>
            <a:ext cx="1397000" cy="812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VENTAJAS</a:t>
            </a:r>
          </a:p>
        </p:txBody>
      </p:sp>
      <p:sp>
        <p:nvSpPr>
          <p:cNvPr id="10" name="Rectángulo 9">
            <a:extLst>
              <a:ext uri="{FF2B5EF4-FFF2-40B4-BE49-F238E27FC236}">
                <a16:creationId xmlns:a16="http://schemas.microsoft.com/office/drawing/2014/main" id="{CF426875-BD7A-4E4E-A0A1-ECB2DBEAE5EB}"/>
              </a:ext>
            </a:extLst>
          </p:cNvPr>
          <p:cNvSpPr/>
          <p:nvPr/>
        </p:nvSpPr>
        <p:spPr>
          <a:xfrm>
            <a:off x="1905000" y="2552700"/>
            <a:ext cx="67818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La puede usar un grupo no experto en riesgos
Aprovecha experiencias pasadas y es fácil de usar</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8400D316-6A53-45CB-B0B1-448B110BB01B}"/>
              </a:ext>
            </a:extLst>
          </p:cNvPr>
          <p:cNvSpPr/>
          <p:nvPr/>
        </p:nvSpPr>
        <p:spPr>
          <a:xfrm>
            <a:off x="457200" y="3492500"/>
            <a:ext cx="1397000" cy="812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DESVENTAJAS</a:t>
            </a:r>
          </a:p>
        </p:txBody>
      </p:sp>
      <p:sp>
        <p:nvSpPr>
          <p:cNvPr id="12" name="Rectángulo 11">
            <a:extLst>
              <a:ext uri="{FF2B5EF4-FFF2-40B4-BE49-F238E27FC236}">
                <a16:creationId xmlns:a16="http://schemas.microsoft.com/office/drawing/2014/main" id="{34D77E6F-5337-4304-A197-3B546DCE26FD}"/>
              </a:ext>
            </a:extLst>
          </p:cNvPr>
          <p:cNvSpPr/>
          <p:nvPr/>
        </p:nvSpPr>
        <p:spPr>
          <a:xfrm>
            <a:off x="1905000" y="3492500"/>
            <a:ext cx="67818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Limita la imaginación a lo que ya está en la lista
No se identifican riesgos que la lista no contempla</a:t>
            </a:r>
            <a:endParaRPr lang="es-CO" sz="1400">
              <a:solidFill>
                <a:srgbClr val="404040"/>
              </a:solidFill>
              <a:latin typeface="Calibri"/>
              <a:ea typeface="Calibri"/>
              <a:cs typeface="Calibri"/>
            </a:endParaRPr>
          </a:p>
        </p:txBody>
      </p:sp>
    </p:spTree>
    <p:extLst>
      <p:ext uri="{BB962C8B-B14F-4D97-AF65-F5344CB8AC3E}">
        <p14:creationId xmlns:p14="http://schemas.microsoft.com/office/powerpoint/2010/main" val="7788336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80FE2A38-3B95-4B22-BF3B-87F98051670C}"/>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TÉCNICAS DE IDENTIFICACIÓN · 3 DE 5</a:t>
            </a:r>
            <a:endParaRPr lang="es-CO" sz="1200" b="1">
              <a:solidFill>
                <a:srgbClr val="ED7D31"/>
              </a:solidFill>
              <a:latin typeface="Calibri"/>
              <a:ea typeface="Calibri"/>
              <a:cs typeface="Calibri"/>
            </a:endParaRPr>
          </a:p>
        </p:txBody>
      </p:sp>
      <p:sp>
        <p:nvSpPr>
          <p:cNvPr id="5" name="CuadroTexto 4">
            <a:extLst>
              <a:ext uri="{FF2B5EF4-FFF2-40B4-BE49-F238E27FC236}">
                <a16:creationId xmlns:a16="http://schemas.microsoft.com/office/drawing/2014/main" id="{69DD83C4-DD3D-4693-993D-BE85C23734B1}"/>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Entrevistas</a:t>
            </a:r>
          </a:p>
        </p:txBody>
      </p:sp>
      <p:sp>
        <p:nvSpPr>
          <p:cNvPr id="6" name="Rectángulo 5">
            <a:extLst>
              <a:ext uri="{FF2B5EF4-FFF2-40B4-BE49-F238E27FC236}">
                <a16:creationId xmlns:a16="http://schemas.microsoft.com/office/drawing/2014/main" id="{9C62ABA7-CCE9-4156-8457-C31C5490E47A}"/>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1049786B-4BFE-42B3-8F4A-AA1A7FD846FE}"/>
              </a:ext>
            </a:extLst>
          </p:cNvPr>
          <p:cNvSpPr/>
          <p:nvPr/>
        </p:nvSpPr>
        <p:spPr>
          <a:xfrm>
            <a:off x="457200" y="1346200"/>
            <a:ext cx="1397000" cy="10795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PROCESO</a:t>
            </a:r>
          </a:p>
        </p:txBody>
      </p:sp>
      <p:sp>
        <p:nvSpPr>
          <p:cNvPr id="8" name="Rectángulo 7">
            <a:extLst>
              <a:ext uri="{FF2B5EF4-FFF2-40B4-BE49-F238E27FC236}">
                <a16:creationId xmlns:a16="http://schemas.microsoft.com/office/drawing/2014/main" id="{873FCF26-81E6-466D-BADC-4B0548575B8C}"/>
              </a:ext>
            </a:extLst>
          </p:cNvPr>
          <p:cNvSpPr/>
          <p:nvPr/>
        </p:nvSpPr>
        <p:spPr>
          <a:xfrm>
            <a:off x="1905000" y="1346200"/>
            <a:ext cx="6781800" cy="10795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Se define el objetivo, los entrevistados y las preguntas
Preguntas abiertas, simples y en lenguaje claro
La entrevista se desarrolla con flexibilidad</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6F5BBD14-CE56-4501-974B-B3CB96FE17DF}"/>
              </a:ext>
            </a:extLst>
          </p:cNvPr>
          <p:cNvSpPr/>
          <p:nvPr/>
        </p:nvSpPr>
        <p:spPr>
          <a:xfrm>
            <a:off x="457200" y="2552700"/>
            <a:ext cx="1397000" cy="812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VENTAJAS</a:t>
            </a:r>
          </a:p>
        </p:txBody>
      </p:sp>
      <p:sp>
        <p:nvSpPr>
          <p:cNvPr id="10" name="Rectángulo 9">
            <a:extLst>
              <a:ext uri="{FF2B5EF4-FFF2-40B4-BE49-F238E27FC236}">
                <a16:creationId xmlns:a16="http://schemas.microsoft.com/office/drawing/2014/main" id="{AD71D8C9-5899-4BD2-91CF-10E86D467BBA}"/>
              </a:ext>
            </a:extLst>
          </p:cNvPr>
          <p:cNvSpPr/>
          <p:nvPr/>
        </p:nvSpPr>
        <p:spPr>
          <a:xfrm>
            <a:off x="1905000" y="2552700"/>
            <a:ext cx="67818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Los temas se tratan con mayor profundidad
Participa un número mayor de personas</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EDB1D55F-D98F-4F01-9031-39F58918884B}"/>
              </a:ext>
            </a:extLst>
          </p:cNvPr>
          <p:cNvSpPr/>
          <p:nvPr/>
        </p:nvSpPr>
        <p:spPr>
          <a:xfrm>
            <a:off x="457200" y="3492500"/>
            <a:ext cx="1397000" cy="10795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DESVENTAJAS</a:t>
            </a:r>
          </a:p>
        </p:txBody>
      </p:sp>
      <p:sp>
        <p:nvSpPr>
          <p:cNvPr id="12" name="Rectángulo 11">
            <a:extLst>
              <a:ext uri="{FF2B5EF4-FFF2-40B4-BE49-F238E27FC236}">
                <a16:creationId xmlns:a16="http://schemas.microsoft.com/office/drawing/2014/main" id="{0AD8ED09-F808-47F6-BFE3-6A59C22213DC}"/>
              </a:ext>
            </a:extLst>
          </p:cNvPr>
          <p:cNvSpPr/>
          <p:nvPr/>
        </p:nvSpPr>
        <p:spPr>
          <a:xfrm>
            <a:off x="1905000" y="3492500"/>
            <a:ext cx="6781800" cy="10795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El tiempo para identificar los riesgos es largo
El sesgo no se elimina como en un grupo de discusión
No se logra activar la imaginación</a:t>
            </a:r>
            <a:endParaRPr lang="es-CO" sz="1400">
              <a:solidFill>
                <a:srgbClr val="404040"/>
              </a:solidFill>
              <a:latin typeface="Calibri"/>
              <a:ea typeface="Calibri"/>
              <a:cs typeface="Calibri"/>
            </a:endParaRPr>
          </a:p>
        </p:txBody>
      </p:sp>
    </p:spTree>
    <p:extLst>
      <p:ext uri="{BB962C8B-B14F-4D97-AF65-F5344CB8AC3E}">
        <p14:creationId xmlns:p14="http://schemas.microsoft.com/office/powerpoint/2010/main" val="40280210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BBDA5404-A5CC-4260-A241-E76865E8B696}"/>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TÉCNICAS DE IDENTIFICACIÓN · 4 DE 5</a:t>
            </a:r>
            <a:endParaRPr lang="es-CO" sz="1200" b="1">
              <a:solidFill>
                <a:srgbClr val="ED7D31"/>
              </a:solidFill>
              <a:latin typeface="Calibri"/>
              <a:ea typeface="Calibri"/>
              <a:cs typeface="Calibri"/>
            </a:endParaRPr>
          </a:p>
        </p:txBody>
      </p:sp>
      <p:sp>
        <p:nvSpPr>
          <p:cNvPr id="5" name="CuadroTexto 4">
            <a:extLst>
              <a:ext uri="{FF2B5EF4-FFF2-40B4-BE49-F238E27FC236}">
                <a16:creationId xmlns:a16="http://schemas.microsoft.com/office/drawing/2014/main" id="{EB7790A9-1E30-479C-B876-E8ED2C4B7A39}"/>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Encuesta</a:t>
            </a:r>
          </a:p>
        </p:txBody>
      </p:sp>
      <p:sp>
        <p:nvSpPr>
          <p:cNvPr id="6" name="Rectángulo 5">
            <a:extLst>
              <a:ext uri="{FF2B5EF4-FFF2-40B4-BE49-F238E27FC236}">
                <a16:creationId xmlns:a16="http://schemas.microsoft.com/office/drawing/2014/main" id="{5371765C-48F0-4A32-9EBC-07DDCF2370BA}"/>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B4D50140-F96F-4519-810E-3D8CC9302289}"/>
              </a:ext>
            </a:extLst>
          </p:cNvPr>
          <p:cNvSpPr/>
          <p:nvPr/>
        </p:nvSpPr>
        <p:spPr>
          <a:xfrm>
            <a:off x="457200" y="1346200"/>
            <a:ext cx="1397000" cy="10795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PROCESO</a:t>
            </a:r>
          </a:p>
        </p:txBody>
      </p:sp>
      <p:sp>
        <p:nvSpPr>
          <p:cNvPr id="8" name="Rectángulo 7">
            <a:extLst>
              <a:ext uri="{FF2B5EF4-FFF2-40B4-BE49-F238E27FC236}">
                <a16:creationId xmlns:a16="http://schemas.microsoft.com/office/drawing/2014/main" id="{FC6CEFA4-83A2-4313-B440-9900BBCD1A72}"/>
              </a:ext>
            </a:extLst>
          </p:cNvPr>
          <p:cNvSpPr/>
          <p:nvPr/>
        </p:nvSpPr>
        <p:spPr>
          <a:xfrm>
            <a:off x="1905000" y="1346200"/>
            <a:ext cx="6781800" cy="10795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Se define el objetivo, los encuestados y las preguntas
Se desarrolla la encuesta
Se reciben las respuestas, se analizan y se consolidan</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3F8DB99C-B949-4193-8C09-0FAA0FF75042}"/>
              </a:ext>
            </a:extLst>
          </p:cNvPr>
          <p:cNvSpPr/>
          <p:nvPr/>
        </p:nvSpPr>
        <p:spPr>
          <a:xfrm>
            <a:off x="457200" y="2552700"/>
            <a:ext cx="1397000" cy="812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VENTAJAS</a:t>
            </a:r>
          </a:p>
        </p:txBody>
      </p:sp>
      <p:sp>
        <p:nvSpPr>
          <p:cNvPr id="10" name="Rectángulo 9">
            <a:extLst>
              <a:ext uri="{FF2B5EF4-FFF2-40B4-BE49-F238E27FC236}">
                <a16:creationId xmlns:a16="http://schemas.microsoft.com/office/drawing/2014/main" id="{D59F73BA-6A28-4F7C-BBB1-94312B6977F4}"/>
              </a:ext>
            </a:extLst>
          </p:cNvPr>
          <p:cNvSpPr/>
          <p:nvPr/>
        </p:nvSpPr>
        <p:spPr>
          <a:xfrm>
            <a:off x="1905000" y="2552700"/>
            <a:ext cx="67818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Las ideas se expresan de manera libre
No exige reunir a las personas en un mismo lugar y momento</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37F2B42E-957E-43EA-8C5E-97E854EE7E72}"/>
              </a:ext>
            </a:extLst>
          </p:cNvPr>
          <p:cNvSpPr/>
          <p:nvPr/>
        </p:nvSpPr>
        <p:spPr>
          <a:xfrm>
            <a:off x="457200" y="3492500"/>
            <a:ext cx="1397000" cy="10795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DESVENTAJAS</a:t>
            </a:r>
          </a:p>
        </p:txBody>
      </p:sp>
      <p:sp>
        <p:nvSpPr>
          <p:cNvPr id="12" name="Rectángulo 11">
            <a:extLst>
              <a:ext uri="{FF2B5EF4-FFF2-40B4-BE49-F238E27FC236}">
                <a16:creationId xmlns:a16="http://schemas.microsoft.com/office/drawing/2014/main" id="{2CD41A93-A150-4CA6-8A84-E8D8B4DBBD81}"/>
              </a:ext>
            </a:extLst>
          </p:cNvPr>
          <p:cNvSpPr/>
          <p:nvPr/>
        </p:nvSpPr>
        <p:spPr>
          <a:xfrm>
            <a:off x="1905000" y="3492500"/>
            <a:ext cx="6781800" cy="10795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Requiere mucho tiempo
Las personas pueden no responder
La consolidación de respuestas genera dificultades</a:t>
            </a:r>
            <a:endParaRPr lang="es-CO" sz="1400">
              <a:solidFill>
                <a:srgbClr val="404040"/>
              </a:solidFill>
              <a:latin typeface="Calibri"/>
              <a:ea typeface="Calibri"/>
              <a:cs typeface="Calibri"/>
            </a:endParaRPr>
          </a:p>
        </p:txBody>
      </p:sp>
    </p:spTree>
    <p:extLst>
      <p:ext uri="{BB962C8B-B14F-4D97-AF65-F5344CB8AC3E}">
        <p14:creationId xmlns:p14="http://schemas.microsoft.com/office/powerpoint/2010/main" val="3384231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6AE01388-91B3-45BF-97D1-83B4B51462CB}"/>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TÉCNICAS DE IDENTIFICACIÓN · 5 DE 5</a:t>
            </a:r>
            <a:endParaRPr lang="es-CO" sz="1200" b="1">
              <a:solidFill>
                <a:srgbClr val="ED7D31"/>
              </a:solidFill>
              <a:latin typeface="Calibri"/>
              <a:ea typeface="Calibri"/>
              <a:cs typeface="Calibri"/>
            </a:endParaRPr>
          </a:p>
        </p:txBody>
      </p:sp>
      <p:sp>
        <p:nvSpPr>
          <p:cNvPr id="5" name="CuadroTexto 4">
            <a:extLst>
              <a:ext uri="{FF2B5EF4-FFF2-40B4-BE49-F238E27FC236}">
                <a16:creationId xmlns:a16="http://schemas.microsoft.com/office/drawing/2014/main" id="{4D56093A-B5F2-4C9E-A17A-BC61322E646D}"/>
              </a:ext>
            </a:extLst>
          </p:cNvPr>
          <p:cNvSpPr txBox="1"/>
          <p:nvPr/>
        </p:nvSpPr>
        <p:spPr>
          <a:xfrm>
            <a:off x="457200" y="533095"/>
            <a:ext cx="2468880" cy="508406"/>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Técnica Delphi</a:t>
            </a:r>
          </a:p>
        </p:txBody>
      </p:sp>
      <p:sp>
        <p:nvSpPr>
          <p:cNvPr id="6" name="Rectángulo 5">
            <a:extLst>
              <a:ext uri="{FF2B5EF4-FFF2-40B4-BE49-F238E27FC236}">
                <a16:creationId xmlns:a16="http://schemas.microsoft.com/office/drawing/2014/main" id="{CD182AE1-B0F2-4113-A3A0-FE8364DF3D26}"/>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897DB03F-547D-4A54-84C5-DFF67F95E897}"/>
              </a:ext>
            </a:extLst>
          </p:cNvPr>
          <p:cNvSpPr/>
          <p:nvPr/>
        </p:nvSpPr>
        <p:spPr>
          <a:xfrm>
            <a:off x="457200" y="1346200"/>
            <a:ext cx="1397000" cy="1879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PROCESO</a:t>
            </a:r>
          </a:p>
        </p:txBody>
      </p:sp>
      <p:sp>
        <p:nvSpPr>
          <p:cNvPr id="8" name="Rectángulo 7">
            <a:extLst>
              <a:ext uri="{FF2B5EF4-FFF2-40B4-BE49-F238E27FC236}">
                <a16:creationId xmlns:a16="http://schemas.microsoft.com/office/drawing/2014/main" id="{838518D4-CABE-401D-A54C-CFA19D4485B9}"/>
              </a:ext>
            </a:extLst>
          </p:cNvPr>
          <p:cNvSpPr/>
          <p:nvPr/>
        </p:nvSpPr>
        <p:spPr>
          <a:xfrm>
            <a:off x="1905000" y="1346200"/>
            <a:ext cx="6781800" cy="187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Se forma el equipo que coordina el proceso
Se selecciona el grupo de expertos
Se desarrolla y se envía el primer cuestionario
Se reciben respuestas, se analizan y se consolidan
Se reenvían al grupo, que vuelve a responder
El ciclo se repite hasta converger</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82527949-0D5B-4B4C-A283-4932536F0E54}"/>
              </a:ext>
            </a:extLst>
          </p:cNvPr>
          <p:cNvSpPr/>
          <p:nvPr/>
        </p:nvSpPr>
        <p:spPr>
          <a:xfrm>
            <a:off x="457200" y="3352800"/>
            <a:ext cx="1397000" cy="812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VENTAJAS</a:t>
            </a:r>
          </a:p>
        </p:txBody>
      </p:sp>
      <p:sp>
        <p:nvSpPr>
          <p:cNvPr id="10" name="Rectángulo 9">
            <a:extLst>
              <a:ext uri="{FF2B5EF4-FFF2-40B4-BE49-F238E27FC236}">
                <a16:creationId xmlns:a16="http://schemas.microsoft.com/office/drawing/2014/main" id="{50D0CFCE-3A95-4199-8B86-52C429321BA6}"/>
              </a:ext>
            </a:extLst>
          </p:cNvPr>
          <p:cNvSpPr/>
          <p:nvPr/>
        </p:nvSpPr>
        <p:spPr>
          <a:xfrm>
            <a:off x="1905000" y="3352800"/>
            <a:ext cx="67818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Las ideas se expresan de manera libre
No exige reunir a las personas en un mismo lugar y momento</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7B90AD64-E48A-4AAB-B8BE-B04DEBD06A43}"/>
              </a:ext>
            </a:extLst>
          </p:cNvPr>
          <p:cNvSpPr/>
          <p:nvPr/>
        </p:nvSpPr>
        <p:spPr>
          <a:xfrm>
            <a:off x="457200" y="4292600"/>
            <a:ext cx="1397000" cy="812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FFFFFF"/>
                </a:solidFill>
                <a:latin typeface="Calibri"/>
                <a:ea typeface="Calibri"/>
                <a:cs typeface="Calibri"/>
              </a:rPr>
              <a:t>DESVENTAJAS</a:t>
            </a:r>
          </a:p>
        </p:txBody>
      </p:sp>
      <p:sp>
        <p:nvSpPr>
          <p:cNvPr id="12" name="Rectángulo 11">
            <a:extLst>
              <a:ext uri="{FF2B5EF4-FFF2-40B4-BE49-F238E27FC236}">
                <a16:creationId xmlns:a16="http://schemas.microsoft.com/office/drawing/2014/main" id="{195AC37C-A4CE-41BD-ACF7-6013A9AC194F}"/>
              </a:ext>
            </a:extLst>
          </p:cNvPr>
          <p:cNvSpPr/>
          <p:nvPr/>
        </p:nvSpPr>
        <p:spPr>
          <a:xfrm>
            <a:off x="1905000" y="4292600"/>
            <a:ext cx="67818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Requiere mucho tiempo
Los participantes deben expresarse con claridad por escrito</a:t>
            </a:r>
            <a:endParaRPr lang="es-CO" sz="1400">
              <a:solidFill>
                <a:srgbClr val="404040"/>
              </a:solidFill>
              <a:latin typeface="Calibri"/>
              <a:ea typeface="Calibri"/>
              <a:cs typeface="Calibri"/>
            </a:endParaRPr>
          </a:p>
        </p:txBody>
      </p:sp>
      <p:sp>
        <p:nvSpPr>
          <p:cNvPr id="13" name="Explicación breve de la técnica Delphi"/>
          <p:cNvSpPr txBox="1"/>
          <p:nvPr/>
        </p:nvSpPr>
        <p:spPr>
          <a:xfrm>
            <a:off x="3063240" y="533095"/>
            <a:ext cx="5623560" cy="566928"/>
          </a:xfrm>
          <a:prstGeom prst="rect">
            <a:avLst/>
          </a:prstGeom>
          <a:noFill/>
        </p:spPr>
        <p:txBody>
          <a:bodyPr wrap="square" lIns="18288" tIns="18288" rIns="0" bIns="0" anchor="ctr">
            <a:spAutoFit/>
          </a:bodyPr>
          <a:lstStyle/>
          <a:p>
            <a:pPr algn="l">
              <a:lnSpc>
                <a:spcPct val="100000"/>
              </a:lnSpc>
              <a:spcBef>
                <a:spcPts val="0"/>
              </a:spcBef>
              <a:spcAft>
                <a:spcPts val="0"/>
              </a:spcAft>
            </a:pPr>
            <a:r>
              <a:rPr sz="1400" dirty="0">
                <a:solidFill>
                  <a:srgbClr val="595959"/>
                </a:solidFill>
                <a:latin typeface="Calibri"/>
              </a:rPr>
              <a:t>Consulta </a:t>
            </a:r>
            <a:r>
              <a:rPr sz="1400" dirty="0" err="1">
                <a:solidFill>
                  <a:srgbClr val="595959"/>
                </a:solidFill>
                <a:latin typeface="Calibri"/>
              </a:rPr>
              <a:t>anónima</a:t>
            </a:r>
            <a:r>
              <a:rPr sz="1400" dirty="0">
                <a:solidFill>
                  <a:srgbClr val="595959"/>
                </a:solidFill>
                <a:latin typeface="Calibri"/>
              </a:rPr>
              <a:t> e </a:t>
            </a:r>
            <a:r>
              <a:rPr sz="1400" dirty="0" err="1">
                <a:solidFill>
                  <a:srgbClr val="595959"/>
                </a:solidFill>
                <a:latin typeface="Calibri"/>
              </a:rPr>
              <a:t>iterativa</a:t>
            </a:r>
            <a:r>
              <a:rPr sz="1400" dirty="0">
                <a:solidFill>
                  <a:srgbClr val="595959"/>
                </a:solidFill>
                <a:latin typeface="Calibri"/>
              </a:rPr>
              <a:t> a un panel de </a:t>
            </a:r>
            <a:r>
              <a:rPr sz="1400" dirty="0" err="1">
                <a:solidFill>
                  <a:srgbClr val="595959"/>
                </a:solidFill>
                <a:latin typeface="Calibri"/>
              </a:rPr>
              <a:t>expertos</a:t>
            </a:r>
            <a:r>
              <a:rPr sz="1400" dirty="0">
                <a:solidFill>
                  <a:srgbClr val="595959"/>
                </a:solidFill>
                <a:latin typeface="Calibri"/>
              </a:rPr>
              <a:t> </a:t>
            </a:r>
            <a:r>
              <a:rPr sz="1400" dirty="0" err="1">
                <a:solidFill>
                  <a:srgbClr val="595959"/>
                </a:solidFill>
                <a:latin typeface="Calibri"/>
              </a:rPr>
              <a:t>mediante</a:t>
            </a:r>
            <a:r>
              <a:rPr sz="1400" dirty="0">
                <a:solidFill>
                  <a:srgbClr val="595959"/>
                </a:solidFill>
                <a:latin typeface="Calibri"/>
              </a:rPr>
              <a:t> </a:t>
            </a:r>
            <a:r>
              <a:rPr sz="1400" dirty="0" err="1">
                <a:solidFill>
                  <a:srgbClr val="595959"/>
                </a:solidFill>
                <a:latin typeface="Calibri"/>
              </a:rPr>
              <a:t>varias</a:t>
            </a:r>
            <a:r>
              <a:rPr sz="1400" dirty="0">
                <a:solidFill>
                  <a:srgbClr val="595959"/>
                </a:solidFill>
                <a:latin typeface="Calibri"/>
              </a:rPr>
              <a:t> </a:t>
            </a:r>
            <a:r>
              <a:rPr sz="1400" dirty="0" err="1">
                <a:solidFill>
                  <a:srgbClr val="595959"/>
                </a:solidFill>
                <a:latin typeface="Calibri"/>
              </a:rPr>
              <a:t>rondas</a:t>
            </a:r>
            <a:r>
              <a:rPr sz="1400" dirty="0">
                <a:solidFill>
                  <a:srgbClr val="595959"/>
                </a:solidFill>
                <a:latin typeface="Calibri"/>
              </a:rPr>
              <a:t>.</a:t>
            </a:r>
          </a:p>
          <a:p>
            <a:pPr algn="l">
              <a:lnSpc>
                <a:spcPct val="100000"/>
              </a:lnSpc>
              <a:spcBef>
                <a:spcPts val="0"/>
              </a:spcBef>
              <a:spcAft>
                <a:spcPts val="0"/>
              </a:spcAft>
            </a:pPr>
            <a:r>
              <a:rPr sz="1400" dirty="0">
                <a:solidFill>
                  <a:srgbClr val="595959"/>
                </a:solidFill>
                <a:latin typeface="Calibri"/>
              </a:rPr>
              <a:t>Entre </a:t>
            </a:r>
            <a:r>
              <a:rPr sz="1400" dirty="0" err="1">
                <a:solidFill>
                  <a:srgbClr val="595959"/>
                </a:solidFill>
                <a:latin typeface="Calibri"/>
              </a:rPr>
              <a:t>rondas</a:t>
            </a:r>
            <a:r>
              <a:rPr sz="1400" dirty="0">
                <a:solidFill>
                  <a:srgbClr val="595959"/>
                </a:solidFill>
                <a:latin typeface="Calibri"/>
              </a:rPr>
              <a:t> se </a:t>
            </a:r>
            <a:r>
              <a:rPr sz="1400" dirty="0" err="1">
                <a:solidFill>
                  <a:srgbClr val="595959"/>
                </a:solidFill>
                <a:latin typeface="Calibri"/>
              </a:rPr>
              <a:t>comparten</a:t>
            </a:r>
            <a:r>
              <a:rPr sz="1400" dirty="0">
                <a:solidFill>
                  <a:srgbClr val="595959"/>
                </a:solidFill>
                <a:latin typeface="Calibri"/>
              </a:rPr>
              <a:t> </a:t>
            </a:r>
            <a:r>
              <a:rPr sz="1400" dirty="0" err="1">
                <a:solidFill>
                  <a:srgbClr val="595959"/>
                </a:solidFill>
                <a:latin typeface="Calibri"/>
              </a:rPr>
              <a:t>resultados</a:t>
            </a:r>
            <a:r>
              <a:rPr sz="1400" dirty="0">
                <a:solidFill>
                  <a:srgbClr val="595959"/>
                </a:solidFill>
                <a:latin typeface="Calibri"/>
              </a:rPr>
              <a:t> hasta </a:t>
            </a:r>
            <a:r>
              <a:rPr sz="1400" dirty="0" err="1">
                <a:solidFill>
                  <a:srgbClr val="595959"/>
                </a:solidFill>
                <a:latin typeface="Calibri"/>
              </a:rPr>
              <a:t>alcanzar</a:t>
            </a:r>
            <a:r>
              <a:rPr sz="1400" dirty="0">
                <a:solidFill>
                  <a:srgbClr val="595959"/>
                </a:solidFill>
                <a:latin typeface="Calibri"/>
              </a:rPr>
              <a:t> </a:t>
            </a:r>
            <a:r>
              <a:rPr sz="1400" dirty="0" err="1">
                <a:solidFill>
                  <a:srgbClr val="595959"/>
                </a:solidFill>
                <a:latin typeface="Calibri"/>
              </a:rPr>
              <a:t>consenso</a:t>
            </a:r>
            <a:r>
              <a:rPr sz="1400" dirty="0">
                <a:solidFill>
                  <a:srgbClr val="595959"/>
                </a:solidFill>
                <a:latin typeface="Calibri"/>
              </a:rPr>
              <a:t>.</a:t>
            </a:r>
          </a:p>
        </p:txBody>
      </p:sp>
    </p:spTree>
    <p:extLst>
      <p:ext uri="{BB962C8B-B14F-4D97-AF65-F5344CB8AC3E}">
        <p14:creationId xmlns:p14="http://schemas.microsoft.com/office/powerpoint/2010/main" val="2882556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219200"/>
            <a:ext cx="5803900" cy="3860800"/>
          </a:xfrm>
          <a:prstGeom prst="rect">
            <a:avLst/>
          </a:prstGeom>
        </p:spPr>
      </p:pic>
      <p:sp>
        <p:nvSpPr>
          <p:cNvPr id="6" name="Rectangle 2"/>
          <p:cNvSpPr txBox="1">
            <a:spLocks noChangeArrowheads="1"/>
          </p:cNvSpPr>
          <p:nvPr/>
        </p:nvSpPr>
        <p:spPr>
          <a:xfrm>
            <a:off x="457200" y="304800"/>
            <a:ext cx="8229600" cy="533400"/>
          </a:xfrm>
          <a:prstGeom prst="rect">
            <a:avLst/>
          </a:prstGeom>
          <a:noFill/>
          <a:ln>
            <a:noFill/>
          </a:ln>
        </p:spPr>
        <p:txBody>
          <a:bodyPr wrap="square" anchor="t" anchorCtr="0">
            <a:noAutofit/>
          </a:bodyPr>
          <a:lstStyle/>
          <a:p>
            <a:pPr algn="ctr" eaLnBrk="0" hangingPunct="0"/>
            <a:r>
              <a:rPr lang="es-ES" sz="2800" b="1">
                <a:solidFill>
                  <a:srgbClr val="1F3864"/>
                </a:solidFill>
                <a:latin typeface="Calibri"/>
                <a:ea typeface="Calibri"/>
                <a:cs typeface="Calibri"/>
              </a:rPr>
              <a:t>La técnica PESTEL para identificar riesgos</a:t>
            </a:r>
            <a:endParaRPr lang="es-ES" sz="2800" b="1" dirty="0">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264423BE-D76E-4259-B718-F315C0EDA75A}"/>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CuadroTexto 6">
            <a:extLst>
              <a:ext uri="{FF2B5EF4-FFF2-40B4-BE49-F238E27FC236}">
                <a16:creationId xmlns:a16="http://schemas.microsoft.com/office/drawing/2014/main" id="{956913F0-1419-465F-81B0-911D445589DE}"/>
              </a:ext>
            </a:extLst>
          </p:cNvPr>
          <p:cNvSpPr txBox="1"/>
          <p:nvPr/>
        </p:nvSpPr>
        <p:spPr>
          <a:xfrm>
            <a:off x="457200" y="51562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Seis entornos que rodean a la organización: político, ecológico, social, tecnológico, económico y legal</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71619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15"/>
          <p:cNvSpPr txBox="1">
            <a:spLocks noChangeArrowheads="1"/>
          </p:cNvSpPr>
          <p:nvPr/>
        </p:nvSpPr>
        <p:spPr bwMode="auto">
          <a:xfrm>
            <a:off x="457200" y="1346200"/>
            <a:ext cx="8229600" cy="939800"/>
          </a:xfrm>
          <a:prstGeom prst="rect">
            <a:avLst/>
          </a:prstGeom>
          <a:solidFill>
            <a:srgbClr val="1F3864"/>
          </a:solidFill>
          <a:ln w="28575">
            <a:noFill/>
            <a:miter lim="800000"/>
            <a:headEnd/>
            <a:tailEnd/>
          </a:ln>
        </p:spPr>
        <p:txBody>
          <a:bodyPr wrap="square" anchor="ctr" anchorCtr="0">
            <a:noAutofit/>
          </a:bodyPr>
          <a:lstStyle/>
          <a:p>
            <a:pPr>
              <a:spcBef>
                <a:spcPct val="50000"/>
              </a:spcBef>
            </a:pPr>
            <a:r>
              <a:rPr lang="es-ES" sz="1600" b="1">
                <a:solidFill>
                  <a:srgbClr val="FFFFFF"/>
                </a:solidFill>
                <a:latin typeface="Calibri"/>
                <a:ea typeface="Calibri"/>
                <a:cs typeface="Calibri"/>
              </a:rPr>
              <a:t>Trata las relaciones de poder entre el Estado y la sociedad civil, y el gobierno corporativo.</a:t>
            </a:r>
            <a:endParaRPr lang="es-ES" sz="1600" b="1" dirty="0">
              <a:solidFill>
                <a:srgbClr val="FFFFFF"/>
              </a:solidFill>
              <a:latin typeface="Calibri"/>
              <a:ea typeface="Calibri"/>
              <a:cs typeface="Calibri"/>
            </a:endParaRPr>
          </a:p>
        </p:txBody>
      </p:sp>
      <p:pic>
        <p:nvPicPr>
          <p:cNvPr id="3" name="Imagen 2"/>
          <p:cNvPicPr>
            <a:picLocks noChangeAspect="1"/>
          </p:cNvPicPr>
          <p:nvPr/>
        </p:nvPicPr>
        <p:blipFill>
          <a:blip r:embed="rId2"/>
          <a:stretch>
            <a:fillRect/>
          </a:stretch>
        </p:blipFill>
        <p:spPr>
          <a:xfrm>
            <a:off x="457200" y="3962082"/>
            <a:ext cx="1642241" cy="1092836"/>
          </a:xfrm>
          <a:prstGeom prst="rect">
            <a:avLst/>
          </a:prstGeom>
        </p:spPr>
      </p:pic>
      <p:sp>
        <p:nvSpPr>
          <p:cNvPr id="2" name="CuadroTexto 1">
            <a:extLst>
              <a:ext uri="{FF2B5EF4-FFF2-40B4-BE49-F238E27FC236}">
                <a16:creationId xmlns:a16="http://schemas.microsoft.com/office/drawing/2014/main" id="{507AD198-D370-468E-8339-426E260D50B0}"/>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dirty="0">
                <a:solidFill>
                  <a:srgbClr val="ED7D31"/>
                </a:solidFill>
                <a:latin typeface="Calibri"/>
                <a:ea typeface="Calibri"/>
                <a:cs typeface="Calibri"/>
              </a:rPr>
              <a:t>TÉCNICA PESTEL · E1</a:t>
            </a:r>
          </a:p>
        </p:txBody>
      </p:sp>
      <p:sp>
        <p:nvSpPr>
          <p:cNvPr id="4" name="CuadroTexto 3">
            <a:extLst>
              <a:ext uri="{FF2B5EF4-FFF2-40B4-BE49-F238E27FC236}">
                <a16:creationId xmlns:a16="http://schemas.microsoft.com/office/drawing/2014/main" id="{D8B7FD38-47C3-456E-997E-C3C4AB509232}"/>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dirty="0">
                <a:solidFill>
                  <a:srgbClr val="1F3864"/>
                </a:solidFill>
                <a:latin typeface="Calibri"/>
                <a:ea typeface="Calibri"/>
                <a:cs typeface="Calibri"/>
              </a:rPr>
              <a:t>Entorno político</a:t>
            </a:r>
          </a:p>
        </p:txBody>
      </p:sp>
      <p:sp>
        <p:nvSpPr>
          <p:cNvPr id="5" name="Rectángulo 4">
            <a:extLst>
              <a:ext uri="{FF2B5EF4-FFF2-40B4-BE49-F238E27FC236}">
                <a16:creationId xmlns:a16="http://schemas.microsoft.com/office/drawing/2014/main" id="{C12ADE55-5602-4611-9369-8AE01C39BA8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600C334F-B71D-413D-A43A-FF9D6D1DCD23}"/>
              </a:ext>
            </a:extLst>
          </p:cNvPr>
          <p:cNvSpPr/>
          <p:nvPr/>
        </p:nvSpPr>
        <p:spPr>
          <a:xfrm>
            <a:off x="457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dirty="0">
                <a:solidFill>
                  <a:srgbClr val="1F3864"/>
                </a:solidFill>
                <a:latin typeface="Calibri"/>
                <a:ea typeface="Calibri"/>
                <a:cs typeface="Calibri"/>
              </a:rPr>
              <a:t>Partidos políticos</a:t>
            </a:r>
          </a:p>
        </p:txBody>
      </p:sp>
      <p:sp>
        <p:nvSpPr>
          <p:cNvPr id="7" name="Rectángulo 6">
            <a:extLst>
              <a:ext uri="{FF2B5EF4-FFF2-40B4-BE49-F238E27FC236}">
                <a16:creationId xmlns:a16="http://schemas.microsoft.com/office/drawing/2014/main" id="{9146005C-AFAA-49D5-B940-71CBA097D3B9}"/>
              </a:ext>
            </a:extLst>
          </p:cNvPr>
          <p:cNvSpPr/>
          <p:nvPr/>
        </p:nvSpPr>
        <p:spPr>
          <a:xfrm>
            <a:off x="3251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Procesos electorales</a:t>
            </a:r>
          </a:p>
        </p:txBody>
      </p:sp>
      <p:sp>
        <p:nvSpPr>
          <p:cNvPr id="8" name="Rectángulo 7">
            <a:extLst>
              <a:ext uri="{FF2B5EF4-FFF2-40B4-BE49-F238E27FC236}">
                <a16:creationId xmlns:a16="http://schemas.microsoft.com/office/drawing/2014/main" id="{1EB1BF79-2BC3-4ED6-B53B-DF29E55A5F92}"/>
              </a:ext>
            </a:extLst>
          </p:cNvPr>
          <p:cNvSpPr/>
          <p:nvPr/>
        </p:nvSpPr>
        <p:spPr>
          <a:xfrm>
            <a:off x="6045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Poderes públicos</a:t>
            </a:r>
          </a:p>
        </p:txBody>
      </p:sp>
      <p:sp>
        <p:nvSpPr>
          <p:cNvPr id="9" name="CuadroTexto 8">
            <a:extLst>
              <a:ext uri="{FF2B5EF4-FFF2-40B4-BE49-F238E27FC236}">
                <a16:creationId xmlns:a16="http://schemas.microsoft.com/office/drawing/2014/main" id="{D5A3AA77-260A-4C4F-89C5-91EBDF69917A}"/>
              </a:ext>
            </a:extLst>
          </p:cNvPr>
          <p:cNvSpPr txBox="1"/>
          <p:nvPr/>
        </p:nvSpPr>
        <p:spPr>
          <a:xfrm>
            <a:off x="457200" y="3276600"/>
            <a:ext cx="5080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Aspectos que se revisan en este entorno</a:t>
            </a:r>
            <a:endParaRPr lang="es-CO" sz="1100">
              <a:solidFill>
                <a:srgbClr val="7F7F7F"/>
              </a:solidFill>
              <a:latin typeface="Calibri"/>
              <a:ea typeface="Calibri"/>
              <a:cs typeface="Calibri"/>
            </a:endParaRPr>
          </a:p>
        </p:txBody>
      </p:sp>
      <p:sp>
        <p:nvSpPr>
          <p:cNvPr id="66564" name="Ejemplos de riesgos políticos columna 1"/>
          <p:cNvSpPr txBox="1"/>
          <p:nvPr/>
        </p:nvSpPr>
        <p:spPr>
          <a:xfrm>
            <a:off x="2423160" y="4224528"/>
            <a:ext cx="2926080" cy="1392689"/>
          </a:xfrm>
          <a:prstGeom prst="rect">
            <a:avLst/>
          </a:prstGeom>
          <a:noFill/>
        </p:spPr>
        <p:txBody>
          <a:bodyPr wrap="square" lIns="0" tIns="0" rIns="0" bIns="0">
            <a:spAutoFit/>
          </a:bodyPr>
          <a:lstStyle/>
          <a:p>
            <a:pPr algn="l">
              <a:lnSpc>
                <a:spcPct val="100000"/>
              </a:lnSpc>
              <a:spcBef>
                <a:spcPts val="0"/>
              </a:spcBef>
              <a:spcAft>
                <a:spcPts val="500"/>
              </a:spcAft>
            </a:pPr>
            <a:r>
              <a:rPr sz="1300" dirty="0">
                <a:solidFill>
                  <a:srgbClr val="404040"/>
                </a:solidFill>
                <a:latin typeface="Calibri"/>
              </a:rPr>
              <a:t>•  </a:t>
            </a:r>
            <a:r>
              <a:rPr lang="es-CO" sz="1300" dirty="0">
                <a:solidFill>
                  <a:srgbClr val="404040"/>
                </a:solidFill>
                <a:latin typeface="Calibri"/>
              </a:rPr>
              <a:t>Ruptura de la coalición </a:t>
            </a:r>
            <a:r>
              <a:rPr sz="1300" dirty="0">
                <a:solidFill>
                  <a:srgbClr val="404040"/>
                </a:solidFill>
                <a:latin typeface="Calibri"/>
              </a:rPr>
              <a:t>de </a:t>
            </a:r>
            <a:r>
              <a:rPr lang="es-CO" sz="1300" dirty="0">
                <a:solidFill>
                  <a:srgbClr val="404040"/>
                </a:solidFill>
                <a:latin typeface="Calibri"/>
              </a:rPr>
              <a:t>gobierno</a:t>
            </a:r>
            <a:endParaRPr sz="1300" dirty="0">
              <a:solidFill>
                <a:srgbClr val="404040"/>
              </a:solidFill>
              <a:latin typeface="Calibri"/>
            </a:endParaRPr>
          </a:p>
          <a:p>
            <a:pPr algn="l">
              <a:lnSpc>
                <a:spcPct val="100000"/>
              </a:lnSpc>
              <a:spcBef>
                <a:spcPts val="0"/>
              </a:spcBef>
              <a:spcAft>
                <a:spcPts val="500"/>
              </a:spcAft>
            </a:pPr>
            <a:r>
              <a:rPr sz="1300" dirty="0">
                <a:solidFill>
                  <a:srgbClr val="404040"/>
                </a:solidFill>
                <a:latin typeface="Calibri"/>
              </a:rPr>
              <a:t>•  </a:t>
            </a:r>
            <a:r>
              <a:rPr lang="es-CO" sz="1300" dirty="0">
                <a:solidFill>
                  <a:srgbClr val="404040"/>
                </a:solidFill>
                <a:latin typeface="Calibri"/>
              </a:rPr>
              <a:t>Polarización entre partidos políticos</a:t>
            </a:r>
            <a:endParaRPr sz="1300" dirty="0">
              <a:solidFill>
                <a:srgbClr val="404040"/>
              </a:solidFill>
              <a:latin typeface="Calibri"/>
            </a:endParaRPr>
          </a:p>
          <a:p>
            <a:pPr algn="l">
              <a:lnSpc>
                <a:spcPct val="100000"/>
              </a:lnSpc>
              <a:spcBef>
                <a:spcPts val="0"/>
              </a:spcBef>
              <a:spcAft>
                <a:spcPts val="500"/>
              </a:spcAft>
            </a:pPr>
            <a:r>
              <a:rPr sz="1300" dirty="0">
                <a:solidFill>
                  <a:srgbClr val="404040"/>
                </a:solidFill>
                <a:latin typeface="Calibri"/>
              </a:rPr>
              <a:t>•  </a:t>
            </a:r>
            <a:r>
              <a:rPr lang="es-CO" sz="1300" dirty="0">
                <a:solidFill>
                  <a:srgbClr val="404040"/>
                </a:solidFill>
                <a:latin typeface="Calibri"/>
              </a:rPr>
              <a:t>Elecciones controvertidas </a:t>
            </a:r>
            <a:r>
              <a:rPr sz="1300" dirty="0">
                <a:solidFill>
                  <a:srgbClr val="404040"/>
                </a:solidFill>
                <a:latin typeface="Calibri"/>
              </a:rPr>
              <a:t>o </a:t>
            </a:r>
            <a:r>
              <a:rPr lang="es-CO" sz="1300" dirty="0">
                <a:solidFill>
                  <a:srgbClr val="404040"/>
                </a:solidFill>
                <a:latin typeface="Calibri"/>
              </a:rPr>
              <a:t>sin resultado claro.</a:t>
            </a:r>
          </a:p>
          <a:p>
            <a:pPr>
              <a:spcAft>
                <a:spcPts val="500"/>
              </a:spcAft>
            </a:pPr>
            <a:r>
              <a:rPr lang="es-CO" sz="1300" dirty="0">
                <a:solidFill>
                  <a:srgbClr val="404040"/>
                </a:solidFill>
              </a:rPr>
              <a:t>• </a:t>
            </a:r>
            <a:r>
              <a:rPr lang="es-ES" sz="1300" dirty="0">
                <a:solidFill>
                  <a:srgbClr val="404040"/>
                </a:solidFill>
              </a:rPr>
              <a:t>Injerencia partidista en entidades o gobierno corporativo</a:t>
            </a:r>
            <a:endParaRPr sz="1300" dirty="0">
              <a:solidFill>
                <a:srgbClr val="404040"/>
              </a:solidFill>
              <a:latin typeface="Calibri"/>
            </a:endParaRPr>
          </a:p>
        </p:txBody>
      </p:sp>
      <p:sp>
        <p:nvSpPr>
          <p:cNvPr id="66565" name="Ejemplos de riesgos políticos columna 2"/>
          <p:cNvSpPr txBox="1"/>
          <p:nvPr/>
        </p:nvSpPr>
        <p:spPr>
          <a:xfrm>
            <a:off x="5559552" y="4224528"/>
            <a:ext cx="2926080" cy="1128514"/>
          </a:xfrm>
          <a:prstGeom prst="rect">
            <a:avLst/>
          </a:prstGeom>
          <a:noFill/>
        </p:spPr>
        <p:txBody>
          <a:bodyPr wrap="square" lIns="0" tIns="0" rIns="0" bIns="0">
            <a:spAutoFit/>
          </a:bodyPr>
          <a:lstStyle/>
          <a:p>
            <a:pPr algn="l">
              <a:lnSpc>
                <a:spcPct val="100000"/>
              </a:lnSpc>
              <a:spcBef>
                <a:spcPts val="0"/>
              </a:spcBef>
              <a:spcAft>
                <a:spcPts val="500"/>
              </a:spcAft>
            </a:pPr>
            <a:r>
              <a:rPr sz="1300" dirty="0">
                <a:solidFill>
                  <a:srgbClr val="404040"/>
                </a:solidFill>
                <a:latin typeface="Calibri"/>
              </a:rPr>
              <a:t>•  </a:t>
            </a:r>
            <a:r>
              <a:rPr lang="es-ES" sz="1300" dirty="0">
                <a:solidFill>
                  <a:srgbClr val="404040"/>
                </a:solidFill>
                <a:latin typeface="Calibri"/>
              </a:rPr>
              <a:t>Transición de gobierno con prioridades opuestas</a:t>
            </a:r>
            <a:endParaRPr sz="1300" dirty="0">
              <a:solidFill>
                <a:srgbClr val="404040"/>
              </a:solidFill>
              <a:latin typeface="Calibri"/>
            </a:endParaRPr>
          </a:p>
          <a:p>
            <a:pPr algn="l">
              <a:lnSpc>
                <a:spcPct val="100000"/>
              </a:lnSpc>
              <a:spcBef>
                <a:spcPts val="0"/>
              </a:spcBef>
              <a:spcAft>
                <a:spcPts val="500"/>
              </a:spcAft>
            </a:pPr>
            <a:r>
              <a:rPr sz="1300" dirty="0">
                <a:solidFill>
                  <a:srgbClr val="404040"/>
                </a:solidFill>
                <a:latin typeface="Calibri"/>
              </a:rPr>
              <a:t>•  </a:t>
            </a:r>
            <a:r>
              <a:rPr lang="es-ES" sz="1300" dirty="0">
                <a:solidFill>
                  <a:srgbClr val="404040"/>
                </a:solidFill>
                <a:latin typeface="Calibri"/>
              </a:rPr>
              <a:t>Bloqueo entre los poderes Ejecutivo y Legislativo</a:t>
            </a:r>
            <a:endParaRPr sz="1300" dirty="0">
              <a:solidFill>
                <a:srgbClr val="404040"/>
              </a:solidFill>
              <a:latin typeface="Calibri"/>
            </a:endParaRPr>
          </a:p>
          <a:p>
            <a:pPr algn="l">
              <a:lnSpc>
                <a:spcPct val="100000"/>
              </a:lnSpc>
              <a:spcBef>
                <a:spcPts val="0"/>
              </a:spcBef>
              <a:spcAft>
                <a:spcPts val="500"/>
              </a:spcAft>
            </a:pPr>
            <a:r>
              <a:rPr sz="1300" dirty="0">
                <a:solidFill>
                  <a:srgbClr val="404040"/>
                </a:solidFill>
                <a:latin typeface="Calibri"/>
              </a:rPr>
              <a:t>•</a:t>
            </a:r>
          </a:p>
        </p:txBody>
      </p:sp>
      <p:sp>
        <p:nvSpPr>
          <p:cNvPr id="11" name="CuadroTexto 10">
            <a:extLst>
              <a:ext uri="{FF2B5EF4-FFF2-40B4-BE49-F238E27FC236}">
                <a16:creationId xmlns:a16="http://schemas.microsoft.com/office/drawing/2014/main" id="{A0C2CE0A-8C71-D608-F08C-6EE2B032F26B}"/>
              </a:ext>
            </a:extLst>
          </p:cNvPr>
          <p:cNvSpPr txBox="1"/>
          <p:nvPr/>
        </p:nvSpPr>
        <p:spPr>
          <a:xfrm>
            <a:off x="2333513" y="3843528"/>
            <a:ext cx="5334000" cy="203200"/>
          </a:xfrm>
          <a:prstGeom prst="rect">
            <a:avLst/>
          </a:prstGeom>
          <a:noFill/>
          <a:ln>
            <a:noFill/>
          </a:ln>
        </p:spPr>
        <p:txBody>
          <a:bodyPr vertOverflow="overflow" vert="horz" wrap="square" rtlCol="0" anchor="t" anchorCtr="0">
            <a:noAutofit/>
          </a:bodyPr>
          <a:lstStyle/>
          <a:p>
            <a:pPr algn="l"/>
            <a:r>
              <a:rPr lang="es-CO" sz="1200" b="1" dirty="0">
                <a:solidFill>
                  <a:srgbClr val="ED7D31"/>
                </a:solidFill>
                <a:latin typeface="Calibri"/>
                <a:ea typeface="Calibri"/>
                <a:cs typeface="Calibri"/>
              </a:rPr>
              <a:t>Algunos elementos generadores de riesgo político</a:t>
            </a:r>
          </a:p>
        </p:txBody>
      </p:sp>
    </p:spTree>
    <p:extLst>
      <p:ext uri="{BB962C8B-B14F-4D97-AF65-F5344CB8AC3E}">
        <p14:creationId xmlns:p14="http://schemas.microsoft.com/office/powerpoint/2010/main" val="39219405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ext Box 3"/>
          <p:cNvSpPr txBox="1">
            <a:spLocks noChangeArrowheads="1"/>
          </p:cNvSpPr>
          <p:nvPr/>
        </p:nvSpPr>
        <p:spPr bwMode="auto">
          <a:xfrm>
            <a:off x="457200" y="1346200"/>
            <a:ext cx="8229600" cy="939800"/>
          </a:xfrm>
          <a:prstGeom prst="rect">
            <a:avLst/>
          </a:prstGeom>
          <a:solidFill>
            <a:srgbClr val="1F3864"/>
          </a:solidFill>
          <a:ln w="28575">
            <a:noFill/>
            <a:miter lim="800000"/>
            <a:headEnd/>
            <a:tailEnd/>
          </a:ln>
        </p:spPr>
        <p:txBody>
          <a:bodyPr wrap="square" anchor="ctr" anchorCtr="0">
            <a:noAutofit/>
          </a:bodyPr>
          <a:lstStyle/>
          <a:p>
            <a:pPr>
              <a:spcBef>
                <a:spcPct val="50000"/>
              </a:spcBef>
            </a:pPr>
            <a:r>
              <a:rPr lang="es-ES" sz="1600" b="1">
                <a:solidFill>
                  <a:srgbClr val="FFFFFF"/>
                </a:solidFill>
                <a:latin typeface="Calibri"/>
                <a:ea typeface="Calibri"/>
                <a:cs typeface="Calibri"/>
              </a:rPr>
              <a:t>Reúne los fenómenos que escapan a la voluntad humana y los determina la naturaleza.</a:t>
            </a:r>
            <a:endParaRPr lang="es-ES" sz="1600" b="1" dirty="0">
              <a:solidFill>
                <a:srgbClr val="FFFFFF"/>
              </a:solidFill>
              <a:latin typeface="Calibri"/>
              <a:ea typeface="Calibri"/>
              <a:cs typeface="Calibri"/>
            </a:endParaRPr>
          </a:p>
        </p:txBody>
      </p:sp>
      <p:pic>
        <p:nvPicPr>
          <p:cNvPr id="4" name="Imagen 3"/>
          <p:cNvPicPr>
            <a:picLocks noChangeAspect="1"/>
          </p:cNvPicPr>
          <p:nvPr/>
        </p:nvPicPr>
        <p:blipFill>
          <a:blip r:embed="rId2"/>
          <a:stretch>
            <a:fillRect/>
          </a:stretch>
        </p:blipFill>
        <p:spPr>
          <a:xfrm>
            <a:off x="457200" y="3556000"/>
            <a:ext cx="1783404" cy="1905000"/>
          </a:xfrm>
          <a:prstGeom prst="rect">
            <a:avLst/>
          </a:prstGeom>
        </p:spPr>
      </p:pic>
      <p:sp>
        <p:nvSpPr>
          <p:cNvPr id="2" name="CuadroTexto 1">
            <a:extLst>
              <a:ext uri="{FF2B5EF4-FFF2-40B4-BE49-F238E27FC236}">
                <a16:creationId xmlns:a16="http://schemas.microsoft.com/office/drawing/2014/main" id="{A29CC7F3-410E-45E1-AB50-6F41C94E85E7}"/>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TÉCNICA PESTEL · E2</a:t>
            </a:r>
          </a:p>
        </p:txBody>
      </p:sp>
      <p:sp>
        <p:nvSpPr>
          <p:cNvPr id="3" name="CuadroTexto 2">
            <a:extLst>
              <a:ext uri="{FF2B5EF4-FFF2-40B4-BE49-F238E27FC236}">
                <a16:creationId xmlns:a16="http://schemas.microsoft.com/office/drawing/2014/main" id="{DA8341DE-88FF-4545-98D7-6CA8CB78AF91}"/>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Entorno ecológico y ambiental</a:t>
            </a:r>
          </a:p>
        </p:txBody>
      </p:sp>
      <p:sp>
        <p:nvSpPr>
          <p:cNvPr id="5" name="Rectángulo 4">
            <a:extLst>
              <a:ext uri="{FF2B5EF4-FFF2-40B4-BE49-F238E27FC236}">
                <a16:creationId xmlns:a16="http://schemas.microsoft.com/office/drawing/2014/main" id="{AF0BD4C7-9FBE-49EE-A70B-D19688D87BA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1293A088-1430-432B-9C24-A270EF0E41A8}"/>
              </a:ext>
            </a:extLst>
          </p:cNvPr>
          <p:cNvSpPr/>
          <p:nvPr/>
        </p:nvSpPr>
        <p:spPr>
          <a:xfrm>
            <a:off x="457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Clima</a:t>
            </a:r>
          </a:p>
        </p:txBody>
      </p:sp>
      <p:sp>
        <p:nvSpPr>
          <p:cNvPr id="7" name="Rectángulo 6">
            <a:extLst>
              <a:ext uri="{FF2B5EF4-FFF2-40B4-BE49-F238E27FC236}">
                <a16:creationId xmlns:a16="http://schemas.microsoft.com/office/drawing/2014/main" id="{8079065E-A129-4830-B440-F9ED51F2A890}"/>
              </a:ext>
            </a:extLst>
          </p:cNvPr>
          <p:cNvSpPr/>
          <p:nvPr/>
        </p:nvSpPr>
        <p:spPr>
          <a:xfrm>
            <a:off x="3251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Ecología</a:t>
            </a:r>
          </a:p>
        </p:txBody>
      </p:sp>
      <p:sp>
        <p:nvSpPr>
          <p:cNvPr id="8" name="Rectángulo 7">
            <a:extLst>
              <a:ext uri="{FF2B5EF4-FFF2-40B4-BE49-F238E27FC236}">
                <a16:creationId xmlns:a16="http://schemas.microsoft.com/office/drawing/2014/main" id="{0D643FF7-E6E4-4A64-8F21-3050A6D91D3D}"/>
              </a:ext>
            </a:extLst>
          </p:cNvPr>
          <p:cNvSpPr/>
          <p:nvPr/>
        </p:nvSpPr>
        <p:spPr>
          <a:xfrm>
            <a:off x="6045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Ciclos del agua</a:t>
            </a:r>
          </a:p>
        </p:txBody>
      </p:sp>
      <p:sp>
        <p:nvSpPr>
          <p:cNvPr id="9" name="CuadroTexto 8">
            <a:extLst>
              <a:ext uri="{FF2B5EF4-FFF2-40B4-BE49-F238E27FC236}">
                <a16:creationId xmlns:a16="http://schemas.microsoft.com/office/drawing/2014/main" id="{A20F34A8-3B0A-4FC8-B982-B32295694986}"/>
              </a:ext>
            </a:extLst>
          </p:cNvPr>
          <p:cNvSpPr txBox="1"/>
          <p:nvPr/>
        </p:nvSpPr>
        <p:spPr>
          <a:xfrm>
            <a:off x="457200" y="3276600"/>
            <a:ext cx="5080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Aspectos que se revisan en este entorno</a:t>
            </a:r>
            <a:endParaRPr lang="es-CO" sz="1100">
              <a:solidFill>
                <a:srgbClr val="7F7F7F"/>
              </a:solidFill>
              <a:latin typeface="Calibri"/>
              <a:ea typeface="Calibri"/>
              <a:cs typeface="Calibri"/>
            </a:endParaRPr>
          </a:p>
        </p:txBody>
      </p:sp>
      <p:sp>
        <p:nvSpPr>
          <p:cNvPr id="67587" name="Título ejemplos de riesgos ambientales"/>
          <p:cNvSpPr txBox="1"/>
          <p:nvPr/>
        </p:nvSpPr>
        <p:spPr>
          <a:xfrm>
            <a:off x="2450592" y="3675887"/>
            <a:ext cx="6236208" cy="256032"/>
          </a:xfrm>
          <a:prstGeom prst="rect">
            <a:avLst/>
          </a:prstGeom>
          <a:noFill/>
        </p:spPr>
        <p:txBody>
          <a:bodyPr wrap="square" lIns="0" tIns="0" rIns="0" bIns="0">
            <a:spAutoFit/>
          </a:bodyPr>
          <a:lstStyle/>
          <a:p>
            <a:pPr algn="l"/>
            <a:r>
              <a:rPr sz="1200" b="1">
                <a:solidFill>
                  <a:srgbClr val="ED7D31"/>
                </a:solidFill>
                <a:latin typeface="Calibri"/>
              </a:rPr>
              <a:t>ALGUNOS FENÓMENOS GENERADORES DE RIESGO AMBIENTAL</a:t>
            </a:r>
          </a:p>
        </p:txBody>
      </p:sp>
      <p:sp>
        <p:nvSpPr>
          <p:cNvPr id="67588" name="Categoría ambiental CLIMA"/>
          <p:cNvSpPr txBox="1"/>
          <p:nvPr/>
        </p:nvSpPr>
        <p:spPr>
          <a:xfrm>
            <a:off x="2450592" y="4041648"/>
            <a:ext cx="1874519" cy="228600"/>
          </a:xfrm>
          <a:prstGeom prst="rect">
            <a:avLst/>
          </a:prstGeom>
          <a:noFill/>
        </p:spPr>
        <p:txBody>
          <a:bodyPr wrap="square" lIns="0" tIns="0" rIns="0" bIns="0">
            <a:spAutoFit/>
          </a:bodyPr>
          <a:lstStyle/>
          <a:p>
            <a:pPr algn="l"/>
            <a:r>
              <a:rPr sz="1300" b="1">
                <a:solidFill>
                  <a:srgbClr val="1F3864"/>
                </a:solidFill>
                <a:latin typeface="Calibri"/>
              </a:rPr>
              <a:t>CLIMA</a:t>
            </a:r>
          </a:p>
        </p:txBody>
      </p:sp>
      <p:sp>
        <p:nvSpPr>
          <p:cNvPr id="67589" name="Ejemplos ambientales CLIMA"/>
          <p:cNvSpPr txBox="1"/>
          <p:nvPr/>
        </p:nvSpPr>
        <p:spPr>
          <a:xfrm>
            <a:off x="2450592" y="4334256"/>
            <a:ext cx="1874519" cy="1143000"/>
          </a:xfrm>
          <a:prstGeom prst="rect">
            <a:avLst/>
          </a:prstGeom>
          <a:noFill/>
        </p:spPr>
        <p:txBody>
          <a:bodyPr wrap="square" lIns="0" tIns="0" rIns="0" bIns="0">
            <a:spAutoFit/>
          </a:bodyPr>
          <a:lstStyle/>
          <a:p>
            <a:pPr algn="l">
              <a:lnSpc>
                <a:spcPct val="100000"/>
              </a:lnSpc>
              <a:spcBef>
                <a:spcPts val="0"/>
              </a:spcBef>
              <a:spcAft>
                <a:spcPts val="800"/>
              </a:spcAft>
            </a:pPr>
            <a:r>
              <a:rPr sz="1250">
                <a:solidFill>
                  <a:srgbClr val="404040"/>
                </a:solidFill>
                <a:latin typeface="Calibri"/>
              </a:rPr>
              <a:t>•  Olas de calor o frío extremo</a:t>
            </a:r>
          </a:p>
          <a:p>
            <a:pPr algn="l">
              <a:lnSpc>
                <a:spcPct val="100000"/>
              </a:lnSpc>
              <a:spcBef>
                <a:spcPts val="0"/>
              </a:spcBef>
              <a:spcAft>
                <a:spcPts val="800"/>
              </a:spcAft>
            </a:pPr>
            <a:r>
              <a:rPr sz="1250">
                <a:solidFill>
                  <a:srgbClr val="404040"/>
                </a:solidFill>
                <a:latin typeface="Calibri"/>
              </a:rPr>
              <a:t>•  Tormentas y vientos fuertes</a:t>
            </a:r>
          </a:p>
        </p:txBody>
      </p:sp>
      <p:sp>
        <p:nvSpPr>
          <p:cNvPr id="67590" name="Categoría ambiental ECOLOGÍA"/>
          <p:cNvSpPr txBox="1"/>
          <p:nvPr/>
        </p:nvSpPr>
        <p:spPr>
          <a:xfrm>
            <a:off x="4507992" y="4041648"/>
            <a:ext cx="1874519" cy="228600"/>
          </a:xfrm>
          <a:prstGeom prst="rect">
            <a:avLst/>
          </a:prstGeom>
          <a:noFill/>
        </p:spPr>
        <p:txBody>
          <a:bodyPr wrap="square" lIns="0" tIns="0" rIns="0" bIns="0">
            <a:spAutoFit/>
          </a:bodyPr>
          <a:lstStyle/>
          <a:p>
            <a:pPr algn="l"/>
            <a:r>
              <a:rPr sz="1300" b="1">
                <a:solidFill>
                  <a:srgbClr val="1F3864"/>
                </a:solidFill>
                <a:latin typeface="Calibri"/>
              </a:rPr>
              <a:t>ECOLOGÍA</a:t>
            </a:r>
          </a:p>
        </p:txBody>
      </p:sp>
      <p:sp>
        <p:nvSpPr>
          <p:cNvPr id="67591" name="Ejemplos ambientales ECOLOGÍA"/>
          <p:cNvSpPr txBox="1"/>
          <p:nvPr/>
        </p:nvSpPr>
        <p:spPr>
          <a:xfrm>
            <a:off x="4507992" y="4334256"/>
            <a:ext cx="1874519" cy="1143000"/>
          </a:xfrm>
          <a:prstGeom prst="rect">
            <a:avLst/>
          </a:prstGeom>
          <a:noFill/>
        </p:spPr>
        <p:txBody>
          <a:bodyPr wrap="square" lIns="0" tIns="0" rIns="0" bIns="0">
            <a:spAutoFit/>
          </a:bodyPr>
          <a:lstStyle/>
          <a:p>
            <a:pPr algn="l">
              <a:lnSpc>
                <a:spcPct val="100000"/>
              </a:lnSpc>
              <a:spcBef>
                <a:spcPts val="0"/>
              </a:spcBef>
              <a:spcAft>
                <a:spcPts val="800"/>
              </a:spcAft>
            </a:pPr>
            <a:r>
              <a:rPr sz="1250">
                <a:solidFill>
                  <a:srgbClr val="404040"/>
                </a:solidFill>
                <a:latin typeface="Calibri"/>
              </a:rPr>
              <a:t>•  Proliferación natural de plagas</a:t>
            </a:r>
          </a:p>
          <a:p>
            <a:pPr algn="l">
              <a:lnSpc>
                <a:spcPct val="100000"/>
              </a:lnSpc>
              <a:spcBef>
                <a:spcPts val="0"/>
              </a:spcBef>
              <a:spcAft>
                <a:spcPts val="800"/>
              </a:spcAft>
            </a:pPr>
            <a:r>
              <a:rPr sz="1250">
                <a:solidFill>
                  <a:srgbClr val="404040"/>
                </a:solidFill>
                <a:latin typeface="Calibri"/>
              </a:rPr>
              <a:t>•  Brotes de enfermedades en flora o fauna</a:t>
            </a:r>
          </a:p>
        </p:txBody>
      </p:sp>
      <p:sp>
        <p:nvSpPr>
          <p:cNvPr id="67592" name="Categoría ambiental CICLOS DEL AGUA"/>
          <p:cNvSpPr txBox="1"/>
          <p:nvPr/>
        </p:nvSpPr>
        <p:spPr>
          <a:xfrm>
            <a:off x="6565392" y="4041648"/>
            <a:ext cx="1874519" cy="228600"/>
          </a:xfrm>
          <a:prstGeom prst="rect">
            <a:avLst/>
          </a:prstGeom>
          <a:noFill/>
        </p:spPr>
        <p:txBody>
          <a:bodyPr wrap="square" lIns="0" tIns="0" rIns="0" bIns="0">
            <a:spAutoFit/>
          </a:bodyPr>
          <a:lstStyle/>
          <a:p>
            <a:pPr algn="l"/>
            <a:r>
              <a:rPr sz="1300" b="1">
                <a:solidFill>
                  <a:srgbClr val="1F3864"/>
                </a:solidFill>
                <a:latin typeface="Calibri"/>
              </a:rPr>
              <a:t>CICLOS DEL AGUA</a:t>
            </a:r>
          </a:p>
        </p:txBody>
      </p:sp>
      <p:sp>
        <p:nvSpPr>
          <p:cNvPr id="67593" name="Ejemplos ambientales CICLOS DEL AGUA"/>
          <p:cNvSpPr txBox="1"/>
          <p:nvPr/>
        </p:nvSpPr>
        <p:spPr>
          <a:xfrm>
            <a:off x="6565392" y="4334256"/>
            <a:ext cx="1874519" cy="1143000"/>
          </a:xfrm>
          <a:prstGeom prst="rect">
            <a:avLst/>
          </a:prstGeom>
          <a:noFill/>
        </p:spPr>
        <p:txBody>
          <a:bodyPr wrap="square" lIns="0" tIns="0" rIns="0" bIns="0">
            <a:spAutoFit/>
          </a:bodyPr>
          <a:lstStyle/>
          <a:p>
            <a:pPr algn="l">
              <a:lnSpc>
                <a:spcPct val="100000"/>
              </a:lnSpc>
              <a:spcBef>
                <a:spcPts val="0"/>
              </a:spcBef>
              <a:spcAft>
                <a:spcPts val="800"/>
              </a:spcAft>
            </a:pPr>
            <a:r>
              <a:rPr sz="1250">
                <a:solidFill>
                  <a:srgbClr val="404040"/>
                </a:solidFill>
                <a:latin typeface="Calibri"/>
              </a:rPr>
              <a:t>•  Sequías y reducción de caudales</a:t>
            </a:r>
          </a:p>
          <a:p>
            <a:pPr algn="l">
              <a:lnSpc>
                <a:spcPct val="100000"/>
              </a:lnSpc>
              <a:spcBef>
                <a:spcPts val="0"/>
              </a:spcBef>
              <a:spcAft>
                <a:spcPts val="800"/>
              </a:spcAft>
            </a:pPr>
            <a:r>
              <a:rPr sz="1250">
                <a:solidFill>
                  <a:srgbClr val="404040"/>
                </a:solidFill>
                <a:latin typeface="Calibri"/>
              </a:rPr>
              <a:t>•  Inundaciones y desbordamientos</a:t>
            </a:r>
          </a:p>
        </p:txBody>
      </p:sp>
    </p:spTree>
    <p:extLst>
      <p:ext uri="{BB962C8B-B14F-4D97-AF65-F5344CB8AC3E}">
        <p14:creationId xmlns:p14="http://schemas.microsoft.com/office/powerpoint/2010/main" val="413461122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3"/>
          <p:cNvSpPr txBox="1">
            <a:spLocks noChangeArrowheads="1"/>
          </p:cNvSpPr>
          <p:nvPr/>
        </p:nvSpPr>
        <p:spPr bwMode="auto">
          <a:xfrm>
            <a:off x="457200" y="1346200"/>
            <a:ext cx="8229600" cy="939800"/>
          </a:xfrm>
          <a:prstGeom prst="rect">
            <a:avLst/>
          </a:prstGeom>
          <a:solidFill>
            <a:srgbClr val="1F3864"/>
          </a:solidFill>
          <a:ln w="28575">
            <a:noFill/>
            <a:miter lim="800000"/>
            <a:headEnd/>
            <a:tailEnd/>
          </a:ln>
        </p:spPr>
        <p:txBody>
          <a:bodyPr wrap="square" anchor="ctr" anchorCtr="0">
            <a:noAutofit/>
          </a:bodyPr>
          <a:lstStyle/>
          <a:p>
            <a:pPr algn="just">
              <a:spcBef>
                <a:spcPct val="50000"/>
              </a:spcBef>
            </a:pPr>
            <a:r>
              <a:rPr lang="es-ES" sz="1600" b="1">
                <a:solidFill>
                  <a:srgbClr val="FFFFFF"/>
                </a:solidFill>
                <a:latin typeface="Calibri"/>
                <a:ea typeface="Calibri"/>
                <a:cs typeface="Calibri"/>
              </a:rPr>
              <a:t>Lo social son los procesos y dinámicas entre individuos de un colectivo; lo cultural, las creencias, valores y patrones de conducta que ese grupo establece.</a:t>
            </a:r>
            <a:endParaRPr lang="es-ES" sz="1600" b="1" dirty="0">
              <a:solidFill>
                <a:srgbClr val="FFFFFF"/>
              </a:solidFill>
              <a:latin typeface="Calibri"/>
              <a:ea typeface="Calibri"/>
              <a:cs typeface="Calibri"/>
            </a:endParaRPr>
          </a:p>
        </p:txBody>
      </p:sp>
      <p:pic>
        <p:nvPicPr>
          <p:cNvPr id="3" name="Imagen 2"/>
          <p:cNvPicPr>
            <a:picLocks noChangeAspect="1"/>
          </p:cNvPicPr>
          <p:nvPr/>
        </p:nvPicPr>
        <p:blipFill>
          <a:blip r:embed="rId2"/>
          <a:stretch>
            <a:fillRect/>
          </a:stretch>
        </p:blipFill>
        <p:spPr>
          <a:xfrm>
            <a:off x="457200" y="4292600"/>
            <a:ext cx="1173616" cy="1168400"/>
          </a:xfrm>
          <a:prstGeom prst="rect">
            <a:avLst/>
          </a:prstGeom>
        </p:spPr>
      </p:pic>
      <p:sp>
        <p:nvSpPr>
          <p:cNvPr id="2" name="CuadroTexto 1">
            <a:extLst>
              <a:ext uri="{FF2B5EF4-FFF2-40B4-BE49-F238E27FC236}">
                <a16:creationId xmlns:a16="http://schemas.microsoft.com/office/drawing/2014/main" id="{74AC4F13-1827-4F65-811D-CA383D68B9C1}"/>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TÉCNICA PESTEL · E3</a:t>
            </a:r>
          </a:p>
        </p:txBody>
      </p:sp>
      <p:sp>
        <p:nvSpPr>
          <p:cNvPr id="4" name="CuadroTexto 3">
            <a:extLst>
              <a:ext uri="{FF2B5EF4-FFF2-40B4-BE49-F238E27FC236}">
                <a16:creationId xmlns:a16="http://schemas.microsoft.com/office/drawing/2014/main" id="{4C53364C-8E62-409B-A114-5E4EDF1FC877}"/>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Entorno social y cultural</a:t>
            </a:r>
          </a:p>
        </p:txBody>
      </p:sp>
      <p:sp>
        <p:nvSpPr>
          <p:cNvPr id="5" name="Rectángulo 4">
            <a:extLst>
              <a:ext uri="{FF2B5EF4-FFF2-40B4-BE49-F238E27FC236}">
                <a16:creationId xmlns:a16="http://schemas.microsoft.com/office/drawing/2014/main" id="{2CF2EE2A-D243-4C79-8602-B5B072B91657}"/>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5DB14670-814C-45D0-97F9-2E1431F942A5}"/>
              </a:ext>
            </a:extLst>
          </p:cNvPr>
          <p:cNvSpPr/>
          <p:nvPr/>
        </p:nvSpPr>
        <p:spPr>
          <a:xfrm>
            <a:off x="457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Demografía</a:t>
            </a:r>
          </a:p>
        </p:txBody>
      </p:sp>
      <p:sp>
        <p:nvSpPr>
          <p:cNvPr id="7" name="Rectángulo 6">
            <a:extLst>
              <a:ext uri="{FF2B5EF4-FFF2-40B4-BE49-F238E27FC236}">
                <a16:creationId xmlns:a16="http://schemas.microsoft.com/office/drawing/2014/main" id="{72F2B8C4-592C-421A-B416-CBB542E0D21F}"/>
              </a:ext>
            </a:extLst>
          </p:cNvPr>
          <p:cNvSpPr/>
          <p:nvPr/>
        </p:nvSpPr>
        <p:spPr>
          <a:xfrm>
            <a:off x="3251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Estructura poblacional</a:t>
            </a:r>
          </a:p>
        </p:txBody>
      </p:sp>
      <p:sp>
        <p:nvSpPr>
          <p:cNvPr id="8" name="Rectángulo 7">
            <a:extLst>
              <a:ext uri="{FF2B5EF4-FFF2-40B4-BE49-F238E27FC236}">
                <a16:creationId xmlns:a16="http://schemas.microsoft.com/office/drawing/2014/main" id="{D85132FC-0384-428B-A447-89CCFA069A33}"/>
              </a:ext>
            </a:extLst>
          </p:cNvPr>
          <p:cNvSpPr/>
          <p:nvPr/>
        </p:nvSpPr>
        <p:spPr>
          <a:xfrm>
            <a:off x="6045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Convivencia</a:t>
            </a:r>
          </a:p>
        </p:txBody>
      </p:sp>
      <p:sp>
        <p:nvSpPr>
          <p:cNvPr id="9" name="Rectángulo 8">
            <a:extLst>
              <a:ext uri="{FF2B5EF4-FFF2-40B4-BE49-F238E27FC236}">
                <a16:creationId xmlns:a16="http://schemas.microsoft.com/office/drawing/2014/main" id="{147DB8BC-7AFA-4FA3-8CE5-9DF8BEAB4B2C}"/>
              </a:ext>
            </a:extLst>
          </p:cNvPr>
          <p:cNvSpPr/>
          <p:nvPr/>
        </p:nvSpPr>
        <p:spPr>
          <a:xfrm>
            <a:off x="457200" y="32258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Religión</a:t>
            </a:r>
          </a:p>
        </p:txBody>
      </p:sp>
      <p:sp>
        <p:nvSpPr>
          <p:cNvPr id="10" name="Rectángulo 9">
            <a:extLst>
              <a:ext uri="{FF2B5EF4-FFF2-40B4-BE49-F238E27FC236}">
                <a16:creationId xmlns:a16="http://schemas.microsoft.com/office/drawing/2014/main" id="{82793C1C-8C56-4DD0-BABC-9BF7AC35CEA4}"/>
              </a:ext>
            </a:extLst>
          </p:cNvPr>
          <p:cNvSpPr/>
          <p:nvPr/>
        </p:nvSpPr>
        <p:spPr>
          <a:xfrm>
            <a:off x="3251200" y="32258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Tradiciones</a:t>
            </a:r>
          </a:p>
        </p:txBody>
      </p:sp>
      <p:sp>
        <p:nvSpPr>
          <p:cNvPr id="11" name="Rectángulo 10">
            <a:extLst>
              <a:ext uri="{FF2B5EF4-FFF2-40B4-BE49-F238E27FC236}">
                <a16:creationId xmlns:a16="http://schemas.microsoft.com/office/drawing/2014/main" id="{41C463B5-E261-4A9D-B514-582CB1671DC8}"/>
              </a:ext>
            </a:extLst>
          </p:cNvPr>
          <p:cNvSpPr/>
          <p:nvPr/>
        </p:nvSpPr>
        <p:spPr>
          <a:xfrm>
            <a:off x="6045200" y="32258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Estilos de vida</a:t>
            </a:r>
          </a:p>
        </p:txBody>
      </p:sp>
      <p:sp>
        <p:nvSpPr>
          <p:cNvPr id="12" name="CuadroTexto 11">
            <a:extLst>
              <a:ext uri="{FF2B5EF4-FFF2-40B4-BE49-F238E27FC236}">
                <a16:creationId xmlns:a16="http://schemas.microsoft.com/office/drawing/2014/main" id="{CB17F23D-B266-476E-87D0-78F54A62DF05}"/>
              </a:ext>
            </a:extLst>
          </p:cNvPr>
          <p:cNvSpPr txBox="1"/>
          <p:nvPr/>
        </p:nvSpPr>
        <p:spPr>
          <a:xfrm>
            <a:off x="457200" y="4013200"/>
            <a:ext cx="5080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Aspectos que se revisan en este entorno</a:t>
            </a:r>
            <a:endParaRPr lang="es-CO" sz="1100">
              <a:solidFill>
                <a:srgbClr val="7F7F7F"/>
              </a:solidFill>
              <a:latin typeface="Calibri"/>
              <a:ea typeface="Calibri"/>
              <a:cs typeface="Calibri"/>
            </a:endParaRPr>
          </a:p>
        </p:txBody>
      </p:sp>
      <p:sp>
        <p:nvSpPr>
          <p:cNvPr id="70659" name="Título ejemplos de riesgos sociales y culturales"/>
          <p:cNvSpPr txBox="1"/>
          <p:nvPr/>
        </p:nvSpPr>
        <p:spPr>
          <a:xfrm>
            <a:off x="1847088" y="4261104"/>
            <a:ext cx="6839712" cy="256032"/>
          </a:xfrm>
          <a:prstGeom prst="rect">
            <a:avLst/>
          </a:prstGeom>
          <a:noFill/>
        </p:spPr>
        <p:txBody>
          <a:bodyPr wrap="square" lIns="0" tIns="0" rIns="0" bIns="0">
            <a:spAutoFit/>
          </a:bodyPr>
          <a:lstStyle/>
          <a:p>
            <a:pPr algn="l"/>
            <a:r>
              <a:rPr sz="1200" b="1">
                <a:solidFill>
                  <a:srgbClr val="ED7D31"/>
                </a:solidFill>
                <a:latin typeface="Calibri"/>
              </a:rPr>
              <a:t>ALGUNOS ELEMENTOS GENERADORES DE RIESGO SOCIAL Y CULTURAL</a:t>
            </a:r>
          </a:p>
        </p:txBody>
      </p:sp>
      <p:sp>
        <p:nvSpPr>
          <p:cNvPr id="70660" name="Ejemplos sociales y culturales columna 1"/>
          <p:cNvSpPr txBox="1"/>
          <p:nvPr/>
        </p:nvSpPr>
        <p:spPr>
          <a:xfrm>
            <a:off x="1847088" y="4590288"/>
            <a:ext cx="3273552" cy="1033271"/>
          </a:xfrm>
          <a:prstGeom prst="rect">
            <a:avLst/>
          </a:prstGeom>
          <a:noFill/>
        </p:spPr>
        <p:txBody>
          <a:bodyPr wrap="square" lIns="0" tIns="0" rIns="0" bIns="0">
            <a:spAutoFit/>
          </a:bodyPr>
          <a:lstStyle/>
          <a:p>
            <a:pPr algn="l">
              <a:lnSpc>
                <a:spcPct val="100000"/>
              </a:lnSpc>
              <a:spcBef>
                <a:spcPts val="0"/>
              </a:spcBef>
              <a:spcAft>
                <a:spcPts val="400"/>
              </a:spcAft>
            </a:pPr>
            <a:r>
              <a:rPr sz="1150" b="1">
                <a:solidFill>
                  <a:srgbClr val="1F3864"/>
                </a:solidFill>
                <a:latin typeface="Calibri"/>
              </a:rPr>
              <a:t>•  Demografía: </a:t>
            </a:r>
            <a:r>
              <a:rPr sz="1150">
                <a:solidFill>
                  <a:srgbClr val="404040"/>
                </a:solidFill>
                <a:latin typeface="Calibri"/>
              </a:rPr>
              <a:t>Envejecimiento o baja natalidad.</a:t>
            </a:r>
          </a:p>
          <a:p>
            <a:pPr algn="l">
              <a:lnSpc>
                <a:spcPct val="100000"/>
              </a:lnSpc>
              <a:spcBef>
                <a:spcPts val="0"/>
              </a:spcBef>
              <a:spcAft>
                <a:spcPts val="400"/>
              </a:spcAft>
            </a:pPr>
            <a:r>
              <a:rPr sz="1150" b="1">
                <a:solidFill>
                  <a:srgbClr val="1F3864"/>
                </a:solidFill>
                <a:latin typeface="Calibri"/>
              </a:rPr>
              <a:t>•  Estructura poblacional: </a:t>
            </a:r>
            <a:r>
              <a:rPr sz="1150">
                <a:solidFill>
                  <a:srgbClr val="404040"/>
                </a:solidFill>
                <a:latin typeface="Calibri"/>
              </a:rPr>
              <a:t>Migración que modifica la composición del colectivo.</a:t>
            </a:r>
          </a:p>
          <a:p>
            <a:pPr algn="l">
              <a:lnSpc>
                <a:spcPct val="100000"/>
              </a:lnSpc>
              <a:spcBef>
                <a:spcPts val="0"/>
              </a:spcBef>
              <a:spcAft>
                <a:spcPts val="400"/>
              </a:spcAft>
            </a:pPr>
            <a:r>
              <a:rPr sz="1150" b="1">
                <a:solidFill>
                  <a:srgbClr val="1F3864"/>
                </a:solidFill>
                <a:latin typeface="Calibri"/>
              </a:rPr>
              <a:t>•  Convivencia: </a:t>
            </a:r>
            <a:r>
              <a:rPr sz="1150">
                <a:solidFill>
                  <a:srgbClr val="404040"/>
                </a:solidFill>
                <a:latin typeface="Calibri"/>
              </a:rPr>
              <a:t>Fragmentación, exclusión o pérdida de confianza entre grupos.</a:t>
            </a:r>
          </a:p>
        </p:txBody>
      </p:sp>
      <p:sp>
        <p:nvSpPr>
          <p:cNvPr id="70661" name="Ejemplos sociales y culturales columna 2"/>
          <p:cNvSpPr txBox="1"/>
          <p:nvPr/>
        </p:nvSpPr>
        <p:spPr>
          <a:xfrm>
            <a:off x="5340096" y="4590288"/>
            <a:ext cx="3273552" cy="1033271"/>
          </a:xfrm>
          <a:prstGeom prst="rect">
            <a:avLst/>
          </a:prstGeom>
          <a:noFill/>
        </p:spPr>
        <p:txBody>
          <a:bodyPr wrap="square" lIns="0" tIns="0" rIns="0" bIns="0">
            <a:spAutoFit/>
          </a:bodyPr>
          <a:lstStyle/>
          <a:p>
            <a:pPr algn="l">
              <a:lnSpc>
                <a:spcPct val="100000"/>
              </a:lnSpc>
              <a:spcBef>
                <a:spcPts val="0"/>
              </a:spcBef>
              <a:spcAft>
                <a:spcPts val="400"/>
              </a:spcAft>
            </a:pPr>
            <a:r>
              <a:rPr sz="1150" b="1">
                <a:solidFill>
                  <a:srgbClr val="1F3864"/>
                </a:solidFill>
                <a:latin typeface="Calibri"/>
              </a:rPr>
              <a:t>•  Religión: </a:t>
            </a:r>
            <a:r>
              <a:rPr sz="1150">
                <a:solidFill>
                  <a:srgbClr val="404040"/>
                </a:solidFill>
                <a:latin typeface="Calibri"/>
              </a:rPr>
              <a:t>Rechazo por incompatibilidad con creencias o prácticas religiosas.</a:t>
            </a:r>
          </a:p>
          <a:p>
            <a:pPr algn="l">
              <a:lnSpc>
                <a:spcPct val="100000"/>
              </a:lnSpc>
              <a:spcBef>
                <a:spcPts val="0"/>
              </a:spcBef>
              <a:spcAft>
                <a:spcPts val="400"/>
              </a:spcAft>
            </a:pPr>
            <a:r>
              <a:rPr sz="1150" b="1">
                <a:solidFill>
                  <a:srgbClr val="1F3864"/>
                </a:solidFill>
                <a:latin typeface="Calibri"/>
              </a:rPr>
              <a:t>•  Tradiciones: </a:t>
            </a:r>
            <a:r>
              <a:rPr sz="1150">
                <a:solidFill>
                  <a:srgbClr val="404040"/>
                </a:solidFill>
                <a:latin typeface="Calibri"/>
              </a:rPr>
              <a:t>Resistencia a iniciativas que contradicen costumbres locales.</a:t>
            </a:r>
          </a:p>
          <a:p>
            <a:pPr algn="l">
              <a:lnSpc>
                <a:spcPct val="100000"/>
              </a:lnSpc>
              <a:spcBef>
                <a:spcPts val="0"/>
              </a:spcBef>
              <a:spcAft>
                <a:spcPts val="400"/>
              </a:spcAft>
            </a:pPr>
            <a:r>
              <a:rPr sz="1150" b="1">
                <a:solidFill>
                  <a:srgbClr val="1F3864"/>
                </a:solidFill>
                <a:latin typeface="Calibri"/>
              </a:rPr>
              <a:t>•  Estilos de vida: </a:t>
            </a:r>
            <a:r>
              <a:rPr sz="1150">
                <a:solidFill>
                  <a:srgbClr val="404040"/>
                </a:solidFill>
                <a:latin typeface="Calibri"/>
              </a:rPr>
              <a:t>Cambios de hábitos que reducen aceptación o participación.</a:t>
            </a:r>
          </a:p>
        </p:txBody>
      </p:sp>
    </p:spTree>
    <p:extLst>
      <p:ext uri="{BB962C8B-B14F-4D97-AF65-F5344CB8AC3E}">
        <p14:creationId xmlns:p14="http://schemas.microsoft.com/office/powerpoint/2010/main" val="21046448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ext Box 3"/>
          <p:cNvSpPr txBox="1">
            <a:spLocks noChangeArrowheads="1"/>
          </p:cNvSpPr>
          <p:nvPr/>
        </p:nvSpPr>
        <p:spPr bwMode="auto">
          <a:xfrm>
            <a:off x="457200" y="1346200"/>
            <a:ext cx="8229600" cy="939800"/>
          </a:xfrm>
          <a:prstGeom prst="rect">
            <a:avLst/>
          </a:prstGeom>
          <a:solidFill>
            <a:srgbClr val="1F3864"/>
          </a:solidFill>
          <a:ln w="28575">
            <a:noFill/>
            <a:miter lim="800000"/>
            <a:headEnd/>
            <a:tailEnd/>
          </a:ln>
        </p:spPr>
        <p:txBody>
          <a:bodyPr wrap="square" anchor="ctr" anchorCtr="0">
            <a:noAutofit/>
          </a:bodyPr>
          <a:lstStyle/>
          <a:p>
            <a:pPr algn="just">
              <a:spcBef>
                <a:spcPct val="50000"/>
              </a:spcBef>
            </a:pPr>
            <a:r>
              <a:rPr lang="es-ES" sz="1600" b="1">
                <a:solidFill>
                  <a:srgbClr val="FFFFFF"/>
                </a:solidFill>
                <a:latin typeface="Calibri"/>
                <a:ea typeface="Calibri"/>
                <a:cs typeface="Calibri"/>
              </a:rPr>
              <a:t>Son los modos de hacer las cosas: los saberes orientados a un objetivo.</a:t>
            </a:r>
            <a:endParaRPr lang="es-ES" sz="1600" b="1" dirty="0">
              <a:solidFill>
                <a:srgbClr val="FFFFFF"/>
              </a:solidFill>
              <a:latin typeface="Calibri"/>
              <a:ea typeface="Calibri"/>
              <a:cs typeface="Calibri"/>
            </a:endParaRPr>
          </a:p>
        </p:txBody>
      </p:sp>
      <p:pic>
        <p:nvPicPr>
          <p:cNvPr id="3" name="Imagen 2"/>
          <p:cNvPicPr>
            <a:picLocks noChangeAspect="1"/>
          </p:cNvPicPr>
          <p:nvPr/>
        </p:nvPicPr>
        <p:blipFill>
          <a:blip r:embed="rId2"/>
          <a:stretch>
            <a:fillRect/>
          </a:stretch>
        </p:blipFill>
        <p:spPr>
          <a:xfrm>
            <a:off x="457200" y="3556000"/>
            <a:ext cx="2638425" cy="1733550"/>
          </a:xfrm>
          <a:prstGeom prst="rect">
            <a:avLst/>
          </a:prstGeom>
        </p:spPr>
      </p:pic>
      <p:sp>
        <p:nvSpPr>
          <p:cNvPr id="2" name="CuadroTexto 1">
            <a:extLst>
              <a:ext uri="{FF2B5EF4-FFF2-40B4-BE49-F238E27FC236}">
                <a16:creationId xmlns:a16="http://schemas.microsoft.com/office/drawing/2014/main" id="{2A97661B-2D8D-4073-9B50-09084CC0CD4C}"/>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TÉCNICA PESTEL · E4</a:t>
            </a:r>
          </a:p>
        </p:txBody>
      </p:sp>
      <p:sp>
        <p:nvSpPr>
          <p:cNvPr id="4" name="CuadroTexto 3">
            <a:extLst>
              <a:ext uri="{FF2B5EF4-FFF2-40B4-BE49-F238E27FC236}">
                <a16:creationId xmlns:a16="http://schemas.microsoft.com/office/drawing/2014/main" id="{3C12A1FE-4364-41BE-A546-D14230B325B6}"/>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Entorno tecnológico</a:t>
            </a:r>
          </a:p>
        </p:txBody>
      </p:sp>
      <p:sp>
        <p:nvSpPr>
          <p:cNvPr id="5" name="Rectángulo 4">
            <a:extLst>
              <a:ext uri="{FF2B5EF4-FFF2-40B4-BE49-F238E27FC236}">
                <a16:creationId xmlns:a16="http://schemas.microsoft.com/office/drawing/2014/main" id="{75382C4C-CF86-44BA-ACEF-AC0946849AA0}"/>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4B0CC594-32EE-470F-882C-4AC30632C95D}"/>
              </a:ext>
            </a:extLst>
          </p:cNvPr>
          <p:cNvSpPr/>
          <p:nvPr/>
        </p:nvSpPr>
        <p:spPr>
          <a:xfrm>
            <a:off x="457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Desarrollo científico</a:t>
            </a:r>
          </a:p>
        </p:txBody>
      </p:sp>
      <p:sp>
        <p:nvSpPr>
          <p:cNvPr id="7" name="Rectángulo 6">
            <a:extLst>
              <a:ext uri="{FF2B5EF4-FFF2-40B4-BE49-F238E27FC236}">
                <a16:creationId xmlns:a16="http://schemas.microsoft.com/office/drawing/2014/main" id="{71287EFB-3C35-450F-974A-5FBF1C33C3EF}"/>
              </a:ext>
            </a:extLst>
          </p:cNvPr>
          <p:cNvSpPr/>
          <p:nvPr/>
        </p:nvSpPr>
        <p:spPr>
          <a:xfrm>
            <a:off x="3251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Progreso tecnológico</a:t>
            </a:r>
          </a:p>
        </p:txBody>
      </p:sp>
      <p:sp>
        <p:nvSpPr>
          <p:cNvPr id="8" name="Rectángulo 7">
            <a:extLst>
              <a:ext uri="{FF2B5EF4-FFF2-40B4-BE49-F238E27FC236}">
                <a16:creationId xmlns:a16="http://schemas.microsoft.com/office/drawing/2014/main" id="{1A768080-5C6F-4B1A-9D87-8FCC7BD48904}"/>
              </a:ext>
            </a:extLst>
          </p:cNvPr>
          <p:cNvSpPr/>
          <p:nvPr/>
        </p:nvSpPr>
        <p:spPr>
          <a:xfrm>
            <a:off x="6045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Innovación tecnológica</a:t>
            </a:r>
          </a:p>
        </p:txBody>
      </p:sp>
      <p:sp>
        <p:nvSpPr>
          <p:cNvPr id="9" name="CuadroTexto 8">
            <a:extLst>
              <a:ext uri="{FF2B5EF4-FFF2-40B4-BE49-F238E27FC236}">
                <a16:creationId xmlns:a16="http://schemas.microsoft.com/office/drawing/2014/main" id="{8DA22CDE-88C2-4781-B1FD-C299176951EF}"/>
              </a:ext>
            </a:extLst>
          </p:cNvPr>
          <p:cNvSpPr txBox="1"/>
          <p:nvPr/>
        </p:nvSpPr>
        <p:spPr>
          <a:xfrm>
            <a:off x="457200" y="3276600"/>
            <a:ext cx="5080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Aspectos que se revisan en este entorno</a:t>
            </a:r>
            <a:endParaRPr lang="es-CO" sz="1100">
              <a:solidFill>
                <a:srgbClr val="7F7F7F"/>
              </a:solidFill>
              <a:latin typeface="Calibri"/>
              <a:ea typeface="Calibri"/>
              <a:cs typeface="Calibri"/>
            </a:endParaRPr>
          </a:p>
        </p:txBody>
      </p:sp>
      <p:sp>
        <p:nvSpPr>
          <p:cNvPr id="71683" name="Título ejemplos de riesgos tecnológicos"/>
          <p:cNvSpPr txBox="1"/>
          <p:nvPr/>
        </p:nvSpPr>
        <p:spPr>
          <a:xfrm>
            <a:off x="3273552" y="3675887"/>
            <a:ext cx="5413248" cy="256032"/>
          </a:xfrm>
          <a:prstGeom prst="rect">
            <a:avLst/>
          </a:prstGeom>
          <a:noFill/>
        </p:spPr>
        <p:txBody>
          <a:bodyPr wrap="square" lIns="0" tIns="0" rIns="0" bIns="0">
            <a:spAutoFit/>
          </a:bodyPr>
          <a:lstStyle/>
          <a:p>
            <a:pPr algn="l"/>
            <a:r>
              <a:rPr sz="1150" b="1">
                <a:solidFill>
                  <a:srgbClr val="ED7D31"/>
                </a:solidFill>
                <a:latin typeface="Calibri"/>
              </a:rPr>
              <a:t>ALGUNOS ELEMENTOS GENERADORES DE RIESGO TECNOLÓGICO</a:t>
            </a:r>
          </a:p>
        </p:txBody>
      </p:sp>
      <p:sp>
        <p:nvSpPr>
          <p:cNvPr id="71684" name="Categoría tecnológica DESARROLLO CIENTÍFICO"/>
          <p:cNvSpPr txBox="1"/>
          <p:nvPr/>
        </p:nvSpPr>
        <p:spPr>
          <a:xfrm>
            <a:off x="3273552" y="4041648"/>
            <a:ext cx="1627632" cy="329184"/>
          </a:xfrm>
          <a:prstGeom prst="rect">
            <a:avLst/>
          </a:prstGeom>
          <a:noFill/>
        </p:spPr>
        <p:txBody>
          <a:bodyPr wrap="square" lIns="0" tIns="0" rIns="0" bIns="0">
            <a:spAutoFit/>
          </a:bodyPr>
          <a:lstStyle/>
          <a:p>
            <a:pPr algn="l"/>
            <a:r>
              <a:rPr sz="1100" b="1">
                <a:solidFill>
                  <a:srgbClr val="1F3864"/>
                </a:solidFill>
                <a:latin typeface="Calibri"/>
              </a:rPr>
              <a:t>DESARROLLO CIENTÍFICO</a:t>
            </a:r>
          </a:p>
        </p:txBody>
      </p:sp>
      <p:sp>
        <p:nvSpPr>
          <p:cNvPr id="71685" name="Ejemplos tecnológicos DESARROLLO CIENTÍFICO"/>
          <p:cNvSpPr txBox="1"/>
          <p:nvPr/>
        </p:nvSpPr>
        <p:spPr>
          <a:xfrm>
            <a:off x="3273552" y="4443984"/>
            <a:ext cx="1627632" cy="1097280"/>
          </a:xfrm>
          <a:prstGeom prst="rect">
            <a:avLst/>
          </a:prstGeom>
          <a:noFill/>
        </p:spPr>
        <p:txBody>
          <a:bodyPr wrap="square" lIns="0" tIns="0" rIns="0" bIns="0">
            <a:spAutoFit/>
          </a:bodyPr>
          <a:lstStyle/>
          <a:p>
            <a:pPr algn="l">
              <a:lnSpc>
                <a:spcPct val="100000"/>
              </a:lnSpc>
              <a:spcBef>
                <a:spcPts val="0"/>
              </a:spcBef>
              <a:spcAft>
                <a:spcPts val="700"/>
              </a:spcAft>
            </a:pPr>
            <a:r>
              <a:rPr sz="1100">
                <a:solidFill>
                  <a:srgbClr val="404040"/>
                </a:solidFill>
                <a:latin typeface="Calibri"/>
              </a:rPr>
              <a:t>•  Hallazgos que invalidan supuestos técnicos</a:t>
            </a:r>
          </a:p>
          <a:p>
            <a:pPr algn="l">
              <a:lnSpc>
                <a:spcPct val="100000"/>
              </a:lnSpc>
              <a:spcBef>
                <a:spcPts val="0"/>
              </a:spcBef>
              <a:spcAft>
                <a:spcPts val="700"/>
              </a:spcAft>
            </a:pPr>
            <a:r>
              <a:rPr sz="1100">
                <a:solidFill>
                  <a:srgbClr val="404040"/>
                </a:solidFill>
                <a:latin typeface="Calibri"/>
              </a:rPr>
              <a:t>•  Nuevos materiales que cambian especificaciones</a:t>
            </a:r>
          </a:p>
        </p:txBody>
      </p:sp>
      <p:sp>
        <p:nvSpPr>
          <p:cNvPr id="71686" name="Categoría tecnológica PROGRESO TECNOLÓGICO"/>
          <p:cNvSpPr txBox="1"/>
          <p:nvPr/>
        </p:nvSpPr>
        <p:spPr>
          <a:xfrm>
            <a:off x="5074920" y="4041648"/>
            <a:ext cx="1627632" cy="329184"/>
          </a:xfrm>
          <a:prstGeom prst="rect">
            <a:avLst/>
          </a:prstGeom>
          <a:noFill/>
        </p:spPr>
        <p:txBody>
          <a:bodyPr wrap="square" lIns="0" tIns="0" rIns="0" bIns="0">
            <a:spAutoFit/>
          </a:bodyPr>
          <a:lstStyle/>
          <a:p>
            <a:pPr algn="l"/>
            <a:r>
              <a:rPr sz="1100" b="1">
                <a:solidFill>
                  <a:srgbClr val="1F3864"/>
                </a:solidFill>
                <a:latin typeface="Calibri"/>
              </a:rPr>
              <a:t>PROGRESO TECNOLÓGICO</a:t>
            </a:r>
          </a:p>
        </p:txBody>
      </p:sp>
      <p:sp>
        <p:nvSpPr>
          <p:cNvPr id="71687" name="Ejemplos tecnológicos PROGRESO TECNOLÓGICO"/>
          <p:cNvSpPr txBox="1"/>
          <p:nvPr/>
        </p:nvSpPr>
        <p:spPr>
          <a:xfrm>
            <a:off x="5074920" y="4443984"/>
            <a:ext cx="1627632" cy="1097280"/>
          </a:xfrm>
          <a:prstGeom prst="rect">
            <a:avLst/>
          </a:prstGeom>
          <a:noFill/>
        </p:spPr>
        <p:txBody>
          <a:bodyPr wrap="square" lIns="0" tIns="0" rIns="0" bIns="0">
            <a:spAutoFit/>
          </a:bodyPr>
          <a:lstStyle/>
          <a:p>
            <a:pPr algn="l">
              <a:lnSpc>
                <a:spcPct val="100000"/>
              </a:lnSpc>
              <a:spcBef>
                <a:spcPts val="0"/>
              </a:spcBef>
              <a:spcAft>
                <a:spcPts val="700"/>
              </a:spcAft>
            </a:pPr>
            <a:r>
              <a:rPr sz="1100">
                <a:solidFill>
                  <a:srgbClr val="404040"/>
                </a:solidFill>
                <a:latin typeface="Calibri"/>
              </a:rPr>
              <a:t>•  Obsolescencia acelerada de equipos o software</a:t>
            </a:r>
          </a:p>
          <a:p>
            <a:pPr algn="l">
              <a:lnSpc>
                <a:spcPct val="100000"/>
              </a:lnSpc>
              <a:spcBef>
                <a:spcPts val="0"/>
              </a:spcBef>
              <a:spcAft>
                <a:spcPts val="700"/>
              </a:spcAft>
            </a:pPr>
            <a:r>
              <a:rPr sz="1100">
                <a:solidFill>
                  <a:srgbClr val="404040"/>
                </a:solidFill>
                <a:latin typeface="Calibri"/>
              </a:rPr>
              <a:t>•  Cambios de estándares e incompatibilidad tecnológica</a:t>
            </a:r>
          </a:p>
        </p:txBody>
      </p:sp>
      <p:sp>
        <p:nvSpPr>
          <p:cNvPr id="71688" name="Categoría tecnológica INNOVACIÓN TECNOLÓGICA"/>
          <p:cNvSpPr txBox="1"/>
          <p:nvPr/>
        </p:nvSpPr>
        <p:spPr>
          <a:xfrm>
            <a:off x="6876288" y="4041648"/>
            <a:ext cx="1627632" cy="329184"/>
          </a:xfrm>
          <a:prstGeom prst="rect">
            <a:avLst/>
          </a:prstGeom>
          <a:noFill/>
        </p:spPr>
        <p:txBody>
          <a:bodyPr wrap="square" lIns="0" tIns="0" rIns="0" bIns="0">
            <a:spAutoFit/>
          </a:bodyPr>
          <a:lstStyle/>
          <a:p>
            <a:pPr algn="l"/>
            <a:r>
              <a:rPr sz="1100" b="1">
                <a:solidFill>
                  <a:srgbClr val="1F3864"/>
                </a:solidFill>
                <a:latin typeface="Calibri"/>
              </a:rPr>
              <a:t>INNOVACIÓN TECNOLÓGICA</a:t>
            </a:r>
          </a:p>
        </p:txBody>
      </p:sp>
      <p:sp>
        <p:nvSpPr>
          <p:cNvPr id="71689" name="Ejemplos tecnológicos INNOVACIÓN TECNOLÓGICA"/>
          <p:cNvSpPr txBox="1"/>
          <p:nvPr/>
        </p:nvSpPr>
        <p:spPr>
          <a:xfrm>
            <a:off x="6876288" y="4443984"/>
            <a:ext cx="1627632" cy="1097280"/>
          </a:xfrm>
          <a:prstGeom prst="rect">
            <a:avLst/>
          </a:prstGeom>
          <a:noFill/>
        </p:spPr>
        <p:txBody>
          <a:bodyPr wrap="square" lIns="0" tIns="0" rIns="0" bIns="0">
            <a:spAutoFit/>
          </a:bodyPr>
          <a:lstStyle/>
          <a:p>
            <a:pPr algn="l">
              <a:lnSpc>
                <a:spcPct val="100000"/>
              </a:lnSpc>
              <a:spcBef>
                <a:spcPts val="0"/>
              </a:spcBef>
              <a:spcAft>
                <a:spcPts val="700"/>
              </a:spcAft>
            </a:pPr>
            <a:r>
              <a:rPr sz="1100">
                <a:solidFill>
                  <a:srgbClr val="404040"/>
                </a:solidFill>
                <a:latin typeface="Calibri"/>
              </a:rPr>
              <a:t>•  Soluciones disruptivas que sustituyen la tecnología usada</a:t>
            </a:r>
          </a:p>
          <a:p>
            <a:pPr algn="l">
              <a:lnSpc>
                <a:spcPct val="100000"/>
              </a:lnSpc>
              <a:spcBef>
                <a:spcPts val="0"/>
              </a:spcBef>
              <a:spcAft>
                <a:spcPts val="700"/>
              </a:spcAft>
            </a:pPr>
            <a:r>
              <a:rPr sz="1100">
                <a:solidFill>
                  <a:srgbClr val="404040"/>
                </a:solidFill>
                <a:latin typeface="Calibri"/>
              </a:rPr>
              <a:t>•  Nuevos métodos que transforman la forma de operar</a:t>
            </a:r>
          </a:p>
        </p:txBody>
      </p:sp>
    </p:spTree>
    <p:extLst>
      <p:ext uri="{BB962C8B-B14F-4D97-AF65-F5344CB8AC3E}">
        <p14:creationId xmlns:p14="http://schemas.microsoft.com/office/powerpoint/2010/main" val="17418950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3"/>
          <p:cNvSpPr txBox="1">
            <a:spLocks noChangeArrowheads="1"/>
          </p:cNvSpPr>
          <p:nvPr/>
        </p:nvSpPr>
        <p:spPr bwMode="auto">
          <a:xfrm>
            <a:off x="457200" y="1346200"/>
            <a:ext cx="8229600" cy="939800"/>
          </a:xfrm>
          <a:prstGeom prst="rect">
            <a:avLst/>
          </a:prstGeom>
          <a:solidFill>
            <a:srgbClr val="1F3864"/>
          </a:solidFill>
          <a:ln w="28575">
            <a:noFill/>
            <a:miter lim="800000"/>
            <a:headEnd/>
            <a:tailEnd/>
          </a:ln>
        </p:spPr>
        <p:txBody>
          <a:bodyPr wrap="square" anchor="ctr" anchorCtr="0">
            <a:noAutofit/>
          </a:bodyPr>
          <a:lstStyle/>
          <a:p>
            <a:pPr algn="just">
              <a:spcBef>
                <a:spcPct val="50000"/>
              </a:spcBef>
            </a:pPr>
            <a:r>
              <a:rPr lang="es-ES" sz="1600" b="1">
                <a:solidFill>
                  <a:srgbClr val="FFFFFF"/>
                </a:solidFill>
                <a:latin typeface="Calibri"/>
                <a:ea typeface="Calibri"/>
                <a:cs typeface="Calibri"/>
              </a:rPr>
              <a:t>Abarca la producción, distribución, intercambio y consumo de bienes y servicios, y el comportamiento de consumidores y productores en los mercados.</a:t>
            </a:r>
            <a:endParaRPr lang="es-ES" sz="1600" b="1" dirty="0">
              <a:solidFill>
                <a:srgbClr val="FFFFFF"/>
              </a:solidFill>
              <a:latin typeface="Calibri"/>
              <a:ea typeface="Calibri"/>
              <a:cs typeface="Calibri"/>
            </a:endParaRPr>
          </a:p>
        </p:txBody>
      </p:sp>
      <p:pic>
        <p:nvPicPr>
          <p:cNvPr id="2" name="Imagen 1"/>
          <p:cNvPicPr>
            <a:picLocks noChangeAspect="1"/>
          </p:cNvPicPr>
          <p:nvPr/>
        </p:nvPicPr>
        <p:blipFill>
          <a:blip r:embed="rId2"/>
          <a:srcRect l="2750" r="2894"/>
          <a:stretch>
            <a:fillRect/>
          </a:stretch>
        </p:blipFill>
        <p:spPr>
          <a:xfrm>
            <a:off x="457200" y="3505200"/>
            <a:ext cx="2453554" cy="1752600"/>
          </a:xfrm>
          <a:prstGeom prst="rect">
            <a:avLst/>
          </a:prstGeom>
        </p:spPr>
      </p:pic>
      <p:sp>
        <p:nvSpPr>
          <p:cNvPr id="3" name="CuadroTexto 2">
            <a:extLst>
              <a:ext uri="{FF2B5EF4-FFF2-40B4-BE49-F238E27FC236}">
                <a16:creationId xmlns:a16="http://schemas.microsoft.com/office/drawing/2014/main" id="{96E9BD4A-04F2-4B77-AE74-F1C263C1F396}"/>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TÉCNICA PESTEL · E5</a:t>
            </a:r>
          </a:p>
        </p:txBody>
      </p:sp>
      <p:sp>
        <p:nvSpPr>
          <p:cNvPr id="4" name="CuadroTexto 3">
            <a:extLst>
              <a:ext uri="{FF2B5EF4-FFF2-40B4-BE49-F238E27FC236}">
                <a16:creationId xmlns:a16="http://schemas.microsoft.com/office/drawing/2014/main" id="{1EE52D0C-5C7B-4234-BEDA-8DBC477C97EA}"/>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Entorno económico</a:t>
            </a:r>
          </a:p>
        </p:txBody>
      </p:sp>
      <p:sp>
        <p:nvSpPr>
          <p:cNvPr id="5" name="Rectángulo 4">
            <a:extLst>
              <a:ext uri="{FF2B5EF4-FFF2-40B4-BE49-F238E27FC236}">
                <a16:creationId xmlns:a16="http://schemas.microsoft.com/office/drawing/2014/main" id="{9FF7D391-A5FB-4585-8F74-9A48BDCAC988}"/>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66FE3376-7BDF-4D12-BF3C-CECAABB5D363}"/>
              </a:ext>
            </a:extLst>
          </p:cNvPr>
          <p:cNvSpPr/>
          <p:nvPr/>
        </p:nvSpPr>
        <p:spPr>
          <a:xfrm>
            <a:off x="457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Los precios</a:t>
            </a:r>
          </a:p>
        </p:txBody>
      </p:sp>
      <p:sp>
        <p:nvSpPr>
          <p:cNvPr id="7" name="Rectángulo 6">
            <a:extLst>
              <a:ext uri="{FF2B5EF4-FFF2-40B4-BE49-F238E27FC236}">
                <a16:creationId xmlns:a16="http://schemas.microsoft.com/office/drawing/2014/main" id="{2A2DE411-A7D7-47E9-AD74-D799AE42C367}"/>
              </a:ext>
            </a:extLst>
          </p:cNvPr>
          <p:cNvSpPr/>
          <p:nvPr/>
        </p:nvSpPr>
        <p:spPr>
          <a:xfrm>
            <a:off x="3251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El dinero</a:t>
            </a:r>
          </a:p>
        </p:txBody>
      </p:sp>
      <p:sp>
        <p:nvSpPr>
          <p:cNvPr id="8" name="Rectángulo 7">
            <a:extLst>
              <a:ext uri="{FF2B5EF4-FFF2-40B4-BE49-F238E27FC236}">
                <a16:creationId xmlns:a16="http://schemas.microsoft.com/office/drawing/2014/main" id="{1659446E-C57E-469C-AFE8-4F36FF15F49E}"/>
              </a:ext>
            </a:extLst>
          </p:cNvPr>
          <p:cNvSpPr/>
          <p:nvPr/>
        </p:nvSpPr>
        <p:spPr>
          <a:xfrm>
            <a:off x="6045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El mercado</a:t>
            </a:r>
          </a:p>
        </p:txBody>
      </p:sp>
      <p:sp>
        <p:nvSpPr>
          <p:cNvPr id="9" name="CuadroTexto 8">
            <a:extLst>
              <a:ext uri="{FF2B5EF4-FFF2-40B4-BE49-F238E27FC236}">
                <a16:creationId xmlns:a16="http://schemas.microsoft.com/office/drawing/2014/main" id="{CED33695-C3C6-4BCD-8580-E038A650FECF}"/>
              </a:ext>
            </a:extLst>
          </p:cNvPr>
          <p:cNvSpPr txBox="1"/>
          <p:nvPr/>
        </p:nvSpPr>
        <p:spPr>
          <a:xfrm>
            <a:off x="457200" y="3200400"/>
            <a:ext cx="5080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Aspectos que se revisan en este entorno</a:t>
            </a:r>
            <a:endParaRPr lang="es-CO" sz="1100">
              <a:solidFill>
                <a:srgbClr val="7F7F7F"/>
              </a:solidFill>
              <a:latin typeface="Calibri"/>
              <a:ea typeface="Calibri"/>
              <a:cs typeface="Calibri"/>
            </a:endParaRPr>
          </a:p>
        </p:txBody>
      </p:sp>
      <p:sp>
        <p:nvSpPr>
          <p:cNvPr id="69635" name="Título ejemplos de riesgos económicos"/>
          <p:cNvSpPr txBox="1"/>
          <p:nvPr/>
        </p:nvSpPr>
        <p:spPr>
          <a:xfrm>
            <a:off x="3273552" y="3675887"/>
            <a:ext cx="5413248" cy="27432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ED7D31"/>
                </a:solidFill>
                <a:latin typeface="Calibri"/>
              </a:rPr>
              <a:t>ALGUNOS ELEMENTOS GENERADORES DE RIESGO ECONÓMICO</a:t>
            </a:r>
          </a:p>
        </p:txBody>
      </p:sp>
      <p:sp>
        <p:nvSpPr>
          <p:cNvPr id="69636" name="Categoría económica LOS PRECIOS"/>
          <p:cNvSpPr txBox="1"/>
          <p:nvPr/>
        </p:nvSpPr>
        <p:spPr>
          <a:xfrm>
            <a:off x="3273552" y="4041648"/>
            <a:ext cx="1627632" cy="329184"/>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1F3864"/>
                </a:solidFill>
                <a:latin typeface="Calibri"/>
              </a:rPr>
              <a:t>LOS PRECIOS</a:t>
            </a:r>
          </a:p>
        </p:txBody>
      </p:sp>
      <p:sp>
        <p:nvSpPr>
          <p:cNvPr id="69637" name="Ejemplos económicos LOS PRECIOS"/>
          <p:cNvSpPr txBox="1"/>
          <p:nvPr/>
        </p:nvSpPr>
        <p:spPr>
          <a:xfrm>
            <a:off x="3273552" y="4443984"/>
            <a:ext cx="1627632" cy="1115568"/>
          </a:xfrm>
          <a:prstGeom prst="rect">
            <a:avLst/>
          </a:prstGeom>
          <a:noFill/>
        </p:spPr>
        <p:txBody>
          <a:bodyPr wrap="square" lIns="0" tIns="0" rIns="0" bIns="0" anchor="t">
            <a:spAutoFit/>
          </a:bodyPr>
          <a:lstStyle/>
          <a:p>
            <a:pPr algn="l">
              <a:lnSpc>
                <a:spcPct val="100000"/>
              </a:lnSpc>
              <a:spcBef>
                <a:spcPts val="0"/>
              </a:spcBef>
              <a:spcAft>
                <a:spcPts val="300"/>
              </a:spcAft>
            </a:pPr>
            <a:r>
              <a:rPr sz="1400" b="0">
                <a:solidFill>
                  <a:srgbClr val="404040"/>
                </a:solidFill>
                <a:latin typeface="Calibri"/>
              </a:rPr>
              <a:t>• Inflación que encarece insumos y operación</a:t>
            </a:r>
          </a:p>
          <a:p>
            <a:pPr algn="l">
              <a:lnSpc>
                <a:spcPct val="100000"/>
              </a:lnSpc>
              <a:spcBef>
                <a:spcPts val="0"/>
              </a:spcBef>
              <a:spcAft>
                <a:spcPts val="300"/>
              </a:spcAft>
            </a:pPr>
            <a:r>
              <a:rPr sz="1400" b="0">
                <a:solidFill>
                  <a:srgbClr val="404040"/>
                </a:solidFill>
                <a:latin typeface="Calibri"/>
              </a:rPr>
              <a:t>• Volatilidad de precios que reduce márgenes</a:t>
            </a:r>
          </a:p>
        </p:txBody>
      </p:sp>
      <p:sp>
        <p:nvSpPr>
          <p:cNvPr id="69638" name="Categoría económica EL DINERO"/>
          <p:cNvSpPr txBox="1"/>
          <p:nvPr/>
        </p:nvSpPr>
        <p:spPr>
          <a:xfrm>
            <a:off x="5074920" y="4041648"/>
            <a:ext cx="1627632" cy="329184"/>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1F3864"/>
                </a:solidFill>
                <a:latin typeface="Calibri"/>
              </a:rPr>
              <a:t>EL DINERO</a:t>
            </a:r>
          </a:p>
        </p:txBody>
      </p:sp>
      <p:sp>
        <p:nvSpPr>
          <p:cNvPr id="69639" name="Ejemplos económicos EL DINERO"/>
          <p:cNvSpPr txBox="1"/>
          <p:nvPr/>
        </p:nvSpPr>
        <p:spPr>
          <a:xfrm>
            <a:off x="5074920" y="4443984"/>
            <a:ext cx="1627632" cy="1115568"/>
          </a:xfrm>
          <a:prstGeom prst="rect">
            <a:avLst/>
          </a:prstGeom>
          <a:noFill/>
        </p:spPr>
        <p:txBody>
          <a:bodyPr wrap="square" lIns="0" tIns="0" rIns="0" bIns="0" anchor="t">
            <a:spAutoFit/>
          </a:bodyPr>
          <a:lstStyle/>
          <a:p>
            <a:pPr algn="l">
              <a:lnSpc>
                <a:spcPct val="100000"/>
              </a:lnSpc>
              <a:spcBef>
                <a:spcPts val="0"/>
              </a:spcBef>
              <a:spcAft>
                <a:spcPts val="300"/>
              </a:spcAft>
            </a:pPr>
            <a:r>
              <a:rPr sz="1400" b="0">
                <a:solidFill>
                  <a:srgbClr val="404040"/>
                </a:solidFill>
                <a:latin typeface="Calibri"/>
              </a:rPr>
              <a:t>• Tasas de interés que elevan el costo de financiación</a:t>
            </a:r>
          </a:p>
          <a:p>
            <a:pPr algn="l">
              <a:lnSpc>
                <a:spcPct val="100000"/>
              </a:lnSpc>
              <a:spcBef>
                <a:spcPts val="0"/>
              </a:spcBef>
              <a:spcAft>
                <a:spcPts val="300"/>
              </a:spcAft>
            </a:pPr>
            <a:r>
              <a:rPr sz="1400" b="0">
                <a:solidFill>
                  <a:srgbClr val="404040"/>
                </a:solidFill>
                <a:latin typeface="Calibri"/>
              </a:rPr>
              <a:t>• Devaluación que encarece insumos importados</a:t>
            </a:r>
          </a:p>
        </p:txBody>
      </p:sp>
      <p:sp>
        <p:nvSpPr>
          <p:cNvPr id="69640" name="Categoría económica EL MERCADO"/>
          <p:cNvSpPr txBox="1"/>
          <p:nvPr/>
        </p:nvSpPr>
        <p:spPr>
          <a:xfrm>
            <a:off x="6876288" y="4041648"/>
            <a:ext cx="1627632" cy="329184"/>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1F3864"/>
                </a:solidFill>
                <a:latin typeface="Calibri"/>
              </a:rPr>
              <a:t>EL MERCADO</a:t>
            </a:r>
          </a:p>
        </p:txBody>
      </p:sp>
      <p:sp>
        <p:nvSpPr>
          <p:cNvPr id="69641" name="Ejemplos económicos EL MERCADO"/>
          <p:cNvSpPr txBox="1"/>
          <p:nvPr/>
        </p:nvSpPr>
        <p:spPr>
          <a:xfrm>
            <a:off x="6876288" y="4443984"/>
            <a:ext cx="1627632" cy="1115568"/>
          </a:xfrm>
          <a:prstGeom prst="rect">
            <a:avLst/>
          </a:prstGeom>
          <a:noFill/>
        </p:spPr>
        <p:txBody>
          <a:bodyPr wrap="square" lIns="0" tIns="0" rIns="0" bIns="0" anchor="t">
            <a:spAutoFit/>
          </a:bodyPr>
          <a:lstStyle/>
          <a:p>
            <a:pPr algn="l">
              <a:lnSpc>
                <a:spcPct val="100000"/>
              </a:lnSpc>
              <a:spcBef>
                <a:spcPts val="0"/>
              </a:spcBef>
              <a:spcAft>
                <a:spcPts val="300"/>
              </a:spcAft>
            </a:pPr>
            <a:r>
              <a:rPr sz="1400" b="0">
                <a:solidFill>
                  <a:srgbClr val="404040"/>
                </a:solidFill>
                <a:latin typeface="Calibri"/>
              </a:rPr>
              <a:t>• Caída de la demanda que reduce ventas</a:t>
            </a:r>
          </a:p>
          <a:p>
            <a:pPr algn="l">
              <a:lnSpc>
                <a:spcPct val="100000"/>
              </a:lnSpc>
              <a:spcBef>
                <a:spcPts val="0"/>
              </a:spcBef>
              <a:spcAft>
                <a:spcPts val="300"/>
              </a:spcAft>
            </a:pPr>
            <a:r>
              <a:rPr sz="1400" b="0">
                <a:solidFill>
                  <a:srgbClr val="404040"/>
                </a:solidFill>
                <a:latin typeface="Calibri"/>
              </a:rPr>
              <a:t>• Mayor oferta o competencia que presiona precios</a:t>
            </a:r>
          </a:p>
        </p:txBody>
      </p:sp>
    </p:spTree>
    <p:extLst>
      <p:ext uri="{BB962C8B-B14F-4D97-AF65-F5344CB8AC3E}">
        <p14:creationId xmlns:p14="http://schemas.microsoft.com/office/powerpoint/2010/main" val="23476206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15"/>
          <p:cNvSpPr txBox="1">
            <a:spLocks noChangeArrowheads="1"/>
          </p:cNvSpPr>
          <p:nvPr/>
        </p:nvSpPr>
        <p:spPr bwMode="auto">
          <a:xfrm>
            <a:off x="457200" y="1346200"/>
            <a:ext cx="8229600" cy="939800"/>
          </a:xfrm>
          <a:prstGeom prst="rect">
            <a:avLst/>
          </a:prstGeom>
          <a:solidFill>
            <a:srgbClr val="1F3864">
              <a:alpha val="49804"/>
            </a:srgbClr>
          </a:solidFill>
          <a:ln w="28575">
            <a:noFill/>
            <a:miter lim="800000"/>
            <a:headEnd/>
            <a:tailEnd/>
          </a:ln>
        </p:spPr>
        <p:txBody>
          <a:bodyPr wrap="square" anchor="ctr" anchorCtr="0">
            <a:noAutofit/>
          </a:bodyPr>
          <a:lstStyle/>
          <a:p>
            <a:pPr>
              <a:spcBef>
                <a:spcPct val="50000"/>
              </a:spcBef>
            </a:pPr>
            <a:r>
              <a:rPr lang="es-ES" sz="1600" b="1">
                <a:solidFill>
                  <a:srgbClr val="FFFFFF"/>
                </a:solidFill>
                <a:latin typeface="Calibri"/>
                <a:ea typeface="Calibri"/>
                <a:cs typeface="Calibri"/>
              </a:rPr>
              <a:t>Reúne las leyes y regulaciones que pueden afectar al proyecto.</a:t>
            </a:r>
            <a:endParaRPr lang="es-ES" sz="1600" b="1" dirty="0">
              <a:solidFill>
                <a:srgbClr val="FFFFFF"/>
              </a:solidFill>
              <a:latin typeface="Calibri"/>
              <a:ea typeface="Calibri"/>
              <a:cs typeface="Calibri"/>
            </a:endParaRPr>
          </a:p>
        </p:txBody>
      </p:sp>
      <p:pic>
        <p:nvPicPr>
          <p:cNvPr id="3" name="Imagen 2"/>
          <p:cNvPicPr>
            <a:picLocks noChangeAspect="1"/>
          </p:cNvPicPr>
          <p:nvPr/>
        </p:nvPicPr>
        <p:blipFill>
          <a:blip r:embed="rId2"/>
          <a:stretch>
            <a:fillRect/>
          </a:stretch>
        </p:blipFill>
        <p:spPr>
          <a:xfrm>
            <a:off x="457200" y="3911282"/>
            <a:ext cx="1642241" cy="1092836"/>
          </a:xfrm>
          <a:prstGeom prst="rect">
            <a:avLst/>
          </a:prstGeom>
        </p:spPr>
      </p:pic>
      <p:sp>
        <p:nvSpPr>
          <p:cNvPr id="2" name="CuadroTexto 1">
            <a:extLst>
              <a:ext uri="{FF2B5EF4-FFF2-40B4-BE49-F238E27FC236}">
                <a16:creationId xmlns:a16="http://schemas.microsoft.com/office/drawing/2014/main" id="{FA74BBF8-733F-43DB-9047-65089FB7A737}"/>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TÉCNICA PESTEL · E6</a:t>
            </a:r>
          </a:p>
        </p:txBody>
      </p:sp>
      <p:sp>
        <p:nvSpPr>
          <p:cNvPr id="4" name="CuadroTexto 3">
            <a:extLst>
              <a:ext uri="{FF2B5EF4-FFF2-40B4-BE49-F238E27FC236}">
                <a16:creationId xmlns:a16="http://schemas.microsoft.com/office/drawing/2014/main" id="{A5BB6DC4-12B7-4670-B7D0-00287C5CB445}"/>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Entorno legal</a:t>
            </a:r>
          </a:p>
        </p:txBody>
      </p:sp>
      <p:sp>
        <p:nvSpPr>
          <p:cNvPr id="5" name="Rectángulo 4">
            <a:extLst>
              <a:ext uri="{FF2B5EF4-FFF2-40B4-BE49-F238E27FC236}">
                <a16:creationId xmlns:a16="http://schemas.microsoft.com/office/drawing/2014/main" id="{C39D50DE-38C2-45A8-BC85-C0C9AA20F13C}"/>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A85D2BED-8F25-4AFA-9AA0-4A6C70D6E7A2}"/>
              </a:ext>
            </a:extLst>
          </p:cNvPr>
          <p:cNvSpPr/>
          <p:nvPr/>
        </p:nvSpPr>
        <p:spPr>
          <a:xfrm>
            <a:off x="457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b="1">
                <a:solidFill>
                  <a:srgbClr val="1F3864"/>
                </a:solidFill>
                <a:latin typeface="Calibri"/>
                <a:ea typeface="Calibri"/>
                <a:cs typeface="Calibri"/>
              </a:rPr>
              <a:t>Cambios en usos del suelo</a:t>
            </a:r>
            <a:endParaRPr lang="es-CO" sz="1400" b="1">
              <a:solidFill>
                <a:srgbClr val="1F3864"/>
              </a:solidFill>
              <a:latin typeface="Calibri"/>
              <a:ea typeface="Calibri"/>
              <a:cs typeface="Calibri"/>
            </a:endParaRPr>
          </a:p>
        </p:txBody>
      </p:sp>
      <p:sp>
        <p:nvSpPr>
          <p:cNvPr id="7" name="Rectángulo 6">
            <a:extLst>
              <a:ext uri="{FF2B5EF4-FFF2-40B4-BE49-F238E27FC236}">
                <a16:creationId xmlns:a16="http://schemas.microsoft.com/office/drawing/2014/main" id="{878E8EC7-C631-4134-8F57-F1F3A1BF9554}"/>
              </a:ext>
            </a:extLst>
          </p:cNvPr>
          <p:cNvSpPr/>
          <p:nvPr/>
        </p:nvSpPr>
        <p:spPr>
          <a:xfrm>
            <a:off x="3251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b="1">
                <a:solidFill>
                  <a:srgbClr val="1F3864"/>
                </a:solidFill>
                <a:latin typeface="Calibri"/>
                <a:ea typeface="Calibri"/>
                <a:cs typeface="Calibri"/>
              </a:rPr>
              <a:t>Cuotas de importación y exportación</a:t>
            </a:r>
            <a:endParaRPr lang="es-CO" sz="1400" b="1">
              <a:solidFill>
                <a:srgbClr val="1F3864"/>
              </a:solidFill>
              <a:latin typeface="Calibri"/>
              <a:ea typeface="Calibri"/>
              <a:cs typeface="Calibri"/>
            </a:endParaRPr>
          </a:p>
        </p:txBody>
      </p:sp>
      <p:sp>
        <p:nvSpPr>
          <p:cNvPr id="8" name="Rectángulo 7">
            <a:extLst>
              <a:ext uri="{FF2B5EF4-FFF2-40B4-BE49-F238E27FC236}">
                <a16:creationId xmlns:a16="http://schemas.microsoft.com/office/drawing/2014/main" id="{1E6C1C44-369D-4F15-8D82-3EDF1DBDB051}"/>
              </a:ext>
            </a:extLst>
          </p:cNvPr>
          <p:cNvSpPr/>
          <p:nvPr/>
        </p:nvSpPr>
        <p:spPr>
          <a:xfrm>
            <a:off x="6045200" y="2489200"/>
            <a:ext cx="26416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Cambios en leyes tributarias</a:t>
            </a:r>
          </a:p>
        </p:txBody>
      </p:sp>
      <p:sp>
        <p:nvSpPr>
          <p:cNvPr id="9" name="CuadroTexto 8">
            <a:extLst>
              <a:ext uri="{FF2B5EF4-FFF2-40B4-BE49-F238E27FC236}">
                <a16:creationId xmlns:a16="http://schemas.microsoft.com/office/drawing/2014/main" id="{27DF78A4-5493-413A-8894-5F51C1F394FD}"/>
              </a:ext>
            </a:extLst>
          </p:cNvPr>
          <p:cNvSpPr txBox="1"/>
          <p:nvPr/>
        </p:nvSpPr>
        <p:spPr>
          <a:xfrm>
            <a:off x="457200" y="3200400"/>
            <a:ext cx="50800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Aspectos que se revisan en este entorno</a:t>
            </a:r>
            <a:endParaRPr lang="es-CO" sz="1100">
              <a:solidFill>
                <a:srgbClr val="7F7F7F"/>
              </a:solidFill>
              <a:latin typeface="Calibri"/>
              <a:ea typeface="Calibri"/>
              <a:cs typeface="Calibri"/>
            </a:endParaRPr>
          </a:p>
        </p:txBody>
      </p:sp>
      <p:sp>
        <p:nvSpPr>
          <p:cNvPr id="66563" name="Título ejemplos de riesgos legales"/>
          <p:cNvSpPr txBox="1"/>
          <p:nvPr/>
        </p:nvSpPr>
        <p:spPr>
          <a:xfrm>
            <a:off x="3273552" y="3675887"/>
            <a:ext cx="5413248" cy="274320"/>
          </a:xfrm>
          <a:prstGeom prst="rect">
            <a:avLst/>
          </a:prstGeom>
          <a:noFill/>
        </p:spPr>
        <p:txBody>
          <a:bodyPr wrap="square" lIns="0" tIns="0" rIns="0" bIns="0" anchor="t">
            <a:spAutoFit/>
          </a:bodyPr>
          <a:lstStyle/>
          <a:p>
            <a:pPr algn="l">
              <a:lnSpc>
                <a:spcPct val="100000"/>
              </a:lnSpc>
              <a:spcBef>
                <a:spcPts val="0"/>
              </a:spcBef>
              <a:spcAft>
                <a:spcPts val="0"/>
              </a:spcAft>
            </a:pPr>
            <a:r>
              <a:rPr sz="1400" b="1">
                <a:solidFill>
                  <a:srgbClr val="ED7D31"/>
                </a:solidFill>
                <a:latin typeface="Calibri"/>
              </a:rPr>
              <a:t>ALGUNOS ELEMENTOS GENERADORES DE RIESGO LEGAL</a:t>
            </a:r>
          </a:p>
        </p:txBody>
      </p:sp>
      <p:sp>
        <p:nvSpPr>
          <p:cNvPr id="66564" name="Categoría legal CAMBIOS EN USOS DEL SUELO"/>
          <p:cNvSpPr txBox="1"/>
          <p:nvPr/>
        </p:nvSpPr>
        <p:spPr>
          <a:xfrm>
            <a:off x="3273552" y="4041648"/>
            <a:ext cx="1627632" cy="369332"/>
          </a:xfrm>
          <a:prstGeom prst="rect">
            <a:avLst/>
          </a:prstGeom>
          <a:noFill/>
        </p:spPr>
        <p:txBody>
          <a:bodyPr wrap="square" lIns="0" tIns="0" rIns="0" bIns="0" anchor="t">
            <a:spAutoFit/>
          </a:bodyPr>
          <a:lstStyle/>
          <a:p>
            <a:pPr algn="l">
              <a:lnSpc>
                <a:spcPct val="100000"/>
              </a:lnSpc>
              <a:spcBef>
                <a:spcPts val="0"/>
              </a:spcBef>
              <a:spcAft>
                <a:spcPts val="0"/>
              </a:spcAft>
            </a:pPr>
            <a:r>
              <a:rPr sz="1200" b="1" dirty="0">
                <a:solidFill>
                  <a:srgbClr val="1F3864"/>
                </a:solidFill>
                <a:latin typeface="Calibri"/>
              </a:rPr>
              <a:t>CAMBIOS EN USOS DEL SUELO</a:t>
            </a:r>
          </a:p>
        </p:txBody>
      </p:sp>
      <p:sp>
        <p:nvSpPr>
          <p:cNvPr id="66565" name="Ejemplos legales CAMBIOS EN USOS DEL SUELO"/>
          <p:cNvSpPr txBox="1"/>
          <p:nvPr/>
        </p:nvSpPr>
        <p:spPr>
          <a:xfrm>
            <a:off x="3273552" y="4590288"/>
            <a:ext cx="1627632" cy="764312"/>
          </a:xfrm>
          <a:prstGeom prst="rect">
            <a:avLst/>
          </a:prstGeom>
          <a:noFill/>
        </p:spPr>
        <p:txBody>
          <a:bodyPr wrap="square" lIns="0" tIns="0" rIns="0" bIns="0" anchor="t">
            <a:spAutoFit/>
          </a:bodyPr>
          <a:lstStyle/>
          <a:p>
            <a:pPr algn="l">
              <a:lnSpc>
                <a:spcPct val="100000"/>
              </a:lnSpc>
              <a:spcBef>
                <a:spcPts val="0"/>
              </a:spcBef>
              <a:spcAft>
                <a:spcPts val="200"/>
              </a:spcAft>
            </a:pPr>
            <a:r>
              <a:rPr sz="1200" b="0" dirty="0">
                <a:solidFill>
                  <a:srgbClr val="404040"/>
                </a:solidFill>
                <a:latin typeface="Calibri"/>
              </a:rPr>
              <a:t>• </a:t>
            </a:r>
            <a:r>
              <a:rPr sz="1200" b="0" dirty="0" err="1">
                <a:solidFill>
                  <a:srgbClr val="404040"/>
                </a:solidFill>
                <a:latin typeface="Calibri"/>
              </a:rPr>
              <a:t>Reclasificación</a:t>
            </a:r>
            <a:r>
              <a:rPr sz="1200" b="0" dirty="0">
                <a:solidFill>
                  <a:srgbClr val="404040"/>
                </a:solidFill>
                <a:latin typeface="Calibri"/>
              </a:rPr>
              <a:t> </a:t>
            </a:r>
            <a:r>
              <a:rPr sz="1200" b="0" dirty="0" err="1">
                <a:solidFill>
                  <a:srgbClr val="404040"/>
                </a:solidFill>
                <a:latin typeface="Calibri"/>
              </a:rPr>
              <a:t>que</a:t>
            </a:r>
            <a:r>
              <a:rPr sz="1200" b="0" dirty="0">
                <a:solidFill>
                  <a:srgbClr val="404040"/>
                </a:solidFill>
                <a:latin typeface="Calibri"/>
              </a:rPr>
              <a:t> </a:t>
            </a:r>
            <a:r>
              <a:rPr sz="1200" b="0" dirty="0" err="1">
                <a:solidFill>
                  <a:srgbClr val="404040"/>
                </a:solidFill>
                <a:latin typeface="Calibri"/>
              </a:rPr>
              <a:t>impide</a:t>
            </a:r>
            <a:r>
              <a:rPr sz="1200" b="0" dirty="0">
                <a:solidFill>
                  <a:srgbClr val="404040"/>
                </a:solidFill>
                <a:latin typeface="Calibri"/>
              </a:rPr>
              <a:t> el </a:t>
            </a:r>
            <a:r>
              <a:rPr sz="1200" b="0" dirty="0" err="1">
                <a:solidFill>
                  <a:srgbClr val="404040"/>
                </a:solidFill>
                <a:latin typeface="Calibri"/>
              </a:rPr>
              <a:t>uso</a:t>
            </a:r>
            <a:r>
              <a:rPr sz="1200" b="0" dirty="0">
                <a:solidFill>
                  <a:srgbClr val="404040"/>
                </a:solidFill>
                <a:latin typeface="Calibri"/>
              </a:rPr>
              <a:t> </a:t>
            </a:r>
            <a:r>
              <a:rPr sz="1200" b="0" dirty="0" err="1">
                <a:solidFill>
                  <a:srgbClr val="404040"/>
                </a:solidFill>
                <a:latin typeface="Calibri"/>
              </a:rPr>
              <a:t>previsto</a:t>
            </a:r>
            <a:endParaRPr sz="1200" b="0" dirty="0">
              <a:solidFill>
                <a:srgbClr val="404040"/>
              </a:solidFill>
              <a:latin typeface="Calibri"/>
            </a:endParaRPr>
          </a:p>
          <a:p>
            <a:pPr algn="l">
              <a:lnSpc>
                <a:spcPct val="100000"/>
              </a:lnSpc>
              <a:spcBef>
                <a:spcPts val="0"/>
              </a:spcBef>
              <a:spcAft>
                <a:spcPts val="200"/>
              </a:spcAft>
            </a:pPr>
            <a:r>
              <a:rPr sz="1200" b="0" dirty="0">
                <a:solidFill>
                  <a:srgbClr val="404040"/>
                </a:solidFill>
                <a:latin typeface="Calibri"/>
              </a:rPr>
              <a:t>• </a:t>
            </a:r>
            <a:r>
              <a:rPr sz="1200" b="0" dirty="0" err="1">
                <a:solidFill>
                  <a:srgbClr val="404040"/>
                </a:solidFill>
                <a:latin typeface="Calibri"/>
              </a:rPr>
              <a:t>Restricciones</a:t>
            </a:r>
            <a:r>
              <a:rPr sz="1200" b="0" dirty="0">
                <a:solidFill>
                  <a:srgbClr val="404040"/>
                </a:solidFill>
                <a:latin typeface="Calibri"/>
              </a:rPr>
              <a:t> a </a:t>
            </a:r>
            <a:r>
              <a:rPr sz="1200" b="0" dirty="0" err="1">
                <a:solidFill>
                  <a:srgbClr val="404040"/>
                </a:solidFill>
                <a:latin typeface="Calibri"/>
              </a:rPr>
              <a:t>licencias</a:t>
            </a:r>
            <a:r>
              <a:rPr sz="1200" b="0" dirty="0">
                <a:solidFill>
                  <a:srgbClr val="404040"/>
                </a:solidFill>
                <a:latin typeface="Calibri"/>
              </a:rPr>
              <a:t> </a:t>
            </a:r>
            <a:r>
              <a:rPr sz="1200" b="0" dirty="0" err="1">
                <a:solidFill>
                  <a:srgbClr val="404040"/>
                </a:solidFill>
                <a:latin typeface="Calibri"/>
              </a:rPr>
              <a:t>urbanísticas</a:t>
            </a:r>
            <a:endParaRPr sz="1200" b="0" dirty="0">
              <a:solidFill>
                <a:srgbClr val="404040"/>
              </a:solidFill>
              <a:latin typeface="Calibri"/>
            </a:endParaRPr>
          </a:p>
        </p:txBody>
      </p:sp>
      <p:sp>
        <p:nvSpPr>
          <p:cNvPr id="66566" name="Categoría legal CUOTAS DE IMPORTACIÓN Y EXPORTACIÓN"/>
          <p:cNvSpPr txBox="1"/>
          <p:nvPr/>
        </p:nvSpPr>
        <p:spPr>
          <a:xfrm>
            <a:off x="5074920" y="4041648"/>
            <a:ext cx="1627632" cy="553998"/>
          </a:xfrm>
          <a:prstGeom prst="rect">
            <a:avLst/>
          </a:prstGeom>
          <a:noFill/>
        </p:spPr>
        <p:txBody>
          <a:bodyPr wrap="square" lIns="0" tIns="0" rIns="0" bIns="0" anchor="t">
            <a:spAutoFit/>
          </a:bodyPr>
          <a:lstStyle/>
          <a:p>
            <a:pPr algn="l">
              <a:lnSpc>
                <a:spcPct val="100000"/>
              </a:lnSpc>
              <a:spcBef>
                <a:spcPts val="0"/>
              </a:spcBef>
              <a:spcAft>
                <a:spcPts val="0"/>
              </a:spcAft>
            </a:pPr>
            <a:r>
              <a:rPr sz="1200" b="1" dirty="0">
                <a:solidFill>
                  <a:srgbClr val="1F3864"/>
                </a:solidFill>
                <a:latin typeface="Calibri"/>
              </a:rPr>
              <a:t>CUOTAS DE IMPORTACIÓN Y EXPORTACIÓN</a:t>
            </a:r>
          </a:p>
        </p:txBody>
      </p:sp>
      <p:sp>
        <p:nvSpPr>
          <p:cNvPr id="66567" name="Ejemplos legales CUOTAS DE IMPORTACIÓN Y EXPORTACIÓN"/>
          <p:cNvSpPr txBox="1"/>
          <p:nvPr/>
        </p:nvSpPr>
        <p:spPr>
          <a:xfrm>
            <a:off x="5074920" y="4590288"/>
            <a:ext cx="1627632" cy="948978"/>
          </a:xfrm>
          <a:prstGeom prst="rect">
            <a:avLst/>
          </a:prstGeom>
          <a:noFill/>
        </p:spPr>
        <p:txBody>
          <a:bodyPr wrap="square" lIns="0" tIns="0" rIns="0" bIns="0" anchor="t">
            <a:spAutoFit/>
          </a:bodyPr>
          <a:lstStyle/>
          <a:p>
            <a:pPr algn="l">
              <a:lnSpc>
                <a:spcPct val="100000"/>
              </a:lnSpc>
              <a:spcBef>
                <a:spcPts val="0"/>
              </a:spcBef>
              <a:spcAft>
                <a:spcPts val="200"/>
              </a:spcAft>
            </a:pPr>
            <a:r>
              <a:rPr sz="1200" b="0" dirty="0">
                <a:solidFill>
                  <a:srgbClr val="404040"/>
                </a:solidFill>
                <a:latin typeface="Calibri"/>
              </a:rPr>
              <a:t>• </a:t>
            </a:r>
            <a:r>
              <a:rPr sz="1200" b="0" dirty="0" err="1">
                <a:solidFill>
                  <a:srgbClr val="404040"/>
                </a:solidFill>
                <a:latin typeface="Calibri"/>
              </a:rPr>
              <a:t>Menores</a:t>
            </a:r>
            <a:r>
              <a:rPr sz="1200" b="0" dirty="0">
                <a:solidFill>
                  <a:srgbClr val="404040"/>
                </a:solidFill>
                <a:latin typeface="Calibri"/>
              </a:rPr>
              <a:t> </a:t>
            </a:r>
            <a:r>
              <a:rPr sz="1200" b="0" dirty="0" err="1">
                <a:solidFill>
                  <a:srgbClr val="404040"/>
                </a:solidFill>
                <a:latin typeface="Calibri"/>
              </a:rPr>
              <a:t>cuotas</a:t>
            </a:r>
            <a:r>
              <a:rPr sz="1200" b="0" dirty="0">
                <a:solidFill>
                  <a:srgbClr val="404040"/>
                </a:solidFill>
                <a:latin typeface="Calibri"/>
              </a:rPr>
              <a:t> </a:t>
            </a:r>
            <a:r>
              <a:rPr sz="1200" b="0" dirty="0" err="1">
                <a:solidFill>
                  <a:srgbClr val="404040"/>
                </a:solidFill>
                <a:latin typeface="Calibri"/>
              </a:rPr>
              <a:t>restringen</a:t>
            </a:r>
            <a:r>
              <a:rPr sz="1200" b="0" dirty="0">
                <a:solidFill>
                  <a:srgbClr val="404040"/>
                </a:solidFill>
                <a:latin typeface="Calibri"/>
              </a:rPr>
              <a:t> </a:t>
            </a:r>
            <a:r>
              <a:rPr sz="1200" b="0" dirty="0" err="1">
                <a:solidFill>
                  <a:srgbClr val="404040"/>
                </a:solidFill>
                <a:latin typeface="Calibri"/>
              </a:rPr>
              <a:t>insumos</a:t>
            </a:r>
            <a:r>
              <a:rPr sz="1200" b="0" dirty="0">
                <a:solidFill>
                  <a:srgbClr val="404040"/>
                </a:solidFill>
                <a:latin typeface="Calibri"/>
              </a:rPr>
              <a:t> </a:t>
            </a:r>
            <a:r>
              <a:rPr sz="1200" b="0" dirty="0" err="1">
                <a:solidFill>
                  <a:srgbClr val="404040"/>
                </a:solidFill>
                <a:latin typeface="Calibri"/>
              </a:rPr>
              <a:t>importados</a:t>
            </a:r>
            <a:endParaRPr sz="1200" b="0" dirty="0">
              <a:solidFill>
                <a:srgbClr val="404040"/>
              </a:solidFill>
              <a:latin typeface="Calibri"/>
            </a:endParaRPr>
          </a:p>
          <a:p>
            <a:pPr algn="l">
              <a:lnSpc>
                <a:spcPct val="100000"/>
              </a:lnSpc>
              <a:spcBef>
                <a:spcPts val="0"/>
              </a:spcBef>
              <a:spcAft>
                <a:spcPts val="200"/>
              </a:spcAft>
            </a:pPr>
            <a:r>
              <a:rPr sz="1200" b="0" dirty="0">
                <a:solidFill>
                  <a:srgbClr val="404040"/>
                </a:solidFill>
                <a:latin typeface="Calibri"/>
              </a:rPr>
              <a:t>• Nuevas </a:t>
            </a:r>
            <a:r>
              <a:rPr sz="1200" b="0" dirty="0" err="1">
                <a:solidFill>
                  <a:srgbClr val="404040"/>
                </a:solidFill>
                <a:latin typeface="Calibri"/>
              </a:rPr>
              <a:t>cuotas</a:t>
            </a:r>
            <a:r>
              <a:rPr sz="1200" b="0" dirty="0">
                <a:solidFill>
                  <a:srgbClr val="404040"/>
                </a:solidFill>
                <a:latin typeface="Calibri"/>
              </a:rPr>
              <a:t> </a:t>
            </a:r>
            <a:r>
              <a:rPr sz="1200" b="0" dirty="0" err="1">
                <a:solidFill>
                  <a:srgbClr val="404040"/>
                </a:solidFill>
                <a:latin typeface="Calibri"/>
              </a:rPr>
              <a:t>limitan</a:t>
            </a:r>
            <a:r>
              <a:rPr sz="1200" b="0" dirty="0">
                <a:solidFill>
                  <a:srgbClr val="404040"/>
                </a:solidFill>
                <a:latin typeface="Calibri"/>
              </a:rPr>
              <a:t> </a:t>
            </a:r>
            <a:r>
              <a:rPr sz="1200" b="0" dirty="0" err="1">
                <a:solidFill>
                  <a:srgbClr val="404040"/>
                </a:solidFill>
                <a:latin typeface="Calibri"/>
              </a:rPr>
              <a:t>exportaciones</a:t>
            </a:r>
            <a:endParaRPr sz="1200" b="0" dirty="0">
              <a:solidFill>
                <a:srgbClr val="404040"/>
              </a:solidFill>
              <a:latin typeface="Calibri"/>
            </a:endParaRPr>
          </a:p>
        </p:txBody>
      </p:sp>
      <p:sp>
        <p:nvSpPr>
          <p:cNvPr id="66568" name="Categoría legal CAMBIOS EN LEYES TRIBUTARIAS"/>
          <p:cNvSpPr txBox="1"/>
          <p:nvPr/>
        </p:nvSpPr>
        <p:spPr>
          <a:xfrm>
            <a:off x="6876288" y="4041648"/>
            <a:ext cx="1627632" cy="369332"/>
          </a:xfrm>
          <a:prstGeom prst="rect">
            <a:avLst/>
          </a:prstGeom>
          <a:noFill/>
        </p:spPr>
        <p:txBody>
          <a:bodyPr wrap="square" lIns="0" tIns="0" rIns="0" bIns="0" anchor="t">
            <a:spAutoFit/>
          </a:bodyPr>
          <a:lstStyle/>
          <a:p>
            <a:pPr algn="l">
              <a:lnSpc>
                <a:spcPct val="100000"/>
              </a:lnSpc>
              <a:spcBef>
                <a:spcPts val="0"/>
              </a:spcBef>
              <a:spcAft>
                <a:spcPts val="0"/>
              </a:spcAft>
            </a:pPr>
            <a:r>
              <a:rPr sz="1200" b="1" dirty="0">
                <a:solidFill>
                  <a:srgbClr val="1F3864"/>
                </a:solidFill>
                <a:latin typeface="Calibri"/>
              </a:rPr>
              <a:t>CAMBIOS EN LEYES TRIBUTARIAS</a:t>
            </a:r>
          </a:p>
        </p:txBody>
      </p:sp>
      <p:sp>
        <p:nvSpPr>
          <p:cNvPr id="66569" name="Ejemplos legales CAMBIOS EN LEYES TRIBUTARIAS"/>
          <p:cNvSpPr txBox="1"/>
          <p:nvPr/>
        </p:nvSpPr>
        <p:spPr>
          <a:xfrm>
            <a:off x="6876288" y="4590288"/>
            <a:ext cx="1627632" cy="764312"/>
          </a:xfrm>
          <a:prstGeom prst="rect">
            <a:avLst/>
          </a:prstGeom>
          <a:noFill/>
        </p:spPr>
        <p:txBody>
          <a:bodyPr wrap="square" lIns="0" tIns="0" rIns="0" bIns="0" anchor="t">
            <a:spAutoFit/>
          </a:bodyPr>
          <a:lstStyle/>
          <a:p>
            <a:pPr algn="l">
              <a:lnSpc>
                <a:spcPct val="100000"/>
              </a:lnSpc>
              <a:spcBef>
                <a:spcPts val="0"/>
              </a:spcBef>
              <a:spcAft>
                <a:spcPts val="200"/>
              </a:spcAft>
            </a:pPr>
            <a:r>
              <a:rPr sz="1200" b="0" dirty="0">
                <a:solidFill>
                  <a:srgbClr val="404040"/>
                </a:solidFill>
                <a:latin typeface="Calibri"/>
              </a:rPr>
              <a:t>• </a:t>
            </a:r>
            <a:r>
              <a:rPr sz="1200" b="0" dirty="0" err="1">
                <a:solidFill>
                  <a:srgbClr val="404040"/>
                </a:solidFill>
                <a:latin typeface="Calibri"/>
              </a:rPr>
              <a:t>Aumento</a:t>
            </a:r>
            <a:r>
              <a:rPr sz="1200" b="0" dirty="0">
                <a:solidFill>
                  <a:srgbClr val="404040"/>
                </a:solidFill>
                <a:latin typeface="Calibri"/>
              </a:rPr>
              <a:t> de </a:t>
            </a:r>
            <a:r>
              <a:rPr sz="1200" b="0" dirty="0" err="1">
                <a:solidFill>
                  <a:srgbClr val="404040"/>
                </a:solidFill>
                <a:latin typeface="Calibri"/>
              </a:rPr>
              <a:t>tarifas</a:t>
            </a:r>
            <a:r>
              <a:rPr sz="1200" b="0" dirty="0">
                <a:solidFill>
                  <a:srgbClr val="404040"/>
                </a:solidFill>
                <a:latin typeface="Calibri"/>
              </a:rPr>
              <a:t> o </a:t>
            </a:r>
            <a:r>
              <a:rPr sz="1200" b="0" dirty="0" err="1">
                <a:solidFill>
                  <a:srgbClr val="404040"/>
                </a:solidFill>
                <a:latin typeface="Calibri"/>
              </a:rPr>
              <a:t>nuevos</a:t>
            </a:r>
            <a:r>
              <a:rPr sz="1200" b="0" dirty="0">
                <a:solidFill>
                  <a:srgbClr val="404040"/>
                </a:solidFill>
                <a:latin typeface="Calibri"/>
              </a:rPr>
              <a:t> </a:t>
            </a:r>
            <a:r>
              <a:rPr sz="1200" b="0" dirty="0" err="1">
                <a:solidFill>
                  <a:srgbClr val="404040"/>
                </a:solidFill>
                <a:latin typeface="Calibri"/>
              </a:rPr>
              <a:t>impuestos</a:t>
            </a:r>
            <a:endParaRPr sz="1200" b="0" dirty="0">
              <a:solidFill>
                <a:srgbClr val="404040"/>
              </a:solidFill>
              <a:latin typeface="Calibri"/>
            </a:endParaRPr>
          </a:p>
          <a:p>
            <a:pPr algn="l">
              <a:lnSpc>
                <a:spcPct val="100000"/>
              </a:lnSpc>
              <a:spcBef>
                <a:spcPts val="0"/>
              </a:spcBef>
              <a:spcAft>
                <a:spcPts val="200"/>
              </a:spcAft>
            </a:pPr>
            <a:r>
              <a:rPr sz="1200" b="0" dirty="0">
                <a:solidFill>
                  <a:srgbClr val="404040"/>
                </a:solidFill>
                <a:latin typeface="Calibri"/>
              </a:rPr>
              <a:t>• </a:t>
            </a:r>
            <a:r>
              <a:rPr sz="1200" b="0" dirty="0" err="1">
                <a:solidFill>
                  <a:srgbClr val="404040"/>
                </a:solidFill>
                <a:latin typeface="Calibri"/>
              </a:rPr>
              <a:t>Eliminación</a:t>
            </a:r>
            <a:r>
              <a:rPr sz="1200" b="0" dirty="0">
                <a:solidFill>
                  <a:srgbClr val="404040"/>
                </a:solidFill>
                <a:latin typeface="Calibri"/>
              </a:rPr>
              <a:t> de </a:t>
            </a:r>
            <a:r>
              <a:rPr sz="1200" b="0" dirty="0" err="1">
                <a:solidFill>
                  <a:srgbClr val="404040"/>
                </a:solidFill>
                <a:latin typeface="Calibri"/>
              </a:rPr>
              <a:t>exenciones</a:t>
            </a:r>
            <a:r>
              <a:rPr sz="1200" b="0" dirty="0">
                <a:solidFill>
                  <a:srgbClr val="404040"/>
                </a:solidFill>
                <a:latin typeface="Calibri"/>
              </a:rPr>
              <a:t> </a:t>
            </a:r>
            <a:r>
              <a:rPr sz="1200" b="0" dirty="0" err="1">
                <a:solidFill>
                  <a:srgbClr val="404040"/>
                </a:solidFill>
                <a:latin typeface="Calibri"/>
              </a:rPr>
              <a:t>tributarias</a:t>
            </a:r>
            <a:endParaRPr sz="1200" b="0" dirty="0">
              <a:solidFill>
                <a:srgbClr val="404040"/>
              </a:solidFill>
              <a:latin typeface="Calibri"/>
            </a:endParaRPr>
          </a:p>
        </p:txBody>
      </p:sp>
    </p:spTree>
    <p:extLst>
      <p:ext uri="{BB962C8B-B14F-4D97-AF65-F5344CB8AC3E}">
        <p14:creationId xmlns:p14="http://schemas.microsoft.com/office/powerpoint/2010/main" val="3616466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CuadroTexto"/>
          <p:cNvSpPr txBox="1"/>
          <p:nvPr/>
        </p:nvSpPr>
        <p:spPr>
          <a:xfrm>
            <a:off x="457200" y="990600"/>
            <a:ext cx="8229600" cy="431800"/>
          </a:xfrm>
          <a:prstGeom prst="rect">
            <a:avLst/>
          </a:prstGeom>
          <a:solidFill>
            <a:srgbClr val="F2F5F9"/>
          </a:solidFill>
          <a:ln>
            <a:noFill/>
          </a:ln>
        </p:spPr>
        <p:txBody>
          <a:bodyPr wrap="square" rtlCol="0" anchor="ctr" anchorCtr="0">
            <a:noAutofit/>
          </a:bodyPr>
          <a:lstStyle/>
          <a:p>
            <a:r>
              <a:rPr lang="es-CO" sz="1500" b="1" dirty="0">
                <a:solidFill>
                  <a:srgbClr val="1F3864"/>
                </a:solidFill>
                <a:latin typeface="Calibri"/>
                <a:ea typeface="Calibri"/>
                <a:cs typeface="Calibri"/>
              </a:rPr>
              <a:t>Forma estándar de identificar y redactar riesgos en gestión de proyectos (PMI / ISO 31000)</a:t>
            </a:r>
          </a:p>
        </p:txBody>
      </p:sp>
      <p:sp>
        <p:nvSpPr>
          <p:cNvPr id="6" name="5 CuadroTexto"/>
          <p:cNvSpPr txBox="1"/>
          <p:nvPr/>
        </p:nvSpPr>
        <p:spPr>
          <a:xfrm>
            <a:off x="295835" y="2225489"/>
            <a:ext cx="2017059" cy="2581834"/>
          </a:xfrm>
          <a:prstGeom prst="rect">
            <a:avLst/>
          </a:prstGeom>
          <a:solidFill>
            <a:srgbClr val="1F3864"/>
          </a:solidFill>
          <a:ln>
            <a:noFill/>
          </a:ln>
        </p:spPr>
        <p:txBody>
          <a:bodyPr wrap="square" rtlCol="0" anchor="ctr" anchorCtr="0">
            <a:noAutofit/>
          </a:bodyPr>
          <a:lstStyle/>
          <a:p>
            <a:pPr algn="ctr"/>
            <a:r>
              <a:rPr lang="es-ES" b="1" dirty="0">
                <a:solidFill>
                  <a:srgbClr val="FFFFFF"/>
                </a:solidFill>
                <a:latin typeface="Calibri"/>
                <a:ea typeface="Calibri"/>
                <a:cs typeface="Calibri"/>
              </a:rPr>
              <a:t>Debido a la CAUSA puede ocurrir el RIESGO, lo que provocaría el EFECTO en el proyecto.</a:t>
            </a:r>
            <a:endParaRPr lang="es-CO" b="1" dirty="0">
              <a:solidFill>
                <a:srgbClr val="FFFFFF"/>
              </a:solidFill>
              <a:latin typeface="Calibri"/>
              <a:ea typeface="Calibri"/>
              <a:cs typeface="Calibri"/>
            </a:endParaRPr>
          </a:p>
        </p:txBody>
      </p:sp>
      <p:sp>
        <p:nvSpPr>
          <p:cNvPr id="3" name="Rectángulo 2"/>
          <p:cNvSpPr/>
          <p:nvPr/>
        </p:nvSpPr>
        <p:spPr>
          <a:xfrm>
            <a:off x="457200" y="304800"/>
            <a:ext cx="8229600" cy="533400"/>
          </a:xfrm>
          <a:prstGeom prst="rect">
            <a:avLst/>
          </a:prstGeom>
          <a:noFill/>
          <a:ln>
            <a:noFill/>
          </a:ln>
        </p:spPr>
        <p:txBody>
          <a:bodyPr wrap="square" anchor="t" anchorCtr="0">
            <a:noAutofit/>
          </a:bodyPr>
          <a:lstStyle/>
          <a:p>
            <a:r>
              <a:rPr lang="es-CO" sz="3000" b="1">
                <a:solidFill>
                  <a:srgbClr val="1F3864"/>
                </a:solidFill>
                <a:latin typeface="Calibri"/>
                <a:ea typeface="Calibri"/>
                <a:cs typeface="Calibri"/>
              </a:rPr>
              <a:t>¿Cómo describir un riesgo?</a:t>
            </a:r>
            <a:endParaRPr lang="es-CO" sz="3000" b="1" dirty="0">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34BD9FFE-5637-4B0C-BC2A-48A6393603DE}"/>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pic>
        <p:nvPicPr>
          <p:cNvPr id="26" name="Imagen 25">
            <a:extLst>
              <a:ext uri="{FF2B5EF4-FFF2-40B4-BE49-F238E27FC236}">
                <a16:creationId xmlns:a16="http://schemas.microsoft.com/office/drawing/2014/main" id="{BEEE445A-CC6E-C3A9-B0C2-ADB35C90D1D9}"/>
              </a:ext>
            </a:extLst>
          </p:cNvPr>
          <p:cNvPicPr>
            <a:picLocks noChangeAspect="1"/>
          </p:cNvPicPr>
          <p:nvPr/>
        </p:nvPicPr>
        <p:blipFill>
          <a:blip r:embed="rId2"/>
          <a:stretch>
            <a:fillRect/>
          </a:stretch>
        </p:blipFill>
        <p:spPr>
          <a:xfrm>
            <a:off x="2595282" y="1447800"/>
            <a:ext cx="6091518" cy="4061012"/>
          </a:xfrm>
          <a:prstGeom prst="rect">
            <a:avLst/>
          </a:prstGeom>
        </p:spPr>
      </p:pic>
    </p:spTree>
    <p:extLst>
      <p:ext uri="{BB962C8B-B14F-4D97-AF65-F5344CB8AC3E}">
        <p14:creationId xmlns:p14="http://schemas.microsoft.com/office/powerpoint/2010/main" val="18760899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04800"/>
            <a:ext cx="8229600" cy="533400"/>
          </a:xfrm>
          <a:noFill/>
          <a:ln>
            <a:noFill/>
          </a:ln>
        </p:spPr>
        <p:txBody>
          <a:bodyPr wrap="square" anchor="t" anchorCtr="0">
            <a:noAutofit/>
          </a:bodyPr>
          <a:lstStyle/>
          <a:p>
            <a:r>
              <a:rPr lang="es-MX" sz="3000" b="1">
                <a:solidFill>
                  <a:srgbClr val="1F3864"/>
                </a:solidFill>
                <a:latin typeface="Calibri"/>
                <a:ea typeface="Calibri"/>
                <a:cs typeface="Calibri"/>
              </a:rPr>
              <a:t>Medición de riesgos</a:t>
            </a:r>
            <a:endParaRPr lang="es-CO" sz="3000" b="1">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7AC6BD0A-1835-49CA-9D23-179C652FF9D6}"/>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4" name="Paso 1"/>
          <p:cNvSpPr/>
          <p:nvPr/>
        </p:nvSpPr>
        <p:spPr>
          <a:xfrm>
            <a:off x="1261872" y="1234440"/>
            <a:ext cx="621792" cy="621792"/>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100" b="1">
                <a:solidFill>
                  <a:srgbClr val="FFFFFF"/>
                </a:solidFill>
                <a:latin typeface="Calibri"/>
              </a:rPr>
              <a:t>1</a:t>
            </a:r>
          </a:p>
        </p:txBody>
      </p:sp>
      <p:sp>
        <p:nvSpPr>
          <p:cNvPr id="25" name="Título paso 1"/>
          <p:cNvSpPr txBox="1"/>
          <p:nvPr/>
        </p:nvSpPr>
        <p:spPr>
          <a:xfrm>
            <a:off x="402335" y="2029968"/>
            <a:ext cx="2340864" cy="475488"/>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ED7D31"/>
                </a:solidFill>
                <a:latin typeface="Calibri"/>
              </a:rPr>
              <a:t>REUNIR DATOS</a:t>
            </a:r>
          </a:p>
        </p:txBody>
      </p:sp>
      <p:sp>
        <p:nvSpPr>
          <p:cNvPr id="26" name="Contenido paso 1"/>
          <p:cNvSpPr txBox="1"/>
          <p:nvPr/>
        </p:nvSpPr>
        <p:spPr>
          <a:xfrm>
            <a:off x="402335" y="2697480"/>
            <a:ext cx="2340864" cy="1554480"/>
          </a:xfrm>
          <a:prstGeom prst="rect">
            <a:avLst/>
          </a:prstGeom>
          <a:noFill/>
        </p:spPr>
        <p:txBody>
          <a:bodyPr wrap="square" lIns="0" tIns="0" rIns="0" bIns="0" anchor="t">
            <a:spAutoFit/>
          </a:bodyPr>
          <a:lstStyle/>
          <a:p>
            <a:pPr algn="l">
              <a:lnSpc>
                <a:spcPct val="100000"/>
              </a:lnSpc>
              <a:spcBef>
                <a:spcPts val="0"/>
              </a:spcBef>
              <a:spcAft>
                <a:spcPts val="1000"/>
              </a:spcAft>
            </a:pPr>
            <a:r>
              <a:rPr sz="1400" b="0">
                <a:solidFill>
                  <a:srgbClr val="404040"/>
                </a:solidFill>
                <a:latin typeface="Calibri"/>
              </a:rPr>
              <a:t>• Identifique factores: tasas, precios, índices, flujos y posiciones.</a:t>
            </a:r>
          </a:p>
          <a:p>
            <a:pPr algn="l">
              <a:lnSpc>
                <a:spcPct val="100000"/>
              </a:lnSpc>
              <a:spcBef>
                <a:spcPts val="0"/>
              </a:spcBef>
              <a:spcAft>
                <a:spcPts val="0"/>
              </a:spcAft>
            </a:pPr>
            <a:r>
              <a:rPr sz="1400" b="0">
                <a:solidFill>
                  <a:srgbClr val="404040"/>
                </a:solidFill>
                <a:latin typeface="Calibri"/>
              </a:rPr>
              <a:t>• Use series históricas; estime solo cuando sea necesario.</a:t>
            </a:r>
          </a:p>
        </p:txBody>
      </p:sp>
      <p:sp>
        <p:nvSpPr>
          <p:cNvPr id="27" name="Paso 2"/>
          <p:cNvSpPr/>
          <p:nvPr/>
        </p:nvSpPr>
        <p:spPr>
          <a:xfrm>
            <a:off x="4261104" y="1234440"/>
            <a:ext cx="621792" cy="621792"/>
          </a:xfrm>
          <a:prstGeom prst="ellipse">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100" b="1">
                <a:solidFill>
                  <a:srgbClr val="FFFFFF"/>
                </a:solidFill>
                <a:latin typeface="Calibri"/>
              </a:rPr>
              <a:t>2</a:t>
            </a:r>
          </a:p>
        </p:txBody>
      </p:sp>
      <p:sp>
        <p:nvSpPr>
          <p:cNvPr id="28" name="Título paso 2"/>
          <p:cNvSpPr txBox="1"/>
          <p:nvPr/>
        </p:nvSpPr>
        <p:spPr>
          <a:xfrm>
            <a:off x="3401568" y="2029968"/>
            <a:ext cx="2340864" cy="475488"/>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1F3864"/>
                </a:solidFill>
                <a:latin typeface="Calibri"/>
              </a:rPr>
              <a:t>DEPURAR Y CLASIFICAR</a:t>
            </a:r>
          </a:p>
        </p:txBody>
      </p:sp>
      <p:sp>
        <p:nvSpPr>
          <p:cNvPr id="29" name="Contenido paso 2"/>
          <p:cNvSpPr txBox="1"/>
          <p:nvPr/>
        </p:nvSpPr>
        <p:spPr>
          <a:xfrm>
            <a:off x="3401568" y="2697480"/>
            <a:ext cx="2340864" cy="1554480"/>
          </a:xfrm>
          <a:prstGeom prst="rect">
            <a:avLst/>
          </a:prstGeom>
          <a:noFill/>
        </p:spPr>
        <p:txBody>
          <a:bodyPr wrap="square" lIns="0" tIns="0" rIns="0" bIns="0" anchor="t">
            <a:spAutoFit/>
          </a:bodyPr>
          <a:lstStyle/>
          <a:p>
            <a:pPr algn="l">
              <a:lnSpc>
                <a:spcPct val="100000"/>
              </a:lnSpc>
              <a:spcBef>
                <a:spcPts val="0"/>
              </a:spcBef>
              <a:spcAft>
                <a:spcPts val="1000"/>
              </a:spcAft>
            </a:pPr>
            <a:r>
              <a:rPr sz="1400" b="0">
                <a:solidFill>
                  <a:srgbClr val="404040"/>
                </a:solidFill>
                <a:latin typeface="Calibri"/>
              </a:rPr>
              <a:t>• Conserve únicamente los datos que necesita.</a:t>
            </a:r>
          </a:p>
          <a:p>
            <a:pPr algn="l">
              <a:lnSpc>
                <a:spcPct val="100000"/>
              </a:lnSpc>
              <a:spcBef>
                <a:spcPts val="0"/>
              </a:spcBef>
              <a:spcAft>
                <a:spcPts val="0"/>
              </a:spcAft>
            </a:pPr>
            <a:r>
              <a:rPr sz="1400" b="0">
                <a:solidFill>
                  <a:srgbClr val="404040"/>
                </a:solidFill>
                <a:latin typeface="Calibri"/>
              </a:rPr>
              <a:t>• Homologue fechas y criterios; luego clasifique.</a:t>
            </a:r>
          </a:p>
        </p:txBody>
      </p:sp>
      <p:sp>
        <p:nvSpPr>
          <p:cNvPr id="30" name="Paso 3"/>
          <p:cNvSpPr/>
          <p:nvPr/>
        </p:nvSpPr>
        <p:spPr>
          <a:xfrm>
            <a:off x="7260336" y="1234440"/>
            <a:ext cx="621792" cy="621792"/>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2100" b="1">
                <a:solidFill>
                  <a:srgbClr val="FFFFFF"/>
                </a:solidFill>
                <a:latin typeface="Calibri"/>
              </a:rPr>
              <a:t>3</a:t>
            </a:r>
          </a:p>
        </p:txBody>
      </p:sp>
      <p:sp>
        <p:nvSpPr>
          <p:cNvPr id="31" name="Título paso 3"/>
          <p:cNvSpPr txBox="1"/>
          <p:nvPr/>
        </p:nvSpPr>
        <p:spPr>
          <a:xfrm>
            <a:off x="6400799" y="2029968"/>
            <a:ext cx="2340864" cy="475488"/>
          </a:xfrm>
          <a:prstGeom prst="rect">
            <a:avLst/>
          </a:prstGeom>
          <a:noFill/>
        </p:spPr>
        <p:txBody>
          <a:bodyPr wrap="square" lIns="0" tIns="0" rIns="0" bIns="0" anchor="ctr">
            <a:spAutoFit/>
          </a:bodyPr>
          <a:lstStyle/>
          <a:p>
            <a:pPr algn="ctr">
              <a:lnSpc>
                <a:spcPct val="100000"/>
              </a:lnSpc>
              <a:spcBef>
                <a:spcPts val="0"/>
              </a:spcBef>
              <a:spcAft>
                <a:spcPts val="0"/>
              </a:spcAft>
            </a:pPr>
            <a:r>
              <a:rPr sz="1700" b="1">
                <a:solidFill>
                  <a:srgbClr val="5B9BD5"/>
                </a:solidFill>
                <a:latin typeface="Calibri"/>
              </a:rPr>
              <a:t>DEFINIR MÉTRICAS Y MODELAR</a:t>
            </a:r>
          </a:p>
        </p:txBody>
      </p:sp>
      <p:sp>
        <p:nvSpPr>
          <p:cNvPr id="32" name="Contenido paso 3"/>
          <p:cNvSpPr txBox="1"/>
          <p:nvPr/>
        </p:nvSpPr>
        <p:spPr>
          <a:xfrm>
            <a:off x="6400799" y="2697480"/>
            <a:ext cx="2340864" cy="1554480"/>
          </a:xfrm>
          <a:prstGeom prst="rect">
            <a:avLst/>
          </a:prstGeom>
          <a:noFill/>
        </p:spPr>
        <p:txBody>
          <a:bodyPr wrap="square" lIns="0" tIns="0" rIns="0" bIns="0" anchor="t">
            <a:spAutoFit/>
          </a:bodyPr>
          <a:lstStyle/>
          <a:p>
            <a:pPr algn="l">
              <a:lnSpc>
                <a:spcPct val="100000"/>
              </a:lnSpc>
              <a:spcBef>
                <a:spcPts val="0"/>
              </a:spcBef>
              <a:spcAft>
                <a:spcPts val="1000"/>
              </a:spcAft>
            </a:pPr>
            <a:r>
              <a:rPr sz="1400" b="0">
                <a:solidFill>
                  <a:srgbClr val="404040"/>
                </a:solidFill>
                <a:latin typeface="Calibri"/>
              </a:rPr>
              <a:t>• Elija medidas según datos, proyecto, tiempo y conocimiento.</a:t>
            </a:r>
          </a:p>
          <a:p>
            <a:pPr algn="l">
              <a:lnSpc>
                <a:spcPct val="100000"/>
              </a:lnSpc>
              <a:spcBef>
                <a:spcPts val="0"/>
              </a:spcBef>
              <a:spcAft>
                <a:spcPts val="0"/>
              </a:spcAft>
            </a:pPr>
            <a:r>
              <a:rPr sz="1400" b="0">
                <a:solidFill>
                  <a:srgbClr val="404040"/>
                </a:solidFill>
                <a:latin typeface="Calibri"/>
              </a:rPr>
              <a:t>• Aplique el modelo y obtenga insumos y resultados.</a:t>
            </a:r>
          </a:p>
        </p:txBody>
      </p:sp>
      <p:sp>
        <p:nvSpPr>
          <p:cNvPr id="33" name="Secuencia 1 a 2"/>
          <p:cNvSpPr/>
          <p:nvPr/>
        </p:nvSpPr>
        <p:spPr>
          <a:xfrm>
            <a:off x="2560320" y="1399032"/>
            <a:ext cx="640080" cy="256032"/>
          </a:xfrm>
          <a:prstGeom prst="rightArrow">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Secuencia 2 a 3"/>
          <p:cNvSpPr/>
          <p:nvPr/>
        </p:nvSpPr>
        <p:spPr>
          <a:xfrm>
            <a:off x="5559552" y="1399032"/>
            <a:ext cx="640080" cy="256032"/>
          </a:xfrm>
          <a:prstGeom prst="rightArrow">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Separador validación"/>
          <p:cNvSpPr/>
          <p:nvPr/>
        </p:nvSpPr>
        <p:spPr>
          <a:xfrm>
            <a:off x="685800" y="4736592"/>
            <a:ext cx="7772400"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Validación"/>
          <p:cNvSpPr/>
          <p:nvPr/>
        </p:nvSpPr>
        <p:spPr>
          <a:xfrm>
            <a:off x="1005840" y="4956048"/>
            <a:ext cx="438912" cy="438912"/>
          </a:xfrm>
          <a:prstGeom prst="ellipse">
            <a:avLst/>
          </a:prstGeom>
          <a:solidFill>
            <a:srgbClr val="2F6B1F"/>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Arial"/>
              </a:rPr>
              <a:t>✓</a:t>
            </a:r>
          </a:p>
        </p:txBody>
      </p:sp>
      <p:sp>
        <p:nvSpPr>
          <p:cNvPr id="37" name="Mensaje de validación"/>
          <p:cNvSpPr txBox="1"/>
          <p:nvPr/>
        </p:nvSpPr>
        <p:spPr>
          <a:xfrm>
            <a:off x="1627632" y="4956048"/>
            <a:ext cx="6492240" cy="457200"/>
          </a:xfrm>
          <a:prstGeom prst="rect">
            <a:avLst/>
          </a:prstGeom>
          <a:noFill/>
        </p:spPr>
        <p:txBody>
          <a:bodyPr wrap="square" lIns="0" tIns="0" rIns="0" bIns="0" anchor="ctr">
            <a:spAutoFit/>
          </a:bodyPr>
          <a:lstStyle/>
          <a:p>
            <a:pPr algn="l">
              <a:lnSpc>
                <a:spcPct val="100000"/>
              </a:lnSpc>
              <a:spcBef>
                <a:spcPts val="0"/>
              </a:spcBef>
              <a:spcAft>
                <a:spcPts val="0"/>
              </a:spcAft>
            </a:pPr>
            <a:r>
              <a:rPr sz="1600" b="1">
                <a:solidFill>
                  <a:srgbClr val="1F3864"/>
                </a:solidFill>
                <a:latin typeface="Calibri"/>
              </a:rPr>
              <a:t>Antes de reportar, verifique y valide los resultados.</a:t>
            </a:r>
          </a:p>
        </p:txBody>
      </p:sp>
    </p:spTree>
    <p:extLst>
      <p:ext uri="{BB962C8B-B14F-4D97-AF65-F5344CB8AC3E}">
        <p14:creationId xmlns:p14="http://schemas.microsoft.com/office/powerpoint/2010/main" val="393207964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F7B9E421-8988-481E-8539-24CAF02D0AD0}"/>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Medición: tipos de análisis</a:t>
            </a:r>
          </a:p>
        </p:txBody>
      </p:sp>
      <p:sp>
        <p:nvSpPr>
          <p:cNvPr id="5" name="Rectángulo 4">
            <a:extLst>
              <a:ext uri="{FF2B5EF4-FFF2-40B4-BE49-F238E27FC236}">
                <a16:creationId xmlns:a16="http://schemas.microsoft.com/office/drawing/2014/main" id="{7FC5CF7F-FB97-4ED5-8EA7-6171249CE0A1}"/>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C169E030-9DBE-47DA-A922-FA7C9A0643BE}"/>
              </a:ext>
            </a:extLst>
          </p:cNvPr>
          <p:cNvSpPr/>
          <p:nvPr/>
        </p:nvSpPr>
        <p:spPr>
          <a:xfrm>
            <a:off x="457200" y="1219200"/>
            <a:ext cx="2489200" cy="1219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Análisis cualitativo</a:t>
            </a:r>
          </a:p>
        </p:txBody>
      </p:sp>
      <p:sp>
        <p:nvSpPr>
          <p:cNvPr id="7" name="Rectángulo 6">
            <a:extLst>
              <a:ext uri="{FF2B5EF4-FFF2-40B4-BE49-F238E27FC236}">
                <a16:creationId xmlns:a16="http://schemas.microsoft.com/office/drawing/2014/main" id="{5BD1095F-91A7-43D3-AD2C-5D1107F25937}"/>
              </a:ext>
            </a:extLst>
          </p:cNvPr>
          <p:cNvSpPr/>
          <p:nvPr/>
        </p:nvSpPr>
        <p:spPr>
          <a:xfrm>
            <a:off x="2997200" y="1219200"/>
            <a:ext cx="5689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Palabras o escalas descriptivas para el impacto y la probabilidad.</a:t>
            </a:r>
            <a:endParaRPr lang="es-CO" sz="1500">
              <a:solidFill>
                <a:srgbClr val="404040"/>
              </a:solidFill>
              <a:latin typeface="Calibri"/>
              <a:ea typeface="Calibri"/>
              <a:cs typeface="Calibri"/>
            </a:endParaRPr>
          </a:p>
        </p:txBody>
      </p:sp>
      <p:sp>
        <p:nvSpPr>
          <p:cNvPr id="8" name="Rectángulo 7">
            <a:extLst>
              <a:ext uri="{FF2B5EF4-FFF2-40B4-BE49-F238E27FC236}">
                <a16:creationId xmlns:a16="http://schemas.microsoft.com/office/drawing/2014/main" id="{1AEEB697-CC09-4878-935C-A5181CF931DF}"/>
              </a:ext>
            </a:extLst>
          </p:cNvPr>
          <p:cNvSpPr/>
          <p:nvPr/>
        </p:nvSpPr>
        <p:spPr>
          <a:xfrm>
            <a:off x="457200" y="2590800"/>
            <a:ext cx="2489200" cy="1219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Análisis semicuantitativo</a:t>
            </a:r>
          </a:p>
        </p:txBody>
      </p:sp>
      <p:sp>
        <p:nvSpPr>
          <p:cNvPr id="9" name="Rectángulo 8">
            <a:extLst>
              <a:ext uri="{FF2B5EF4-FFF2-40B4-BE49-F238E27FC236}">
                <a16:creationId xmlns:a16="http://schemas.microsoft.com/office/drawing/2014/main" id="{37075EA3-A976-4103-A6F6-49F3A2B35D1F}"/>
              </a:ext>
            </a:extLst>
          </p:cNvPr>
          <p:cNvSpPr/>
          <p:nvPr/>
        </p:nvSpPr>
        <p:spPr>
          <a:xfrm>
            <a:off x="2997200" y="2590800"/>
            <a:ext cx="5689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Se asignan valores a esas escalas cualitativas y se combinan para priorizar los riesgos identificados.</a:t>
            </a:r>
            <a:endParaRPr lang="es-CO" sz="1500">
              <a:solidFill>
                <a:srgbClr val="404040"/>
              </a:solidFill>
              <a:latin typeface="Calibri"/>
              <a:ea typeface="Calibri"/>
              <a:cs typeface="Calibri"/>
            </a:endParaRPr>
          </a:p>
        </p:txBody>
      </p:sp>
      <p:sp>
        <p:nvSpPr>
          <p:cNvPr id="10" name="Rectángulo 9">
            <a:extLst>
              <a:ext uri="{FF2B5EF4-FFF2-40B4-BE49-F238E27FC236}">
                <a16:creationId xmlns:a16="http://schemas.microsoft.com/office/drawing/2014/main" id="{D57217B0-9118-4266-B0FD-C89E79528A0D}"/>
              </a:ext>
            </a:extLst>
          </p:cNvPr>
          <p:cNvSpPr/>
          <p:nvPr/>
        </p:nvSpPr>
        <p:spPr>
          <a:xfrm>
            <a:off x="457200" y="3962400"/>
            <a:ext cx="2489200" cy="1219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FFFFFF"/>
                </a:solidFill>
                <a:latin typeface="Calibri"/>
                <a:ea typeface="Calibri"/>
                <a:cs typeface="Calibri"/>
              </a:rPr>
              <a:t>Análisis cuantitativo</a:t>
            </a:r>
          </a:p>
        </p:txBody>
      </p:sp>
      <p:sp>
        <p:nvSpPr>
          <p:cNvPr id="11" name="Rectángulo 10">
            <a:extLst>
              <a:ext uri="{FF2B5EF4-FFF2-40B4-BE49-F238E27FC236}">
                <a16:creationId xmlns:a16="http://schemas.microsoft.com/office/drawing/2014/main" id="{8C45D75A-5CD5-44BB-914D-0484113DCDEA}"/>
              </a:ext>
            </a:extLst>
          </p:cNvPr>
          <p:cNvSpPr/>
          <p:nvPr/>
        </p:nvSpPr>
        <p:spPr>
          <a:xfrm>
            <a:off x="2997200" y="3962400"/>
            <a:ext cx="5689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Valores numéricos tanto para el impacto como para la frecuencia.</a:t>
            </a:r>
            <a:endParaRPr lang="es-CO" sz="1500">
              <a:solidFill>
                <a:srgbClr val="404040"/>
              </a:solidFill>
              <a:latin typeface="Calibri"/>
              <a:ea typeface="Calibri"/>
              <a:cs typeface="Calibri"/>
            </a:endParaRPr>
          </a:p>
        </p:txBody>
      </p:sp>
      <p:sp>
        <p:nvSpPr>
          <p:cNvPr id="12" name="CuadroTexto 11">
            <a:extLst>
              <a:ext uri="{FF2B5EF4-FFF2-40B4-BE49-F238E27FC236}">
                <a16:creationId xmlns:a16="http://schemas.microsoft.com/office/drawing/2014/main" id="{0BC2BFEC-6F74-4BCA-8EC1-2D539A5BFC18}"/>
              </a:ext>
            </a:extLst>
          </p:cNvPr>
          <p:cNvSpPr txBox="1"/>
          <p:nvPr/>
        </p:nvSpPr>
        <p:spPr>
          <a:xfrm>
            <a:off x="457200" y="53848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Del análisis descriptivo al numérico, según la información disponible</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7786305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Tratamiento del riesgo cualitativo</a:t>
            </a:r>
            <a:endParaRPr lang="es-CO" sz="3000" b="1" dirty="0">
              <a:solidFill>
                <a:srgbClr val="1F3864"/>
              </a:solidFill>
              <a:latin typeface="Calibri"/>
              <a:ea typeface="Calibri"/>
              <a:cs typeface="Calibri"/>
            </a:endParaRPr>
          </a:p>
        </p:txBody>
      </p:sp>
      <p:pic>
        <p:nvPicPr>
          <p:cNvPr id="38915"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14789" t="21455" r="17030" b="21828"/>
          <a:stretch/>
        </p:blipFill>
        <p:spPr bwMode="auto">
          <a:xfrm>
            <a:off x="266700" y="1219200"/>
            <a:ext cx="8610600" cy="4025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ángulo 3">
            <a:extLst>
              <a:ext uri="{FF2B5EF4-FFF2-40B4-BE49-F238E27FC236}">
                <a16:creationId xmlns:a16="http://schemas.microsoft.com/office/drawing/2014/main" id="{7857851F-C368-4820-BA8F-DE7000A71F9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A739D864-9F6E-43F5-896B-7A2EEA184C6A}"/>
              </a:ext>
            </a:extLst>
          </p:cNvPr>
          <p:cNvSpPr txBox="1"/>
          <p:nvPr/>
        </p:nvSpPr>
        <p:spPr>
          <a:xfrm>
            <a:off x="457200" y="53086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Escalas cualitativas de probabilidad e impacto y su combinación en el nivel de riesgo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4503698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CF563C2-D2A3-4CAE-A5A8-8F4391878012}"/>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Escalas para la posibilidad</a:t>
            </a:r>
          </a:p>
        </p:txBody>
      </p:sp>
      <p:sp>
        <p:nvSpPr>
          <p:cNvPr id="5" name="Rectángulo 4">
            <a:extLst>
              <a:ext uri="{FF2B5EF4-FFF2-40B4-BE49-F238E27FC236}">
                <a16:creationId xmlns:a16="http://schemas.microsoft.com/office/drawing/2014/main" id="{ED881C84-DC9B-4920-8F20-2AC242793EA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graphicFrame>
        <p:nvGraphicFramePr>
          <p:cNvPr id="7" name="Tabla 6">
            <a:extLst>
              <a:ext uri="{FF2B5EF4-FFF2-40B4-BE49-F238E27FC236}">
                <a16:creationId xmlns:a16="http://schemas.microsoft.com/office/drawing/2014/main" id="{8758DF64-AEC4-414B-8513-FBCF1F07D7DB}"/>
              </a:ext>
            </a:extLst>
          </p:cNvPr>
          <p:cNvGraphicFramePr>
            <a:graphicFrameLocks noGrp="1"/>
          </p:cNvGraphicFramePr>
          <p:nvPr>
            <p:extLst>
              <p:ext uri="{D42A27DB-BD31-4B8C-83A1-F6EECF244321}">
                <p14:modId xmlns:p14="http://schemas.microsoft.com/office/powerpoint/2010/main" val="3590712924"/>
              </p:ext>
            </p:extLst>
          </p:nvPr>
        </p:nvGraphicFramePr>
        <p:xfrm>
          <a:off x="457200" y="1261872"/>
          <a:ext cx="8229600" cy="3822191"/>
        </p:xfrm>
        <a:graphic>
          <a:graphicData uri="http://schemas.openxmlformats.org/drawingml/2006/table">
            <a:tbl>
              <a:tblPr>
                <a:tableStyleId>{5C22544A-7EE6-4342-B048-85BDC9FD1C3A}</a:tableStyleId>
              </a:tblPr>
              <a:tblGrid>
                <a:gridCol w="1645920">
                  <a:extLst>
                    <a:ext uri="{9D8B030D-6E8A-4147-A177-3AD203B41FA5}">
                      <a16:colId xmlns:a16="http://schemas.microsoft.com/office/drawing/2014/main" val="1950891377"/>
                    </a:ext>
                  </a:extLst>
                </a:gridCol>
                <a:gridCol w="1645920">
                  <a:extLst>
                    <a:ext uri="{9D8B030D-6E8A-4147-A177-3AD203B41FA5}">
                      <a16:colId xmlns:a16="http://schemas.microsoft.com/office/drawing/2014/main" val="1694229409"/>
                    </a:ext>
                  </a:extLst>
                </a:gridCol>
                <a:gridCol w="1645920">
                  <a:extLst>
                    <a:ext uri="{9D8B030D-6E8A-4147-A177-3AD203B41FA5}">
                      <a16:colId xmlns:a16="http://schemas.microsoft.com/office/drawing/2014/main" val="2848934846"/>
                    </a:ext>
                  </a:extLst>
                </a:gridCol>
                <a:gridCol w="1645920">
                  <a:extLst>
                    <a:ext uri="{9D8B030D-6E8A-4147-A177-3AD203B41FA5}">
                      <a16:colId xmlns:a16="http://schemas.microsoft.com/office/drawing/2014/main" val="3667846402"/>
                    </a:ext>
                  </a:extLst>
                </a:gridCol>
                <a:gridCol w="1645920">
                  <a:extLst>
                    <a:ext uri="{9D8B030D-6E8A-4147-A177-3AD203B41FA5}">
                      <a16:colId xmlns:a16="http://schemas.microsoft.com/office/drawing/2014/main" val="1371789734"/>
                    </a:ext>
                  </a:extLst>
                </a:gridCol>
              </a:tblGrid>
              <a:tr h="566928">
                <a:tc>
                  <a:txBody>
                    <a:bodyPr/>
                    <a:lstStyle/>
                    <a:p>
                      <a:pPr algn="ctr">
                        <a:spcBef>
                          <a:spcPts val="0"/>
                        </a:spcBef>
                        <a:spcAft>
                          <a:spcPts val="0"/>
                        </a:spcAft>
                      </a:pPr>
                      <a:r>
                        <a:rPr sz="1500" b="1">
                          <a:solidFill>
                            <a:srgbClr val="FFFFFF"/>
                          </a:solidFill>
                          <a:latin typeface="Calibri"/>
                        </a:rPr>
                        <a:t>Ejemplo 1</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tc>
                  <a:txBody>
                    <a:bodyPr/>
                    <a:lstStyle/>
                    <a:p>
                      <a:pPr algn="ctr">
                        <a:spcBef>
                          <a:spcPts val="0"/>
                        </a:spcBef>
                        <a:spcAft>
                          <a:spcPts val="0"/>
                        </a:spcAft>
                      </a:pPr>
                      <a:r>
                        <a:rPr sz="1500" b="1">
                          <a:solidFill>
                            <a:srgbClr val="FFFFFF"/>
                          </a:solidFill>
                          <a:latin typeface="Calibri"/>
                        </a:rPr>
                        <a:t>Ejemplo 2</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tc>
                  <a:txBody>
                    <a:bodyPr/>
                    <a:lstStyle/>
                    <a:p>
                      <a:pPr algn="ctr">
                        <a:spcBef>
                          <a:spcPts val="0"/>
                        </a:spcBef>
                        <a:spcAft>
                          <a:spcPts val="0"/>
                        </a:spcAft>
                      </a:pPr>
                      <a:r>
                        <a:rPr sz="1500" b="1">
                          <a:solidFill>
                            <a:srgbClr val="FFFFFF"/>
                          </a:solidFill>
                          <a:latin typeface="Calibri"/>
                        </a:rPr>
                        <a:t>Ejemplo 3</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tc>
                  <a:txBody>
                    <a:bodyPr/>
                    <a:lstStyle/>
                    <a:p>
                      <a:pPr algn="ctr">
                        <a:spcBef>
                          <a:spcPts val="0"/>
                        </a:spcBef>
                        <a:spcAft>
                          <a:spcPts val="0"/>
                        </a:spcAft>
                      </a:pPr>
                      <a:r>
                        <a:rPr sz="1500" b="1">
                          <a:solidFill>
                            <a:srgbClr val="FFFFFF"/>
                          </a:solidFill>
                          <a:latin typeface="Calibri"/>
                        </a:rPr>
                        <a:t>Ejemplo 4</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tc>
                  <a:txBody>
                    <a:bodyPr/>
                    <a:lstStyle/>
                    <a:p>
                      <a:pPr algn="ctr">
                        <a:spcBef>
                          <a:spcPts val="0"/>
                        </a:spcBef>
                        <a:spcAft>
                          <a:spcPts val="0"/>
                        </a:spcAft>
                      </a:pPr>
                      <a:r>
                        <a:rPr sz="1500" b="1">
                          <a:solidFill>
                            <a:srgbClr val="FFFFFF"/>
                          </a:solidFill>
                          <a:latin typeface="Calibri"/>
                        </a:rPr>
                        <a:t>Ejemplo 5</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extLst>
                  <a:ext uri="{0D108BD9-81ED-4DB2-BD59-A6C34878D82A}">
                    <a16:rowId xmlns:a16="http://schemas.microsoft.com/office/drawing/2014/main" val="2063891535"/>
                  </a:ext>
                </a:extLst>
              </a:tr>
              <a:tr h="3255263">
                <a:tc>
                  <a:txBody>
                    <a:bodyPr/>
                    <a:lstStyle/>
                    <a:p>
                      <a:pPr algn="l">
                        <a:lnSpc>
                          <a:spcPct val="100000"/>
                        </a:lnSpc>
                        <a:spcBef>
                          <a:spcPts val="0"/>
                        </a:spcBef>
                        <a:spcAft>
                          <a:spcPts val="500"/>
                        </a:spcAft>
                      </a:pPr>
                      <a:r>
                        <a:rPr sz="1400" b="1" dirty="0">
                          <a:solidFill>
                            <a:srgbClr val="ED7D31"/>
                          </a:solidFill>
                          <a:latin typeface="Calibri"/>
                        </a:rPr>
                        <a:t>1  </a:t>
                      </a:r>
                      <a:r>
                        <a:rPr sz="1400" b="0" dirty="0">
                          <a:solidFill>
                            <a:srgbClr val="404040"/>
                          </a:solidFill>
                          <a:latin typeface="Calibri"/>
                        </a:rPr>
                        <a:t>Bajo</a:t>
                      </a:r>
                    </a:p>
                    <a:p>
                      <a:pPr algn="l">
                        <a:lnSpc>
                          <a:spcPct val="100000"/>
                        </a:lnSpc>
                        <a:spcBef>
                          <a:spcPts val="0"/>
                        </a:spcBef>
                        <a:spcAft>
                          <a:spcPts val="500"/>
                        </a:spcAft>
                      </a:pPr>
                      <a:r>
                        <a:rPr sz="1400" b="1" dirty="0">
                          <a:solidFill>
                            <a:srgbClr val="ED7D31"/>
                          </a:solidFill>
                          <a:latin typeface="Calibri"/>
                        </a:rPr>
                        <a:t>2  </a:t>
                      </a:r>
                      <a:r>
                        <a:rPr sz="1400" b="0" dirty="0">
                          <a:solidFill>
                            <a:srgbClr val="404040"/>
                          </a:solidFill>
                          <a:latin typeface="Calibri"/>
                        </a:rPr>
                        <a:t>Medio</a:t>
                      </a:r>
                    </a:p>
                    <a:p>
                      <a:pPr algn="l">
                        <a:lnSpc>
                          <a:spcPct val="100000"/>
                        </a:lnSpc>
                        <a:spcBef>
                          <a:spcPts val="0"/>
                        </a:spcBef>
                        <a:spcAft>
                          <a:spcPts val="500"/>
                        </a:spcAft>
                      </a:pPr>
                      <a:r>
                        <a:rPr sz="1400" b="1" dirty="0">
                          <a:solidFill>
                            <a:srgbClr val="ED7D31"/>
                          </a:solidFill>
                          <a:latin typeface="Calibri"/>
                        </a:rPr>
                        <a:t>3  </a:t>
                      </a:r>
                      <a:r>
                        <a:rPr sz="1400" b="0" dirty="0">
                          <a:solidFill>
                            <a:srgbClr val="404040"/>
                          </a:solidFill>
                          <a:latin typeface="Calibri"/>
                        </a:rPr>
                        <a:t>Alto</a:t>
                      </a: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FFFFF"/>
                    </a:solidFill>
                  </a:tcPr>
                </a:tc>
                <a:tc>
                  <a:txBody>
                    <a:bodyPr/>
                    <a:lstStyle/>
                    <a:p>
                      <a:pPr algn="l">
                        <a:lnSpc>
                          <a:spcPct val="100000"/>
                        </a:lnSpc>
                        <a:spcBef>
                          <a:spcPts val="0"/>
                        </a:spcBef>
                        <a:spcAft>
                          <a:spcPts val="500"/>
                        </a:spcAft>
                      </a:pPr>
                      <a:r>
                        <a:rPr sz="1400" b="1" dirty="0">
                          <a:solidFill>
                            <a:srgbClr val="ED7D31"/>
                          </a:solidFill>
                          <a:latin typeface="Calibri"/>
                        </a:rPr>
                        <a:t>1  </a:t>
                      </a:r>
                      <a:r>
                        <a:rPr sz="1400" b="0" dirty="0">
                          <a:solidFill>
                            <a:srgbClr val="404040"/>
                          </a:solidFill>
                          <a:latin typeface="Calibri"/>
                        </a:rPr>
                        <a:t>Muy bajo</a:t>
                      </a:r>
                    </a:p>
                    <a:p>
                      <a:pPr algn="l">
                        <a:lnSpc>
                          <a:spcPct val="100000"/>
                        </a:lnSpc>
                        <a:spcBef>
                          <a:spcPts val="0"/>
                        </a:spcBef>
                        <a:spcAft>
                          <a:spcPts val="500"/>
                        </a:spcAft>
                      </a:pPr>
                      <a:r>
                        <a:rPr sz="1400" b="1" dirty="0">
                          <a:solidFill>
                            <a:srgbClr val="ED7D31"/>
                          </a:solidFill>
                          <a:latin typeface="Calibri"/>
                        </a:rPr>
                        <a:t>2  </a:t>
                      </a:r>
                      <a:r>
                        <a:rPr sz="1400" b="0" dirty="0">
                          <a:solidFill>
                            <a:srgbClr val="404040"/>
                          </a:solidFill>
                          <a:latin typeface="Calibri"/>
                        </a:rPr>
                        <a:t>Bajo</a:t>
                      </a:r>
                    </a:p>
                    <a:p>
                      <a:pPr algn="l">
                        <a:lnSpc>
                          <a:spcPct val="100000"/>
                        </a:lnSpc>
                        <a:spcBef>
                          <a:spcPts val="0"/>
                        </a:spcBef>
                        <a:spcAft>
                          <a:spcPts val="500"/>
                        </a:spcAft>
                      </a:pPr>
                      <a:r>
                        <a:rPr sz="1400" b="1" dirty="0">
                          <a:solidFill>
                            <a:srgbClr val="ED7D31"/>
                          </a:solidFill>
                          <a:latin typeface="Calibri"/>
                        </a:rPr>
                        <a:t>3  </a:t>
                      </a:r>
                      <a:r>
                        <a:rPr sz="1400" b="0" dirty="0">
                          <a:solidFill>
                            <a:srgbClr val="404040"/>
                          </a:solidFill>
                          <a:latin typeface="Calibri"/>
                        </a:rPr>
                        <a:t>Medio</a:t>
                      </a:r>
                    </a:p>
                    <a:p>
                      <a:pPr algn="l">
                        <a:lnSpc>
                          <a:spcPct val="100000"/>
                        </a:lnSpc>
                        <a:spcBef>
                          <a:spcPts val="0"/>
                        </a:spcBef>
                        <a:spcAft>
                          <a:spcPts val="500"/>
                        </a:spcAft>
                      </a:pPr>
                      <a:r>
                        <a:rPr sz="1400" b="1" dirty="0">
                          <a:solidFill>
                            <a:srgbClr val="ED7D31"/>
                          </a:solidFill>
                          <a:latin typeface="Calibri"/>
                        </a:rPr>
                        <a:t>4  </a:t>
                      </a:r>
                      <a:r>
                        <a:rPr sz="1400" b="0" dirty="0">
                          <a:solidFill>
                            <a:srgbClr val="404040"/>
                          </a:solidFill>
                          <a:latin typeface="Calibri"/>
                        </a:rPr>
                        <a:t>Alto</a:t>
                      </a:r>
                    </a:p>
                    <a:p>
                      <a:pPr algn="l">
                        <a:lnSpc>
                          <a:spcPct val="100000"/>
                        </a:lnSpc>
                        <a:spcBef>
                          <a:spcPts val="0"/>
                        </a:spcBef>
                        <a:spcAft>
                          <a:spcPts val="500"/>
                        </a:spcAft>
                      </a:pPr>
                      <a:r>
                        <a:rPr sz="1400" b="1" dirty="0">
                          <a:solidFill>
                            <a:srgbClr val="ED7D31"/>
                          </a:solidFill>
                          <a:latin typeface="Calibri"/>
                        </a:rPr>
                        <a:t>5  </a:t>
                      </a:r>
                      <a:r>
                        <a:rPr sz="1400" b="0" dirty="0">
                          <a:solidFill>
                            <a:srgbClr val="404040"/>
                          </a:solidFill>
                          <a:latin typeface="Calibri"/>
                        </a:rPr>
                        <a:t>Muy alto</a:t>
                      </a: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4F7FB"/>
                    </a:solidFill>
                  </a:tcPr>
                </a:tc>
                <a:tc>
                  <a:txBody>
                    <a:bodyPr/>
                    <a:lstStyle/>
                    <a:p>
                      <a:pPr algn="l">
                        <a:lnSpc>
                          <a:spcPct val="100000"/>
                        </a:lnSpc>
                        <a:spcBef>
                          <a:spcPts val="0"/>
                        </a:spcBef>
                        <a:spcAft>
                          <a:spcPts val="500"/>
                        </a:spcAft>
                      </a:pPr>
                      <a:r>
                        <a:rPr sz="1400" b="1" dirty="0">
                          <a:solidFill>
                            <a:srgbClr val="ED7D31"/>
                          </a:solidFill>
                          <a:latin typeface="Calibri"/>
                        </a:rPr>
                        <a:t>1  </a:t>
                      </a:r>
                      <a:r>
                        <a:rPr sz="1400" b="0" dirty="0">
                          <a:solidFill>
                            <a:srgbClr val="404040"/>
                          </a:solidFill>
                          <a:latin typeface="Calibri"/>
                        </a:rPr>
                        <a:t>Improbable</a:t>
                      </a:r>
                    </a:p>
                    <a:p>
                      <a:pPr algn="l">
                        <a:lnSpc>
                          <a:spcPct val="100000"/>
                        </a:lnSpc>
                        <a:spcBef>
                          <a:spcPts val="0"/>
                        </a:spcBef>
                        <a:spcAft>
                          <a:spcPts val="500"/>
                        </a:spcAft>
                      </a:pPr>
                      <a:r>
                        <a:rPr sz="1400" b="1" dirty="0">
                          <a:solidFill>
                            <a:srgbClr val="ED7D31"/>
                          </a:solidFill>
                          <a:latin typeface="Calibri"/>
                        </a:rPr>
                        <a:t>2  </a:t>
                      </a:r>
                      <a:r>
                        <a:rPr sz="1400" b="0" dirty="0" err="1">
                          <a:solidFill>
                            <a:srgbClr val="404040"/>
                          </a:solidFill>
                          <a:latin typeface="Calibri"/>
                        </a:rPr>
                        <a:t>Remoto</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3  </a:t>
                      </a:r>
                      <a:r>
                        <a:rPr sz="1400" b="0" dirty="0" err="1">
                          <a:solidFill>
                            <a:srgbClr val="404040"/>
                          </a:solidFill>
                          <a:latin typeface="Calibri"/>
                        </a:rPr>
                        <a:t>Esporádico</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4  </a:t>
                      </a:r>
                      <a:r>
                        <a:rPr sz="1400" b="0" dirty="0" err="1">
                          <a:solidFill>
                            <a:srgbClr val="404040"/>
                          </a:solidFill>
                          <a:latin typeface="Calibri"/>
                        </a:rPr>
                        <a:t>Ocasional</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5  </a:t>
                      </a:r>
                      <a:r>
                        <a:rPr sz="1400" b="0" dirty="0" err="1">
                          <a:solidFill>
                            <a:srgbClr val="404040"/>
                          </a:solidFill>
                          <a:latin typeface="Calibri"/>
                        </a:rPr>
                        <a:t>Moderado</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6  </a:t>
                      </a:r>
                      <a:r>
                        <a:rPr sz="1400" b="0" dirty="0" err="1">
                          <a:solidFill>
                            <a:srgbClr val="404040"/>
                          </a:solidFill>
                          <a:latin typeface="Calibri"/>
                        </a:rPr>
                        <a:t>Frecuente</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7  </a:t>
                      </a:r>
                      <a:r>
                        <a:rPr sz="1400" b="0" dirty="0">
                          <a:solidFill>
                            <a:srgbClr val="404040"/>
                          </a:solidFill>
                          <a:latin typeface="Calibri"/>
                        </a:rPr>
                        <a:t>Habitual</a:t>
                      </a:r>
                    </a:p>
                    <a:p>
                      <a:pPr algn="l">
                        <a:lnSpc>
                          <a:spcPct val="100000"/>
                        </a:lnSpc>
                        <a:spcBef>
                          <a:spcPts val="0"/>
                        </a:spcBef>
                        <a:spcAft>
                          <a:spcPts val="500"/>
                        </a:spcAft>
                      </a:pPr>
                      <a:r>
                        <a:rPr sz="1400" b="1" dirty="0">
                          <a:solidFill>
                            <a:srgbClr val="ED7D31"/>
                          </a:solidFill>
                          <a:latin typeface="Calibri"/>
                        </a:rPr>
                        <a:t>8  </a:t>
                      </a:r>
                      <a:r>
                        <a:rPr sz="1400" b="0" dirty="0">
                          <a:solidFill>
                            <a:srgbClr val="404040"/>
                          </a:solidFill>
                          <a:latin typeface="Calibri"/>
                        </a:rPr>
                        <a:t>Constante</a:t>
                      </a: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FFFFF"/>
                    </a:solidFill>
                  </a:tcPr>
                </a:tc>
                <a:tc>
                  <a:txBody>
                    <a:bodyPr/>
                    <a:lstStyle/>
                    <a:p>
                      <a:pPr algn="l">
                        <a:lnSpc>
                          <a:spcPct val="100000"/>
                        </a:lnSpc>
                        <a:spcBef>
                          <a:spcPts val="0"/>
                        </a:spcBef>
                        <a:spcAft>
                          <a:spcPts val="500"/>
                        </a:spcAft>
                      </a:pPr>
                      <a:r>
                        <a:rPr sz="1400" b="1" dirty="0">
                          <a:solidFill>
                            <a:srgbClr val="ED7D31"/>
                          </a:solidFill>
                          <a:latin typeface="Calibri"/>
                        </a:rPr>
                        <a:t>1  </a:t>
                      </a:r>
                      <a:r>
                        <a:rPr sz="1400" b="0" dirty="0" err="1">
                          <a:solidFill>
                            <a:srgbClr val="404040"/>
                          </a:solidFill>
                          <a:latin typeface="Calibri"/>
                        </a:rPr>
                        <a:t>Extremadamente</a:t>
                      </a:r>
                      <a:r>
                        <a:rPr sz="1400" b="0" dirty="0">
                          <a:solidFill>
                            <a:srgbClr val="404040"/>
                          </a:solidFill>
                          <a:latin typeface="Calibri"/>
                        </a:rPr>
                        <a:t> improbable</a:t>
                      </a:r>
                    </a:p>
                    <a:p>
                      <a:pPr algn="l">
                        <a:lnSpc>
                          <a:spcPct val="100000"/>
                        </a:lnSpc>
                        <a:spcBef>
                          <a:spcPts val="0"/>
                        </a:spcBef>
                        <a:spcAft>
                          <a:spcPts val="500"/>
                        </a:spcAft>
                      </a:pPr>
                      <a:r>
                        <a:rPr sz="1400" b="1" dirty="0">
                          <a:solidFill>
                            <a:srgbClr val="ED7D31"/>
                          </a:solidFill>
                          <a:latin typeface="Calibri"/>
                        </a:rPr>
                        <a:t>2  </a:t>
                      </a:r>
                      <a:r>
                        <a:rPr sz="1400" b="0" dirty="0">
                          <a:solidFill>
                            <a:srgbClr val="404040"/>
                          </a:solidFill>
                          <a:latin typeface="Calibri"/>
                        </a:rPr>
                        <a:t>Improbable</a:t>
                      </a:r>
                    </a:p>
                    <a:p>
                      <a:pPr algn="l">
                        <a:lnSpc>
                          <a:spcPct val="100000"/>
                        </a:lnSpc>
                        <a:spcBef>
                          <a:spcPts val="0"/>
                        </a:spcBef>
                        <a:spcAft>
                          <a:spcPts val="500"/>
                        </a:spcAft>
                      </a:pPr>
                      <a:r>
                        <a:rPr sz="1400" b="1" dirty="0">
                          <a:solidFill>
                            <a:srgbClr val="ED7D31"/>
                          </a:solidFill>
                          <a:latin typeface="Calibri"/>
                        </a:rPr>
                        <a:t>3  </a:t>
                      </a:r>
                      <a:r>
                        <a:rPr sz="1400" b="0" dirty="0">
                          <a:solidFill>
                            <a:srgbClr val="404040"/>
                          </a:solidFill>
                          <a:latin typeface="Calibri"/>
                        </a:rPr>
                        <a:t>Algo probable</a:t>
                      </a:r>
                    </a:p>
                    <a:p>
                      <a:pPr algn="l">
                        <a:lnSpc>
                          <a:spcPct val="100000"/>
                        </a:lnSpc>
                        <a:spcBef>
                          <a:spcPts val="0"/>
                        </a:spcBef>
                        <a:spcAft>
                          <a:spcPts val="500"/>
                        </a:spcAft>
                      </a:pPr>
                      <a:r>
                        <a:rPr sz="1400" b="1" dirty="0">
                          <a:solidFill>
                            <a:srgbClr val="ED7D31"/>
                          </a:solidFill>
                          <a:latin typeface="Calibri"/>
                        </a:rPr>
                        <a:t>4  </a:t>
                      </a:r>
                      <a:r>
                        <a:rPr sz="1400" b="0" dirty="0">
                          <a:solidFill>
                            <a:srgbClr val="404040"/>
                          </a:solidFill>
                          <a:latin typeface="Calibri"/>
                        </a:rPr>
                        <a:t>Muy probable</a:t>
                      </a: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4F7FB"/>
                    </a:solidFill>
                  </a:tcPr>
                </a:tc>
                <a:tc>
                  <a:txBody>
                    <a:bodyPr/>
                    <a:lstStyle/>
                    <a:p>
                      <a:pPr algn="l">
                        <a:lnSpc>
                          <a:spcPct val="100000"/>
                        </a:lnSpc>
                        <a:spcBef>
                          <a:spcPts val="0"/>
                        </a:spcBef>
                        <a:spcAft>
                          <a:spcPts val="500"/>
                        </a:spcAft>
                      </a:pPr>
                      <a:r>
                        <a:rPr sz="1400" b="1" dirty="0">
                          <a:solidFill>
                            <a:srgbClr val="ED7D31"/>
                          </a:solidFill>
                          <a:latin typeface="Calibri"/>
                        </a:rPr>
                        <a:t>1  </a:t>
                      </a:r>
                      <a:r>
                        <a:rPr sz="1400" b="0" dirty="0">
                          <a:solidFill>
                            <a:srgbClr val="404040"/>
                          </a:solidFill>
                          <a:latin typeface="Calibri"/>
                        </a:rPr>
                        <a:t>Muy probable</a:t>
                      </a:r>
                    </a:p>
                    <a:p>
                      <a:pPr algn="l">
                        <a:lnSpc>
                          <a:spcPct val="100000"/>
                        </a:lnSpc>
                        <a:spcBef>
                          <a:spcPts val="0"/>
                        </a:spcBef>
                        <a:spcAft>
                          <a:spcPts val="500"/>
                        </a:spcAft>
                      </a:pPr>
                      <a:r>
                        <a:rPr sz="1400" b="1" dirty="0">
                          <a:solidFill>
                            <a:srgbClr val="ED7D31"/>
                          </a:solidFill>
                          <a:latin typeface="Calibri"/>
                        </a:rPr>
                        <a:t>2  </a:t>
                      </a:r>
                      <a:r>
                        <a:rPr sz="1400" b="0" dirty="0">
                          <a:solidFill>
                            <a:srgbClr val="404040"/>
                          </a:solidFill>
                          <a:latin typeface="Calibri"/>
                        </a:rPr>
                        <a:t>Probable</a:t>
                      </a:r>
                    </a:p>
                    <a:p>
                      <a:pPr algn="l">
                        <a:lnSpc>
                          <a:spcPct val="100000"/>
                        </a:lnSpc>
                        <a:spcBef>
                          <a:spcPts val="0"/>
                        </a:spcBef>
                        <a:spcAft>
                          <a:spcPts val="500"/>
                        </a:spcAft>
                      </a:pPr>
                      <a:r>
                        <a:rPr sz="1400" b="1" dirty="0">
                          <a:solidFill>
                            <a:srgbClr val="ED7D31"/>
                          </a:solidFill>
                          <a:latin typeface="Calibri"/>
                        </a:rPr>
                        <a:t>3  </a:t>
                      </a:r>
                      <a:r>
                        <a:rPr sz="1400" b="0" dirty="0" err="1">
                          <a:solidFill>
                            <a:srgbClr val="404040"/>
                          </a:solidFill>
                          <a:latin typeface="Calibri"/>
                        </a:rPr>
                        <a:t>Ocasional</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4  </a:t>
                      </a:r>
                      <a:r>
                        <a:rPr sz="1400" b="0" dirty="0" err="1">
                          <a:solidFill>
                            <a:srgbClr val="404040"/>
                          </a:solidFill>
                          <a:latin typeface="Calibri"/>
                        </a:rPr>
                        <a:t>Remoto</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5  </a:t>
                      </a:r>
                      <a:r>
                        <a:rPr sz="1400" b="0" dirty="0">
                          <a:solidFill>
                            <a:srgbClr val="404040"/>
                          </a:solidFill>
                          <a:latin typeface="Calibri"/>
                        </a:rPr>
                        <a:t>Improbable</a:t>
                      </a: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FFFFF"/>
                    </a:solidFill>
                  </a:tcPr>
                </a:tc>
                <a:extLst>
                  <a:ext uri="{0D108BD9-81ED-4DB2-BD59-A6C34878D82A}">
                    <a16:rowId xmlns:a16="http://schemas.microsoft.com/office/drawing/2014/main" val="1960784472"/>
                  </a:ext>
                </a:extLst>
              </a:tr>
            </a:tbl>
          </a:graphicData>
        </a:graphic>
      </p:graphicFrame>
      <p:sp>
        <p:nvSpPr>
          <p:cNvPr id="8" name="CuadroTexto 7">
            <a:extLst>
              <a:ext uri="{FF2B5EF4-FFF2-40B4-BE49-F238E27FC236}">
                <a16:creationId xmlns:a16="http://schemas.microsoft.com/office/drawing/2014/main" id="{607C45AF-6518-4D39-B298-B7964B1E1139}"/>
              </a:ext>
            </a:extLst>
          </p:cNvPr>
          <p:cNvSpPr txBox="1"/>
          <p:nvPr/>
        </p:nvSpPr>
        <p:spPr>
          <a:xfrm>
            <a:off x="457200" y="5212080"/>
            <a:ext cx="8229600" cy="256032"/>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Cinco formas de graduar la probabilidad de ocurrencia de un riesgo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7718330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3976C714-C533-4913-8E0D-535CD1DD5EDD}"/>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Escalas para la consecuencia</a:t>
            </a:r>
          </a:p>
        </p:txBody>
      </p:sp>
      <p:sp>
        <p:nvSpPr>
          <p:cNvPr id="5" name="Rectángulo 4">
            <a:extLst>
              <a:ext uri="{FF2B5EF4-FFF2-40B4-BE49-F238E27FC236}">
                <a16:creationId xmlns:a16="http://schemas.microsoft.com/office/drawing/2014/main" id="{CCE500D5-4AA0-4B5B-846E-9F8809BA47BD}"/>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graphicFrame>
        <p:nvGraphicFramePr>
          <p:cNvPr id="7" name="Tabla 6">
            <a:extLst>
              <a:ext uri="{FF2B5EF4-FFF2-40B4-BE49-F238E27FC236}">
                <a16:creationId xmlns:a16="http://schemas.microsoft.com/office/drawing/2014/main" id="{7DBF94FA-8F99-411E-9ED7-C090A872AE88}"/>
              </a:ext>
            </a:extLst>
          </p:cNvPr>
          <p:cNvGraphicFramePr>
            <a:graphicFrameLocks noGrp="1"/>
          </p:cNvGraphicFramePr>
          <p:nvPr>
            <p:extLst>
              <p:ext uri="{D42A27DB-BD31-4B8C-83A1-F6EECF244321}">
                <p14:modId xmlns:p14="http://schemas.microsoft.com/office/powerpoint/2010/main" val="3233548584"/>
              </p:ext>
            </p:extLst>
          </p:nvPr>
        </p:nvGraphicFramePr>
        <p:xfrm>
          <a:off x="457200" y="1261872"/>
          <a:ext cx="8229600" cy="3273552"/>
        </p:xfrm>
        <a:graphic>
          <a:graphicData uri="http://schemas.openxmlformats.org/drawingml/2006/table">
            <a:tbl>
              <a:tblPr>
                <a:tableStyleId>{5C22544A-7EE6-4342-B048-85BDC9FD1C3A}</a:tableStyleId>
              </a:tblPr>
              <a:tblGrid>
                <a:gridCol w="2057400">
                  <a:extLst>
                    <a:ext uri="{9D8B030D-6E8A-4147-A177-3AD203B41FA5}">
                      <a16:colId xmlns:a16="http://schemas.microsoft.com/office/drawing/2014/main" val="2337808209"/>
                    </a:ext>
                  </a:extLst>
                </a:gridCol>
                <a:gridCol w="1878106">
                  <a:extLst>
                    <a:ext uri="{9D8B030D-6E8A-4147-A177-3AD203B41FA5}">
                      <a16:colId xmlns:a16="http://schemas.microsoft.com/office/drawing/2014/main" val="3242755026"/>
                    </a:ext>
                  </a:extLst>
                </a:gridCol>
                <a:gridCol w="2236694">
                  <a:extLst>
                    <a:ext uri="{9D8B030D-6E8A-4147-A177-3AD203B41FA5}">
                      <a16:colId xmlns:a16="http://schemas.microsoft.com/office/drawing/2014/main" val="3307601983"/>
                    </a:ext>
                  </a:extLst>
                </a:gridCol>
                <a:gridCol w="2057400">
                  <a:extLst>
                    <a:ext uri="{9D8B030D-6E8A-4147-A177-3AD203B41FA5}">
                      <a16:colId xmlns:a16="http://schemas.microsoft.com/office/drawing/2014/main" val="680097225"/>
                    </a:ext>
                  </a:extLst>
                </a:gridCol>
              </a:tblGrid>
              <a:tr h="566928">
                <a:tc>
                  <a:txBody>
                    <a:bodyPr/>
                    <a:lstStyle/>
                    <a:p>
                      <a:pPr algn="ctr">
                        <a:spcBef>
                          <a:spcPts val="0"/>
                        </a:spcBef>
                        <a:spcAft>
                          <a:spcPts val="0"/>
                        </a:spcAft>
                      </a:pPr>
                      <a:r>
                        <a:rPr sz="1500" b="1">
                          <a:solidFill>
                            <a:srgbClr val="FFFFFF"/>
                          </a:solidFill>
                          <a:latin typeface="Calibri"/>
                        </a:rPr>
                        <a:t>Ejemplo 1</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tc>
                  <a:txBody>
                    <a:bodyPr/>
                    <a:lstStyle/>
                    <a:p>
                      <a:pPr algn="ctr">
                        <a:spcBef>
                          <a:spcPts val="0"/>
                        </a:spcBef>
                        <a:spcAft>
                          <a:spcPts val="0"/>
                        </a:spcAft>
                      </a:pPr>
                      <a:r>
                        <a:rPr sz="1500" b="1">
                          <a:solidFill>
                            <a:srgbClr val="FFFFFF"/>
                          </a:solidFill>
                          <a:latin typeface="Calibri"/>
                        </a:rPr>
                        <a:t>Ejemplo 2</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tc>
                  <a:txBody>
                    <a:bodyPr/>
                    <a:lstStyle/>
                    <a:p>
                      <a:pPr algn="ctr">
                        <a:spcBef>
                          <a:spcPts val="0"/>
                        </a:spcBef>
                        <a:spcAft>
                          <a:spcPts val="0"/>
                        </a:spcAft>
                      </a:pPr>
                      <a:r>
                        <a:rPr sz="1500" b="1">
                          <a:solidFill>
                            <a:srgbClr val="FFFFFF"/>
                          </a:solidFill>
                          <a:latin typeface="Calibri"/>
                        </a:rPr>
                        <a:t>Ejemplo 3</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tc>
                  <a:txBody>
                    <a:bodyPr/>
                    <a:lstStyle/>
                    <a:p>
                      <a:pPr algn="ctr">
                        <a:spcBef>
                          <a:spcPts val="0"/>
                        </a:spcBef>
                        <a:spcAft>
                          <a:spcPts val="0"/>
                        </a:spcAft>
                      </a:pPr>
                      <a:r>
                        <a:rPr sz="1500" b="1">
                          <a:solidFill>
                            <a:srgbClr val="FFFFFF"/>
                          </a:solidFill>
                          <a:latin typeface="Calibri"/>
                        </a:rPr>
                        <a:t>Ejemplo 4</a:t>
                      </a:r>
                    </a:p>
                  </a:txBody>
                  <a:tcPr marL="73152" marR="73152" marT="36576" marB="36576" anchor="ctr">
                    <a:lnL w="12700" cap="flat" cmpd="sng" algn="ctr">
                      <a:solidFill>
                        <a:srgbClr val="D9E2F3"/>
                      </a:solidFill>
                      <a:prstDash val="solid"/>
                    </a:lnL>
                    <a:lnR w="12700" cap="flat" cmpd="sng" algn="ctr">
                      <a:solidFill>
                        <a:srgbClr val="D9E2F3"/>
                      </a:solidFill>
                      <a:prstDash val="solid"/>
                    </a:lnR>
                    <a:lnT w="12700" cap="flat" cmpd="sng" algn="ctr">
                      <a:solidFill>
                        <a:srgbClr val="D9E2F3"/>
                      </a:solidFill>
                      <a:prstDash val="solid"/>
                    </a:lnT>
                    <a:lnB w="12700" cap="flat" cmpd="sng" algn="ctr">
                      <a:solidFill>
                        <a:srgbClr val="ED7D31"/>
                      </a:solidFill>
                      <a:prstDash val="solid"/>
                    </a:lnB>
                    <a:solidFill>
                      <a:srgbClr val="1F3864"/>
                    </a:solidFill>
                  </a:tcPr>
                </a:tc>
                <a:extLst>
                  <a:ext uri="{0D108BD9-81ED-4DB2-BD59-A6C34878D82A}">
                    <a16:rowId xmlns:a16="http://schemas.microsoft.com/office/drawing/2014/main" val="4198294279"/>
                  </a:ext>
                </a:extLst>
              </a:tr>
              <a:tr h="2706624">
                <a:tc>
                  <a:txBody>
                    <a:bodyPr/>
                    <a:lstStyle/>
                    <a:p>
                      <a:pPr algn="l">
                        <a:lnSpc>
                          <a:spcPct val="100000"/>
                        </a:lnSpc>
                        <a:spcBef>
                          <a:spcPts val="0"/>
                        </a:spcBef>
                        <a:spcAft>
                          <a:spcPts val="500"/>
                        </a:spcAft>
                      </a:pPr>
                      <a:r>
                        <a:rPr sz="1400" b="1" dirty="0">
                          <a:solidFill>
                            <a:srgbClr val="ED7D31"/>
                          </a:solidFill>
                          <a:latin typeface="Calibri"/>
                        </a:rPr>
                        <a:t>1  </a:t>
                      </a:r>
                      <a:r>
                        <a:rPr sz="1400" b="0" dirty="0">
                          <a:solidFill>
                            <a:srgbClr val="404040"/>
                          </a:solidFill>
                          <a:latin typeface="Calibri"/>
                        </a:rPr>
                        <a:t>Bajo</a:t>
                      </a:r>
                      <a:endParaRPr lang="es-CO" sz="1400" b="0" dirty="0">
                        <a:solidFill>
                          <a:srgbClr val="404040"/>
                        </a:solidFill>
                        <a:latin typeface="Calibri"/>
                      </a:endParaRPr>
                    </a:p>
                    <a:p>
                      <a:pPr algn="l">
                        <a:lnSpc>
                          <a:spcPct val="100000"/>
                        </a:lnSpc>
                        <a:spcBef>
                          <a:spcPts val="0"/>
                        </a:spcBef>
                        <a:spcAft>
                          <a:spcPts val="500"/>
                        </a:spcAft>
                      </a:pPr>
                      <a:r>
                        <a:rPr lang="es-CO" sz="1400" b="1" dirty="0">
                          <a:solidFill>
                            <a:srgbClr val="ED7D31"/>
                          </a:solidFill>
                          <a:latin typeface="Calibri"/>
                        </a:rPr>
                        <a:t>2  </a:t>
                      </a:r>
                      <a:r>
                        <a:rPr lang="es-CO" sz="1400" b="0" dirty="0">
                          <a:solidFill>
                            <a:srgbClr val="404040"/>
                          </a:solidFill>
                          <a:latin typeface="Calibri"/>
                        </a:rPr>
                        <a:t>Medio</a:t>
                      </a:r>
                    </a:p>
                    <a:p>
                      <a:pPr algn="l">
                        <a:lnSpc>
                          <a:spcPct val="100000"/>
                        </a:lnSpc>
                        <a:spcBef>
                          <a:spcPts val="0"/>
                        </a:spcBef>
                        <a:spcAft>
                          <a:spcPts val="500"/>
                        </a:spcAft>
                      </a:pPr>
                      <a:r>
                        <a:rPr sz="1400" b="1" dirty="0">
                          <a:solidFill>
                            <a:srgbClr val="ED7D31"/>
                          </a:solidFill>
                          <a:latin typeface="Calibri"/>
                        </a:rPr>
                        <a:t>3  </a:t>
                      </a:r>
                      <a:r>
                        <a:rPr sz="1400" b="0" dirty="0">
                          <a:solidFill>
                            <a:srgbClr val="404040"/>
                          </a:solidFill>
                          <a:latin typeface="Calibri"/>
                        </a:rPr>
                        <a:t>Alto</a:t>
                      </a: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FFFFF"/>
                    </a:solidFill>
                  </a:tcPr>
                </a:tc>
                <a:tc>
                  <a:txBody>
                    <a:bodyPr/>
                    <a:lstStyle/>
                    <a:p>
                      <a:pPr algn="l">
                        <a:lnSpc>
                          <a:spcPct val="100000"/>
                        </a:lnSpc>
                        <a:spcBef>
                          <a:spcPts val="0"/>
                        </a:spcBef>
                        <a:spcAft>
                          <a:spcPts val="500"/>
                        </a:spcAft>
                      </a:pPr>
                      <a:r>
                        <a:rPr sz="1400" b="1" dirty="0">
                          <a:solidFill>
                            <a:srgbClr val="ED7D31"/>
                          </a:solidFill>
                          <a:latin typeface="Calibri"/>
                        </a:rPr>
                        <a:t>1  </a:t>
                      </a:r>
                      <a:r>
                        <a:rPr sz="1400" b="0" dirty="0">
                          <a:solidFill>
                            <a:srgbClr val="404040"/>
                          </a:solidFill>
                          <a:latin typeface="Calibri"/>
                        </a:rPr>
                        <a:t>Muy bajo</a:t>
                      </a:r>
                    </a:p>
                    <a:p>
                      <a:pPr algn="l">
                        <a:lnSpc>
                          <a:spcPct val="100000"/>
                        </a:lnSpc>
                        <a:spcBef>
                          <a:spcPts val="0"/>
                        </a:spcBef>
                        <a:spcAft>
                          <a:spcPts val="500"/>
                        </a:spcAft>
                      </a:pPr>
                      <a:r>
                        <a:rPr sz="1400" b="1" dirty="0">
                          <a:solidFill>
                            <a:srgbClr val="ED7D31"/>
                          </a:solidFill>
                          <a:latin typeface="Calibri"/>
                        </a:rPr>
                        <a:t>2  </a:t>
                      </a:r>
                      <a:r>
                        <a:rPr sz="1400" b="0" dirty="0">
                          <a:solidFill>
                            <a:srgbClr val="404040"/>
                          </a:solidFill>
                          <a:latin typeface="Calibri"/>
                        </a:rPr>
                        <a:t>Bajo</a:t>
                      </a:r>
                    </a:p>
                    <a:p>
                      <a:pPr algn="l">
                        <a:lnSpc>
                          <a:spcPct val="100000"/>
                        </a:lnSpc>
                        <a:spcBef>
                          <a:spcPts val="0"/>
                        </a:spcBef>
                        <a:spcAft>
                          <a:spcPts val="500"/>
                        </a:spcAft>
                      </a:pPr>
                      <a:r>
                        <a:rPr sz="1400" b="1" dirty="0">
                          <a:solidFill>
                            <a:srgbClr val="ED7D31"/>
                          </a:solidFill>
                          <a:latin typeface="Calibri"/>
                        </a:rPr>
                        <a:t>3  </a:t>
                      </a:r>
                      <a:r>
                        <a:rPr sz="1400" b="0" dirty="0">
                          <a:solidFill>
                            <a:srgbClr val="404040"/>
                          </a:solidFill>
                          <a:latin typeface="Calibri"/>
                        </a:rPr>
                        <a:t>Medio</a:t>
                      </a:r>
                    </a:p>
                    <a:p>
                      <a:pPr algn="l">
                        <a:lnSpc>
                          <a:spcPct val="100000"/>
                        </a:lnSpc>
                        <a:spcBef>
                          <a:spcPts val="0"/>
                        </a:spcBef>
                        <a:spcAft>
                          <a:spcPts val="500"/>
                        </a:spcAft>
                      </a:pPr>
                      <a:r>
                        <a:rPr sz="1400" b="1" dirty="0">
                          <a:solidFill>
                            <a:srgbClr val="ED7D31"/>
                          </a:solidFill>
                          <a:latin typeface="Calibri"/>
                        </a:rPr>
                        <a:t>4  </a:t>
                      </a:r>
                      <a:r>
                        <a:rPr sz="1400" b="0" dirty="0">
                          <a:solidFill>
                            <a:srgbClr val="404040"/>
                          </a:solidFill>
                          <a:latin typeface="Calibri"/>
                        </a:rPr>
                        <a:t>Alto</a:t>
                      </a:r>
                    </a:p>
                    <a:p>
                      <a:pPr algn="l">
                        <a:lnSpc>
                          <a:spcPct val="100000"/>
                        </a:lnSpc>
                        <a:spcBef>
                          <a:spcPts val="0"/>
                        </a:spcBef>
                        <a:spcAft>
                          <a:spcPts val="500"/>
                        </a:spcAft>
                      </a:pPr>
                      <a:r>
                        <a:rPr sz="1400" b="1" dirty="0">
                          <a:solidFill>
                            <a:srgbClr val="ED7D31"/>
                          </a:solidFill>
                          <a:latin typeface="Calibri"/>
                        </a:rPr>
                        <a:t>5  </a:t>
                      </a:r>
                      <a:r>
                        <a:rPr sz="1400" b="0" dirty="0">
                          <a:solidFill>
                            <a:srgbClr val="404040"/>
                          </a:solidFill>
                          <a:latin typeface="Calibri"/>
                        </a:rPr>
                        <a:t>Muy alto</a:t>
                      </a: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4F7FB"/>
                    </a:solidFill>
                  </a:tcPr>
                </a:tc>
                <a:tc>
                  <a:txBody>
                    <a:bodyPr/>
                    <a:lstStyle/>
                    <a:p>
                      <a:pPr algn="l">
                        <a:lnSpc>
                          <a:spcPct val="100000"/>
                        </a:lnSpc>
                        <a:spcBef>
                          <a:spcPts val="0"/>
                        </a:spcBef>
                        <a:spcAft>
                          <a:spcPts val="500"/>
                        </a:spcAft>
                      </a:pPr>
                      <a:r>
                        <a:rPr sz="1400" b="1" dirty="0">
                          <a:solidFill>
                            <a:srgbClr val="ED7D31"/>
                          </a:solidFill>
                          <a:latin typeface="Calibri"/>
                        </a:rPr>
                        <a:t>1  </a:t>
                      </a:r>
                      <a:r>
                        <a:rPr sz="1400" b="0" dirty="0">
                          <a:solidFill>
                            <a:srgbClr val="404040"/>
                          </a:solidFill>
                          <a:latin typeface="Calibri"/>
                        </a:rPr>
                        <a:t>No </a:t>
                      </a:r>
                      <a:r>
                        <a:rPr sz="1400" b="0" dirty="0" err="1">
                          <a:solidFill>
                            <a:srgbClr val="404040"/>
                          </a:solidFill>
                          <a:latin typeface="Calibri"/>
                        </a:rPr>
                        <a:t>severas</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2  </a:t>
                      </a:r>
                      <a:r>
                        <a:rPr sz="1400" b="0" dirty="0">
                          <a:solidFill>
                            <a:srgbClr val="404040"/>
                          </a:solidFill>
                          <a:latin typeface="Calibri"/>
                        </a:rPr>
                        <a:t>Poco </a:t>
                      </a:r>
                      <a:r>
                        <a:rPr sz="1400" b="0" dirty="0" err="1">
                          <a:solidFill>
                            <a:srgbClr val="404040"/>
                          </a:solidFill>
                          <a:latin typeface="Calibri"/>
                        </a:rPr>
                        <a:t>severas</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3  </a:t>
                      </a:r>
                      <a:r>
                        <a:rPr sz="1400" b="0" dirty="0" err="1">
                          <a:solidFill>
                            <a:srgbClr val="404040"/>
                          </a:solidFill>
                          <a:latin typeface="Calibri"/>
                        </a:rPr>
                        <a:t>Medianamente</a:t>
                      </a:r>
                      <a:r>
                        <a:rPr sz="1400" b="0" dirty="0">
                          <a:solidFill>
                            <a:srgbClr val="404040"/>
                          </a:solidFill>
                          <a:latin typeface="Calibri"/>
                        </a:rPr>
                        <a:t> </a:t>
                      </a:r>
                      <a:r>
                        <a:rPr sz="1400" b="0" dirty="0" err="1">
                          <a:solidFill>
                            <a:srgbClr val="404040"/>
                          </a:solidFill>
                          <a:latin typeface="Calibri"/>
                        </a:rPr>
                        <a:t>severas</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4  </a:t>
                      </a:r>
                      <a:r>
                        <a:rPr sz="1400" b="0" dirty="0">
                          <a:solidFill>
                            <a:srgbClr val="404040"/>
                          </a:solidFill>
                          <a:latin typeface="Calibri"/>
                        </a:rPr>
                        <a:t>Severas</a:t>
                      </a:r>
                    </a:p>
                    <a:p>
                      <a:pPr algn="l">
                        <a:lnSpc>
                          <a:spcPct val="100000"/>
                        </a:lnSpc>
                        <a:spcBef>
                          <a:spcPts val="0"/>
                        </a:spcBef>
                        <a:spcAft>
                          <a:spcPts val="500"/>
                        </a:spcAft>
                      </a:pPr>
                      <a:r>
                        <a:rPr sz="1400" b="1" dirty="0">
                          <a:solidFill>
                            <a:srgbClr val="ED7D31"/>
                          </a:solidFill>
                          <a:latin typeface="Calibri"/>
                        </a:rPr>
                        <a:t>5  </a:t>
                      </a:r>
                      <a:r>
                        <a:rPr sz="1400" b="0" dirty="0">
                          <a:solidFill>
                            <a:srgbClr val="404040"/>
                          </a:solidFill>
                          <a:latin typeface="Calibri"/>
                        </a:rPr>
                        <a:t>Muy </a:t>
                      </a:r>
                      <a:r>
                        <a:rPr sz="1400" b="0" dirty="0" err="1">
                          <a:solidFill>
                            <a:srgbClr val="404040"/>
                          </a:solidFill>
                          <a:latin typeface="Calibri"/>
                        </a:rPr>
                        <a:t>severas</a:t>
                      </a:r>
                      <a:endParaRPr sz="1400" b="0" dirty="0">
                        <a:solidFill>
                          <a:srgbClr val="404040"/>
                        </a:solidFill>
                        <a:latin typeface="Calibri"/>
                      </a:endParaRP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FFFFF"/>
                    </a:solidFill>
                  </a:tcPr>
                </a:tc>
                <a:tc>
                  <a:txBody>
                    <a:bodyPr/>
                    <a:lstStyle/>
                    <a:p>
                      <a:pPr algn="l">
                        <a:lnSpc>
                          <a:spcPct val="100000"/>
                        </a:lnSpc>
                        <a:spcBef>
                          <a:spcPts val="0"/>
                        </a:spcBef>
                        <a:spcAft>
                          <a:spcPts val="500"/>
                        </a:spcAft>
                      </a:pPr>
                      <a:r>
                        <a:rPr sz="1400" b="1" dirty="0">
                          <a:solidFill>
                            <a:srgbClr val="ED7D31"/>
                          </a:solidFill>
                          <a:latin typeface="Calibri"/>
                        </a:rPr>
                        <a:t>1  </a:t>
                      </a:r>
                      <a:r>
                        <a:rPr sz="1400" b="0" dirty="0" err="1">
                          <a:solidFill>
                            <a:srgbClr val="404040"/>
                          </a:solidFill>
                          <a:latin typeface="Calibri"/>
                        </a:rPr>
                        <a:t>Insignificante</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2  </a:t>
                      </a:r>
                      <a:r>
                        <a:rPr sz="1400" b="0" dirty="0" err="1">
                          <a:solidFill>
                            <a:srgbClr val="404040"/>
                          </a:solidFill>
                          <a:latin typeface="Calibri"/>
                        </a:rPr>
                        <a:t>Pequeña</a:t>
                      </a:r>
                      <a:endParaRPr sz="1400" b="0" dirty="0">
                        <a:solidFill>
                          <a:srgbClr val="404040"/>
                        </a:solidFill>
                        <a:latin typeface="Calibri"/>
                      </a:endParaRPr>
                    </a:p>
                    <a:p>
                      <a:pPr algn="l">
                        <a:lnSpc>
                          <a:spcPct val="100000"/>
                        </a:lnSpc>
                        <a:spcBef>
                          <a:spcPts val="0"/>
                        </a:spcBef>
                        <a:spcAft>
                          <a:spcPts val="500"/>
                        </a:spcAft>
                      </a:pPr>
                      <a:r>
                        <a:rPr sz="1400" b="1" dirty="0">
                          <a:solidFill>
                            <a:srgbClr val="ED7D31"/>
                          </a:solidFill>
                          <a:latin typeface="Calibri"/>
                        </a:rPr>
                        <a:t>3  </a:t>
                      </a:r>
                      <a:r>
                        <a:rPr sz="1400" b="0" dirty="0">
                          <a:solidFill>
                            <a:srgbClr val="404040"/>
                          </a:solidFill>
                          <a:latin typeface="Calibri"/>
                        </a:rPr>
                        <a:t>Grande</a:t>
                      </a:r>
                    </a:p>
                    <a:p>
                      <a:pPr algn="l">
                        <a:lnSpc>
                          <a:spcPct val="100000"/>
                        </a:lnSpc>
                        <a:spcBef>
                          <a:spcPts val="0"/>
                        </a:spcBef>
                        <a:spcAft>
                          <a:spcPts val="500"/>
                        </a:spcAft>
                      </a:pPr>
                      <a:r>
                        <a:rPr sz="1400" b="1" dirty="0">
                          <a:solidFill>
                            <a:srgbClr val="ED7D31"/>
                          </a:solidFill>
                          <a:latin typeface="Calibri"/>
                        </a:rPr>
                        <a:t>4  </a:t>
                      </a:r>
                      <a:r>
                        <a:rPr sz="1400" b="0" dirty="0" err="1">
                          <a:solidFill>
                            <a:srgbClr val="404040"/>
                          </a:solidFill>
                          <a:latin typeface="Calibri"/>
                        </a:rPr>
                        <a:t>Catastrófica</a:t>
                      </a:r>
                      <a:endParaRPr sz="1400" b="0" dirty="0">
                        <a:solidFill>
                          <a:srgbClr val="404040"/>
                        </a:solidFill>
                        <a:latin typeface="Calibri"/>
                      </a:endParaRPr>
                    </a:p>
                  </a:txBody>
                  <a:tcPr marL="109728" marR="109728" marT="128016" marB="73152">
                    <a:lnL w="12700" cap="flat" cmpd="sng" algn="ctr">
                      <a:solidFill>
                        <a:srgbClr val="D9E2F3"/>
                      </a:solidFill>
                      <a:prstDash val="solid"/>
                    </a:lnL>
                    <a:lnR w="12700" cap="flat" cmpd="sng" algn="ctr">
                      <a:solidFill>
                        <a:srgbClr val="D9E2F3"/>
                      </a:solidFill>
                      <a:prstDash val="solid"/>
                    </a:lnR>
                    <a:lnT w="12700" cap="flat" cmpd="sng" algn="ctr">
                      <a:solidFill>
                        <a:srgbClr val="ED7D31"/>
                      </a:solidFill>
                      <a:prstDash val="solid"/>
                      <a:round/>
                      <a:headEnd type="none" w="med" len="med"/>
                      <a:tailEnd type="none" w="med" len="med"/>
                    </a:lnT>
                    <a:lnB w="12700" cap="flat" cmpd="sng" algn="ctr">
                      <a:solidFill>
                        <a:srgbClr val="D9E2F3"/>
                      </a:solidFill>
                      <a:prstDash val="solid"/>
                    </a:lnB>
                    <a:solidFill>
                      <a:srgbClr val="F4F7FB"/>
                    </a:solidFill>
                  </a:tcPr>
                </a:tc>
                <a:extLst>
                  <a:ext uri="{0D108BD9-81ED-4DB2-BD59-A6C34878D82A}">
                    <a16:rowId xmlns:a16="http://schemas.microsoft.com/office/drawing/2014/main" val="3720668215"/>
                  </a:ext>
                </a:extLst>
              </a:tr>
            </a:tbl>
          </a:graphicData>
        </a:graphic>
      </p:graphicFrame>
      <p:sp>
        <p:nvSpPr>
          <p:cNvPr id="8" name="CuadroTexto 7">
            <a:extLst>
              <a:ext uri="{FF2B5EF4-FFF2-40B4-BE49-F238E27FC236}">
                <a16:creationId xmlns:a16="http://schemas.microsoft.com/office/drawing/2014/main" id="{BBD107C4-ED6E-41B3-8EDE-B518874B7A24}"/>
              </a:ext>
            </a:extLst>
          </p:cNvPr>
          <p:cNvSpPr txBox="1"/>
          <p:nvPr/>
        </p:nvSpPr>
        <p:spPr>
          <a:xfrm>
            <a:off x="457200" y="4663440"/>
            <a:ext cx="8229600" cy="256032"/>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Cuatro formas de graduar la consecuencia o impacto de un riesgo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9027224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A824FCA9-2EE0-4B08-8CD8-3B47772A8460}"/>
              </a:ext>
            </a:extLst>
          </p:cNvPr>
          <p:cNvSpPr txBox="1"/>
          <p:nvPr/>
        </p:nvSpPr>
        <p:spPr>
          <a:xfrm>
            <a:off x="457200" y="304800"/>
            <a:ext cx="8229600" cy="533400"/>
          </a:xfrm>
          <a:prstGeom prst="rect">
            <a:avLst/>
          </a:prstGeom>
          <a:noFill/>
        </p:spPr>
        <p:txBody>
          <a:bodyPr vertOverflow="overflow" vert="horz" wrap="square" rtlCol="0" anchor="t">
            <a:noAutofit/>
          </a:bodyPr>
          <a:lstStyle/>
          <a:p>
            <a:pPr algn="l"/>
            <a:r>
              <a:rPr lang="es-ES" sz="3000" b="1">
                <a:solidFill>
                  <a:srgbClr val="1F3864"/>
                </a:solidFill>
                <a:latin typeface="Calibri"/>
                <a:ea typeface="Calibri"/>
                <a:cs typeface="Calibri"/>
              </a:rPr>
              <a:t>Construcción de mapas de riesgo</a:t>
            </a:r>
            <a:endParaRPr lang="es-CO" sz="3000" b="1">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8A2D53D9-6AE5-4695-B0F3-B1EF0440BC1A}"/>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graphicFrame>
        <p:nvGraphicFramePr>
          <p:cNvPr id="7" name="Tabla 6">
            <a:extLst>
              <a:ext uri="{FF2B5EF4-FFF2-40B4-BE49-F238E27FC236}">
                <a16:creationId xmlns:a16="http://schemas.microsoft.com/office/drawing/2014/main" id="{AD30EBD6-0668-482E-8BD0-4AD09CFE53A0}"/>
              </a:ext>
            </a:extLst>
          </p:cNvPr>
          <p:cNvGraphicFramePr>
            <a:graphicFrameLocks noGrp="1"/>
          </p:cNvGraphicFramePr>
          <p:nvPr>
            <p:extLst>
              <p:ext uri="{D42A27DB-BD31-4B8C-83A1-F6EECF244321}">
                <p14:modId xmlns:p14="http://schemas.microsoft.com/office/powerpoint/2010/main" val="1570667467"/>
              </p:ext>
            </p:extLst>
          </p:nvPr>
        </p:nvGraphicFramePr>
        <p:xfrm>
          <a:off x="457200" y="1270000"/>
          <a:ext cx="8229600" cy="335280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2294082332"/>
                    </a:ext>
                  </a:extLst>
                </a:gridCol>
                <a:gridCol w="1320800">
                  <a:extLst>
                    <a:ext uri="{9D8B030D-6E8A-4147-A177-3AD203B41FA5}">
                      <a16:colId xmlns:a16="http://schemas.microsoft.com/office/drawing/2014/main" val="726677965"/>
                    </a:ext>
                  </a:extLst>
                </a:gridCol>
                <a:gridCol w="1320800">
                  <a:extLst>
                    <a:ext uri="{9D8B030D-6E8A-4147-A177-3AD203B41FA5}">
                      <a16:colId xmlns:a16="http://schemas.microsoft.com/office/drawing/2014/main" val="1117788611"/>
                    </a:ext>
                  </a:extLst>
                </a:gridCol>
                <a:gridCol w="1320800">
                  <a:extLst>
                    <a:ext uri="{9D8B030D-6E8A-4147-A177-3AD203B41FA5}">
                      <a16:colId xmlns:a16="http://schemas.microsoft.com/office/drawing/2014/main" val="3227453459"/>
                    </a:ext>
                  </a:extLst>
                </a:gridCol>
                <a:gridCol w="1320800">
                  <a:extLst>
                    <a:ext uri="{9D8B030D-6E8A-4147-A177-3AD203B41FA5}">
                      <a16:colId xmlns:a16="http://schemas.microsoft.com/office/drawing/2014/main" val="1626447529"/>
                    </a:ext>
                  </a:extLst>
                </a:gridCol>
                <a:gridCol w="1320800">
                  <a:extLst>
                    <a:ext uri="{9D8B030D-6E8A-4147-A177-3AD203B41FA5}">
                      <a16:colId xmlns:a16="http://schemas.microsoft.com/office/drawing/2014/main" val="4050355034"/>
                    </a:ext>
                  </a:extLst>
                </a:gridCol>
              </a:tblGrid>
              <a:tr h="431800">
                <a:tc>
                  <a:txBody>
                    <a:bodyPr/>
                    <a:lstStyle/>
                    <a:p>
                      <a:pPr algn="ctr"/>
                      <a:endParaRPr lang="es-CO" sz="1200" b="1">
                        <a:solidFill>
                          <a:srgbClr val="FFFFFF"/>
                        </a:solidFill>
                        <a:latin typeface="Calibri"/>
                        <a:ea typeface="Calibri"/>
                        <a:cs typeface="Calibri"/>
                      </a:endParaRPr>
                    </a:p>
                  </a:txBody>
                  <a:tcPr anchor="ctr">
                    <a:solidFill>
                      <a:srgbClr val="FFFFFF"/>
                    </a:solidFill>
                  </a:tcPr>
                </a:tc>
                <a:tc>
                  <a:txBody>
                    <a:bodyPr/>
                    <a:lstStyle/>
                    <a:p>
                      <a:pPr algn="ctr"/>
                      <a:r>
                        <a:rPr lang="es-CO" sz="1200" b="1">
                          <a:solidFill>
                            <a:srgbClr val="FFFFFF"/>
                          </a:solidFill>
                          <a:latin typeface="Calibri"/>
                          <a:ea typeface="Calibri"/>
                          <a:cs typeface="Calibri"/>
                        </a:rPr>
                        <a:t>Insignificante</a:t>
                      </a:r>
                    </a:p>
                  </a:txBody>
                  <a:tcPr anchor="ctr">
                    <a:solidFill>
                      <a:srgbClr val="1F3864"/>
                    </a:solidFill>
                  </a:tcPr>
                </a:tc>
                <a:tc>
                  <a:txBody>
                    <a:bodyPr/>
                    <a:lstStyle/>
                    <a:p>
                      <a:pPr algn="ctr"/>
                      <a:r>
                        <a:rPr lang="es-CO" sz="1200" b="1">
                          <a:solidFill>
                            <a:srgbClr val="FFFFFF"/>
                          </a:solidFill>
                          <a:latin typeface="Calibri"/>
                          <a:ea typeface="Calibri"/>
                          <a:cs typeface="Calibri"/>
                        </a:rPr>
                        <a:t>Menor</a:t>
                      </a:r>
                    </a:p>
                  </a:txBody>
                  <a:tcPr anchor="ctr">
                    <a:solidFill>
                      <a:srgbClr val="1F3864"/>
                    </a:solidFill>
                  </a:tcPr>
                </a:tc>
                <a:tc>
                  <a:txBody>
                    <a:bodyPr/>
                    <a:lstStyle/>
                    <a:p>
                      <a:pPr algn="ctr"/>
                      <a:r>
                        <a:rPr lang="es-CO" sz="1200" b="1">
                          <a:solidFill>
                            <a:srgbClr val="FFFFFF"/>
                          </a:solidFill>
                          <a:latin typeface="Calibri"/>
                          <a:ea typeface="Calibri"/>
                          <a:cs typeface="Calibri"/>
                        </a:rPr>
                        <a:t>Moderado</a:t>
                      </a:r>
                    </a:p>
                  </a:txBody>
                  <a:tcPr anchor="ctr">
                    <a:solidFill>
                      <a:srgbClr val="1F3864"/>
                    </a:solidFill>
                  </a:tcPr>
                </a:tc>
                <a:tc>
                  <a:txBody>
                    <a:bodyPr/>
                    <a:lstStyle/>
                    <a:p>
                      <a:pPr algn="ctr"/>
                      <a:r>
                        <a:rPr lang="es-CO" sz="1200" b="1">
                          <a:solidFill>
                            <a:srgbClr val="FFFFFF"/>
                          </a:solidFill>
                          <a:latin typeface="Calibri"/>
                          <a:ea typeface="Calibri"/>
                          <a:cs typeface="Calibri"/>
                        </a:rPr>
                        <a:t>Mayor</a:t>
                      </a:r>
                    </a:p>
                  </a:txBody>
                  <a:tcPr anchor="ctr">
                    <a:solidFill>
                      <a:srgbClr val="1F3864"/>
                    </a:solidFill>
                  </a:tcPr>
                </a:tc>
                <a:tc>
                  <a:txBody>
                    <a:bodyPr/>
                    <a:lstStyle/>
                    <a:p>
                      <a:pPr algn="ctr"/>
                      <a:r>
                        <a:rPr lang="es-CO" sz="1200" b="1">
                          <a:solidFill>
                            <a:srgbClr val="FFFFFF"/>
                          </a:solidFill>
                          <a:latin typeface="Calibri"/>
                          <a:ea typeface="Calibri"/>
                          <a:cs typeface="Calibri"/>
                        </a:rPr>
                        <a:t>Catastrófico</a:t>
                      </a:r>
                    </a:p>
                  </a:txBody>
                  <a:tcPr anchor="ctr">
                    <a:solidFill>
                      <a:srgbClr val="1F3864"/>
                    </a:solidFill>
                  </a:tcPr>
                </a:tc>
                <a:extLst>
                  <a:ext uri="{0D108BD9-81ED-4DB2-BD59-A6C34878D82A}">
                    <a16:rowId xmlns:a16="http://schemas.microsoft.com/office/drawing/2014/main" val="1027982268"/>
                  </a:ext>
                </a:extLst>
              </a:tr>
              <a:tr h="584200">
                <a:tc>
                  <a:txBody>
                    <a:bodyPr/>
                    <a:lstStyle/>
                    <a:p>
                      <a:pPr algn="l"/>
                      <a:r>
                        <a:rPr lang="es-CO" sz="1300" b="1">
                          <a:solidFill>
                            <a:srgbClr val="1F3864"/>
                          </a:solidFill>
                          <a:latin typeface="Calibri"/>
                          <a:ea typeface="Calibri"/>
                          <a:cs typeface="Calibri"/>
                        </a:rPr>
                        <a:t>Casi cierto</a:t>
                      </a:r>
                    </a:p>
                  </a:txBody>
                  <a:tcPr anchor="ctr">
                    <a:solidFill>
                      <a:srgbClr val="F2F5F9"/>
                    </a:solidFill>
                  </a:tcPr>
                </a:tc>
                <a:tc>
                  <a:txBody>
                    <a:bodyPr/>
                    <a:lstStyle/>
                    <a:p>
                      <a:endParaRPr lang="es-CO"/>
                    </a:p>
                  </a:txBody>
                  <a:tcPr>
                    <a:solidFill>
                      <a:srgbClr val="FFD200"/>
                    </a:solidFill>
                  </a:tcPr>
                </a:tc>
                <a:tc>
                  <a:txBody>
                    <a:bodyPr/>
                    <a:lstStyle/>
                    <a:p>
                      <a:endParaRPr lang="es-CO"/>
                    </a:p>
                  </a:txBody>
                  <a:tcPr>
                    <a:solidFill>
                      <a:srgbClr val="F4901E"/>
                    </a:solidFill>
                  </a:tcPr>
                </a:tc>
                <a:tc>
                  <a:txBody>
                    <a:bodyPr/>
                    <a:lstStyle/>
                    <a:p>
                      <a:endParaRPr lang="es-CO"/>
                    </a:p>
                  </a:txBody>
                  <a:tcPr>
                    <a:solidFill>
                      <a:srgbClr val="D62828"/>
                    </a:solidFill>
                  </a:tcPr>
                </a:tc>
                <a:tc>
                  <a:txBody>
                    <a:bodyPr/>
                    <a:lstStyle/>
                    <a:p>
                      <a:endParaRPr lang="es-CO"/>
                    </a:p>
                  </a:txBody>
                  <a:tcPr>
                    <a:solidFill>
                      <a:srgbClr val="D62828"/>
                    </a:solidFill>
                  </a:tcPr>
                </a:tc>
                <a:tc>
                  <a:txBody>
                    <a:bodyPr/>
                    <a:lstStyle/>
                    <a:p>
                      <a:endParaRPr lang="es-CO"/>
                    </a:p>
                  </a:txBody>
                  <a:tcPr>
                    <a:solidFill>
                      <a:srgbClr val="D62828"/>
                    </a:solidFill>
                  </a:tcPr>
                </a:tc>
                <a:extLst>
                  <a:ext uri="{0D108BD9-81ED-4DB2-BD59-A6C34878D82A}">
                    <a16:rowId xmlns:a16="http://schemas.microsoft.com/office/drawing/2014/main" val="800386404"/>
                  </a:ext>
                </a:extLst>
              </a:tr>
              <a:tr h="584200">
                <a:tc>
                  <a:txBody>
                    <a:bodyPr/>
                    <a:lstStyle/>
                    <a:p>
                      <a:pPr algn="l"/>
                      <a:r>
                        <a:rPr lang="es-CO" sz="1300" b="1">
                          <a:solidFill>
                            <a:srgbClr val="1F3864"/>
                          </a:solidFill>
                          <a:latin typeface="Calibri"/>
                          <a:ea typeface="Calibri"/>
                          <a:cs typeface="Calibri"/>
                        </a:rPr>
                        <a:t>Probable</a:t>
                      </a:r>
                    </a:p>
                  </a:txBody>
                  <a:tcPr anchor="ctr">
                    <a:solidFill>
                      <a:srgbClr val="F2F5F9"/>
                    </a:solidFill>
                  </a:tcPr>
                </a:tc>
                <a:tc>
                  <a:txBody>
                    <a:bodyPr/>
                    <a:lstStyle/>
                    <a:p>
                      <a:endParaRPr lang="es-CO"/>
                    </a:p>
                  </a:txBody>
                  <a:tcPr>
                    <a:solidFill>
                      <a:srgbClr val="FFD200"/>
                    </a:solidFill>
                  </a:tcPr>
                </a:tc>
                <a:tc>
                  <a:txBody>
                    <a:bodyPr/>
                    <a:lstStyle/>
                    <a:p>
                      <a:endParaRPr lang="es-CO"/>
                    </a:p>
                  </a:txBody>
                  <a:tcPr>
                    <a:solidFill>
                      <a:srgbClr val="FFD200"/>
                    </a:solidFill>
                  </a:tcPr>
                </a:tc>
                <a:tc>
                  <a:txBody>
                    <a:bodyPr/>
                    <a:lstStyle/>
                    <a:p>
                      <a:endParaRPr lang="es-CO"/>
                    </a:p>
                  </a:txBody>
                  <a:tcPr>
                    <a:solidFill>
                      <a:srgbClr val="F4901E"/>
                    </a:solidFill>
                  </a:tcPr>
                </a:tc>
                <a:tc>
                  <a:txBody>
                    <a:bodyPr/>
                    <a:lstStyle/>
                    <a:p>
                      <a:endParaRPr lang="es-CO"/>
                    </a:p>
                  </a:txBody>
                  <a:tcPr>
                    <a:solidFill>
                      <a:srgbClr val="D62828"/>
                    </a:solidFill>
                  </a:tcPr>
                </a:tc>
                <a:tc>
                  <a:txBody>
                    <a:bodyPr/>
                    <a:lstStyle/>
                    <a:p>
                      <a:endParaRPr lang="es-CO"/>
                    </a:p>
                  </a:txBody>
                  <a:tcPr>
                    <a:solidFill>
                      <a:srgbClr val="D62828"/>
                    </a:solidFill>
                  </a:tcPr>
                </a:tc>
                <a:extLst>
                  <a:ext uri="{0D108BD9-81ED-4DB2-BD59-A6C34878D82A}">
                    <a16:rowId xmlns:a16="http://schemas.microsoft.com/office/drawing/2014/main" val="935616988"/>
                  </a:ext>
                </a:extLst>
              </a:tr>
              <a:tr h="584200">
                <a:tc>
                  <a:txBody>
                    <a:bodyPr/>
                    <a:lstStyle/>
                    <a:p>
                      <a:pPr algn="l"/>
                      <a:r>
                        <a:rPr lang="es-CO" sz="1300" b="1">
                          <a:solidFill>
                            <a:srgbClr val="1F3864"/>
                          </a:solidFill>
                          <a:latin typeface="Calibri"/>
                          <a:ea typeface="Calibri"/>
                          <a:cs typeface="Calibri"/>
                        </a:rPr>
                        <a:t>Raro</a:t>
                      </a:r>
                    </a:p>
                  </a:txBody>
                  <a:tcPr anchor="ctr">
                    <a:solidFill>
                      <a:srgbClr val="F2F5F9"/>
                    </a:solidFill>
                  </a:tcPr>
                </a:tc>
                <a:tc>
                  <a:txBody>
                    <a:bodyPr/>
                    <a:lstStyle/>
                    <a:p>
                      <a:endParaRPr lang="es-CO"/>
                    </a:p>
                  </a:txBody>
                  <a:tcPr>
                    <a:solidFill>
                      <a:srgbClr val="70AD47"/>
                    </a:solidFill>
                  </a:tcPr>
                </a:tc>
                <a:tc>
                  <a:txBody>
                    <a:bodyPr/>
                    <a:lstStyle/>
                    <a:p>
                      <a:endParaRPr lang="es-CO"/>
                    </a:p>
                  </a:txBody>
                  <a:tcPr>
                    <a:solidFill>
                      <a:srgbClr val="FFD200"/>
                    </a:solidFill>
                  </a:tcPr>
                </a:tc>
                <a:tc>
                  <a:txBody>
                    <a:bodyPr/>
                    <a:lstStyle/>
                    <a:p>
                      <a:endParaRPr lang="es-CO"/>
                    </a:p>
                  </a:txBody>
                  <a:tcPr>
                    <a:solidFill>
                      <a:srgbClr val="FFD200"/>
                    </a:solidFill>
                  </a:tcPr>
                </a:tc>
                <a:tc>
                  <a:txBody>
                    <a:bodyPr/>
                    <a:lstStyle/>
                    <a:p>
                      <a:endParaRPr lang="es-CO"/>
                    </a:p>
                  </a:txBody>
                  <a:tcPr>
                    <a:solidFill>
                      <a:srgbClr val="F4901E"/>
                    </a:solidFill>
                  </a:tcPr>
                </a:tc>
                <a:tc>
                  <a:txBody>
                    <a:bodyPr/>
                    <a:lstStyle/>
                    <a:p>
                      <a:endParaRPr lang="es-CO"/>
                    </a:p>
                  </a:txBody>
                  <a:tcPr>
                    <a:solidFill>
                      <a:srgbClr val="D62828"/>
                    </a:solidFill>
                  </a:tcPr>
                </a:tc>
                <a:extLst>
                  <a:ext uri="{0D108BD9-81ED-4DB2-BD59-A6C34878D82A}">
                    <a16:rowId xmlns:a16="http://schemas.microsoft.com/office/drawing/2014/main" val="3794008971"/>
                  </a:ext>
                </a:extLst>
              </a:tr>
              <a:tr h="584200">
                <a:tc>
                  <a:txBody>
                    <a:bodyPr/>
                    <a:lstStyle/>
                    <a:p>
                      <a:pPr algn="l"/>
                      <a:r>
                        <a:rPr lang="es-CO" sz="1300" b="1">
                          <a:solidFill>
                            <a:srgbClr val="1F3864"/>
                          </a:solidFill>
                          <a:latin typeface="Calibri"/>
                          <a:ea typeface="Calibri"/>
                          <a:cs typeface="Calibri"/>
                        </a:rPr>
                        <a:t>Remoto</a:t>
                      </a:r>
                    </a:p>
                  </a:txBody>
                  <a:tcPr anchor="ctr">
                    <a:solidFill>
                      <a:srgbClr val="F2F5F9"/>
                    </a:solidFill>
                  </a:tcPr>
                </a:tc>
                <a:tc>
                  <a:txBody>
                    <a:bodyPr/>
                    <a:lstStyle/>
                    <a:p>
                      <a:endParaRPr lang="es-CO"/>
                    </a:p>
                  </a:txBody>
                  <a:tcPr>
                    <a:solidFill>
                      <a:srgbClr val="70AD47"/>
                    </a:solidFill>
                  </a:tcPr>
                </a:tc>
                <a:tc>
                  <a:txBody>
                    <a:bodyPr/>
                    <a:lstStyle/>
                    <a:p>
                      <a:endParaRPr lang="es-CO"/>
                    </a:p>
                  </a:txBody>
                  <a:tcPr>
                    <a:solidFill>
                      <a:srgbClr val="70AD47"/>
                    </a:solidFill>
                  </a:tcPr>
                </a:tc>
                <a:tc>
                  <a:txBody>
                    <a:bodyPr/>
                    <a:lstStyle/>
                    <a:p>
                      <a:endParaRPr lang="es-CO"/>
                    </a:p>
                  </a:txBody>
                  <a:tcPr>
                    <a:solidFill>
                      <a:srgbClr val="FFD200"/>
                    </a:solidFill>
                  </a:tcPr>
                </a:tc>
                <a:tc>
                  <a:txBody>
                    <a:bodyPr/>
                    <a:lstStyle/>
                    <a:p>
                      <a:endParaRPr lang="es-CO"/>
                    </a:p>
                  </a:txBody>
                  <a:tcPr>
                    <a:solidFill>
                      <a:srgbClr val="FFD200"/>
                    </a:solidFill>
                  </a:tcPr>
                </a:tc>
                <a:tc>
                  <a:txBody>
                    <a:bodyPr/>
                    <a:lstStyle/>
                    <a:p>
                      <a:endParaRPr lang="es-CO"/>
                    </a:p>
                  </a:txBody>
                  <a:tcPr>
                    <a:solidFill>
                      <a:srgbClr val="F4901E"/>
                    </a:solidFill>
                  </a:tcPr>
                </a:tc>
                <a:extLst>
                  <a:ext uri="{0D108BD9-81ED-4DB2-BD59-A6C34878D82A}">
                    <a16:rowId xmlns:a16="http://schemas.microsoft.com/office/drawing/2014/main" val="384775011"/>
                  </a:ext>
                </a:extLst>
              </a:tr>
              <a:tr h="584200">
                <a:tc>
                  <a:txBody>
                    <a:bodyPr/>
                    <a:lstStyle/>
                    <a:p>
                      <a:pPr algn="l"/>
                      <a:r>
                        <a:rPr lang="es-CO" sz="1300" b="1">
                          <a:solidFill>
                            <a:srgbClr val="1F3864"/>
                          </a:solidFill>
                          <a:latin typeface="Calibri"/>
                          <a:ea typeface="Calibri"/>
                          <a:cs typeface="Calibri"/>
                        </a:rPr>
                        <a:t>Improbable</a:t>
                      </a:r>
                    </a:p>
                  </a:txBody>
                  <a:tcPr anchor="ctr">
                    <a:solidFill>
                      <a:srgbClr val="F2F5F9"/>
                    </a:solidFill>
                  </a:tcPr>
                </a:tc>
                <a:tc>
                  <a:txBody>
                    <a:bodyPr/>
                    <a:lstStyle/>
                    <a:p>
                      <a:endParaRPr lang="es-CO"/>
                    </a:p>
                  </a:txBody>
                  <a:tcPr>
                    <a:solidFill>
                      <a:srgbClr val="70AD47"/>
                    </a:solidFill>
                  </a:tcPr>
                </a:tc>
                <a:tc>
                  <a:txBody>
                    <a:bodyPr/>
                    <a:lstStyle/>
                    <a:p>
                      <a:endParaRPr lang="es-CO"/>
                    </a:p>
                  </a:txBody>
                  <a:tcPr>
                    <a:solidFill>
                      <a:srgbClr val="70AD47"/>
                    </a:solidFill>
                  </a:tcPr>
                </a:tc>
                <a:tc>
                  <a:txBody>
                    <a:bodyPr/>
                    <a:lstStyle/>
                    <a:p>
                      <a:endParaRPr lang="es-CO"/>
                    </a:p>
                  </a:txBody>
                  <a:tcPr>
                    <a:solidFill>
                      <a:srgbClr val="70AD47"/>
                    </a:solidFill>
                  </a:tcPr>
                </a:tc>
                <a:tc>
                  <a:txBody>
                    <a:bodyPr/>
                    <a:lstStyle/>
                    <a:p>
                      <a:endParaRPr lang="es-CO"/>
                    </a:p>
                  </a:txBody>
                  <a:tcPr>
                    <a:solidFill>
                      <a:srgbClr val="FFD200"/>
                    </a:solidFill>
                  </a:tcPr>
                </a:tc>
                <a:tc>
                  <a:txBody>
                    <a:bodyPr/>
                    <a:lstStyle/>
                    <a:p>
                      <a:endParaRPr lang="es-CO"/>
                    </a:p>
                  </a:txBody>
                  <a:tcPr>
                    <a:solidFill>
                      <a:srgbClr val="FFD200"/>
                    </a:solidFill>
                  </a:tcPr>
                </a:tc>
                <a:extLst>
                  <a:ext uri="{0D108BD9-81ED-4DB2-BD59-A6C34878D82A}">
                    <a16:rowId xmlns:a16="http://schemas.microsoft.com/office/drawing/2014/main" val="558080964"/>
                  </a:ext>
                </a:extLst>
              </a:tr>
            </a:tbl>
          </a:graphicData>
        </a:graphic>
      </p:graphicFrame>
      <p:sp>
        <p:nvSpPr>
          <p:cNvPr id="8" name="CuadroTexto 7">
            <a:extLst>
              <a:ext uri="{FF2B5EF4-FFF2-40B4-BE49-F238E27FC236}">
                <a16:creationId xmlns:a16="http://schemas.microsoft.com/office/drawing/2014/main" id="{74764A7C-BED0-4385-887A-130627BF5D9A}"/>
              </a:ext>
            </a:extLst>
          </p:cNvPr>
          <p:cNvSpPr txBox="1"/>
          <p:nvPr/>
        </p:nvSpPr>
        <p:spPr>
          <a:xfrm>
            <a:off x="2082800" y="4749800"/>
            <a:ext cx="2540000" cy="228600"/>
          </a:xfrm>
          <a:prstGeom prst="rect">
            <a:avLst/>
          </a:prstGeom>
          <a:noFill/>
        </p:spPr>
        <p:txBody>
          <a:bodyPr vertOverflow="overflow" vert="horz" wrap="square" rtlCol="0" anchor="t">
            <a:noAutofit/>
          </a:bodyPr>
          <a:lstStyle/>
          <a:p>
            <a:pPr algn="l"/>
            <a:r>
              <a:rPr lang="es-CO" sz="1200" b="1">
                <a:solidFill>
                  <a:srgbClr val="1F3864"/>
                </a:solidFill>
                <a:latin typeface="Calibri"/>
                <a:ea typeface="Calibri"/>
                <a:cs typeface="Calibri"/>
              </a:rPr>
              <a:t>Consecuencia →</a:t>
            </a:r>
          </a:p>
        </p:txBody>
      </p:sp>
      <p:sp>
        <p:nvSpPr>
          <p:cNvPr id="9" name="CuadroTexto 8">
            <a:extLst>
              <a:ext uri="{FF2B5EF4-FFF2-40B4-BE49-F238E27FC236}">
                <a16:creationId xmlns:a16="http://schemas.microsoft.com/office/drawing/2014/main" id="{2B20C068-97C7-4D78-A29B-4B87FD0B8B67}"/>
              </a:ext>
            </a:extLst>
          </p:cNvPr>
          <p:cNvSpPr txBox="1"/>
          <p:nvPr/>
        </p:nvSpPr>
        <p:spPr>
          <a:xfrm>
            <a:off x="457200" y="4749800"/>
            <a:ext cx="1625600" cy="228600"/>
          </a:xfrm>
          <a:prstGeom prst="rect">
            <a:avLst/>
          </a:prstGeom>
          <a:noFill/>
        </p:spPr>
        <p:txBody>
          <a:bodyPr vertOverflow="overflow" vert="horz" wrap="square" rtlCol="0" anchor="t">
            <a:noAutofit/>
          </a:bodyPr>
          <a:lstStyle/>
          <a:p>
            <a:pPr algn="l"/>
            <a:r>
              <a:rPr lang="es-CO" sz="1200" b="1">
                <a:solidFill>
                  <a:srgbClr val="1F3864"/>
                </a:solidFill>
                <a:latin typeface="Calibri"/>
                <a:ea typeface="Calibri"/>
                <a:cs typeface="Calibri"/>
              </a:rPr>
              <a:t>Probabilidad ↑</a:t>
            </a:r>
          </a:p>
        </p:txBody>
      </p:sp>
      <p:sp>
        <p:nvSpPr>
          <p:cNvPr id="10" name="CuadroTexto 9">
            <a:extLst>
              <a:ext uri="{FF2B5EF4-FFF2-40B4-BE49-F238E27FC236}">
                <a16:creationId xmlns:a16="http://schemas.microsoft.com/office/drawing/2014/main" id="{3B16B7FA-DCE0-4327-BF9A-64B54E15F270}"/>
              </a:ext>
            </a:extLst>
          </p:cNvPr>
          <p:cNvSpPr txBox="1"/>
          <p:nvPr/>
        </p:nvSpPr>
        <p:spPr>
          <a:xfrm>
            <a:off x="457200" y="5054600"/>
            <a:ext cx="8229600" cy="3810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El color indica el nivel de riesgo: verde aceptable, amarillo y naranja requieren tratamiento, rojo exige acción inmediata.</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6744820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443008D0-457D-4C6F-A29B-197FD90259F6}"/>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ES" sz="2800" b="1">
                <a:solidFill>
                  <a:srgbClr val="1F3864"/>
                </a:solidFill>
                <a:latin typeface="Calibri"/>
                <a:ea typeface="Calibri"/>
                <a:cs typeface="Calibri"/>
              </a:rPr>
              <a:t>Construcción de mapas de riesgo</a:t>
            </a:r>
            <a:endParaRPr lang="es-CO" sz="2800" b="1">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B4D8D857-18D2-4ADA-8CC5-243C6CDEEC74}"/>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FAEC460E-C0C5-4980-8B65-17344466C015}"/>
              </a:ext>
            </a:extLst>
          </p:cNvPr>
          <p:cNvSpPr txBox="1"/>
          <p:nvPr/>
        </p:nvSpPr>
        <p:spPr>
          <a:xfrm>
            <a:off x="457200" y="5303520"/>
            <a:ext cx="8229600" cy="228600"/>
          </a:xfrm>
          <a:prstGeom prst="rect">
            <a:avLst/>
          </a:prstGeom>
          <a:noFill/>
        </p:spPr>
        <p:txBody>
          <a:bodyPr vertOverflow="overflow" vert="horz" wrap="square" rtlCol="0" anchor="t">
            <a:noAutofit/>
          </a:bodyPr>
          <a:lstStyle/>
          <a:p>
            <a:pPr algn="ctr"/>
            <a:r>
              <a:rPr lang="es-ES" sz="1200">
                <a:solidFill>
                  <a:srgbClr val="7F7F7F"/>
                </a:solidFill>
                <a:latin typeface="Calibri"/>
                <a:ea typeface="Calibri"/>
                <a:cs typeface="Calibri"/>
              </a:rPr>
              <a:t>Dos representaciones del mismo mapa: matriz de probabilidad e impacto y diagrama de anillos</a:t>
            </a:r>
            <a:endParaRPr lang="es-CO" sz="1100">
              <a:solidFill>
                <a:srgbClr val="7F7F7F"/>
              </a:solidFill>
              <a:latin typeface="Calibri"/>
              <a:ea typeface="Calibri"/>
              <a:cs typeface="Calibri"/>
            </a:endParaRPr>
          </a:p>
        </p:txBody>
      </p:sp>
      <p:sp>
        <p:nvSpPr>
          <p:cNvPr id="7" name="Encabezado matriz"/>
          <p:cNvSpPr txBox="1"/>
          <p:nvPr/>
        </p:nvSpPr>
        <p:spPr>
          <a:xfrm>
            <a:off x="530352" y="1188720"/>
            <a:ext cx="3977639" cy="32004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F3864"/>
                </a:solidFill>
                <a:latin typeface="Calibri"/>
              </a:rPr>
              <a:t>MATRIZ PROBABILIDAD × IMPACTO</a:t>
            </a:r>
          </a:p>
        </p:txBody>
      </p:sp>
      <p:sp>
        <p:nvSpPr>
          <p:cNvPr id="8" name="Encabezado anillos"/>
          <p:cNvSpPr txBox="1"/>
          <p:nvPr/>
        </p:nvSpPr>
        <p:spPr>
          <a:xfrm>
            <a:off x="4663440" y="1188720"/>
            <a:ext cx="3931920" cy="320040"/>
          </a:xfrm>
          <a:prstGeom prst="rect">
            <a:avLst/>
          </a:prstGeom>
          <a:noFill/>
        </p:spPr>
        <p:txBody>
          <a:bodyPr wrap="square" lIns="0" tIns="0" rIns="0" bIns="0" anchor="t">
            <a:spAutoFit/>
          </a:bodyPr>
          <a:lstStyle/>
          <a:p>
            <a:pPr algn="ctr">
              <a:lnSpc>
                <a:spcPct val="100000"/>
              </a:lnSpc>
              <a:spcBef>
                <a:spcPts val="0"/>
              </a:spcBef>
              <a:spcAft>
                <a:spcPts val="0"/>
              </a:spcAft>
            </a:pPr>
            <a:r>
              <a:rPr sz="1600" b="1">
                <a:solidFill>
                  <a:srgbClr val="1F3864"/>
                </a:solidFill>
                <a:latin typeface="Calibri"/>
              </a:rPr>
              <a:t>MAPA DE ANILLOS</a:t>
            </a:r>
          </a:p>
        </p:txBody>
      </p:sp>
      <p:graphicFrame>
        <p:nvGraphicFramePr>
          <p:cNvPr id="9" name="Matriz de calor editable"/>
          <p:cNvGraphicFramePr>
            <a:graphicFrameLocks noGrp="1"/>
          </p:cNvGraphicFramePr>
          <p:nvPr/>
        </p:nvGraphicFramePr>
        <p:xfrm>
          <a:off x="594360" y="1755648"/>
          <a:ext cx="3840480" cy="2788917"/>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640080">
                  <a:extLst>
                    <a:ext uri="{9D8B030D-6E8A-4147-A177-3AD203B41FA5}">
                      <a16:colId xmlns:a16="http://schemas.microsoft.com/office/drawing/2014/main" val="20005"/>
                    </a:ext>
                  </a:extLst>
                </a:gridCol>
              </a:tblGrid>
              <a:tr h="438912">
                <a:tc>
                  <a:txBody>
                    <a:bodyPr/>
                    <a:lstStyle/>
                    <a:p>
                      <a:pPr algn="ctr">
                        <a:spcBef>
                          <a:spcPts val="0"/>
                        </a:spcBef>
                        <a:spcAft>
                          <a:spcPts val="0"/>
                        </a:spcAft>
                      </a:pPr>
                      <a:r>
                        <a:rPr sz="1400" b="1">
                          <a:solidFill>
                            <a:srgbClr val="FFFFFF"/>
                          </a:solidFill>
                          <a:latin typeface="Calibri"/>
                        </a:rPr>
                        <a:t>P \ I</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r>
                        <a:rPr sz="1400" b="1">
                          <a:solidFill>
                            <a:srgbClr val="FFFFFF"/>
                          </a:solidFill>
                          <a:latin typeface="Calibri"/>
                        </a:rPr>
                        <a:t>1</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r>
                        <a:rPr sz="1400" b="1">
                          <a:solidFill>
                            <a:srgbClr val="FFFFFF"/>
                          </a:solidFill>
                          <a:latin typeface="Calibri"/>
                        </a:rPr>
                        <a:t>2</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r>
                        <a:rPr sz="1400" b="1">
                          <a:solidFill>
                            <a:srgbClr val="FFFFFF"/>
                          </a:solidFill>
                          <a:latin typeface="Calibri"/>
                        </a:rPr>
                        <a:t>3</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r>
                        <a:rPr sz="1400" b="1">
                          <a:solidFill>
                            <a:srgbClr val="FFFFFF"/>
                          </a:solidFill>
                          <a:latin typeface="Calibri"/>
                        </a:rPr>
                        <a:t>4</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r>
                        <a:rPr sz="1400" b="1">
                          <a:solidFill>
                            <a:srgbClr val="FFFFFF"/>
                          </a:solidFill>
                          <a:latin typeface="Calibri"/>
                        </a:rPr>
                        <a:t>5</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extLst>
                  <a:ext uri="{0D108BD9-81ED-4DB2-BD59-A6C34878D82A}">
                    <a16:rowId xmlns:a16="http://schemas.microsoft.com/office/drawing/2014/main" val="10000"/>
                  </a:ext>
                </a:extLst>
              </a:tr>
              <a:tr h="470001">
                <a:tc>
                  <a:txBody>
                    <a:bodyPr/>
                    <a:lstStyle/>
                    <a:p>
                      <a:pPr algn="ctr">
                        <a:spcBef>
                          <a:spcPts val="0"/>
                        </a:spcBef>
                        <a:spcAft>
                          <a:spcPts val="0"/>
                        </a:spcAft>
                      </a:pPr>
                      <a:r>
                        <a:rPr sz="1400" b="1">
                          <a:solidFill>
                            <a:srgbClr val="FFFFFF"/>
                          </a:solidFill>
                          <a:latin typeface="Calibri"/>
                        </a:rPr>
                        <a:t>5</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4B183"/>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E74C3C"/>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E74C3C"/>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E74C3C"/>
                    </a:solidFill>
                  </a:tcPr>
                </a:tc>
                <a:extLst>
                  <a:ext uri="{0D108BD9-81ED-4DB2-BD59-A6C34878D82A}">
                    <a16:rowId xmlns:a16="http://schemas.microsoft.com/office/drawing/2014/main" val="10001"/>
                  </a:ext>
                </a:extLst>
              </a:tr>
              <a:tr h="470001">
                <a:tc>
                  <a:txBody>
                    <a:bodyPr/>
                    <a:lstStyle/>
                    <a:p>
                      <a:pPr algn="ctr">
                        <a:spcBef>
                          <a:spcPts val="0"/>
                        </a:spcBef>
                        <a:spcAft>
                          <a:spcPts val="0"/>
                        </a:spcAft>
                      </a:pPr>
                      <a:r>
                        <a:rPr sz="1400" b="1">
                          <a:solidFill>
                            <a:srgbClr val="FFFFFF"/>
                          </a:solidFill>
                          <a:latin typeface="Calibri"/>
                        </a:rPr>
                        <a:t>4</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4B183"/>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E74C3C"/>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E74C3C"/>
                    </a:solidFill>
                  </a:tcPr>
                </a:tc>
                <a:extLst>
                  <a:ext uri="{0D108BD9-81ED-4DB2-BD59-A6C34878D82A}">
                    <a16:rowId xmlns:a16="http://schemas.microsoft.com/office/drawing/2014/main" val="10002"/>
                  </a:ext>
                </a:extLst>
              </a:tr>
              <a:tr h="470001">
                <a:tc>
                  <a:txBody>
                    <a:bodyPr/>
                    <a:lstStyle/>
                    <a:p>
                      <a:pPr algn="ctr">
                        <a:spcBef>
                          <a:spcPts val="0"/>
                        </a:spcBef>
                        <a:spcAft>
                          <a:spcPts val="0"/>
                        </a:spcAft>
                      </a:pPr>
                      <a:r>
                        <a:rPr sz="1400" b="1">
                          <a:solidFill>
                            <a:srgbClr val="FFFFFF"/>
                          </a:solidFill>
                          <a:latin typeface="Calibri"/>
                        </a:rPr>
                        <a:t>3</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70AD47"/>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4B183"/>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E74C3C"/>
                    </a:solidFill>
                  </a:tcPr>
                </a:tc>
                <a:extLst>
                  <a:ext uri="{0D108BD9-81ED-4DB2-BD59-A6C34878D82A}">
                    <a16:rowId xmlns:a16="http://schemas.microsoft.com/office/drawing/2014/main" val="10003"/>
                  </a:ext>
                </a:extLst>
              </a:tr>
              <a:tr h="470001">
                <a:tc>
                  <a:txBody>
                    <a:bodyPr/>
                    <a:lstStyle/>
                    <a:p>
                      <a:pPr algn="ctr">
                        <a:spcBef>
                          <a:spcPts val="0"/>
                        </a:spcBef>
                        <a:spcAft>
                          <a:spcPts val="0"/>
                        </a:spcAft>
                      </a:pPr>
                      <a:r>
                        <a:rPr sz="1400" b="1">
                          <a:solidFill>
                            <a:srgbClr val="FFFFFF"/>
                          </a:solidFill>
                          <a:latin typeface="Calibri"/>
                        </a:rPr>
                        <a:t>2</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70AD47"/>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70AD47"/>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4B183"/>
                    </a:solidFill>
                  </a:tcPr>
                </a:tc>
                <a:extLst>
                  <a:ext uri="{0D108BD9-81ED-4DB2-BD59-A6C34878D82A}">
                    <a16:rowId xmlns:a16="http://schemas.microsoft.com/office/drawing/2014/main" val="10004"/>
                  </a:ext>
                </a:extLst>
              </a:tr>
              <a:tr h="470001">
                <a:tc>
                  <a:txBody>
                    <a:bodyPr/>
                    <a:lstStyle/>
                    <a:p>
                      <a:pPr algn="ctr">
                        <a:spcBef>
                          <a:spcPts val="0"/>
                        </a:spcBef>
                        <a:spcAft>
                          <a:spcPts val="0"/>
                        </a:spcAft>
                      </a:pPr>
                      <a:r>
                        <a:rPr sz="1400" b="1">
                          <a:solidFill>
                            <a:srgbClr val="FFFFFF"/>
                          </a:solidFill>
                          <a:latin typeface="Calibri"/>
                        </a:rPr>
                        <a:t>1</a:t>
                      </a: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1F3864"/>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70AD47"/>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70AD47"/>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70AD47"/>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tc>
                  <a:txBody>
                    <a:bodyPr/>
                    <a:lstStyle/>
                    <a:p>
                      <a:pPr algn="ctr">
                        <a:spcBef>
                          <a:spcPts val="0"/>
                        </a:spcBef>
                        <a:spcAft>
                          <a:spcPts val="0"/>
                        </a:spcAft>
                      </a:pPr>
                      <a:endParaRPr/>
                    </a:p>
                  </a:txBody>
                  <a:tcPr marL="18288" marR="18288" marT="9144" marB="9144" anchor="ctr">
                    <a:lnL w="9525" cap="flat" cmpd="sng" algn="ctr">
                      <a:solidFill>
                        <a:srgbClr val="FFFFFF"/>
                      </a:solidFill>
                      <a:prstDash val="solid"/>
                    </a:lnL>
                    <a:lnR w="9525" cap="flat" cmpd="sng" algn="ctr">
                      <a:solidFill>
                        <a:srgbClr val="FFFFFF"/>
                      </a:solidFill>
                      <a:prstDash val="solid"/>
                    </a:lnR>
                    <a:lnT w="9525" cap="flat" cmpd="sng" algn="ctr">
                      <a:solidFill>
                        <a:srgbClr val="FFFFFF"/>
                      </a:solidFill>
                      <a:prstDash val="solid"/>
                    </a:lnT>
                    <a:lnB w="9525" cap="flat" cmpd="sng" algn="ctr">
                      <a:solidFill>
                        <a:srgbClr val="FFFFFF"/>
                      </a:solidFill>
                      <a:prstDash val="solid"/>
                    </a:lnB>
                    <a:solidFill>
                      <a:srgbClr val="FFD966"/>
                    </a:solidFill>
                  </a:tcPr>
                </a:tc>
                <a:extLst>
                  <a:ext uri="{0D108BD9-81ED-4DB2-BD59-A6C34878D82A}">
                    <a16:rowId xmlns:a16="http://schemas.microsoft.com/office/drawing/2014/main" val="10005"/>
                  </a:ext>
                </a:extLst>
              </a:tr>
            </a:tbl>
          </a:graphicData>
        </a:graphic>
      </p:graphicFrame>
      <p:sp>
        <p:nvSpPr>
          <p:cNvPr id="10" name="Punto matriz R1"/>
          <p:cNvSpPr/>
          <p:nvPr/>
        </p:nvSpPr>
        <p:spPr>
          <a:xfrm>
            <a:off x="1997963" y="3642969"/>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R1</a:t>
            </a:r>
          </a:p>
        </p:txBody>
      </p:sp>
      <p:sp>
        <p:nvSpPr>
          <p:cNvPr id="11" name="Punto matriz R2"/>
          <p:cNvSpPr/>
          <p:nvPr/>
        </p:nvSpPr>
        <p:spPr>
          <a:xfrm>
            <a:off x="2107691" y="3172968"/>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R2</a:t>
            </a:r>
          </a:p>
        </p:txBody>
      </p:sp>
      <p:sp>
        <p:nvSpPr>
          <p:cNvPr id="12" name="Punto matriz R3"/>
          <p:cNvSpPr/>
          <p:nvPr/>
        </p:nvSpPr>
        <p:spPr>
          <a:xfrm>
            <a:off x="2528315" y="3172968"/>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R3</a:t>
            </a:r>
          </a:p>
        </p:txBody>
      </p:sp>
      <p:sp>
        <p:nvSpPr>
          <p:cNvPr id="13" name="Punto matriz R4"/>
          <p:cNvSpPr/>
          <p:nvPr/>
        </p:nvSpPr>
        <p:spPr>
          <a:xfrm>
            <a:off x="2638043" y="2702966"/>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R4</a:t>
            </a:r>
          </a:p>
        </p:txBody>
      </p:sp>
      <p:sp>
        <p:nvSpPr>
          <p:cNvPr id="14" name="Punto matriz R5"/>
          <p:cNvSpPr/>
          <p:nvPr/>
        </p:nvSpPr>
        <p:spPr>
          <a:xfrm>
            <a:off x="3278123" y="3642969"/>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R5</a:t>
            </a:r>
          </a:p>
        </p:txBody>
      </p:sp>
      <p:sp>
        <p:nvSpPr>
          <p:cNvPr id="15" name="Punto matriz R6"/>
          <p:cNvSpPr/>
          <p:nvPr/>
        </p:nvSpPr>
        <p:spPr>
          <a:xfrm>
            <a:off x="3278123" y="2702966"/>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R6</a:t>
            </a:r>
          </a:p>
        </p:txBody>
      </p:sp>
      <p:sp>
        <p:nvSpPr>
          <p:cNvPr id="16" name="Punto matriz R7"/>
          <p:cNvSpPr/>
          <p:nvPr/>
        </p:nvSpPr>
        <p:spPr>
          <a:xfrm>
            <a:off x="2638043" y="2232964"/>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R7</a:t>
            </a:r>
          </a:p>
        </p:txBody>
      </p:sp>
      <p:sp>
        <p:nvSpPr>
          <p:cNvPr id="17" name="Punto matriz R8"/>
          <p:cNvSpPr/>
          <p:nvPr/>
        </p:nvSpPr>
        <p:spPr>
          <a:xfrm>
            <a:off x="3918204" y="3172968"/>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R8</a:t>
            </a:r>
          </a:p>
        </p:txBody>
      </p:sp>
      <p:sp>
        <p:nvSpPr>
          <p:cNvPr id="18" name="Lectura de escala matriz"/>
          <p:cNvSpPr txBox="1"/>
          <p:nvPr/>
        </p:nvSpPr>
        <p:spPr>
          <a:xfrm>
            <a:off x="594360" y="4626864"/>
            <a:ext cx="3840480"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7F7F7F"/>
                </a:solidFill>
                <a:latin typeface="Calibri"/>
              </a:rPr>
              <a:t>Ejes: 1 = muy bajo  ·  5 = muy alto</a:t>
            </a:r>
          </a:p>
        </p:txBody>
      </p:sp>
      <p:sp>
        <p:nvSpPr>
          <p:cNvPr id="19" name="Anillo de riesgo 1"/>
          <p:cNvSpPr/>
          <p:nvPr/>
        </p:nvSpPr>
        <p:spPr>
          <a:xfrm>
            <a:off x="5257800" y="1554480"/>
            <a:ext cx="3063240" cy="3063240"/>
          </a:xfrm>
          <a:prstGeom prst="ellipse">
            <a:avLst/>
          </a:prstGeom>
          <a:solidFill>
            <a:srgbClr val="E74C3C"/>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nillo de riesgo 2"/>
          <p:cNvSpPr/>
          <p:nvPr/>
        </p:nvSpPr>
        <p:spPr>
          <a:xfrm>
            <a:off x="5559552" y="1856231"/>
            <a:ext cx="2459736" cy="2459736"/>
          </a:xfrm>
          <a:prstGeom prst="ellipse">
            <a:avLst/>
          </a:prstGeom>
          <a:solidFill>
            <a:srgbClr val="F4B183"/>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Anillo de riesgo 3"/>
          <p:cNvSpPr/>
          <p:nvPr/>
        </p:nvSpPr>
        <p:spPr>
          <a:xfrm>
            <a:off x="5861304" y="2157984"/>
            <a:ext cx="1856231" cy="1856231"/>
          </a:xfrm>
          <a:prstGeom prst="ellipse">
            <a:avLst/>
          </a:prstGeom>
          <a:solidFill>
            <a:srgbClr val="FFD96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Anillo de riesgo 4"/>
          <p:cNvSpPr/>
          <p:nvPr/>
        </p:nvSpPr>
        <p:spPr>
          <a:xfrm>
            <a:off x="6163056" y="2459736"/>
            <a:ext cx="1252728" cy="1252728"/>
          </a:xfrm>
          <a:prstGeom prst="ellipse">
            <a:avLst/>
          </a:prstGeom>
          <a:solidFill>
            <a:srgbClr val="70AD47"/>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Punto anillos R1"/>
          <p:cNvSpPr/>
          <p:nvPr/>
        </p:nvSpPr>
        <p:spPr>
          <a:xfrm>
            <a:off x="6382512" y="2770632"/>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R1</a:t>
            </a:r>
          </a:p>
        </p:txBody>
      </p:sp>
      <p:sp>
        <p:nvSpPr>
          <p:cNvPr id="24" name="Punto anillos R2"/>
          <p:cNvSpPr/>
          <p:nvPr/>
        </p:nvSpPr>
        <p:spPr>
          <a:xfrm>
            <a:off x="6793992" y="3136392"/>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R2</a:t>
            </a:r>
          </a:p>
        </p:txBody>
      </p:sp>
      <p:sp>
        <p:nvSpPr>
          <p:cNvPr id="25" name="Punto anillos R3"/>
          <p:cNvSpPr/>
          <p:nvPr/>
        </p:nvSpPr>
        <p:spPr>
          <a:xfrm>
            <a:off x="5989320" y="2560320"/>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R3</a:t>
            </a:r>
          </a:p>
        </p:txBody>
      </p:sp>
      <p:sp>
        <p:nvSpPr>
          <p:cNvPr id="26" name="Punto anillos R4"/>
          <p:cNvSpPr/>
          <p:nvPr/>
        </p:nvSpPr>
        <p:spPr>
          <a:xfrm>
            <a:off x="5577840" y="2971800"/>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R4</a:t>
            </a:r>
          </a:p>
        </p:txBody>
      </p:sp>
      <p:sp>
        <p:nvSpPr>
          <p:cNvPr id="27" name="Punto anillos R5"/>
          <p:cNvSpPr/>
          <p:nvPr/>
        </p:nvSpPr>
        <p:spPr>
          <a:xfrm>
            <a:off x="7269480" y="2880360"/>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R5</a:t>
            </a:r>
          </a:p>
        </p:txBody>
      </p:sp>
      <p:sp>
        <p:nvSpPr>
          <p:cNvPr id="28" name="Punto anillos R6"/>
          <p:cNvSpPr/>
          <p:nvPr/>
        </p:nvSpPr>
        <p:spPr>
          <a:xfrm>
            <a:off x="5440680" y="2148840"/>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R6</a:t>
            </a:r>
          </a:p>
        </p:txBody>
      </p:sp>
      <p:sp>
        <p:nvSpPr>
          <p:cNvPr id="29" name="Punto anillos R7"/>
          <p:cNvSpPr/>
          <p:nvPr/>
        </p:nvSpPr>
        <p:spPr>
          <a:xfrm>
            <a:off x="7726679" y="2240280"/>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R7</a:t>
            </a:r>
          </a:p>
        </p:txBody>
      </p:sp>
      <p:sp>
        <p:nvSpPr>
          <p:cNvPr id="30" name="Punto anillos R8"/>
          <p:cNvSpPr/>
          <p:nvPr/>
        </p:nvSpPr>
        <p:spPr>
          <a:xfrm>
            <a:off x="7726679" y="3886200"/>
            <a:ext cx="393192" cy="393192"/>
          </a:xfrm>
          <a:prstGeom prst="ellipse">
            <a:avLst/>
          </a:prstGeom>
          <a:solidFill>
            <a:srgbClr val="1F3864"/>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400" b="1">
                <a:solidFill>
                  <a:srgbClr val="FFFFFF"/>
                </a:solidFill>
                <a:latin typeface="Calibri"/>
              </a:rPr>
              <a:t>R8</a:t>
            </a:r>
          </a:p>
        </p:txBody>
      </p:sp>
      <p:sp>
        <p:nvSpPr>
          <p:cNvPr id="31" name="Lectura de anillos"/>
          <p:cNvSpPr txBox="1"/>
          <p:nvPr/>
        </p:nvSpPr>
        <p:spPr>
          <a:xfrm>
            <a:off x="4956048" y="4626864"/>
            <a:ext cx="3822191" cy="228600"/>
          </a:xfrm>
          <a:prstGeom prst="rect">
            <a:avLst/>
          </a:prstGeom>
          <a:noFill/>
        </p:spPr>
        <p:txBody>
          <a:bodyPr wrap="square" lIns="0" tIns="0" rIns="0" bIns="0" anchor="t">
            <a:spAutoFit/>
          </a:bodyPr>
          <a:lstStyle/>
          <a:p>
            <a:pPr algn="ctr">
              <a:lnSpc>
                <a:spcPct val="100000"/>
              </a:lnSpc>
              <a:spcBef>
                <a:spcPts val="0"/>
              </a:spcBef>
              <a:spcAft>
                <a:spcPts val="0"/>
              </a:spcAft>
            </a:pPr>
            <a:r>
              <a:rPr sz="1400" b="0">
                <a:solidFill>
                  <a:srgbClr val="7F7F7F"/>
                </a:solidFill>
                <a:latin typeface="Calibri"/>
              </a:rPr>
              <a:t>Centro = menor riesgo  ·  Exterior = mayor riesgo</a:t>
            </a:r>
          </a:p>
        </p:txBody>
      </p:sp>
      <p:sp>
        <p:nvSpPr>
          <p:cNvPr id="32" name="Leyenda Bajo"/>
          <p:cNvSpPr/>
          <p:nvPr/>
        </p:nvSpPr>
        <p:spPr>
          <a:xfrm>
            <a:off x="2212848" y="4956048"/>
            <a:ext cx="182880" cy="182880"/>
          </a:xfrm>
          <a:prstGeom prst="rect">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o leyenda Bajo"/>
          <p:cNvSpPr txBox="1"/>
          <p:nvPr/>
        </p:nvSpPr>
        <p:spPr>
          <a:xfrm>
            <a:off x="2468880" y="4919472"/>
            <a:ext cx="1005840" cy="2743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04040"/>
                </a:solidFill>
                <a:latin typeface="Calibri"/>
              </a:rPr>
              <a:t>Bajo</a:t>
            </a:r>
          </a:p>
        </p:txBody>
      </p:sp>
      <p:sp>
        <p:nvSpPr>
          <p:cNvPr id="34" name="Leyenda Moderado"/>
          <p:cNvSpPr/>
          <p:nvPr/>
        </p:nvSpPr>
        <p:spPr>
          <a:xfrm>
            <a:off x="3566160" y="4956048"/>
            <a:ext cx="182880" cy="182880"/>
          </a:xfrm>
          <a:prstGeom prst="rect">
            <a:avLst/>
          </a:prstGeom>
          <a:solidFill>
            <a:srgbClr val="FFD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o leyenda Moderado"/>
          <p:cNvSpPr txBox="1"/>
          <p:nvPr/>
        </p:nvSpPr>
        <p:spPr>
          <a:xfrm>
            <a:off x="3822191" y="4919472"/>
            <a:ext cx="1005840" cy="2743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04040"/>
                </a:solidFill>
                <a:latin typeface="Calibri"/>
              </a:rPr>
              <a:t>Moderado</a:t>
            </a:r>
          </a:p>
        </p:txBody>
      </p:sp>
      <p:sp>
        <p:nvSpPr>
          <p:cNvPr id="36" name="Leyenda Alto"/>
          <p:cNvSpPr/>
          <p:nvPr/>
        </p:nvSpPr>
        <p:spPr>
          <a:xfrm>
            <a:off x="4919472" y="4956048"/>
            <a:ext cx="182880" cy="182880"/>
          </a:xfrm>
          <a:prstGeom prst="rect">
            <a:avLst/>
          </a:prstGeom>
          <a:solidFill>
            <a:srgbClr val="F4B1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o leyenda Alto"/>
          <p:cNvSpPr txBox="1"/>
          <p:nvPr/>
        </p:nvSpPr>
        <p:spPr>
          <a:xfrm>
            <a:off x="5175504" y="4919472"/>
            <a:ext cx="1005840" cy="2743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04040"/>
                </a:solidFill>
                <a:latin typeface="Calibri"/>
              </a:rPr>
              <a:t>Alto</a:t>
            </a:r>
          </a:p>
        </p:txBody>
      </p:sp>
      <p:sp>
        <p:nvSpPr>
          <p:cNvPr id="38" name="Leyenda Crítico"/>
          <p:cNvSpPr/>
          <p:nvPr/>
        </p:nvSpPr>
        <p:spPr>
          <a:xfrm>
            <a:off x="6272783" y="4956048"/>
            <a:ext cx="182880" cy="18288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o leyenda Crítico"/>
          <p:cNvSpPr txBox="1"/>
          <p:nvPr/>
        </p:nvSpPr>
        <p:spPr>
          <a:xfrm>
            <a:off x="6528816" y="4919472"/>
            <a:ext cx="1005840" cy="274320"/>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04040"/>
                </a:solidFill>
                <a:latin typeface="Calibri"/>
              </a:rPr>
              <a:t>Crítico</a:t>
            </a:r>
          </a:p>
        </p:txBody>
      </p:sp>
    </p:spTree>
    <p:extLst>
      <p:ext uri="{BB962C8B-B14F-4D97-AF65-F5344CB8AC3E}">
        <p14:creationId xmlns:p14="http://schemas.microsoft.com/office/powerpoint/2010/main" val="287114018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8DA6F08-C626-4F64-A60D-4B82CAF0DD7A}"/>
              </a:ext>
            </a:extLst>
          </p:cNvPr>
          <p:cNvSpPr txBox="1"/>
          <p:nvPr/>
        </p:nvSpPr>
        <p:spPr>
          <a:xfrm>
            <a:off x="457200" y="304800"/>
            <a:ext cx="8229600" cy="533400"/>
          </a:xfrm>
          <a:prstGeom prst="rect">
            <a:avLst/>
          </a:prstGeom>
          <a:noFill/>
        </p:spPr>
        <p:txBody>
          <a:bodyPr vertOverflow="overflow" vert="horz" wrap="square" rtlCol="0" anchor="t">
            <a:noAutofit/>
          </a:bodyPr>
          <a:lstStyle/>
          <a:p>
            <a:pPr algn="l"/>
            <a:r>
              <a:rPr lang="es-CO" sz="3000" b="1">
                <a:solidFill>
                  <a:srgbClr val="1F3864"/>
                </a:solidFill>
                <a:latin typeface="Calibri"/>
                <a:ea typeface="Calibri"/>
                <a:cs typeface="Calibri"/>
              </a:rPr>
              <a:t>Análisis semicuantitativo: escalas</a:t>
            </a:r>
          </a:p>
        </p:txBody>
      </p:sp>
      <p:sp>
        <p:nvSpPr>
          <p:cNvPr id="6" name="Rectángulo 5">
            <a:extLst>
              <a:ext uri="{FF2B5EF4-FFF2-40B4-BE49-F238E27FC236}">
                <a16:creationId xmlns:a16="http://schemas.microsoft.com/office/drawing/2014/main" id="{DE215E2D-292A-44AA-BC37-8B26EEFC4F08}"/>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graphicFrame>
        <p:nvGraphicFramePr>
          <p:cNvPr id="8" name="Tabla 7">
            <a:extLst>
              <a:ext uri="{FF2B5EF4-FFF2-40B4-BE49-F238E27FC236}">
                <a16:creationId xmlns:a16="http://schemas.microsoft.com/office/drawing/2014/main" id="{3C889FE1-67BC-4D62-B422-80938DCFD41F}"/>
              </a:ext>
            </a:extLst>
          </p:cNvPr>
          <p:cNvGraphicFramePr>
            <a:graphicFrameLocks noGrp="1"/>
          </p:cNvGraphicFramePr>
          <p:nvPr>
            <p:extLst>
              <p:ext uri="{D42A27DB-BD31-4B8C-83A1-F6EECF244321}">
                <p14:modId xmlns:p14="http://schemas.microsoft.com/office/powerpoint/2010/main" val="2460971648"/>
              </p:ext>
            </p:extLst>
          </p:nvPr>
        </p:nvGraphicFramePr>
        <p:xfrm>
          <a:off x="1473200" y="1270000"/>
          <a:ext cx="6197600" cy="3098800"/>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2644503301"/>
                    </a:ext>
                  </a:extLst>
                </a:gridCol>
                <a:gridCol w="1549400">
                  <a:extLst>
                    <a:ext uri="{9D8B030D-6E8A-4147-A177-3AD203B41FA5}">
                      <a16:colId xmlns:a16="http://schemas.microsoft.com/office/drawing/2014/main" val="1526194101"/>
                    </a:ext>
                  </a:extLst>
                </a:gridCol>
                <a:gridCol w="1549400">
                  <a:extLst>
                    <a:ext uri="{9D8B030D-6E8A-4147-A177-3AD203B41FA5}">
                      <a16:colId xmlns:a16="http://schemas.microsoft.com/office/drawing/2014/main" val="2937658789"/>
                    </a:ext>
                  </a:extLst>
                </a:gridCol>
                <a:gridCol w="1549400">
                  <a:extLst>
                    <a:ext uri="{9D8B030D-6E8A-4147-A177-3AD203B41FA5}">
                      <a16:colId xmlns:a16="http://schemas.microsoft.com/office/drawing/2014/main" val="2190416897"/>
                    </a:ext>
                  </a:extLst>
                </a:gridCol>
              </a:tblGrid>
              <a:tr h="406400">
                <a:tc gridSpan="2">
                  <a:txBody>
                    <a:bodyPr/>
                    <a:lstStyle/>
                    <a:p>
                      <a:pPr algn="ctr"/>
                      <a:r>
                        <a:rPr lang="es-CO" sz="1400" b="1" dirty="0">
                          <a:solidFill>
                            <a:srgbClr val="FFFFFF"/>
                          </a:solidFill>
                          <a:latin typeface="Calibri"/>
                          <a:ea typeface="Calibri"/>
                          <a:cs typeface="Calibri"/>
                        </a:rPr>
                        <a:t>Posibilidad</a:t>
                      </a:r>
                    </a:p>
                  </a:txBody>
                  <a:tcPr anchor="ctr">
                    <a:solidFill>
                      <a:srgbClr val="1F3864"/>
                    </a:solidFill>
                  </a:tcPr>
                </a:tc>
                <a:tc hMerge="1">
                  <a:txBody>
                    <a:bodyPr/>
                    <a:lstStyle/>
                    <a:p>
                      <a:endParaRPr lang="es-CO"/>
                    </a:p>
                  </a:txBody>
                  <a:tcPr/>
                </a:tc>
                <a:tc gridSpan="2">
                  <a:txBody>
                    <a:bodyPr/>
                    <a:lstStyle/>
                    <a:p>
                      <a:pPr algn="ctr"/>
                      <a:r>
                        <a:rPr lang="es-CO" sz="1400" b="1">
                          <a:solidFill>
                            <a:srgbClr val="FFFFFF"/>
                          </a:solidFill>
                          <a:latin typeface="Calibri"/>
                          <a:ea typeface="Calibri"/>
                          <a:cs typeface="Calibri"/>
                        </a:rPr>
                        <a:t>Consecuencias</a:t>
                      </a:r>
                    </a:p>
                  </a:txBody>
                  <a:tcPr anchor="ctr">
                    <a:solidFill>
                      <a:srgbClr val="1F3864"/>
                    </a:solidFill>
                  </a:tcPr>
                </a:tc>
                <a:tc hMerge="1">
                  <a:txBody>
                    <a:bodyPr/>
                    <a:lstStyle/>
                    <a:p>
                      <a:endParaRPr lang="es-CO"/>
                    </a:p>
                  </a:txBody>
                  <a:tcPr/>
                </a:tc>
                <a:extLst>
                  <a:ext uri="{0D108BD9-81ED-4DB2-BD59-A6C34878D82A}">
                    <a16:rowId xmlns:a16="http://schemas.microsoft.com/office/drawing/2014/main" val="2719141416"/>
                  </a:ext>
                </a:extLst>
              </a:tr>
              <a:tr h="406400">
                <a:tc>
                  <a:txBody>
                    <a:bodyPr/>
                    <a:lstStyle/>
                    <a:p>
                      <a:pPr algn="ctr"/>
                      <a:r>
                        <a:rPr lang="es-CO" sz="1300" b="1">
                          <a:solidFill>
                            <a:srgbClr val="1F3864"/>
                          </a:solidFill>
                          <a:latin typeface="Calibri"/>
                          <a:ea typeface="Calibri"/>
                          <a:cs typeface="Calibri"/>
                        </a:rPr>
                        <a:t>Cualitativo</a:t>
                      </a:r>
                    </a:p>
                  </a:txBody>
                  <a:tcPr anchor="ctr">
                    <a:solidFill>
                      <a:srgbClr val="D6DCE5"/>
                    </a:solidFill>
                  </a:tcPr>
                </a:tc>
                <a:tc>
                  <a:txBody>
                    <a:bodyPr/>
                    <a:lstStyle/>
                    <a:p>
                      <a:pPr algn="ctr"/>
                      <a:r>
                        <a:rPr lang="es-CO" sz="1300" b="1">
                          <a:solidFill>
                            <a:srgbClr val="1F3864"/>
                          </a:solidFill>
                          <a:latin typeface="Calibri"/>
                          <a:ea typeface="Calibri"/>
                          <a:cs typeface="Calibri"/>
                        </a:rPr>
                        <a:t>Cuantitativo</a:t>
                      </a:r>
                    </a:p>
                  </a:txBody>
                  <a:tcPr anchor="ctr">
                    <a:solidFill>
                      <a:srgbClr val="D6DCE5"/>
                    </a:solidFill>
                  </a:tcPr>
                </a:tc>
                <a:tc>
                  <a:txBody>
                    <a:bodyPr/>
                    <a:lstStyle/>
                    <a:p>
                      <a:pPr algn="ctr"/>
                      <a:r>
                        <a:rPr lang="es-CO" sz="1300" b="1">
                          <a:solidFill>
                            <a:srgbClr val="1F3864"/>
                          </a:solidFill>
                          <a:latin typeface="Calibri"/>
                          <a:ea typeface="Calibri"/>
                          <a:cs typeface="Calibri"/>
                        </a:rPr>
                        <a:t>Cualitativo</a:t>
                      </a:r>
                    </a:p>
                  </a:txBody>
                  <a:tcPr anchor="ctr">
                    <a:solidFill>
                      <a:srgbClr val="D6DCE5"/>
                    </a:solidFill>
                  </a:tcPr>
                </a:tc>
                <a:tc>
                  <a:txBody>
                    <a:bodyPr/>
                    <a:lstStyle/>
                    <a:p>
                      <a:pPr algn="ctr"/>
                      <a:r>
                        <a:rPr lang="es-CO" sz="1300" b="1">
                          <a:solidFill>
                            <a:srgbClr val="1F3864"/>
                          </a:solidFill>
                          <a:latin typeface="Calibri"/>
                          <a:ea typeface="Calibri"/>
                          <a:cs typeface="Calibri"/>
                        </a:rPr>
                        <a:t>Cuantitativo</a:t>
                      </a:r>
                    </a:p>
                  </a:txBody>
                  <a:tcPr anchor="ctr">
                    <a:solidFill>
                      <a:srgbClr val="D6DCE5"/>
                    </a:solidFill>
                  </a:tcPr>
                </a:tc>
                <a:extLst>
                  <a:ext uri="{0D108BD9-81ED-4DB2-BD59-A6C34878D82A}">
                    <a16:rowId xmlns:a16="http://schemas.microsoft.com/office/drawing/2014/main" val="4263485219"/>
                  </a:ext>
                </a:extLst>
              </a:tr>
              <a:tr h="457200">
                <a:tc>
                  <a:txBody>
                    <a:bodyPr/>
                    <a:lstStyle/>
                    <a:p>
                      <a:pPr algn="ctr"/>
                      <a:r>
                        <a:rPr lang="es-CO" sz="1400">
                          <a:solidFill>
                            <a:srgbClr val="404040"/>
                          </a:solidFill>
                          <a:latin typeface="Calibri"/>
                          <a:ea typeface="Calibri"/>
                          <a:cs typeface="Calibri"/>
                        </a:rPr>
                        <a:t>Muy bajo</a:t>
                      </a:r>
                    </a:p>
                  </a:txBody>
                  <a:tcPr anchor="ctr">
                    <a:solidFill>
                      <a:srgbClr val="FFFFFF"/>
                    </a:solidFill>
                  </a:tcPr>
                </a:tc>
                <a:tc>
                  <a:txBody>
                    <a:bodyPr/>
                    <a:lstStyle/>
                    <a:p>
                      <a:pPr algn="ctr"/>
                      <a:r>
                        <a:rPr lang="es-CO" sz="1400">
                          <a:solidFill>
                            <a:srgbClr val="404040"/>
                          </a:solidFill>
                          <a:latin typeface="Calibri"/>
                          <a:ea typeface="Calibri"/>
                          <a:cs typeface="Calibri"/>
                        </a:rPr>
                        <a:t>1</a:t>
                      </a:r>
                    </a:p>
                  </a:txBody>
                  <a:tcPr anchor="ctr">
                    <a:solidFill>
                      <a:srgbClr val="FFFFFF"/>
                    </a:solidFill>
                  </a:tcPr>
                </a:tc>
                <a:tc>
                  <a:txBody>
                    <a:bodyPr/>
                    <a:lstStyle/>
                    <a:p>
                      <a:pPr algn="ctr"/>
                      <a:r>
                        <a:rPr lang="es-CO" sz="1400">
                          <a:solidFill>
                            <a:srgbClr val="404040"/>
                          </a:solidFill>
                          <a:latin typeface="Calibri"/>
                          <a:ea typeface="Calibri"/>
                          <a:cs typeface="Calibri"/>
                        </a:rPr>
                        <a:t>Muy bajo</a:t>
                      </a:r>
                    </a:p>
                  </a:txBody>
                  <a:tcPr anchor="ctr">
                    <a:solidFill>
                      <a:srgbClr val="FFFFFF"/>
                    </a:solidFill>
                  </a:tcPr>
                </a:tc>
                <a:tc>
                  <a:txBody>
                    <a:bodyPr/>
                    <a:lstStyle/>
                    <a:p>
                      <a:pPr algn="ctr"/>
                      <a:r>
                        <a:rPr lang="es-CO" sz="1400">
                          <a:solidFill>
                            <a:srgbClr val="404040"/>
                          </a:solidFill>
                          <a:latin typeface="Calibri"/>
                          <a:ea typeface="Calibri"/>
                          <a:cs typeface="Calibri"/>
                        </a:rPr>
                        <a:t>1</a:t>
                      </a:r>
                    </a:p>
                  </a:txBody>
                  <a:tcPr anchor="ctr">
                    <a:solidFill>
                      <a:srgbClr val="FFFFFF"/>
                    </a:solidFill>
                  </a:tcPr>
                </a:tc>
                <a:extLst>
                  <a:ext uri="{0D108BD9-81ED-4DB2-BD59-A6C34878D82A}">
                    <a16:rowId xmlns:a16="http://schemas.microsoft.com/office/drawing/2014/main" val="955821456"/>
                  </a:ext>
                </a:extLst>
              </a:tr>
              <a:tr h="457200">
                <a:tc>
                  <a:txBody>
                    <a:bodyPr/>
                    <a:lstStyle/>
                    <a:p>
                      <a:pPr algn="ctr"/>
                      <a:r>
                        <a:rPr lang="es-CO" sz="1400">
                          <a:solidFill>
                            <a:srgbClr val="404040"/>
                          </a:solidFill>
                          <a:latin typeface="Calibri"/>
                          <a:ea typeface="Calibri"/>
                          <a:cs typeface="Calibri"/>
                        </a:rPr>
                        <a:t>Bajo</a:t>
                      </a:r>
                    </a:p>
                  </a:txBody>
                  <a:tcPr anchor="ctr">
                    <a:solidFill>
                      <a:srgbClr val="FFFFFF"/>
                    </a:solidFill>
                  </a:tcPr>
                </a:tc>
                <a:tc>
                  <a:txBody>
                    <a:bodyPr/>
                    <a:lstStyle/>
                    <a:p>
                      <a:pPr algn="ctr"/>
                      <a:r>
                        <a:rPr lang="es-CO" sz="1400">
                          <a:solidFill>
                            <a:srgbClr val="404040"/>
                          </a:solidFill>
                          <a:latin typeface="Calibri"/>
                          <a:ea typeface="Calibri"/>
                          <a:cs typeface="Calibri"/>
                        </a:rPr>
                        <a:t>2</a:t>
                      </a:r>
                    </a:p>
                  </a:txBody>
                  <a:tcPr anchor="ctr">
                    <a:solidFill>
                      <a:srgbClr val="FFFFFF"/>
                    </a:solidFill>
                  </a:tcPr>
                </a:tc>
                <a:tc>
                  <a:txBody>
                    <a:bodyPr/>
                    <a:lstStyle/>
                    <a:p>
                      <a:pPr algn="ctr"/>
                      <a:r>
                        <a:rPr lang="es-CO" sz="1400">
                          <a:solidFill>
                            <a:srgbClr val="404040"/>
                          </a:solidFill>
                          <a:latin typeface="Calibri"/>
                          <a:ea typeface="Calibri"/>
                          <a:cs typeface="Calibri"/>
                        </a:rPr>
                        <a:t>Bajo</a:t>
                      </a:r>
                    </a:p>
                  </a:txBody>
                  <a:tcPr anchor="ctr">
                    <a:solidFill>
                      <a:srgbClr val="FFFFFF"/>
                    </a:solidFill>
                  </a:tcPr>
                </a:tc>
                <a:tc>
                  <a:txBody>
                    <a:bodyPr/>
                    <a:lstStyle/>
                    <a:p>
                      <a:pPr algn="ctr"/>
                      <a:r>
                        <a:rPr lang="es-CO" sz="1400">
                          <a:solidFill>
                            <a:srgbClr val="404040"/>
                          </a:solidFill>
                          <a:latin typeface="Calibri"/>
                          <a:ea typeface="Calibri"/>
                          <a:cs typeface="Calibri"/>
                        </a:rPr>
                        <a:t>2</a:t>
                      </a:r>
                    </a:p>
                  </a:txBody>
                  <a:tcPr anchor="ctr">
                    <a:solidFill>
                      <a:srgbClr val="FFFFFF"/>
                    </a:solidFill>
                  </a:tcPr>
                </a:tc>
                <a:extLst>
                  <a:ext uri="{0D108BD9-81ED-4DB2-BD59-A6C34878D82A}">
                    <a16:rowId xmlns:a16="http://schemas.microsoft.com/office/drawing/2014/main" val="1795565011"/>
                  </a:ext>
                </a:extLst>
              </a:tr>
              <a:tr h="457200">
                <a:tc>
                  <a:txBody>
                    <a:bodyPr/>
                    <a:lstStyle/>
                    <a:p>
                      <a:pPr algn="ctr"/>
                      <a:r>
                        <a:rPr lang="es-CO" sz="1400">
                          <a:solidFill>
                            <a:srgbClr val="404040"/>
                          </a:solidFill>
                          <a:latin typeface="Calibri"/>
                          <a:ea typeface="Calibri"/>
                          <a:cs typeface="Calibri"/>
                        </a:rPr>
                        <a:t>Medio</a:t>
                      </a:r>
                    </a:p>
                  </a:txBody>
                  <a:tcPr anchor="ctr">
                    <a:solidFill>
                      <a:srgbClr val="FFFFFF"/>
                    </a:solidFill>
                  </a:tcPr>
                </a:tc>
                <a:tc>
                  <a:txBody>
                    <a:bodyPr/>
                    <a:lstStyle/>
                    <a:p>
                      <a:pPr algn="ctr"/>
                      <a:r>
                        <a:rPr lang="es-CO" sz="1400">
                          <a:solidFill>
                            <a:srgbClr val="404040"/>
                          </a:solidFill>
                          <a:latin typeface="Calibri"/>
                          <a:ea typeface="Calibri"/>
                          <a:cs typeface="Calibri"/>
                        </a:rPr>
                        <a:t>3</a:t>
                      </a:r>
                    </a:p>
                  </a:txBody>
                  <a:tcPr anchor="ctr">
                    <a:solidFill>
                      <a:srgbClr val="FFFFFF"/>
                    </a:solidFill>
                  </a:tcPr>
                </a:tc>
                <a:tc>
                  <a:txBody>
                    <a:bodyPr/>
                    <a:lstStyle/>
                    <a:p>
                      <a:pPr algn="ctr"/>
                      <a:r>
                        <a:rPr lang="es-CO" sz="1400">
                          <a:solidFill>
                            <a:srgbClr val="404040"/>
                          </a:solidFill>
                          <a:latin typeface="Calibri"/>
                          <a:ea typeface="Calibri"/>
                          <a:cs typeface="Calibri"/>
                        </a:rPr>
                        <a:t>Medio</a:t>
                      </a:r>
                    </a:p>
                  </a:txBody>
                  <a:tcPr anchor="ctr">
                    <a:solidFill>
                      <a:srgbClr val="FFFFFF"/>
                    </a:solidFill>
                  </a:tcPr>
                </a:tc>
                <a:tc>
                  <a:txBody>
                    <a:bodyPr/>
                    <a:lstStyle/>
                    <a:p>
                      <a:pPr algn="ctr"/>
                      <a:r>
                        <a:rPr lang="es-CO" sz="1400">
                          <a:solidFill>
                            <a:srgbClr val="404040"/>
                          </a:solidFill>
                          <a:latin typeface="Calibri"/>
                          <a:ea typeface="Calibri"/>
                          <a:cs typeface="Calibri"/>
                        </a:rPr>
                        <a:t>3</a:t>
                      </a:r>
                    </a:p>
                  </a:txBody>
                  <a:tcPr anchor="ctr">
                    <a:solidFill>
                      <a:srgbClr val="FFFFFF"/>
                    </a:solidFill>
                  </a:tcPr>
                </a:tc>
                <a:extLst>
                  <a:ext uri="{0D108BD9-81ED-4DB2-BD59-A6C34878D82A}">
                    <a16:rowId xmlns:a16="http://schemas.microsoft.com/office/drawing/2014/main" val="3141296533"/>
                  </a:ext>
                </a:extLst>
              </a:tr>
              <a:tr h="457200">
                <a:tc>
                  <a:txBody>
                    <a:bodyPr/>
                    <a:lstStyle/>
                    <a:p>
                      <a:pPr algn="ctr"/>
                      <a:r>
                        <a:rPr lang="es-CO" sz="1400">
                          <a:solidFill>
                            <a:srgbClr val="404040"/>
                          </a:solidFill>
                          <a:latin typeface="Calibri"/>
                          <a:ea typeface="Calibri"/>
                          <a:cs typeface="Calibri"/>
                        </a:rPr>
                        <a:t>Alto</a:t>
                      </a:r>
                    </a:p>
                  </a:txBody>
                  <a:tcPr anchor="ctr">
                    <a:solidFill>
                      <a:srgbClr val="FFFFFF"/>
                    </a:solidFill>
                  </a:tcPr>
                </a:tc>
                <a:tc>
                  <a:txBody>
                    <a:bodyPr/>
                    <a:lstStyle/>
                    <a:p>
                      <a:pPr algn="ctr"/>
                      <a:r>
                        <a:rPr lang="es-CO" sz="1400">
                          <a:solidFill>
                            <a:srgbClr val="404040"/>
                          </a:solidFill>
                          <a:latin typeface="Calibri"/>
                          <a:ea typeface="Calibri"/>
                          <a:cs typeface="Calibri"/>
                        </a:rPr>
                        <a:t>4</a:t>
                      </a:r>
                    </a:p>
                  </a:txBody>
                  <a:tcPr anchor="ctr">
                    <a:solidFill>
                      <a:srgbClr val="FFFFFF"/>
                    </a:solidFill>
                  </a:tcPr>
                </a:tc>
                <a:tc>
                  <a:txBody>
                    <a:bodyPr/>
                    <a:lstStyle/>
                    <a:p>
                      <a:pPr algn="ctr"/>
                      <a:r>
                        <a:rPr lang="es-CO" sz="1400">
                          <a:solidFill>
                            <a:srgbClr val="404040"/>
                          </a:solidFill>
                          <a:latin typeface="Calibri"/>
                          <a:ea typeface="Calibri"/>
                          <a:cs typeface="Calibri"/>
                        </a:rPr>
                        <a:t>Alto</a:t>
                      </a:r>
                    </a:p>
                  </a:txBody>
                  <a:tcPr anchor="ctr">
                    <a:solidFill>
                      <a:srgbClr val="FFFFFF"/>
                    </a:solidFill>
                  </a:tcPr>
                </a:tc>
                <a:tc>
                  <a:txBody>
                    <a:bodyPr/>
                    <a:lstStyle/>
                    <a:p>
                      <a:pPr algn="ctr"/>
                      <a:r>
                        <a:rPr lang="es-CO" sz="1400">
                          <a:solidFill>
                            <a:srgbClr val="404040"/>
                          </a:solidFill>
                          <a:latin typeface="Calibri"/>
                          <a:ea typeface="Calibri"/>
                          <a:cs typeface="Calibri"/>
                        </a:rPr>
                        <a:t>4</a:t>
                      </a:r>
                    </a:p>
                  </a:txBody>
                  <a:tcPr anchor="ctr">
                    <a:solidFill>
                      <a:srgbClr val="FFFFFF"/>
                    </a:solidFill>
                  </a:tcPr>
                </a:tc>
                <a:extLst>
                  <a:ext uri="{0D108BD9-81ED-4DB2-BD59-A6C34878D82A}">
                    <a16:rowId xmlns:a16="http://schemas.microsoft.com/office/drawing/2014/main" val="2552096662"/>
                  </a:ext>
                </a:extLst>
              </a:tr>
              <a:tr h="457200">
                <a:tc>
                  <a:txBody>
                    <a:bodyPr/>
                    <a:lstStyle/>
                    <a:p>
                      <a:pPr algn="ctr"/>
                      <a:r>
                        <a:rPr lang="es-CO" sz="1400">
                          <a:solidFill>
                            <a:srgbClr val="404040"/>
                          </a:solidFill>
                          <a:latin typeface="Calibri"/>
                          <a:ea typeface="Calibri"/>
                          <a:cs typeface="Calibri"/>
                        </a:rPr>
                        <a:t>Muy alto</a:t>
                      </a:r>
                    </a:p>
                  </a:txBody>
                  <a:tcPr anchor="ctr">
                    <a:solidFill>
                      <a:srgbClr val="FFFFFF"/>
                    </a:solidFill>
                  </a:tcPr>
                </a:tc>
                <a:tc>
                  <a:txBody>
                    <a:bodyPr/>
                    <a:lstStyle/>
                    <a:p>
                      <a:pPr algn="ctr"/>
                      <a:r>
                        <a:rPr lang="es-CO" sz="1400">
                          <a:solidFill>
                            <a:srgbClr val="404040"/>
                          </a:solidFill>
                          <a:latin typeface="Calibri"/>
                          <a:ea typeface="Calibri"/>
                          <a:cs typeface="Calibri"/>
                        </a:rPr>
                        <a:t>5</a:t>
                      </a:r>
                    </a:p>
                  </a:txBody>
                  <a:tcPr anchor="ctr">
                    <a:solidFill>
                      <a:srgbClr val="FFFFFF"/>
                    </a:solidFill>
                  </a:tcPr>
                </a:tc>
                <a:tc>
                  <a:txBody>
                    <a:bodyPr/>
                    <a:lstStyle/>
                    <a:p>
                      <a:pPr algn="ctr"/>
                      <a:r>
                        <a:rPr lang="es-CO" sz="1400">
                          <a:solidFill>
                            <a:srgbClr val="404040"/>
                          </a:solidFill>
                          <a:latin typeface="Calibri"/>
                          <a:ea typeface="Calibri"/>
                          <a:cs typeface="Calibri"/>
                        </a:rPr>
                        <a:t>Muy alto</a:t>
                      </a:r>
                    </a:p>
                  </a:txBody>
                  <a:tcPr anchor="ctr">
                    <a:solidFill>
                      <a:srgbClr val="FFFFFF"/>
                    </a:solidFill>
                  </a:tcPr>
                </a:tc>
                <a:tc>
                  <a:txBody>
                    <a:bodyPr/>
                    <a:lstStyle/>
                    <a:p>
                      <a:pPr algn="ctr"/>
                      <a:r>
                        <a:rPr lang="es-CO" sz="1400" dirty="0">
                          <a:solidFill>
                            <a:srgbClr val="404040"/>
                          </a:solidFill>
                          <a:latin typeface="Calibri"/>
                          <a:ea typeface="Calibri"/>
                          <a:cs typeface="Calibri"/>
                        </a:rPr>
                        <a:t>5</a:t>
                      </a:r>
                    </a:p>
                  </a:txBody>
                  <a:tcPr anchor="ctr">
                    <a:solidFill>
                      <a:srgbClr val="FFFFFF"/>
                    </a:solidFill>
                  </a:tcPr>
                </a:tc>
                <a:extLst>
                  <a:ext uri="{0D108BD9-81ED-4DB2-BD59-A6C34878D82A}">
                    <a16:rowId xmlns:a16="http://schemas.microsoft.com/office/drawing/2014/main" val="2440478246"/>
                  </a:ext>
                </a:extLst>
              </a:tr>
            </a:tbl>
          </a:graphicData>
        </a:graphic>
      </p:graphicFrame>
      <p:sp>
        <p:nvSpPr>
          <p:cNvPr id="9" name="CuadroTexto 8">
            <a:extLst>
              <a:ext uri="{FF2B5EF4-FFF2-40B4-BE49-F238E27FC236}">
                <a16:creationId xmlns:a16="http://schemas.microsoft.com/office/drawing/2014/main" id="{5BC55BFB-4BF9-4848-9174-650063E052D7}"/>
              </a:ext>
            </a:extLst>
          </p:cNvPr>
          <p:cNvSpPr txBox="1"/>
          <p:nvPr/>
        </p:nvSpPr>
        <p:spPr>
          <a:xfrm>
            <a:off x="457200" y="5029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A cada nivel cualitativo se le asigna un valor numérico de 1 a 5</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96883288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C49C431-C4D4-4ED7-94A6-AEB330B5CAA3}"/>
              </a:ext>
            </a:extLst>
          </p:cNvPr>
          <p:cNvSpPr txBox="1"/>
          <p:nvPr/>
        </p:nvSpPr>
        <p:spPr>
          <a:xfrm>
            <a:off x="457200" y="304800"/>
            <a:ext cx="8229600" cy="533400"/>
          </a:xfrm>
          <a:prstGeom prst="rect">
            <a:avLst/>
          </a:prstGeom>
          <a:noFill/>
        </p:spPr>
        <p:txBody>
          <a:bodyPr vertOverflow="overflow" vert="horz" wrap="square" rtlCol="0" anchor="t">
            <a:noAutofit/>
          </a:bodyPr>
          <a:lstStyle/>
          <a:p>
            <a:pPr algn="l"/>
            <a:r>
              <a:rPr lang="es-CO" sz="3000" b="1">
                <a:solidFill>
                  <a:srgbClr val="1F3864"/>
                </a:solidFill>
                <a:latin typeface="Calibri"/>
                <a:ea typeface="Calibri"/>
                <a:cs typeface="Calibri"/>
              </a:rPr>
              <a:t>Análisis semicuantitativo: criticidad</a:t>
            </a:r>
          </a:p>
        </p:txBody>
      </p:sp>
      <p:sp>
        <p:nvSpPr>
          <p:cNvPr id="5" name="Rectángulo 4">
            <a:extLst>
              <a:ext uri="{FF2B5EF4-FFF2-40B4-BE49-F238E27FC236}">
                <a16:creationId xmlns:a16="http://schemas.microsoft.com/office/drawing/2014/main" id="{FE076130-D366-4FE2-AFB5-3E6F9F56E36D}"/>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graphicFrame>
        <p:nvGraphicFramePr>
          <p:cNvPr id="7" name="Tabla 6">
            <a:extLst>
              <a:ext uri="{FF2B5EF4-FFF2-40B4-BE49-F238E27FC236}">
                <a16:creationId xmlns:a16="http://schemas.microsoft.com/office/drawing/2014/main" id="{74B06B45-2DA6-4EF6-8EE0-1C8B2BE364A7}"/>
              </a:ext>
            </a:extLst>
          </p:cNvPr>
          <p:cNvGraphicFramePr>
            <a:graphicFrameLocks noGrp="1"/>
          </p:cNvGraphicFramePr>
          <p:nvPr>
            <p:extLst>
              <p:ext uri="{D42A27DB-BD31-4B8C-83A1-F6EECF244321}">
                <p14:modId xmlns:p14="http://schemas.microsoft.com/office/powerpoint/2010/main" val="1220810942"/>
              </p:ext>
            </p:extLst>
          </p:nvPr>
        </p:nvGraphicFramePr>
        <p:xfrm>
          <a:off x="1473200" y="1270000"/>
          <a:ext cx="6197600" cy="3098800"/>
        </p:xfrm>
        <a:graphic>
          <a:graphicData uri="http://schemas.openxmlformats.org/drawingml/2006/table">
            <a:tbl>
              <a:tblPr firstRow="1" bandRow="1">
                <a:tableStyleId>{5C22544A-7EE6-4342-B048-85BDC9FD1C3A}</a:tableStyleId>
              </a:tblPr>
              <a:tblGrid>
                <a:gridCol w="1549400">
                  <a:extLst>
                    <a:ext uri="{9D8B030D-6E8A-4147-A177-3AD203B41FA5}">
                      <a16:colId xmlns:a16="http://schemas.microsoft.com/office/drawing/2014/main" val="3970146649"/>
                    </a:ext>
                  </a:extLst>
                </a:gridCol>
                <a:gridCol w="1549400">
                  <a:extLst>
                    <a:ext uri="{9D8B030D-6E8A-4147-A177-3AD203B41FA5}">
                      <a16:colId xmlns:a16="http://schemas.microsoft.com/office/drawing/2014/main" val="750677933"/>
                    </a:ext>
                  </a:extLst>
                </a:gridCol>
                <a:gridCol w="1549400">
                  <a:extLst>
                    <a:ext uri="{9D8B030D-6E8A-4147-A177-3AD203B41FA5}">
                      <a16:colId xmlns:a16="http://schemas.microsoft.com/office/drawing/2014/main" val="3693397319"/>
                    </a:ext>
                  </a:extLst>
                </a:gridCol>
                <a:gridCol w="1549400">
                  <a:extLst>
                    <a:ext uri="{9D8B030D-6E8A-4147-A177-3AD203B41FA5}">
                      <a16:colId xmlns:a16="http://schemas.microsoft.com/office/drawing/2014/main" val="1095973686"/>
                    </a:ext>
                  </a:extLst>
                </a:gridCol>
              </a:tblGrid>
              <a:tr h="406400">
                <a:tc gridSpan="2">
                  <a:txBody>
                    <a:bodyPr/>
                    <a:lstStyle/>
                    <a:p>
                      <a:pPr algn="ctr"/>
                      <a:r>
                        <a:rPr lang="es-CO" sz="1400" b="1">
                          <a:solidFill>
                            <a:srgbClr val="FFFFFF"/>
                          </a:solidFill>
                          <a:latin typeface="Calibri"/>
                          <a:ea typeface="Calibri"/>
                          <a:cs typeface="Calibri"/>
                        </a:rPr>
                        <a:t>Criticidad · opción 1</a:t>
                      </a:r>
                    </a:p>
                  </a:txBody>
                  <a:tcPr anchor="ctr">
                    <a:solidFill>
                      <a:srgbClr val="1F3864"/>
                    </a:solidFill>
                  </a:tcPr>
                </a:tc>
                <a:tc hMerge="1">
                  <a:txBody>
                    <a:bodyPr/>
                    <a:lstStyle/>
                    <a:p>
                      <a:endParaRPr lang="es-CO"/>
                    </a:p>
                  </a:txBody>
                  <a:tcPr/>
                </a:tc>
                <a:tc gridSpan="2">
                  <a:txBody>
                    <a:bodyPr/>
                    <a:lstStyle/>
                    <a:p>
                      <a:pPr algn="ctr"/>
                      <a:r>
                        <a:rPr lang="es-CO" sz="1400" b="1">
                          <a:solidFill>
                            <a:srgbClr val="FFFFFF"/>
                          </a:solidFill>
                          <a:latin typeface="Calibri"/>
                          <a:ea typeface="Calibri"/>
                          <a:cs typeface="Calibri"/>
                        </a:rPr>
                        <a:t>Criticidad · opción 2</a:t>
                      </a:r>
                    </a:p>
                  </a:txBody>
                  <a:tcPr anchor="ctr">
                    <a:solidFill>
                      <a:srgbClr val="1F3864"/>
                    </a:solidFill>
                  </a:tcPr>
                </a:tc>
                <a:tc hMerge="1">
                  <a:txBody>
                    <a:bodyPr/>
                    <a:lstStyle/>
                    <a:p>
                      <a:endParaRPr lang="es-CO"/>
                    </a:p>
                  </a:txBody>
                  <a:tcPr/>
                </a:tc>
                <a:extLst>
                  <a:ext uri="{0D108BD9-81ED-4DB2-BD59-A6C34878D82A}">
                    <a16:rowId xmlns:a16="http://schemas.microsoft.com/office/drawing/2014/main" val="1299141492"/>
                  </a:ext>
                </a:extLst>
              </a:tr>
              <a:tr h="406400">
                <a:tc>
                  <a:txBody>
                    <a:bodyPr/>
                    <a:lstStyle/>
                    <a:p>
                      <a:pPr algn="ctr"/>
                      <a:r>
                        <a:rPr lang="es-CO" sz="1300" b="1">
                          <a:solidFill>
                            <a:srgbClr val="1F3864"/>
                          </a:solidFill>
                          <a:latin typeface="Calibri"/>
                          <a:ea typeface="Calibri"/>
                          <a:cs typeface="Calibri"/>
                        </a:rPr>
                        <a:t>Escala</a:t>
                      </a:r>
                    </a:p>
                  </a:txBody>
                  <a:tcPr anchor="ctr">
                    <a:solidFill>
                      <a:srgbClr val="D6DCE5"/>
                    </a:solidFill>
                  </a:tcPr>
                </a:tc>
                <a:tc>
                  <a:txBody>
                    <a:bodyPr/>
                    <a:lstStyle/>
                    <a:p>
                      <a:pPr algn="ctr"/>
                      <a:r>
                        <a:rPr lang="es-CO" sz="1300" b="1">
                          <a:solidFill>
                            <a:srgbClr val="1F3864"/>
                          </a:solidFill>
                          <a:latin typeface="Calibri"/>
                          <a:ea typeface="Calibri"/>
                          <a:cs typeface="Calibri"/>
                        </a:rPr>
                        <a:t>Valor</a:t>
                      </a:r>
                    </a:p>
                  </a:txBody>
                  <a:tcPr anchor="ctr">
                    <a:solidFill>
                      <a:srgbClr val="D6DCE5"/>
                    </a:solidFill>
                  </a:tcPr>
                </a:tc>
                <a:tc>
                  <a:txBody>
                    <a:bodyPr/>
                    <a:lstStyle/>
                    <a:p>
                      <a:pPr algn="ctr"/>
                      <a:r>
                        <a:rPr lang="es-CO" sz="1300" b="1">
                          <a:solidFill>
                            <a:srgbClr val="1F3864"/>
                          </a:solidFill>
                          <a:latin typeface="Calibri"/>
                          <a:ea typeface="Calibri"/>
                          <a:cs typeface="Calibri"/>
                        </a:rPr>
                        <a:t>Escala</a:t>
                      </a:r>
                    </a:p>
                  </a:txBody>
                  <a:tcPr anchor="ctr">
                    <a:solidFill>
                      <a:srgbClr val="D6DCE5"/>
                    </a:solidFill>
                  </a:tcPr>
                </a:tc>
                <a:tc>
                  <a:txBody>
                    <a:bodyPr/>
                    <a:lstStyle/>
                    <a:p>
                      <a:pPr algn="ctr"/>
                      <a:r>
                        <a:rPr lang="es-CO" sz="1300" b="1">
                          <a:solidFill>
                            <a:srgbClr val="1F3864"/>
                          </a:solidFill>
                          <a:latin typeface="Calibri"/>
                          <a:ea typeface="Calibri"/>
                          <a:cs typeface="Calibri"/>
                        </a:rPr>
                        <a:t>Valor</a:t>
                      </a:r>
                    </a:p>
                  </a:txBody>
                  <a:tcPr anchor="ctr">
                    <a:solidFill>
                      <a:srgbClr val="D6DCE5"/>
                    </a:solidFill>
                  </a:tcPr>
                </a:tc>
                <a:extLst>
                  <a:ext uri="{0D108BD9-81ED-4DB2-BD59-A6C34878D82A}">
                    <a16:rowId xmlns:a16="http://schemas.microsoft.com/office/drawing/2014/main" val="4225205019"/>
                  </a:ext>
                </a:extLst>
              </a:tr>
              <a:tr h="457200">
                <a:tc>
                  <a:txBody>
                    <a:bodyPr/>
                    <a:lstStyle/>
                    <a:p>
                      <a:pPr algn="ctr"/>
                      <a:r>
                        <a:rPr lang="es-CO" sz="1400" dirty="0">
                          <a:solidFill>
                            <a:srgbClr val="404040"/>
                          </a:solidFill>
                          <a:latin typeface="Calibri"/>
                          <a:ea typeface="Calibri"/>
                          <a:cs typeface="Calibri"/>
                        </a:rPr>
                        <a:t>Nivel 1</a:t>
                      </a:r>
                    </a:p>
                  </a:txBody>
                  <a:tcPr anchor="ctr">
                    <a:solidFill>
                      <a:srgbClr val="FFFFFF"/>
                    </a:solidFill>
                  </a:tcPr>
                </a:tc>
                <a:tc>
                  <a:txBody>
                    <a:bodyPr/>
                    <a:lstStyle/>
                    <a:p>
                      <a:pPr algn="ctr"/>
                      <a:r>
                        <a:rPr lang="es-CO" sz="1400">
                          <a:solidFill>
                            <a:srgbClr val="404040"/>
                          </a:solidFill>
                          <a:latin typeface="Calibri"/>
                          <a:ea typeface="Calibri"/>
                          <a:cs typeface="Calibri"/>
                        </a:rPr>
                        <a:t>1 – 5,8</a:t>
                      </a:r>
                    </a:p>
                  </a:txBody>
                  <a:tcPr anchor="ctr">
                    <a:solidFill>
                      <a:srgbClr val="FFFFFF"/>
                    </a:solidFill>
                  </a:tcPr>
                </a:tc>
                <a:tc>
                  <a:txBody>
                    <a:bodyPr/>
                    <a:lstStyle/>
                    <a:p>
                      <a:pPr algn="ctr"/>
                      <a:r>
                        <a:rPr lang="es-CO" sz="1400">
                          <a:solidFill>
                            <a:srgbClr val="404040"/>
                          </a:solidFill>
                          <a:latin typeface="Calibri"/>
                          <a:ea typeface="Calibri"/>
                          <a:cs typeface="Calibri"/>
                        </a:rPr>
                        <a:t>Nivel 1</a:t>
                      </a:r>
                    </a:p>
                  </a:txBody>
                  <a:tcPr anchor="ctr">
                    <a:solidFill>
                      <a:srgbClr val="FFFFFF"/>
                    </a:solidFill>
                  </a:tcPr>
                </a:tc>
                <a:tc>
                  <a:txBody>
                    <a:bodyPr/>
                    <a:lstStyle/>
                    <a:p>
                      <a:pPr algn="ctr"/>
                      <a:r>
                        <a:rPr lang="es-CO" sz="1400">
                          <a:solidFill>
                            <a:srgbClr val="404040"/>
                          </a:solidFill>
                          <a:latin typeface="Calibri"/>
                          <a:ea typeface="Calibri"/>
                          <a:cs typeface="Calibri"/>
                        </a:rPr>
                        <a:t>1 – 2,25</a:t>
                      </a:r>
                    </a:p>
                  </a:txBody>
                  <a:tcPr anchor="ctr">
                    <a:solidFill>
                      <a:srgbClr val="FFFFFF"/>
                    </a:solidFill>
                  </a:tcPr>
                </a:tc>
                <a:extLst>
                  <a:ext uri="{0D108BD9-81ED-4DB2-BD59-A6C34878D82A}">
                    <a16:rowId xmlns:a16="http://schemas.microsoft.com/office/drawing/2014/main" val="3616823967"/>
                  </a:ext>
                </a:extLst>
              </a:tr>
              <a:tr h="457200">
                <a:tc>
                  <a:txBody>
                    <a:bodyPr/>
                    <a:lstStyle/>
                    <a:p>
                      <a:pPr algn="ctr"/>
                      <a:r>
                        <a:rPr lang="es-CO" sz="1400">
                          <a:solidFill>
                            <a:srgbClr val="404040"/>
                          </a:solidFill>
                          <a:latin typeface="Calibri"/>
                          <a:ea typeface="Calibri"/>
                          <a:cs typeface="Calibri"/>
                        </a:rPr>
                        <a:t>Nivel 2</a:t>
                      </a:r>
                    </a:p>
                  </a:txBody>
                  <a:tcPr anchor="ctr">
                    <a:solidFill>
                      <a:srgbClr val="FFFFFF"/>
                    </a:solidFill>
                  </a:tcPr>
                </a:tc>
                <a:tc>
                  <a:txBody>
                    <a:bodyPr/>
                    <a:lstStyle/>
                    <a:p>
                      <a:pPr algn="ctr"/>
                      <a:r>
                        <a:rPr lang="es-CO" sz="1400">
                          <a:solidFill>
                            <a:srgbClr val="404040"/>
                          </a:solidFill>
                          <a:latin typeface="Calibri"/>
                          <a:ea typeface="Calibri"/>
                          <a:cs typeface="Calibri"/>
                        </a:rPr>
                        <a:t>5,8 – 10,6</a:t>
                      </a:r>
                    </a:p>
                  </a:txBody>
                  <a:tcPr anchor="ctr">
                    <a:solidFill>
                      <a:srgbClr val="FFFFFF"/>
                    </a:solidFill>
                  </a:tcPr>
                </a:tc>
                <a:tc>
                  <a:txBody>
                    <a:bodyPr/>
                    <a:lstStyle/>
                    <a:p>
                      <a:pPr algn="ctr"/>
                      <a:r>
                        <a:rPr lang="es-CO" sz="1400">
                          <a:solidFill>
                            <a:srgbClr val="404040"/>
                          </a:solidFill>
                          <a:latin typeface="Calibri"/>
                          <a:ea typeface="Calibri"/>
                          <a:cs typeface="Calibri"/>
                        </a:rPr>
                        <a:t>Nivel 2</a:t>
                      </a:r>
                    </a:p>
                  </a:txBody>
                  <a:tcPr anchor="ctr">
                    <a:solidFill>
                      <a:srgbClr val="FFFFFF"/>
                    </a:solidFill>
                  </a:tcPr>
                </a:tc>
                <a:tc>
                  <a:txBody>
                    <a:bodyPr/>
                    <a:lstStyle/>
                    <a:p>
                      <a:pPr algn="ctr"/>
                      <a:r>
                        <a:rPr lang="es-CO" sz="1400">
                          <a:solidFill>
                            <a:srgbClr val="404040"/>
                          </a:solidFill>
                          <a:latin typeface="Calibri"/>
                          <a:ea typeface="Calibri"/>
                          <a:cs typeface="Calibri"/>
                        </a:rPr>
                        <a:t>2,25 – 6,25</a:t>
                      </a:r>
                    </a:p>
                  </a:txBody>
                  <a:tcPr anchor="ctr">
                    <a:solidFill>
                      <a:srgbClr val="FFFFFF"/>
                    </a:solidFill>
                  </a:tcPr>
                </a:tc>
                <a:extLst>
                  <a:ext uri="{0D108BD9-81ED-4DB2-BD59-A6C34878D82A}">
                    <a16:rowId xmlns:a16="http://schemas.microsoft.com/office/drawing/2014/main" val="4091250235"/>
                  </a:ext>
                </a:extLst>
              </a:tr>
              <a:tr h="457200">
                <a:tc>
                  <a:txBody>
                    <a:bodyPr/>
                    <a:lstStyle/>
                    <a:p>
                      <a:pPr algn="ctr"/>
                      <a:r>
                        <a:rPr lang="es-CO" sz="1400">
                          <a:solidFill>
                            <a:srgbClr val="404040"/>
                          </a:solidFill>
                          <a:latin typeface="Calibri"/>
                          <a:ea typeface="Calibri"/>
                          <a:cs typeface="Calibri"/>
                        </a:rPr>
                        <a:t>Nivel 3</a:t>
                      </a:r>
                    </a:p>
                  </a:txBody>
                  <a:tcPr anchor="ctr">
                    <a:solidFill>
                      <a:srgbClr val="FFFFFF"/>
                    </a:solidFill>
                  </a:tcPr>
                </a:tc>
                <a:tc>
                  <a:txBody>
                    <a:bodyPr/>
                    <a:lstStyle/>
                    <a:p>
                      <a:pPr algn="ctr"/>
                      <a:r>
                        <a:rPr lang="es-CO" sz="1400">
                          <a:solidFill>
                            <a:srgbClr val="404040"/>
                          </a:solidFill>
                          <a:latin typeface="Calibri"/>
                          <a:ea typeface="Calibri"/>
                          <a:cs typeface="Calibri"/>
                        </a:rPr>
                        <a:t>10,6 – 15,4</a:t>
                      </a:r>
                    </a:p>
                  </a:txBody>
                  <a:tcPr anchor="ctr">
                    <a:solidFill>
                      <a:srgbClr val="FFFFFF"/>
                    </a:solidFill>
                  </a:tcPr>
                </a:tc>
                <a:tc>
                  <a:txBody>
                    <a:bodyPr/>
                    <a:lstStyle/>
                    <a:p>
                      <a:pPr algn="ctr"/>
                      <a:r>
                        <a:rPr lang="es-CO" sz="1400">
                          <a:solidFill>
                            <a:srgbClr val="404040"/>
                          </a:solidFill>
                          <a:latin typeface="Calibri"/>
                          <a:ea typeface="Calibri"/>
                          <a:cs typeface="Calibri"/>
                        </a:rPr>
                        <a:t>Nivel 3</a:t>
                      </a:r>
                    </a:p>
                  </a:txBody>
                  <a:tcPr anchor="ctr">
                    <a:solidFill>
                      <a:srgbClr val="FFFFFF"/>
                    </a:solidFill>
                  </a:tcPr>
                </a:tc>
                <a:tc>
                  <a:txBody>
                    <a:bodyPr/>
                    <a:lstStyle/>
                    <a:p>
                      <a:pPr algn="ctr"/>
                      <a:r>
                        <a:rPr lang="es-CO" sz="1400">
                          <a:solidFill>
                            <a:srgbClr val="404040"/>
                          </a:solidFill>
                          <a:latin typeface="Calibri"/>
                          <a:ea typeface="Calibri"/>
                          <a:cs typeface="Calibri"/>
                        </a:rPr>
                        <a:t>6,25 – 12,25</a:t>
                      </a:r>
                    </a:p>
                  </a:txBody>
                  <a:tcPr anchor="ctr">
                    <a:solidFill>
                      <a:srgbClr val="FFFFFF"/>
                    </a:solidFill>
                  </a:tcPr>
                </a:tc>
                <a:extLst>
                  <a:ext uri="{0D108BD9-81ED-4DB2-BD59-A6C34878D82A}">
                    <a16:rowId xmlns:a16="http://schemas.microsoft.com/office/drawing/2014/main" val="351235486"/>
                  </a:ext>
                </a:extLst>
              </a:tr>
              <a:tr h="457200">
                <a:tc>
                  <a:txBody>
                    <a:bodyPr/>
                    <a:lstStyle/>
                    <a:p>
                      <a:pPr algn="ctr"/>
                      <a:r>
                        <a:rPr lang="es-CO" sz="1400">
                          <a:solidFill>
                            <a:srgbClr val="404040"/>
                          </a:solidFill>
                          <a:latin typeface="Calibri"/>
                          <a:ea typeface="Calibri"/>
                          <a:cs typeface="Calibri"/>
                        </a:rPr>
                        <a:t>Nivel 4</a:t>
                      </a:r>
                    </a:p>
                  </a:txBody>
                  <a:tcPr anchor="ctr">
                    <a:solidFill>
                      <a:srgbClr val="FFFFFF"/>
                    </a:solidFill>
                  </a:tcPr>
                </a:tc>
                <a:tc>
                  <a:txBody>
                    <a:bodyPr/>
                    <a:lstStyle/>
                    <a:p>
                      <a:pPr algn="ctr"/>
                      <a:r>
                        <a:rPr lang="es-CO" sz="1400">
                          <a:solidFill>
                            <a:srgbClr val="404040"/>
                          </a:solidFill>
                          <a:latin typeface="Calibri"/>
                          <a:ea typeface="Calibri"/>
                          <a:cs typeface="Calibri"/>
                        </a:rPr>
                        <a:t>15,4 – 20,2</a:t>
                      </a:r>
                    </a:p>
                  </a:txBody>
                  <a:tcPr anchor="ctr">
                    <a:solidFill>
                      <a:srgbClr val="FFFFFF"/>
                    </a:solidFill>
                  </a:tcPr>
                </a:tc>
                <a:tc>
                  <a:txBody>
                    <a:bodyPr/>
                    <a:lstStyle/>
                    <a:p>
                      <a:pPr algn="ctr"/>
                      <a:r>
                        <a:rPr lang="es-CO" sz="1400">
                          <a:solidFill>
                            <a:srgbClr val="404040"/>
                          </a:solidFill>
                          <a:latin typeface="Calibri"/>
                          <a:ea typeface="Calibri"/>
                          <a:cs typeface="Calibri"/>
                        </a:rPr>
                        <a:t>Nivel 4</a:t>
                      </a:r>
                    </a:p>
                  </a:txBody>
                  <a:tcPr anchor="ctr">
                    <a:solidFill>
                      <a:srgbClr val="FFFFFF"/>
                    </a:solidFill>
                  </a:tcPr>
                </a:tc>
                <a:tc>
                  <a:txBody>
                    <a:bodyPr/>
                    <a:lstStyle/>
                    <a:p>
                      <a:pPr algn="ctr"/>
                      <a:r>
                        <a:rPr lang="es-CO" sz="1400">
                          <a:solidFill>
                            <a:srgbClr val="404040"/>
                          </a:solidFill>
                          <a:latin typeface="Calibri"/>
                          <a:ea typeface="Calibri"/>
                          <a:cs typeface="Calibri"/>
                        </a:rPr>
                        <a:t>12,25 – 20,25</a:t>
                      </a:r>
                    </a:p>
                  </a:txBody>
                  <a:tcPr anchor="ctr">
                    <a:solidFill>
                      <a:srgbClr val="FFFFFF"/>
                    </a:solidFill>
                  </a:tcPr>
                </a:tc>
                <a:extLst>
                  <a:ext uri="{0D108BD9-81ED-4DB2-BD59-A6C34878D82A}">
                    <a16:rowId xmlns:a16="http://schemas.microsoft.com/office/drawing/2014/main" val="2003085635"/>
                  </a:ext>
                </a:extLst>
              </a:tr>
              <a:tr h="457200">
                <a:tc>
                  <a:txBody>
                    <a:bodyPr/>
                    <a:lstStyle/>
                    <a:p>
                      <a:pPr algn="ctr"/>
                      <a:r>
                        <a:rPr lang="es-CO" sz="1400">
                          <a:solidFill>
                            <a:srgbClr val="404040"/>
                          </a:solidFill>
                          <a:latin typeface="Calibri"/>
                          <a:ea typeface="Calibri"/>
                          <a:cs typeface="Calibri"/>
                        </a:rPr>
                        <a:t>Nivel 5</a:t>
                      </a:r>
                    </a:p>
                  </a:txBody>
                  <a:tcPr anchor="ctr">
                    <a:solidFill>
                      <a:srgbClr val="FFFFFF"/>
                    </a:solidFill>
                  </a:tcPr>
                </a:tc>
                <a:tc>
                  <a:txBody>
                    <a:bodyPr/>
                    <a:lstStyle/>
                    <a:p>
                      <a:pPr algn="ctr"/>
                      <a:r>
                        <a:rPr lang="es-CO" sz="1400">
                          <a:solidFill>
                            <a:srgbClr val="404040"/>
                          </a:solidFill>
                          <a:latin typeface="Calibri"/>
                          <a:ea typeface="Calibri"/>
                          <a:cs typeface="Calibri"/>
                        </a:rPr>
                        <a:t>20,2 – 25</a:t>
                      </a:r>
                    </a:p>
                  </a:txBody>
                  <a:tcPr anchor="ctr">
                    <a:solidFill>
                      <a:srgbClr val="FFFFFF"/>
                    </a:solidFill>
                  </a:tcPr>
                </a:tc>
                <a:tc>
                  <a:txBody>
                    <a:bodyPr/>
                    <a:lstStyle/>
                    <a:p>
                      <a:pPr algn="ctr"/>
                      <a:r>
                        <a:rPr lang="es-CO" sz="1400">
                          <a:solidFill>
                            <a:srgbClr val="404040"/>
                          </a:solidFill>
                          <a:latin typeface="Calibri"/>
                          <a:ea typeface="Calibri"/>
                          <a:cs typeface="Calibri"/>
                        </a:rPr>
                        <a:t>Nivel 5</a:t>
                      </a:r>
                    </a:p>
                  </a:txBody>
                  <a:tcPr anchor="ctr">
                    <a:solidFill>
                      <a:srgbClr val="FFFFFF"/>
                    </a:solidFill>
                  </a:tcPr>
                </a:tc>
                <a:tc>
                  <a:txBody>
                    <a:bodyPr/>
                    <a:lstStyle/>
                    <a:p>
                      <a:pPr algn="ctr"/>
                      <a:r>
                        <a:rPr lang="es-CO" sz="1400" dirty="0">
                          <a:solidFill>
                            <a:srgbClr val="404040"/>
                          </a:solidFill>
                          <a:latin typeface="Calibri"/>
                          <a:ea typeface="Calibri"/>
                          <a:cs typeface="Calibri"/>
                        </a:rPr>
                        <a:t>20,25 – 25</a:t>
                      </a:r>
                    </a:p>
                  </a:txBody>
                  <a:tcPr anchor="ctr">
                    <a:solidFill>
                      <a:srgbClr val="FFFFFF"/>
                    </a:solidFill>
                  </a:tcPr>
                </a:tc>
                <a:extLst>
                  <a:ext uri="{0D108BD9-81ED-4DB2-BD59-A6C34878D82A}">
                    <a16:rowId xmlns:a16="http://schemas.microsoft.com/office/drawing/2014/main" val="1151338847"/>
                  </a:ext>
                </a:extLst>
              </a:tr>
            </a:tbl>
          </a:graphicData>
        </a:graphic>
      </p:graphicFrame>
      <p:sp>
        <p:nvSpPr>
          <p:cNvPr id="8" name="CuadroTexto 7">
            <a:extLst>
              <a:ext uri="{FF2B5EF4-FFF2-40B4-BE49-F238E27FC236}">
                <a16:creationId xmlns:a16="http://schemas.microsoft.com/office/drawing/2014/main" id="{5EFA9A76-FB0A-44AB-AC1F-F3FF78F92023}"/>
              </a:ext>
            </a:extLst>
          </p:cNvPr>
          <p:cNvSpPr txBox="1"/>
          <p:nvPr/>
        </p:nvSpPr>
        <p:spPr>
          <a:xfrm>
            <a:off x="457200" y="5029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Dos formas de agrupar el producto de posibilidad por consecuencia en niveles de criticidad</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6606701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Tratamiento del riesgo cuantitativo</a:t>
            </a:r>
            <a:endParaRPr lang="es-CO" sz="3000" b="1" dirty="0">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3F3F80FA-A03B-4A16-BA04-17B511D94E50}"/>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7500080A-ADD9-4DA7-A168-EE720C51E8EC}"/>
              </a:ext>
            </a:extLst>
          </p:cNvPr>
          <p:cNvSpPr txBox="1"/>
          <p:nvPr/>
        </p:nvSpPr>
        <p:spPr>
          <a:xfrm>
            <a:off x="457200" y="5056632"/>
            <a:ext cx="8229600" cy="256032"/>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Métodos cuantitativos de tratamiento del riesgo</a:t>
            </a:r>
            <a:endParaRPr lang="es-CO" sz="1100">
              <a:solidFill>
                <a:srgbClr val="7F7F7F"/>
              </a:solidFill>
              <a:latin typeface="Calibri"/>
              <a:ea typeface="Calibri"/>
              <a:cs typeface="Calibri"/>
            </a:endParaRPr>
          </a:p>
        </p:txBody>
      </p:sp>
      <p:sp>
        <p:nvSpPr>
          <p:cNvPr id="7" name="Idea principal"/>
          <p:cNvSpPr txBox="1"/>
          <p:nvPr/>
        </p:nvSpPr>
        <p:spPr>
          <a:xfrm>
            <a:off x="457200" y="1161288"/>
            <a:ext cx="8229600" cy="310896"/>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404040"/>
                </a:solidFill>
                <a:latin typeface="Calibri"/>
              </a:rPr>
              <a:t>La criticidad combina la magnitud de las consecuencias con la posibilidad de ocurrencia.</a:t>
            </a:r>
          </a:p>
        </p:txBody>
      </p:sp>
      <p:sp>
        <p:nvSpPr>
          <p:cNvPr id="8" name="Fórmula consecuencia"/>
          <p:cNvSpPr txBox="1"/>
          <p:nvPr/>
        </p:nvSpPr>
        <p:spPr>
          <a:xfrm>
            <a:off x="530352" y="1591056"/>
            <a:ext cx="2468880" cy="438912"/>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ED7D31"/>
                </a:solidFill>
                <a:latin typeface="Calibri"/>
              </a:rPr>
              <a:t>CONSECUENCIA</a:t>
            </a:r>
          </a:p>
        </p:txBody>
      </p:sp>
      <p:sp>
        <p:nvSpPr>
          <p:cNvPr id="9" name="Operador multiplicación"/>
          <p:cNvSpPr txBox="1"/>
          <p:nvPr/>
        </p:nvSpPr>
        <p:spPr>
          <a:xfrm>
            <a:off x="2953512" y="1591056"/>
            <a:ext cx="411480" cy="438912"/>
          </a:xfrm>
          <a:prstGeom prst="rect">
            <a:avLst/>
          </a:prstGeom>
          <a:noFill/>
        </p:spPr>
        <p:txBody>
          <a:bodyPr wrap="square" lIns="0" tIns="0" rIns="0" bIns="0" anchor="ctr">
            <a:spAutoFit/>
          </a:bodyPr>
          <a:lstStyle/>
          <a:p>
            <a:pPr algn="ctr">
              <a:lnSpc>
                <a:spcPct val="100000"/>
              </a:lnSpc>
              <a:spcBef>
                <a:spcPts val="0"/>
              </a:spcBef>
              <a:spcAft>
                <a:spcPts val="0"/>
              </a:spcAft>
            </a:pPr>
            <a:r>
              <a:rPr sz="2700" b="1">
                <a:solidFill>
                  <a:srgbClr val="1F3864"/>
                </a:solidFill>
                <a:latin typeface="Calibri"/>
              </a:rPr>
              <a:t>×</a:t>
            </a:r>
          </a:p>
        </p:txBody>
      </p:sp>
      <p:sp>
        <p:nvSpPr>
          <p:cNvPr id="10" name="Fórmula posibilidad"/>
          <p:cNvSpPr txBox="1"/>
          <p:nvPr/>
        </p:nvSpPr>
        <p:spPr>
          <a:xfrm>
            <a:off x="3364992" y="1591056"/>
            <a:ext cx="2423160" cy="438912"/>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1F3864"/>
                </a:solidFill>
                <a:latin typeface="Calibri"/>
              </a:rPr>
              <a:t>POSIBILIDAD</a:t>
            </a:r>
          </a:p>
        </p:txBody>
      </p:sp>
      <p:sp>
        <p:nvSpPr>
          <p:cNvPr id="11" name="Operador igualdad"/>
          <p:cNvSpPr txBox="1"/>
          <p:nvPr/>
        </p:nvSpPr>
        <p:spPr>
          <a:xfrm>
            <a:off x="5760720" y="1591056"/>
            <a:ext cx="411480" cy="438912"/>
          </a:xfrm>
          <a:prstGeom prst="rect">
            <a:avLst/>
          </a:prstGeom>
          <a:noFill/>
        </p:spPr>
        <p:txBody>
          <a:bodyPr wrap="square" lIns="0" tIns="0" rIns="0" bIns="0" anchor="ctr">
            <a:spAutoFit/>
          </a:bodyPr>
          <a:lstStyle/>
          <a:p>
            <a:pPr algn="ctr">
              <a:lnSpc>
                <a:spcPct val="100000"/>
              </a:lnSpc>
              <a:spcBef>
                <a:spcPts val="0"/>
              </a:spcBef>
              <a:spcAft>
                <a:spcPts val="0"/>
              </a:spcAft>
            </a:pPr>
            <a:r>
              <a:rPr sz="2700" b="1">
                <a:solidFill>
                  <a:srgbClr val="1F3864"/>
                </a:solidFill>
                <a:latin typeface="Calibri"/>
              </a:rPr>
              <a:t>=</a:t>
            </a:r>
          </a:p>
        </p:txBody>
      </p:sp>
      <p:sp>
        <p:nvSpPr>
          <p:cNvPr id="12" name="Fórmula criticidad"/>
          <p:cNvSpPr txBox="1"/>
          <p:nvPr/>
        </p:nvSpPr>
        <p:spPr>
          <a:xfrm>
            <a:off x="6172200" y="1591056"/>
            <a:ext cx="2441448" cy="438912"/>
          </a:xfrm>
          <a:prstGeom prst="rect">
            <a:avLst/>
          </a:prstGeom>
          <a:noFill/>
        </p:spPr>
        <p:txBody>
          <a:bodyPr wrap="square" lIns="0" tIns="0" rIns="0" bIns="0" anchor="ctr">
            <a:spAutoFit/>
          </a:bodyPr>
          <a:lstStyle/>
          <a:p>
            <a:pPr algn="ctr">
              <a:lnSpc>
                <a:spcPct val="100000"/>
              </a:lnSpc>
              <a:spcBef>
                <a:spcPts val="0"/>
              </a:spcBef>
              <a:spcAft>
                <a:spcPts val="0"/>
              </a:spcAft>
            </a:pPr>
            <a:r>
              <a:rPr sz="2200" b="1">
                <a:solidFill>
                  <a:srgbClr val="5B9BD5"/>
                </a:solidFill>
                <a:latin typeface="Calibri"/>
              </a:rPr>
              <a:t>CRITICIDAD</a:t>
            </a:r>
          </a:p>
        </p:txBody>
      </p:sp>
      <p:sp>
        <p:nvSpPr>
          <p:cNvPr id="13" name="Regla consecuencia"/>
          <p:cNvSpPr/>
          <p:nvPr/>
        </p:nvSpPr>
        <p:spPr>
          <a:xfrm>
            <a:off x="749808" y="2093976"/>
            <a:ext cx="2029968" cy="32004"/>
          </a:xfrm>
          <a:prstGeom prst="rect">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gla posibilidad"/>
          <p:cNvSpPr/>
          <p:nvPr/>
        </p:nvSpPr>
        <p:spPr>
          <a:xfrm>
            <a:off x="3566160" y="2093976"/>
            <a:ext cx="2029968" cy="32004"/>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gla criticidad"/>
          <p:cNvSpPr/>
          <p:nvPr/>
        </p:nvSpPr>
        <p:spPr>
          <a:xfrm>
            <a:off x="6382512" y="2093976"/>
            <a:ext cx="2029968" cy="32004"/>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eparador de columnas"/>
          <p:cNvSpPr/>
          <p:nvPr/>
        </p:nvSpPr>
        <p:spPr>
          <a:xfrm>
            <a:off x="3063240" y="2340864"/>
            <a:ext cx="16459" cy="2432304"/>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Separador de columnas"/>
          <p:cNvSpPr/>
          <p:nvPr/>
        </p:nvSpPr>
        <p:spPr>
          <a:xfrm>
            <a:off x="6080760" y="2340864"/>
            <a:ext cx="16459" cy="2432304"/>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ontenido columna 1"/>
          <p:cNvSpPr txBox="1"/>
          <p:nvPr/>
        </p:nvSpPr>
        <p:spPr>
          <a:xfrm>
            <a:off x="530352" y="2395728"/>
            <a:ext cx="2331720" cy="2331720"/>
          </a:xfrm>
          <a:prstGeom prst="rect">
            <a:avLst/>
          </a:prstGeom>
          <a:noFill/>
        </p:spPr>
        <p:txBody>
          <a:bodyPr wrap="square" lIns="0" tIns="0" rIns="0" bIns="0" anchor="t">
            <a:spAutoFit/>
          </a:bodyPr>
          <a:lstStyle/>
          <a:p>
            <a:pPr algn="l">
              <a:lnSpc>
                <a:spcPct val="100000"/>
              </a:lnSpc>
              <a:spcBef>
                <a:spcPts val="0"/>
              </a:spcBef>
              <a:spcAft>
                <a:spcPts val="500"/>
              </a:spcAft>
            </a:pPr>
            <a:r>
              <a:rPr sz="1400" b="1">
                <a:solidFill>
                  <a:srgbClr val="7F7F7F"/>
                </a:solidFill>
                <a:latin typeface="Calibri"/>
              </a:rPr>
              <a:t>TAMBIÉN LLAMADA</a:t>
            </a:r>
          </a:p>
          <a:p>
            <a:pPr algn="l">
              <a:lnSpc>
                <a:spcPct val="100000"/>
              </a:lnSpc>
              <a:spcBef>
                <a:spcPts val="0"/>
              </a:spcBef>
              <a:spcAft>
                <a:spcPts val="1500"/>
              </a:spcAft>
            </a:pPr>
            <a:r>
              <a:rPr sz="1600" b="1">
                <a:solidFill>
                  <a:srgbClr val="1F3864"/>
                </a:solidFill>
                <a:latin typeface="Calibri"/>
              </a:rPr>
              <a:t>Severidad · Magnitud del impacto</a:t>
            </a:r>
          </a:p>
          <a:p>
            <a:pPr algn="l">
              <a:lnSpc>
                <a:spcPct val="100000"/>
              </a:lnSpc>
              <a:spcBef>
                <a:spcPts val="0"/>
              </a:spcBef>
              <a:spcAft>
                <a:spcPts val="600"/>
              </a:spcAft>
            </a:pPr>
            <a:r>
              <a:rPr sz="1400" b="1">
                <a:solidFill>
                  <a:srgbClr val="7F7F7F"/>
                </a:solidFill>
                <a:latin typeface="Calibri"/>
              </a:rPr>
              <a:t>DIMENSIONES</a:t>
            </a:r>
          </a:p>
          <a:p>
            <a:pPr algn="l">
              <a:lnSpc>
                <a:spcPct val="100000"/>
              </a:lnSpc>
              <a:spcBef>
                <a:spcPts val="0"/>
              </a:spcBef>
              <a:spcAft>
                <a:spcPts val="0"/>
              </a:spcAft>
            </a:pPr>
            <a:r>
              <a:rPr sz="1400" b="0">
                <a:solidFill>
                  <a:srgbClr val="404040"/>
                </a:solidFill>
                <a:latin typeface="Calibri"/>
              </a:rPr>
              <a:t>• Económica
• Reputacional
• Información
• Medio ambiente
• Personas</a:t>
            </a:r>
          </a:p>
        </p:txBody>
      </p:sp>
      <p:sp>
        <p:nvSpPr>
          <p:cNvPr id="19" name="Contenido columna 2"/>
          <p:cNvSpPr txBox="1"/>
          <p:nvPr/>
        </p:nvSpPr>
        <p:spPr>
          <a:xfrm>
            <a:off x="3319272" y="2395728"/>
            <a:ext cx="2505456" cy="2331720"/>
          </a:xfrm>
          <a:prstGeom prst="rect">
            <a:avLst/>
          </a:prstGeom>
          <a:noFill/>
        </p:spPr>
        <p:txBody>
          <a:bodyPr wrap="square" lIns="0" tIns="0" rIns="0" bIns="0" anchor="t">
            <a:spAutoFit/>
          </a:bodyPr>
          <a:lstStyle/>
          <a:p>
            <a:pPr algn="l">
              <a:lnSpc>
                <a:spcPct val="100000"/>
              </a:lnSpc>
              <a:spcBef>
                <a:spcPts val="0"/>
              </a:spcBef>
              <a:spcAft>
                <a:spcPts val="500"/>
              </a:spcAft>
            </a:pPr>
            <a:r>
              <a:rPr sz="1400" b="1">
                <a:solidFill>
                  <a:srgbClr val="7F7F7F"/>
                </a:solidFill>
                <a:latin typeface="Calibri"/>
              </a:rPr>
              <a:t>TAMBIÉN LLAMADA</a:t>
            </a:r>
          </a:p>
          <a:p>
            <a:pPr algn="l">
              <a:lnSpc>
                <a:spcPct val="100000"/>
              </a:lnSpc>
              <a:spcBef>
                <a:spcPts val="0"/>
              </a:spcBef>
              <a:spcAft>
                <a:spcPts val="1500"/>
              </a:spcAft>
            </a:pPr>
            <a:r>
              <a:rPr sz="1600" b="1">
                <a:solidFill>
                  <a:srgbClr val="1F3864"/>
                </a:solidFill>
                <a:latin typeface="Calibri"/>
              </a:rPr>
              <a:t>Probabilidad de ocurrencia · Frecuencia</a:t>
            </a:r>
          </a:p>
          <a:p>
            <a:pPr algn="l">
              <a:lnSpc>
                <a:spcPct val="100000"/>
              </a:lnSpc>
              <a:spcBef>
                <a:spcPts val="0"/>
              </a:spcBef>
              <a:spcAft>
                <a:spcPts val="600"/>
              </a:spcAft>
            </a:pPr>
            <a:r>
              <a:rPr sz="1400" b="1">
                <a:solidFill>
                  <a:srgbClr val="7F7F7F"/>
                </a:solidFill>
                <a:latin typeface="Calibri"/>
              </a:rPr>
              <a:t>FRECUENCIA</a:t>
            </a:r>
          </a:p>
          <a:p>
            <a:pPr algn="l">
              <a:lnSpc>
                <a:spcPct val="100000"/>
              </a:lnSpc>
              <a:spcBef>
                <a:spcPts val="0"/>
              </a:spcBef>
              <a:spcAft>
                <a:spcPts val="0"/>
              </a:spcAft>
            </a:pPr>
            <a:r>
              <a:rPr sz="1400" b="0">
                <a:solidFill>
                  <a:srgbClr val="404040"/>
                </a:solidFill>
                <a:latin typeface="Calibri"/>
              </a:rPr>
              <a:t>Número de eventos que suceden en un periodo, normalmente un año.</a:t>
            </a:r>
          </a:p>
        </p:txBody>
      </p:sp>
      <p:sp>
        <p:nvSpPr>
          <p:cNvPr id="20" name="Contenido columna 3"/>
          <p:cNvSpPr txBox="1"/>
          <p:nvPr/>
        </p:nvSpPr>
        <p:spPr>
          <a:xfrm>
            <a:off x="6336792" y="2395728"/>
            <a:ext cx="2276856" cy="2331720"/>
          </a:xfrm>
          <a:prstGeom prst="rect">
            <a:avLst/>
          </a:prstGeom>
          <a:noFill/>
        </p:spPr>
        <p:txBody>
          <a:bodyPr wrap="square" lIns="0" tIns="0" rIns="0" bIns="0" anchor="t">
            <a:spAutoFit/>
          </a:bodyPr>
          <a:lstStyle/>
          <a:p>
            <a:pPr algn="l">
              <a:lnSpc>
                <a:spcPct val="100000"/>
              </a:lnSpc>
              <a:spcBef>
                <a:spcPts val="0"/>
              </a:spcBef>
              <a:spcAft>
                <a:spcPts val="500"/>
              </a:spcAft>
            </a:pPr>
            <a:r>
              <a:rPr sz="1400" b="1">
                <a:solidFill>
                  <a:srgbClr val="7F7F7F"/>
                </a:solidFill>
                <a:latin typeface="Calibri"/>
              </a:rPr>
              <a:t>TAMBIÉN LLAMADA</a:t>
            </a:r>
          </a:p>
          <a:p>
            <a:pPr algn="l">
              <a:lnSpc>
                <a:spcPct val="100000"/>
              </a:lnSpc>
              <a:spcBef>
                <a:spcPts val="0"/>
              </a:spcBef>
              <a:spcAft>
                <a:spcPts val="1500"/>
              </a:spcAft>
            </a:pPr>
            <a:r>
              <a:rPr sz="1600" b="1">
                <a:solidFill>
                  <a:srgbClr val="1F3864"/>
                </a:solidFill>
                <a:latin typeface="Calibri"/>
              </a:rPr>
              <a:t>Perfil de riesgo</a:t>
            </a:r>
          </a:p>
          <a:p>
            <a:pPr algn="l">
              <a:lnSpc>
                <a:spcPct val="100000"/>
              </a:lnSpc>
              <a:spcBef>
                <a:spcPts val="0"/>
              </a:spcBef>
              <a:spcAft>
                <a:spcPts val="600"/>
              </a:spcAft>
            </a:pPr>
            <a:r>
              <a:rPr sz="1400" b="1">
                <a:solidFill>
                  <a:srgbClr val="7F7F7F"/>
                </a:solidFill>
                <a:latin typeface="Calibri"/>
              </a:rPr>
              <a:t>DEFINICIÓN</a:t>
            </a:r>
          </a:p>
          <a:p>
            <a:pPr algn="l">
              <a:lnSpc>
                <a:spcPct val="100000"/>
              </a:lnSpc>
              <a:spcBef>
                <a:spcPts val="0"/>
              </a:spcBef>
              <a:spcAft>
                <a:spcPts val="0"/>
              </a:spcAft>
            </a:pPr>
            <a:r>
              <a:rPr sz="1400" b="0">
                <a:solidFill>
                  <a:srgbClr val="404040"/>
                </a:solidFill>
                <a:latin typeface="Calibri"/>
              </a:rPr>
              <a:t>Nivel de exposición que resulta de combinar la consecuencia con la posibilidad.</a:t>
            </a:r>
          </a:p>
        </p:txBody>
      </p:sp>
    </p:spTree>
    <p:extLst>
      <p:ext uri="{BB962C8B-B14F-4D97-AF65-F5344CB8AC3E}">
        <p14:creationId xmlns:p14="http://schemas.microsoft.com/office/powerpoint/2010/main" val="16590700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ES" sz="3000" b="1">
                <a:solidFill>
                  <a:srgbClr val="1F3864"/>
                </a:solidFill>
                <a:latin typeface="Calibri"/>
                <a:ea typeface="Calibri"/>
                <a:cs typeface="Calibri"/>
              </a:rPr>
              <a:t>Calibración del modelo y limitaciones</a:t>
            </a:r>
            <a:endParaRPr lang="es-CO" sz="3000" b="1" dirty="0">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F9D9DEE5-24B7-467C-A5BD-0A72DEC5A0AA}"/>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1FFCEBA4-EEA2-47DF-929E-934051262076}"/>
              </a:ext>
            </a:extLst>
          </p:cNvPr>
          <p:cNvSpPr txBox="1"/>
          <p:nvPr/>
        </p:nvSpPr>
        <p:spPr>
          <a:xfrm>
            <a:off x="457200" y="5193792"/>
            <a:ext cx="8229600" cy="256032"/>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Qué se calibra en el modelo y qué queda fuera de su alcance</a:t>
            </a:r>
            <a:endParaRPr lang="es-CO" sz="1100">
              <a:solidFill>
                <a:srgbClr val="7F7F7F"/>
              </a:solidFill>
              <a:latin typeface="Calibri"/>
              <a:ea typeface="Calibri"/>
              <a:cs typeface="Calibri"/>
            </a:endParaRPr>
          </a:p>
        </p:txBody>
      </p:sp>
      <p:sp>
        <p:nvSpPr>
          <p:cNvPr id="6" name="Idea principal"/>
          <p:cNvSpPr txBox="1"/>
          <p:nvPr/>
        </p:nvSpPr>
        <p:spPr>
          <a:xfrm>
            <a:off x="457200" y="1152144"/>
            <a:ext cx="8229600" cy="310896"/>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404040"/>
                </a:solidFill>
                <a:latin typeface="Calibri"/>
              </a:rPr>
              <a:t>La calibración es un ciclo continuo: planear, ejecutar, verificar y ajustar.</a:t>
            </a:r>
          </a:p>
        </p:txBody>
      </p:sp>
      <p:sp>
        <p:nvSpPr>
          <p:cNvPr id="7" name="Divisor vertical"/>
          <p:cNvSpPr/>
          <p:nvPr/>
        </p:nvSpPr>
        <p:spPr>
          <a:xfrm>
            <a:off x="4562856" y="1691640"/>
            <a:ext cx="16459" cy="31089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Divisor horizontal"/>
          <p:cNvSpPr/>
          <p:nvPr/>
        </p:nvSpPr>
        <p:spPr>
          <a:xfrm>
            <a:off x="713232" y="3236976"/>
            <a:ext cx="7717536" cy="16459"/>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Paso 1"/>
          <p:cNvSpPr/>
          <p:nvPr/>
        </p:nvSpPr>
        <p:spPr>
          <a:xfrm>
            <a:off x="822960" y="1792224"/>
            <a:ext cx="512064" cy="512064"/>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Calibri"/>
              </a:rPr>
              <a:t>1</a:t>
            </a:r>
          </a:p>
        </p:txBody>
      </p:sp>
      <p:sp>
        <p:nvSpPr>
          <p:cNvPr id="10" name="Título PLANEAR"/>
          <p:cNvSpPr txBox="1"/>
          <p:nvPr/>
        </p:nvSpPr>
        <p:spPr>
          <a:xfrm>
            <a:off x="1517904" y="1810512"/>
            <a:ext cx="233172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ED7D31"/>
                </a:solidFill>
                <a:latin typeface="Calibri"/>
              </a:rPr>
              <a:t>PLANEAR</a:t>
            </a:r>
          </a:p>
        </p:txBody>
      </p:sp>
      <p:sp>
        <p:nvSpPr>
          <p:cNvPr id="11" name="Descripción PLANEAR"/>
          <p:cNvSpPr txBox="1"/>
          <p:nvPr/>
        </p:nvSpPr>
        <p:spPr>
          <a:xfrm>
            <a:off x="1517904" y="2267712"/>
            <a:ext cx="2240280" cy="713232"/>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04040"/>
                </a:solidFill>
                <a:latin typeface="Calibri"/>
              </a:rPr>
              <a:t>Definir objetivos y procesos para lograr los resultados esperados.</a:t>
            </a:r>
          </a:p>
        </p:txBody>
      </p:sp>
      <p:sp>
        <p:nvSpPr>
          <p:cNvPr id="12" name="Paso 2"/>
          <p:cNvSpPr/>
          <p:nvPr/>
        </p:nvSpPr>
        <p:spPr>
          <a:xfrm>
            <a:off x="5577840" y="1792224"/>
            <a:ext cx="512064" cy="512064"/>
          </a:xfrm>
          <a:prstGeom prst="ellipse">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Calibri"/>
              </a:rPr>
              <a:t>2</a:t>
            </a:r>
          </a:p>
        </p:txBody>
      </p:sp>
      <p:sp>
        <p:nvSpPr>
          <p:cNvPr id="13" name="Título HACER"/>
          <p:cNvSpPr txBox="1"/>
          <p:nvPr/>
        </p:nvSpPr>
        <p:spPr>
          <a:xfrm>
            <a:off x="6272783" y="1810512"/>
            <a:ext cx="233172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F3864"/>
                </a:solidFill>
                <a:latin typeface="Calibri"/>
              </a:rPr>
              <a:t>HACER</a:t>
            </a:r>
          </a:p>
        </p:txBody>
      </p:sp>
      <p:sp>
        <p:nvSpPr>
          <p:cNvPr id="14" name="Descripción HACER"/>
          <p:cNvSpPr txBox="1"/>
          <p:nvPr/>
        </p:nvSpPr>
        <p:spPr>
          <a:xfrm>
            <a:off x="6272783" y="2267712"/>
            <a:ext cx="2240280" cy="713232"/>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04040"/>
                </a:solidFill>
                <a:latin typeface="Calibri"/>
              </a:rPr>
              <a:t>Implementar los procesos definidos.</a:t>
            </a:r>
          </a:p>
        </p:txBody>
      </p:sp>
      <p:sp>
        <p:nvSpPr>
          <p:cNvPr id="15" name="Paso 3"/>
          <p:cNvSpPr/>
          <p:nvPr/>
        </p:nvSpPr>
        <p:spPr>
          <a:xfrm>
            <a:off x="5577840" y="3438144"/>
            <a:ext cx="512064" cy="512064"/>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Calibri"/>
              </a:rPr>
              <a:t>3</a:t>
            </a:r>
          </a:p>
        </p:txBody>
      </p:sp>
      <p:sp>
        <p:nvSpPr>
          <p:cNvPr id="16" name="Título VERIFICAR"/>
          <p:cNvSpPr txBox="1"/>
          <p:nvPr/>
        </p:nvSpPr>
        <p:spPr>
          <a:xfrm>
            <a:off x="6272783" y="3456432"/>
            <a:ext cx="233172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5B9BD5"/>
                </a:solidFill>
                <a:latin typeface="Calibri"/>
              </a:rPr>
              <a:t>VERIFICAR</a:t>
            </a:r>
          </a:p>
        </p:txBody>
      </p:sp>
      <p:sp>
        <p:nvSpPr>
          <p:cNvPr id="17" name="Descripción VERIFICAR"/>
          <p:cNvSpPr txBox="1"/>
          <p:nvPr/>
        </p:nvSpPr>
        <p:spPr>
          <a:xfrm>
            <a:off x="6272783" y="3913631"/>
            <a:ext cx="2240280" cy="713232"/>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04040"/>
                </a:solidFill>
                <a:latin typeface="Calibri"/>
              </a:rPr>
              <a:t>Dar seguimiento y medir los procesos y sus resultados.</a:t>
            </a:r>
          </a:p>
        </p:txBody>
      </p:sp>
      <p:sp>
        <p:nvSpPr>
          <p:cNvPr id="18" name="Paso 4"/>
          <p:cNvSpPr/>
          <p:nvPr/>
        </p:nvSpPr>
        <p:spPr>
          <a:xfrm>
            <a:off x="822960" y="3438144"/>
            <a:ext cx="512064" cy="512064"/>
          </a:xfrm>
          <a:prstGeom prst="ellipse">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Calibri"/>
              </a:rPr>
              <a:t>4</a:t>
            </a:r>
          </a:p>
        </p:txBody>
      </p:sp>
      <p:sp>
        <p:nvSpPr>
          <p:cNvPr id="19" name="Título AJUSTAR"/>
          <p:cNvSpPr txBox="1"/>
          <p:nvPr/>
        </p:nvSpPr>
        <p:spPr>
          <a:xfrm>
            <a:off x="1517904" y="3456432"/>
            <a:ext cx="233172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70AD47"/>
                </a:solidFill>
                <a:latin typeface="Calibri"/>
              </a:rPr>
              <a:t>AJUSTAR</a:t>
            </a:r>
          </a:p>
        </p:txBody>
      </p:sp>
      <p:sp>
        <p:nvSpPr>
          <p:cNvPr id="20" name="Descripción AJUSTAR"/>
          <p:cNvSpPr txBox="1"/>
          <p:nvPr/>
        </p:nvSpPr>
        <p:spPr>
          <a:xfrm>
            <a:off x="1517904" y="3913631"/>
            <a:ext cx="2240280" cy="713232"/>
          </a:xfrm>
          <a:prstGeom prst="rect">
            <a:avLst/>
          </a:prstGeom>
          <a:noFill/>
        </p:spPr>
        <p:txBody>
          <a:bodyPr wrap="square" lIns="0" tIns="0" rIns="0" bIns="0" anchor="t">
            <a:spAutoFit/>
          </a:bodyPr>
          <a:lstStyle/>
          <a:p>
            <a:pPr algn="l">
              <a:lnSpc>
                <a:spcPct val="100000"/>
              </a:lnSpc>
              <a:spcBef>
                <a:spcPts val="0"/>
              </a:spcBef>
              <a:spcAft>
                <a:spcPts val="0"/>
              </a:spcAft>
            </a:pPr>
            <a:r>
              <a:rPr sz="1400" b="0">
                <a:solidFill>
                  <a:srgbClr val="404040"/>
                </a:solidFill>
                <a:latin typeface="Calibri"/>
              </a:rPr>
              <a:t>Tomar acciones para mejorar continuamente el desempeño.</a:t>
            </a:r>
          </a:p>
        </p:txBody>
      </p:sp>
      <p:sp>
        <p:nvSpPr>
          <p:cNvPr id="21" name="Centro del ciclo"/>
          <p:cNvSpPr/>
          <p:nvPr/>
        </p:nvSpPr>
        <p:spPr>
          <a:xfrm>
            <a:off x="3867912" y="2496312"/>
            <a:ext cx="1408176" cy="1408176"/>
          </a:xfrm>
          <a:prstGeom prst="ellipse">
            <a:avLst/>
          </a:prstGeom>
          <a:solidFill>
            <a:srgbClr val="1F3864"/>
          </a:solidFill>
          <a:ln w="25400">
            <a:solidFill>
              <a:srgbClr val="FFFFFF"/>
            </a:solidFill>
          </a:ln>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spcBef>
                <a:spcPts val="0"/>
              </a:spcBef>
              <a:spcAft>
                <a:spcPts val="200"/>
              </a:spcAft>
            </a:pPr>
            <a:r>
              <a:rPr sz="1300" b="1">
                <a:solidFill>
                  <a:srgbClr val="FFFFFF"/>
                </a:solidFill>
                <a:latin typeface="Calibri"/>
              </a:rPr>
              <a:t>CICLO DE</a:t>
            </a:r>
          </a:p>
          <a:p>
            <a:pPr algn="ctr">
              <a:spcBef>
                <a:spcPts val="0"/>
              </a:spcBef>
              <a:spcAft>
                <a:spcPts val="200"/>
              </a:spcAft>
            </a:pPr>
            <a:r>
              <a:rPr sz="1300" b="1">
                <a:solidFill>
                  <a:srgbClr val="FFFFFF"/>
                </a:solidFill>
                <a:latin typeface="Calibri"/>
              </a:rPr>
              <a:t>MEJORA</a:t>
            </a:r>
          </a:p>
          <a:p>
            <a:pPr algn="ctr">
              <a:spcBef>
                <a:spcPts val="0"/>
              </a:spcBef>
              <a:spcAft>
                <a:spcPts val="200"/>
              </a:spcAft>
            </a:pPr>
            <a:r>
              <a:rPr sz="1200" b="1">
                <a:solidFill>
                  <a:srgbClr val="FFFFFF"/>
                </a:solidFill>
                <a:latin typeface="Calibri"/>
              </a:rPr>
              <a:t>CONTINUA</a:t>
            </a:r>
          </a:p>
          <a:p>
            <a:pPr algn="ctr">
              <a:spcBef>
                <a:spcPts val="0"/>
              </a:spcBef>
              <a:spcAft>
                <a:spcPts val="200"/>
              </a:spcAft>
            </a:pPr>
            <a:r>
              <a:rPr sz="1300" b="1">
                <a:solidFill>
                  <a:srgbClr val="FFFFFF"/>
                </a:solidFill>
                <a:latin typeface="Calibri"/>
              </a:rPr>
              <a:t>1 · 2 · 3 · 4 ↺</a:t>
            </a:r>
          </a:p>
        </p:txBody>
      </p:sp>
    </p:spTree>
    <p:extLst>
      <p:ext uri="{BB962C8B-B14F-4D97-AF65-F5344CB8AC3E}">
        <p14:creationId xmlns:p14="http://schemas.microsoft.com/office/powerpoint/2010/main" val="5103606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Monitoreo</a:t>
            </a:r>
            <a:endParaRPr lang="es-CO" sz="3000" b="1" dirty="0">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8D0CED27-7E20-4E8E-840F-E6148256D659}"/>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D74717FD-9B3C-422C-862C-7F8A76C81802}"/>
              </a:ext>
            </a:extLst>
          </p:cNvPr>
          <p:cNvSpPr txBox="1"/>
          <p:nvPr/>
        </p:nvSpPr>
        <p:spPr>
          <a:xfrm>
            <a:off x="457200" y="5157216"/>
            <a:ext cx="8229600" cy="256032"/>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Actividades de seguimiento continuo del riesgo</a:t>
            </a:r>
            <a:endParaRPr lang="es-CO" sz="1100">
              <a:solidFill>
                <a:srgbClr val="7F7F7F"/>
              </a:solidFill>
              <a:latin typeface="Calibri"/>
              <a:ea typeface="Calibri"/>
              <a:cs typeface="Calibri"/>
            </a:endParaRPr>
          </a:p>
        </p:txBody>
      </p:sp>
      <p:sp>
        <p:nvSpPr>
          <p:cNvPr id="6" name="Idea principal"/>
          <p:cNvSpPr txBox="1"/>
          <p:nvPr/>
        </p:nvSpPr>
        <p:spPr>
          <a:xfrm>
            <a:off x="457200" y="1161288"/>
            <a:ext cx="8229600" cy="402336"/>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404040"/>
                </a:solidFill>
                <a:latin typeface="Calibri"/>
              </a:rPr>
              <a:t>El monitoreo convierte señales tempranas en acciones antes de que el riesgo afecte los objetivos.</a:t>
            </a:r>
          </a:p>
        </p:txBody>
      </p:sp>
      <p:sp>
        <p:nvSpPr>
          <p:cNvPr id="7" name="Paso 01"/>
          <p:cNvSpPr/>
          <p:nvPr/>
        </p:nvSpPr>
        <p:spPr>
          <a:xfrm>
            <a:off x="658368" y="1828800"/>
            <a:ext cx="566928" cy="566928"/>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Calibri"/>
              </a:rPr>
              <a:t>01</a:t>
            </a:r>
          </a:p>
        </p:txBody>
      </p:sp>
      <p:sp>
        <p:nvSpPr>
          <p:cNvPr id="8" name="Título ANTICIPAR"/>
          <p:cNvSpPr txBox="1"/>
          <p:nvPr/>
        </p:nvSpPr>
        <p:spPr>
          <a:xfrm>
            <a:off x="1481328" y="1837943"/>
            <a:ext cx="1874519"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ED7D31"/>
                </a:solidFill>
                <a:latin typeface="Calibri"/>
              </a:rPr>
              <a:t>ANTICIPAR</a:t>
            </a:r>
          </a:p>
        </p:txBody>
      </p:sp>
      <p:sp>
        <p:nvSpPr>
          <p:cNvPr id="9" name="Descripción ANTICIPAR"/>
          <p:cNvSpPr txBox="1"/>
          <p:nvPr/>
        </p:nvSpPr>
        <p:spPr>
          <a:xfrm>
            <a:off x="3090672" y="1810512"/>
            <a:ext cx="5230368" cy="603504"/>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404040"/>
                </a:solidFill>
                <a:latin typeface="Calibri"/>
              </a:rPr>
              <a:t>Identificar oportunamente la necesidad de actuar ante un problema potencial.</a:t>
            </a:r>
          </a:p>
        </p:txBody>
      </p:sp>
      <p:sp>
        <p:nvSpPr>
          <p:cNvPr id="10" name="Separador de acciones"/>
          <p:cNvSpPr/>
          <p:nvPr/>
        </p:nvSpPr>
        <p:spPr>
          <a:xfrm>
            <a:off x="658368" y="2660904"/>
            <a:ext cx="7662672"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Paso 02"/>
          <p:cNvSpPr/>
          <p:nvPr/>
        </p:nvSpPr>
        <p:spPr>
          <a:xfrm>
            <a:off x="658368" y="2944368"/>
            <a:ext cx="566928" cy="566928"/>
          </a:xfrm>
          <a:prstGeom prst="ellipse">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Calibri"/>
              </a:rPr>
              <a:t>02</a:t>
            </a:r>
          </a:p>
        </p:txBody>
      </p:sp>
      <p:sp>
        <p:nvSpPr>
          <p:cNvPr id="12" name="Título PROTEGER"/>
          <p:cNvSpPr txBox="1"/>
          <p:nvPr/>
        </p:nvSpPr>
        <p:spPr>
          <a:xfrm>
            <a:off x="1481328" y="2953512"/>
            <a:ext cx="1874519"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F3864"/>
                </a:solidFill>
                <a:latin typeface="Calibri"/>
              </a:rPr>
              <a:t>PROTEGER</a:t>
            </a:r>
          </a:p>
        </p:txBody>
      </p:sp>
      <p:sp>
        <p:nvSpPr>
          <p:cNvPr id="13" name="Descripción PROTEGER"/>
          <p:cNvSpPr txBox="1"/>
          <p:nvPr/>
        </p:nvSpPr>
        <p:spPr>
          <a:xfrm>
            <a:off x="3090672" y="2926080"/>
            <a:ext cx="5230368" cy="603504"/>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404040"/>
                </a:solidFill>
                <a:latin typeface="Calibri"/>
              </a:rPr>
              <a:t>Reducir el riesgo de pérdidas y apoyar el cumplimiento de leyes y regulaciones.</a:t>
            </a:r>
          </a:p>
        </p:txBody>
      </p:sp>
      <p:sp>
        <p:nvSpPr>
          <p:cNvPr id="14" name="Separador de acciones"/>
          <p:cNvSpPr/>
          <p:nvPr/>
        </p:nvSpPr>
        <p:spPr>
          <a:xfrm>
            <a:off x="658368" y="3776472"/>
            <a:ext cx="7662672"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Paso 03"/>
          <p:cNvSpPr/>
          <p:nvPr/>
        </p:nvSpPr>
        <p:spPr>
          <a:xfrm>
            <a:off x="658368" y="4059936"/>
            <a:ext cx="566928" cy="566928"/>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Calibri"/>
              </a:rPr>
              <a:t>03</a:t>
            </a:r>
          </a:p>
        </p:txBody>
      </p:sp>
      <p:sp>
        <p:nvSpPr>
          <p:cNvPr id="16" name="Título CORREGIR"/>
          <p:cNvSpPr txBox="1"/>
          <p:nvPr/>
        </p:nvSpPr>
        <p:spPr>
          <a:xfrm>
            <a:off x="1481328" y="4069080"/>
            <a:ext cx="1874519"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5B9BD5"/>
                </a:solidFill>
                <a:latin typeface="Calibri"/>
              </a:rPr>
              <a:t>CORREGIR</a:t>
            </a:r>
          </a:p>
        </p:txBody>
      </p:sp>
      <p:sp>
        <p:nvSpPr>
          <p:cNvPr id="17" name="Descripción CORREGIR"/>
          <p:cNvSpPr txBox="1"/>
          <p:nvPr/>
        </p:nvSpPr>
        <p:spPr>
          <a:xfrm>
            <a:off x="3090672" y="4041648"/>
            <a:ext cx="5230368" cy="603504"/>
          </a:xfrm>
          <a:prstGeom prst="rect">
            <a:avLst/>
          </a:prstGeom>
          <a:noFill/>
        </p:spPr>
        <p:txBody>
          <a:bodyPr wrap="square" lIns="0" tIns="0" rIns="0" bIns="0" anchor="ctr">
            <a:spAutoFit/>
          </a:bodyPr>
          <a:lstStyle/>
          <a:p>
            <a:pPr algn="l">
              <a:lnSpc>
                <a:spcPct val="100000"/>
              </a:lnSpc>
              <a:spcBef>
                <a:spcPts val="0"/>
              </a:spcBef>
              <a:spcAft>
                <a:spcPts val="0"/>
              </a:spcAft>
            </a:pPr>
            <a:r>
              <a:rPr sz="1600" b="0">
                <a:solidFill>
                  <a:srgbClr val="404040"/>
                </a:solidFill>
                <a:latin typeface="Calibri"/>
              </a:rPr>
              <a:t>Detectar y corregir deficiencias de control antes de que afecten materialmente los objetivos.</a:t>
            </a:r>
          </a:p>
        </p:txBody>
      </p:sp>
    </p:spTree>
    <p:extLst>
      <p:ext uri="{BB962C8B-B14F-4D97-AF65-F5344CB8AC3E}">
        <p14:creationId xmlns:p14="http://schemas.microsoft.com/office/powerpoint/2010/main" val="4792574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78B98E2F-6917-45CA-8C6C-6C8089FE0F82}"/>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ES" sz="2800" b="1">
                <a:solidFill>
                  <a:srgbClr val="1F3864"/>
                </a:solidFill>
                <a:latin typeface="Calibri"/>
                <a:ea typeface="Calibri"/>
                <a:cs typeface="Calibri"/>
              </a:rPr>
              <a:t>Elementos que obligan a revisar los riesgos</a:t>
            </a:r>
            <a:endParaRPr lang="es-CO" sz="2800" b="1">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37E657CB-5C2D-4389-88BA-6CACA899E3F4}"/>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92345F2F-06C0-4224-948D-A452F4E4D0A2}"/>
              </a:ext>
            </a:extLst>
          </p:cNvPr>
          <p:cNvSpPr txBox="1"/>
          <p:nvPr/>
        </p:nvSpPr>
        <p:spPr>
          <a:xfrm>
            <a:off x="457200" y="5084064"/>
            <a:ext cx="8229600" cy="256032"/>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Cambios internos y externos que disparan una nueva identificación</a:t>
            </a:r>
            <a:endParaRPr lang="es-CO" sz="1100">
              <a:solidFill>
                <a:srgbClr val="7F7F7F"/>
              </a:solidFill>
              <a:latin typeface="Calibri"/>
              <a:ea typeface="Calibri"/>
              <a:cs typeface="Calibri"/>
            </a:endParaRPr>
          </a:p>
        </p:txBody>
      </p:sp>
      <p:sp>
        <p:nvSpPr>
          <p:cNvPr id="7" name="Idea principal"/>
          <p:cNvSpPr txBox="1"/>
          <p:nvPr/>
        </p:nvSpPr>
        <p:spPr>
          <a:xfrm>
            <a:off x="457200" y="1161288"/>
            <a:ext cx="8229600" cy="402336"/>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404040"/>
                </a:solidFill>
                <a:latin typeface="Calibri"/>
              </a:rPr>
              <a:t>Revise la identificación cuando cambien el proyecto, su entorno o las señales de desempeño.</a:t>
            </a:r>
          </a:p>
        </p:txBody>
      </p:sp>
      <p:sp>
        <p:nvSpPr>
          <p:cNvPr id="8" name="Separador temático"/>
          <p:cNvSpPr/>
          <p:nvPr/>
        </p:nvSpPr>
        <p:spPr>
          <a:xfrm>
            <a:off x="3127248" y="1865376"/>
            <a:ext cx="16459" cy="292608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eparador temático"/>
          <p:cNvSpPr/>
          <p:nvPr/>
        </p:nvSpPr>
        <p:spPr>
          <a:xfrm>
            <a:off x="5943600" y="1865376"/>
            <a:ext cx="16459" cy="292608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ma 1"/>
          <p:cNvSpPr/>
          <p:nvPr/>
        </p:nvSpPr>
        <p:spPr>
          <a:xfrm>
            <a:off x="530352" y="1746504"/>
            <a:ext cx="566928" cy="566928"/>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Calibri"/>
              </a:rPr>
              <a:t>1</a:t>
            </a:r>
          </a:p>
        </p:txBody>
      </p:sp>
      <p:sp>
        <p:nvSpPr>
          <p:cNvPr id="11" name="Título tema 1"/>
          <p:cNvSpPr txBox="1"/>
          <p:nvPr/>
        </p:nvSpPr>
        <p:spPr>
          <a:xfrm>
            <a:off x="1243584" y="1783080"/>
            <a:ext cx="1773936" cy="475488"/>
          </a:xfrm>
          <a:prstGeom prst="rect">
            <a:avLst/>
          </a:prstGeom>
          <a:noFill/>
        </p:spPr>
        <p:txBody>
          <a:bodyPr wrap="square" lIns="0" tIns="0" rIns="0" bIns="0" anchor="ctr">
            <a:spAutoFit/>
          </a:bodyPr>
          <a:lstStyle/>
          <a:p>
            <a:pPr algn="l">
              <a:lnSpc>
                <a:spcPct val="100000"/>
              </a:lnSpc>
              <a:spcBef>
                <a:spcPts val="0"/>
              </a:spcBef>
              <a:spcAft>
                <a:spcPts val="0"/>
              </a:spcAft>
            </a:pPr>
            <a:r>
              <a:rPr sz="1600" b="1">
                <a:solidFill>
                  <a:srgbClr val="ED7D31"/>
                </a:solidFill>
                <a:latin typeface="Calibri"/>
              </a:rPr>
              <a:t>ESTRATEGIA Y OPERACIÓN</a:t>
            </a:r>
          </a:p>
        </p:txBody>
      </p:sp>
      <p:sp>
        <p:nvSpPr>
          <p:cNvPr id="12" name="Lista tema 1"/>
          <p:cNvSpPr txBox="1"/>
          <p:nvPr/>
        </p:nvSpPr>
        <p:spPr>
          <a:xfrm>
            <a:off x="530352" y="2487168"/>
            <a:ext cx="2212848" cy="2212848"/>
          </a:xfrm>
          <a:prstGeom prst="rect">
            <a:avLst/>
          </a:prstGeom>
          <a:noFill/>
        </p:spPr>
        <p:txBody>
          <a:bodyPr wrap="square" lIns="0" tIns="0" rIns="0" bIns="0" anchor="t">
            <a:spAutoFit/>
          </a:bodyPr>
          <a:lstStyle/>
          <a:p>
            <a:pPr algn="l">
              <a:lnSpc>
                <a:spcPct val="100000"/>
              </a:lnSpc>
              <a:spcBef>
                <a:spcPts val="0"/>
              </a:spcBef>
              <a:spcAft>
                <a:spcPts val="1000"/>
              </a:spcAft>
            </a:pPr>
            <a:r>
              <a:rPr sz="1400" b="0">
                <a:solidFill>
                  <a:srgbClr val="404040"/>
                </a:solidFill>
                <a:latin typeface="Calibri"/>
              </a:rPr>
              <a:t>✓  Cambios de objetivos</a:t>
            </a:r>
          </a:p>
          <a:p>
            <a:pPr algn="l">
              <a:lnSpc>
                <a:spcPct val="100000"/>
              </a:lnSpc>
              <a:spcBef>
                <a:spcPts val="0"/>
              </a:spcBef>
              <a:spcAft>
                <a:spcPts val="1000"/>
              </a:spcAft>
            </a:pPr>
            <a:r>
              <a:rPr sz="1400" b="0">
                <a:solidFill>
                  <a:srgbClr val="404040"/>
                </a:solidFill>
                <a:latin typeface="Calibri"/>
              </a:rPr>
              <a:t>✓  Cambios del alcance</a:t>
            </a:r>
          </a:p>
          <a:p>
            <a:pPr algn="l">
              <a:lnSpc>
                <a:spcPct val="100000"/>
              </a:lnSpc>
              <a:spcBef>
                <a:spcPts val="0"/>
              </a:spcBef>
              <a:spcAft>
                <a:spcPts val="1000"/>
              </a:spcAft>
            </a:pPr>
            <a:r>
              <a:rPr sz="1400" b="0">
                <a:solidFill>
                  <a:srgbClr val="404040"/>
                </a:solidFill>
                <a:latin typeface="Calibri"/>
              </a:rPr>
              <a:t>✓  Entrada o eliminación de actividades</a:t>
            </a:r>
          </a:p>
          <a:p>
            <a:pPr algn="l">
              <a:lnSpc>
                <a:spcPct val="100000"/>
              </a:lnSpc>
              <a:spcBef>
                <a:spcPts val="0"/>
              </a:spcBef>
              <a:spcAft>
                <a:spcPts val="1000"/>
              </a:spcAft>
            </a:pPr>
            <a:r>
              <a:rPr sz="1400" b="0">
                <a:solidFill>
                  <a:srgbClr val="404040"/>
                </a:solidFill>
                <a:latin typeface="Calibri"/>
              </a:rPr>
              <a:t>✓  Cambio de controles</a:t>
            </a:r>
          </a:p>
        </p:txBody>
      </p:sp>
      <p:sp>
        <p:nvSpPr>
          <p:cNvPr id="13" name="Tema 2"/>
          <p:cNvSpPr/>
          <p:nvPr/>
        </p:nvSpPr>
        <p:spPr>
          <a:xfrm>
            <a:off x="3364992" y="1746504"/>
            <a:ext cx="566928" cy="566928"/>
          </a:xfrm>
          <a:prstGeom prst="ellipse">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Calibri"/>
              </a:rPr>
              <a:t>2</a:t>
            </a:r>
          </a:p>
        </p:txBody>
      </p:sp>
      <p:sp>
        <p:nvSpPr>
          <p:cNvPr id="14" name="Título tema 2"/>
          <p:cNvSpPr txBox="1"/>
          <p:nvPr/>
        </p:nvSpPr>
        <p:spPr>
          <a:xfrm>
            <a:off x="4078224" y="1783080"/>
            <a:ext cx="1773936" cy="475488"/>
          </a:xfrm>
          <a:prstGeom prst="rect">
            <a:avLst/>
          </a:prstGeom>
          <a:noFill/>
        </p:spPr>
        <p:txBody>
          <a:bodyPr wrap="square" lIns="0" tIns="0" rIns="0" bIns="0" anchor="ctr">
            <a:spAutoFit/>
          </a:bodyPr>
          <a:lstStyle/>
          <a:p>
            <a:pPr algn="l">
              <a:lnSpc>
                <a:spcPct val="100000"/>
              </a:lnSpc>
              <a:spcBef>
                <a:spcPts val="0"/>
              </a:spcBef>
              <a:spcAft>
                <a:spcPts val="0"/>
              </a:spcAft>
            </a:pPr>
            <a:r>
              <a:rPr sz="1600" b="1">
                <a:solidFill>
                  <a:srgbClr val="1F3864"/>
                </a:solidFill>
                <a:latin typeface="Calibri"/>
              </a:rPr>
              <a:t>ENTORNO EXTERNO</a:t>
            </a:r>
          </a:p>
        </p:txBody>
      </p:sp>
      <p:sp>
        <p:nvSpPr>
          <p:cNvPr id="15" name="Lista tema 2"/>
          <p:cNvSpPr txBox="1"/>
          <p:nvPr/>
        </p:nvSpPr>
        <p:spPr>
          <a:xfrm>
            <a:off x="3364992" y="2487168"/>
            <a:ext cx="2212848" cy="2212848"/>
          </a:xfrm>
          <a:prstGeom prst="rect">
            <a:avLst/>
          </a:prstGeom>
          <a:noFill/>
        </p:spPr>
        <p:txBody>
          <a:bodyPr wrap="square" lIns="0" tIns="0" rIns="0" bIns="0" anchor="t">
            <a:spAutoFit/>
          </a:bodyPr>
          <a:lstStyle/>
          <a:p>
            <a:pPr algn="l">
              <a:lnSpc>
                <a:spcPct val="100000"/>
              </a:lnSpc>
              <a:spcBef>
                <a:spcPts val="0"/>
              </a:spcBef>
              <a:spcAft>
                <a:spcPts val="1000"/>
              </a:spcAft>
            </a:pPr>
            <a:r>
              <a:rPr sz="1400" b="0">
                <a:solidFill>
                  <a:srgbClr val="404040"/>
                </a:solidFill>
                <a:latin typeface="Calibri"/>
              </a:rPr>
              <a:t>✓  Cambios macroeconómicos, sociales y políticos</a:t>
            </a:r>
          </a:p>
          <a:p>
            <a:pPr algn="l">
              <a:lnSpc>
                <a:spcPct val="100000"/>
              </a:lnSpc>
              <a:spcBef>
                <a:spcPts val="0"/>
              </a:spcBef>
              <a:spcAft>
                <a:spcPts val="1000"/>
              </a:spcAft>
            </a:pPr>
            <a:r>
              <a:rPr sz="1400" b="0">
                <a:solidFill>
                  <a:srgbClr val="404040"/>
                </a:solidFill>
                <a:latin typeface="Calibri"/>
              </a:rPr>
              <a:t>✓  Cambios en la reglamentación</a:t>
            </a:r>
          </a:p>
          <a:p>
            <a:pPr algn="l">
              <a:lnSpc>
                <a:spcPct val="100000"/>
              </a:lnSpc>
              <a:spcBef>
                <a:spcPts val="0"/>
              </a:spcBef>
              <a:spcAft>
                <a:spcPts val="1000"/>
              </a:spcAft>
            </a:pPr>
            <a:r>
              <a:rPr sz="1400" b="0">
                <a:solidFill>
                  <a:srgbClr val="404040"/>
                </a:solidFill>
                <a:latin typeface="Calibri"/>
              </a:rPr>
              <a:t>✓  Implementación de nueva tecnología</a:t>
            </a:r>
          </a:p>
        </p:txBody>
      </p:sp>
      <p:sp>
        <p:nvSpPr>
          <p:cNvPr id="16" name="Tema 3"/>
          <p:cNvSpPr/>
          <p:nvPr/>
        </p:nvSpPr>
        <p:spPr>
          <a:xfrm>
            <a:off x="6181344" y="1746504"/>
            <a:ext cx="566928" cy="566928"/>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700" b="1">
                <a:solidFill>
                  <a:srgbClr val="FFFFFF"/>
                </a:solidFill>
                <a:latin typeface="Calibri"/>
              </a:rPr>
              <a:t>3</a:t>
            </a:r>
          </a:p>
        </p:txBody>
      </p:sp>
      <p:sp>
        <p:nvSpPr>
          <p:cNvPr id="17" name="Título tema 3"/>
          <p:cNvSpPr txBox="1"/>
          <p:nvPr/>
        </p:nvSpPr>
        <p:spPr>
          <a:xfrm>
            <a:off x="6894576" y="1783080"/>
            <a:ext cx="1773936" cy="475488"/>
          </a:xfrm>
          <a:prstGeom prst="rect">
            <a:avLst/>
          </a:prstGeom>
          <a:noFill/>
        </p:spPr>
        <p:txBody>
          <a:bodyPr wrap="square" lIns="0" tIns="0" rIns="0" bIns="0" anchor="ctr">
            <a:spAutoFit/>
          </a:bodyPr>
          <a:lstStyle/>
          <a:p>
            <a:pPr algn="l">
              <a:lnSpc>
                <a:spcPct val="100000"/>
              </a:lnSpc>
              <a:spcBef>
                <a:spcPts val="0"/>
              </a:spcBef>
              <a:spcAft>
                <a:spcPts val="0"/>
              </a:spcAft>
            </a:pPr>
            <a:r>
              <a:rPr sz="1600" b="1">
                <a:solidFill>
                  <a:srgbClr val="5B9BD5"/>
                </a:solidFill>
                <a:latin typeface="Calibri"/>
              </a:rPr>
              <a:t>SEÑALES Y APRENDIZAJE</a:t>
            </a:r>
          </a:p>
        </p:txBody>
      </p:sp>
      <p:sp>
        <p:nvSpPr>
          <p:cNvPr id="18" name="Lista tema 3"/>
          <p:cNvSpPr txBox="1"/>
          <p:nvPr/>
        </p:nvSpPr>
        <p:spPr>
          <a:xfrm>
            <a:off x="6181344" y="2487168"/>
            <a:ext cx="2212848" cy="2212848"/>
          </a:xfrm>
          <a:prstGeom prst="rect">
            <a:avLst/>
          </a:prstGeom>
          <a:noFill/>
        </p:spPr>
        <p:txBody>
          <a:bodyPr wrap="square" lIns="0" tIns="0" rIns="0" bIns="0" anchor="t">
            <a:spAutoFit/>
          </a:bodyPr>
          <a:lstStyle/>
          <a:p>
            <a:pPr algn="l">
              <a:lnSpc>
                <a:spcPct val="100000"/>
              </a:lnSpc>
              <a:spcBef>
                <a:spcPts val="0"/>
              </a:spcBef>
              <a:spcAft>
                <a:spcPts val="1000"/>
              </a:spcAft>
            </a:pPr>
            <a:r>
              <a:rPr sz="1400" b="0">
                <a:solidFill>
                  <a:srgbClr val="404040"/>
                </a:solidFill>
                <a:latin typeface="Calibri"/>
              </a:rPr>
              <a:t>✓  Recomendaciones internas o externas</a:t>
            </a:r>
          </a:p>
          <a:p>
            <a:pPr algn="l">
              <a:lnSpc>
                <a:spcPct val="100000"/>
              </a:lnSpc>
              <a:spcBef>
                <a:spcPts val="0"/>
              </a:spcBef>
              <a:spcAft>
                <a:spcPts val="1000"/>
              </a:spcAft>
            </a:pPr>
            <a:r>
              <a:rPr sz="1400" b="0">
                <a:solidFill>
                  <a:srgbClr val="404040"/>
                </a:solidFill>
                <a:latin typeface="Calibri"/>
              </a:rPr>
              <a:t>✓  Eventos de pérdida materializados</a:t>
            </a:r>
          </a:p>
          <a:p>
            <a:pPr algn="l">
              <a:lnSpc>
                <a:spcPct val="100000"/>
              </a:lnSpc>
              <a:spcBef>
                <a:spcPts val="0"/>
              </a:spcBef>
              <a:spcAft>
                <a:spcPts val="1000"/>
              </a:spcAft>
            </a:pPr>
            <a:r>
              <a:rPr sz="1400" b="0">
                <a:solidFill>
                  <a:srgbClr val="404040"/>
                </a:solidFill>
                <a:latin typeface="Calibri"/>
              </a:rPr>
              <a:t>✓  Cambios en los indicadores</a:t>
            </a:r>
          </a:p>
        </p:txBody>
      </p:sp>
    </p:spTree>
    <p:extLst>
      <p:ext uri="{BB962C8B-B14F-4D97-AF65-F5344CB8AC3E}">
        <p14:creationId xmlns:p14="http://schemas.microsoft.com/office/powerpoint/2010/main" val="26170095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Revelación de la información</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168400"/>
            <a:ext cx="8229600" cy="812800"/>
          </a:xfrm>
          <a:solidFill>
            <a:srgbClr val="1F3864"/>
          </a:solidFill>
          <a:ln>
            <a:noFill/>
          </a:ln>
        </p:spPr>
        <p:txBody>
          <a:bodyPr wrap="square" anchor="ctr" anchorCtr="0">
            <a:noAutofit/>
          </a:bodyPr>
          <a:lstStyle/>
          <a:p>
            <a:r>
              <a:rPr lang="es-ES" sz="1600" b="1">
                <a:solidFill>
                  <a:srgbClr val="FFFFFF"/>
                </a:solidFill>
                <a:latin typeface="Calibri"/>
                <a:ea typeface="Calibri"/>
                <a:cs typeface="Calibri"/>
              </a:rPr>
              <a:t>El resultado del proceso se comunica en tres productos documentales.</a:t>
            </a:r>
            <a:endParaRPr lang="es-CO" sz="1600" b="1" dirty="0">
              <a:solidFill>
                <a:srgbClr val="FFFFFF"/>
              </a:solidFill>
              <a:latin typeface="Calibri"/>
              <a:ea typeface="Calibri"/>
              <a:cs typeface="Calibri"/>
            </a:endParaRPr>
          </a:p>
        </p:txBody>
      </p:sp>
      <p:sp>
        <p:nvSpPr>
          <p:cNvPr id="4" name="Rectángulo 3">
            <a:extLst>
              <a:ext uri="{FF2B5EF4-FFF2-40B4-BE49-F238E27FC236}">
                <a16:creationId xmlns:a16="http://schemas.microsoft.com/office/drawing/2014/main" id="{A1F2290A-DE24-45C2-8133-5AC3D48B9780}"/>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518965EF-64FC-47C3-B7F7-688FC024A5CC}"/>
              </a:ext>
            </a:extLst>
          </p:cNvPr>
          <p:cNvSpPr/>
          <p:nvPr/>
        </p:nvSpPr>
        <p:spPr>
          <a:xfrm>
            <a:off x="457200" y="2235200"/>
            <a:ext cx="30480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Informes y recomendaciones</a:t>
            </a:r>
          </a:p>
        </p:txBody>
      </p:sp>
      <p:sp>
        <p:nvSpPr>
          <p:cNvPr id="6" name="Rectángulo 5">
            <a:extLst>
              <a:ext uri="{FF2B5EF4-FFF2-40B4-BE49-F238E27FC236}">
                <a16:creationId xmlns:a16="http://schemas.microsoft.com/office/drawing/2014/main" id="{FC3FBD4E-F347-466F-AFF3-290EA1512F2C}"/>
              </a:ext>
            </a:extLst>
          </p:cNvPr>
          <p:cNvSpPr/>
          <p:nvPr/>
        </p:nvSpPr>
        <p:spPr>
          <a:xfrm>
            <a:off x="3657600" y="2235200"/>
            <a:ext cx="5029200" cy="812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Qué se encontró y qué se propone hacer</a:t>
            </a:r>
            <a:endParaRPr lang="es-CO" sz="1400">
              <a:solidFill>
                <a:srgbClr val="404040"/>
              </a:solidFill>
              <a:latin typeface="Calibri"/>
              <a:ea typeface="Calibri"/>
              <a:cs typeface="Calibri"/>
            </a:endParaRPr>
          </a:p>
        </p:txBody>
      </p:sp>
      <p:sp>
        <p:nvSpPr>
          <p:cNvPr id="7" name="Rectángulo 6">
            <a:extLst>
              <a:ext uri="{FF2B5EF4-FFF2-40B4-BE49-F238E27FC236}">
                <a16:creationId xmlns:a16="http://schemas.microsoft.com/office/drawing/2014/main" id="{DF08BCEC-50FA-431D-A318-995E384AB621}"/>
              </a:ext>
            </a:extLst>
          </p:cNvPr>
          <p:cNvSpPr/>
          <p:nvPr/>
        </p:nvSpPr>
        <p:spPr>
          <a:xfrm>
            <a:off x="457200" y="3200400"/>
            <a:ext cx="30480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Informes de seguimiento</a:t>
            </a:r>
          </a:p>
        </p:txBody>
      </p:sp>
      <p:sp>
        <p:nvSpPr>
          <p:cNvPr id="8" name="Rectángulo 7">
            <a:extLst>
              <a:ext uri="{FF2B5EF4-FFF2-40B4-BE49-F238E27FC236}">
                <a16:creationId xmlns:a16="http://schemas.microsoft.com/office/drawing/2014/main" id="{0DDBDBD6-9B87-4B50-A288-7FD78396637F}"/>
              </a:ext>
            </a:extLst>
          </p:cNvPr>
          <p:cNvSpPr/>
          <p:nvPr/>
        </p:nvSpPr>
        <p:spPr>
          <a:xfrm>
            <a:off x="3657600" y="3200400"/>
            <a:ext cx="5029200" cy="812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Cómo evoluciona cada riesgo en el tiempo</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26AB0075-6092-43B4-89A8-28F440875125}"/>
              </a:ext>
            </a:extLst>
          </p:cNvPr>
          <p:cNvSpPr/>
          <p:nvPr/>
        </p:nvSpPr>
        <p:spPr>
          <a:xfrm>
            <a:off x="457200" y="4165600"/>
            <a:ext cx="3048000" cy="812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600" b="1">
                <a:solidFill>
                  <a:srgbClr val="1F3864"/>
                </a:solidFill>
                <a:latin typeface="Calibri"/>
                <a:ea typeface="Calibri"/>
                <a:cs typeface="Calibri"/>
              </a:rPr>
              <a:t>Documentación</a:t>
            </a:r>
          </a:p>
        </p:txBody>
      </p:sp>
      <p:sp>
        <p:nvSpPr>
          <p:cNvPr id="10" name="Rectángulo 9">
            <a:extLst>
              <a:ext uri="{FF2B5EF4-FFF2-40B4-BE49-F238E27FC236}">
                <a16:creationId xmlns:a16="http://schemas.microsoft.com/office/drawing/2014/main" id="{138CCA4C-D4E1-4B82-9537-A273387BB26C}"/>
              </a:ext>
            </a:extLst>
          </p:cNvPr>
          <p:cNvSpPr/>
          <p:nvPr/>
        </p:nvSpPr>
        <p:spPr>
          <a:xfrm>
            <a:off x="3657600" y="4165600"/>
            <a:ext cx="5029200" cy="812800"/>
          </a:xfrm>
          <a:prstGeom prst="rect">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Respaldo de todo el proceso para auditoría</a:t>
            </a:r>
            <a:endParaRPr lang="es-CO" sz="1400">
              <a:solidFill>
                <a:srgbClr val="404040"/>
              </a:solidFill>
              <a:latin typeface="Calibri"/>
              <a:ea typeface="Calibri"/>
              <a:cs typeface="Calibri"/>
            </a:endParaRPr>
          </a:p>
        </p:txBody>
      </p:sp>
    </p:spTree>
    <p:extLst>
      <p:ext uri="{BB962C8B-B14F-4D97-AF65-F5344CB8AC3E}">
        <p14:creationId xmlns:p14="http://schemas.microsoft.com/office/powerpoint/2010/main" val="12669029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Control del riesgo</a:t>
            </a:r>
            <a:endParaRPr lang="es-CO" sz="3000" b="1" dirty="0">
              <a:solidFill>
                <a:srgbClr val="1F3864"/>
              </a:solidFill>
              <a:latin typeface="Calibri"/>
              <a:ea typeface="Calibri"/>
              <a:cs typeface="Calibri"/>
            </a:endParaRPr>
          </a:p>
        </p:txBody>
      </p:sp>
      <p:sp>
        <p:nvSpPr>
          <p:cNvPr id="59394" name="4 Marcador de contenido"/>
          <p:cNvSpPr>
            <a:spLocks noGrp="1"/>
          </p:cNvSpPr>
          <p:nvPr>
            <p:ph idx="1"/>
          </p:nvPr>
        </p:nvSpPr>
        <p:spPr>
          <a:xfrm>
            <a:off x="457200" y="1168400"/>
            <a:ext cx="8229600" cy="1219200"/>
          </a:xfrm>
          <a:solidFill>
            <a:srgbClr val="1F3864"/>
          </a:solidFill>
          <a:ln>
            <a:noFill/>
          </a:ln>
        </p:spPr>
        <p:txBody>
          <a:bodyPr wrap="square" anchor="ctr" anchorCtr="0">
            <a:noAutofit/>
          </a:bodyPr>
          <a:lstStyle/>
          <a:p>
            <a:pPr eaLnBrk="1" hangingPunct="1"/>
            <a:r>
              <a:rPr lang="es-ES" sz="1700" b="1">
                <a:solidFill>
                  <a:srgbClr val="FFFFFF"/>
                </a:solidFill>
                <a:latin typeface="Calibri"/>
                <a:ea typeface="Calibri"/>
                <a:cs typeface="Calibri"/>
              </a:rPr>
              <a:t>Con los riesgos analizados y cuantificados, y conocido su impacto, se evalúa el nivel de oportunidad que ofrece asumirlos.</a:t>
            </a:r>
            <a:endParaRPr lang="es-CO" sz="1700" b="1" dirty="0">
              <a:solidFill>
                <a:srgbClr val="FFFFFF"/>
              </a:solidFill>
              <a:latin typeface="Calibri"/>
              <a:ea typeface="Calibri"/>
              <a:cs typeface="Calibri"/>
            </a:endParaRPr>
          </a:p>
        </p:txBody>
      </p:sp>
      <p:sp>
        <p:nvSpPr>
          <p:cNvPr id="2" name="Rectángulo 1">
            <a:extLst>
              <a:ext uri="{FF2B5EF4-FFF2-40B4-BE49-F238E27FC236}">
                <a16:creationId xmlns:a16="http://schemas.microsoft.com/office/drawing/2014/main" id="{720188ED-F907-4491-A71D-D26BF47263AA}"/>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3" name="Rectángulo 2">
            <a:extLst>
              <a:ext uri="{FF2B5EF4-FFF2-40B4-BE49-F238E27FC236}">
                <a16:creationId xmlns:a16="http://schemas.microsoft.com/office/drawing/2014/main" id="{E9BC8EF5-B2F1-45A2-BE09-F110A669E478}"/>
              </a:ext>
            </a:extLst>
          </p:cNvPr>
          <p:cNvSpPr/>
          <p:nvPr/>
        </p:nvSpPr>
        <p:spPr>
          <a:xfrm>
            <a:off x="457200" y="2641600"/>
            <a:ext cx="8229600" cy="965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La matriz de posicionamiento cruza el nivel de riesgo con el nivel de oportunidad y arroja las opciones de decisión.</a:t>
            </a:r>
            <a:endParaRPr lang="es-CO" sz="1500">
              <a:solidFill>
                <a:srgbClr val="404040"/>
              </a:solidFill>
              <a:latin typeface="Calibri"/>
              <a:ea typeface="Calibri"/>
              <a:cs typeface="Calibri"/>
            </a:endParaRPr>
          </a:p>
        </p:txBody>
      </p:sp>
      <p:sp>
        <p:nvSpPr>
          <p:cNvPr id="4" name="CuadroTexto 3">
            <a:extLst>
              <a:ext uri="{FF2B5EF4-FFF2-40B4-BE49-F238E27FC236}">
                <a16:creationId xmlns:a16="http://schemas.microsoft.com/office/drawing/2014/main" id="{B2D11779-20CB-44A5-BC62-FA05675E3494}"/>
              </a:ext>
            </a:extLst>
          </p:cNvPr>
          <p:cNvSpPr txBox="1"/>
          <p:nvPr/>
        </p:nvSpPr>
        <p:spPr>
          <a:xfrm>
            <a:off x="457200" y="37084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La matriz de posicionamiento se muestra en la diapositiva siguiente</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68309067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457200" y="304800"/>
            <a:ext cx="8229600" cy="533400"/>
          </a:xfrm>
          <a:prstGeom prst="rect">
            <a:avLst/>
          </a:prstGeom>
          <a:noFill/>
          <a:ln>
            <a:noFill/>
          </a:ln>
        </p:spPr>
        <p:txBody>
          <a:bodyPr vert="horz" wrap="square" lIns="91440" tIns="45720" rIns="91440" bIns="4572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000" b="1">
                <a:solidFill>
                  <a:srgbClr val="1F3864"/>
                </a:solidFill>
                <a:latin typeface="Calibri"/>
                <a:ea typeface="Calibri"/>
                <a:cs typeface="Calibri"/>
              </a:rPr>
              <a:t>Tratamiento del riesgo</a:t>
            </a:r>
            <a:endParaRPr lang="es-CO" sz="3000" b="1" dirty="0">
              <a:solidFill>
                <a:srgbClr val="1F3864"/>
              </a:solidFill>
              <a:latin typeface="Calibri"/>
              <a:ea typeface="Calibri"/>
              <a:cs typeface="Calibri"/>
            </a:endParaRPr>
          </a:p>
        </p:txBody>
      </p:sp>
      <p:sp>
        <p:nvSpPr>
          <p:cNvPr id="3" name="Rectángulo 2">
            <a:extLst>
              <a:ext uri="{FF2B5EF4-FFF2-40B4-BE49-F238E27FC236}">
                <a16:creationId xmlns:a16="http://schemas.microsoft.com/office/drawing/2014/main" id="{1598EC3B-0A99-402B-AF99-B41E2A7B6741}"/>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B4E2F926-2CE1-4D8C-B451-395CB8C024D3}"/>
              </a:ext>
            </a:extLst>
          </p:cNvPr>
          <p:cNvSpPr txBox="1"/>
          <p:nvPr/>
        </p:nvSpPr>
        <p:spPr>
          <a:xfrm>
            <a:off x="457200" y="5193792"/>
            <a:ext cx="8229600" cy="237744"/>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Matriz de posicionamiento: nivel de riesgo frente a nivel de oportunidad</a:t>
            </a:r>
            <a:endParaRPr lang="es-CO" sz="1100">
              <a:solidFill>
                <a:srgbClr val="7F7F7F"/>
              </a:solidFill>
              <a:latin typeface="Calibri"/>
              <a:ea typeface="Calibri"/>
              <a:cs typeface="Calibri"/>
            </a:endParaRPr>
          </a:p>
        </p:txBody>
      </p:sp>
      <p:sp>
        <p:nvSpPr>
          <p:cNvPr id="6" name="Idea principal"/>
          <p:cNvSpPr txBox="1"/>
          <p:nvPr/>
        </p:nvSpPr>
        <p:spPr>
          <a:xfrm>
            <a:off x="457200" y="1143000"/>
            <a:ext cx="8229600" cy="393192"/>
          </a:xfrm>
          <a:prstGeom prst="rect">
            <a:avLst/>
          </a:prstGeom>
          <a:noFill/>
        </p:spPr>
        <p:txBody>
          <a:bodyPr wrap="square" lIns="0" tIns="0" rIns="0" bIns="0" anchor="t">
            <a:spAutoFit/>
          </a:bodyPr>
          <a:lstStyle/>
          <a:p>
            <a:pPr algn="l">
              <a:lnSpc>
                <a:spcPct val="100000"/>
              </a:lnSpc>
              <a:spcBef>
                <a:spcPts val="0"/>
              </a:spcBef>
              <a:spcAft>
                <a:spcPts val="0"/>
              </a:spcAft>
            </a:pPr>
            <a:r>
              <a:rPr sz="1500" b="0">
                <a:solidFill>
                  <a:srgbClr val="404040"/>
                </a:solidFill>
                <a:latin typeface="Calibri"/>
              </a:rPr>
              <a:t>La decisión mejora cuando la oportunidad compensa el riesgo y existe capacidad para asumirlo.</a:t>
            </a:r>
          </a:p>
        </p:txBody>
      </p:sp>
      <p:sp>
        <p:nvSpPr>
          <p:cNvPr id="7" name="Matriz 1-1"/>
          <p:cNvSpPr/>
          <p:nvPr/>
        </p:nvSpPr>
        <p:spPr>
          <a:xfrm>
            <a:off x="1463040" y="1783080"/>
            <a:ext cx="2362200" cy="938784"/>
          </a:xfrm>
          <a:prstGeom prst="rect">
            <a:avLst/>
          </a:prstGeom>
          <a:solidFill>
            <a:srgbClr val="F8DDDA"/>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r>
              <a:rPr sz="1400" b="1">
                <a:solidFill>
                  <a:srgbClr val="1F3864"/>
                </a:solidFill>
                <a:latin typeface="Calibri"/>
              </a:rPr>
              <a:t>MALA DECISIÓN
EMPRESARIAL</a:t>
            </a:r>
          </a:p>
        </p:txBody>
      </p:sp>
      <p:sp>
        <p:nvSpPr>
          <p:cNvPr id="8" name="Matriz 1-2"/>
          <p:cNvSpPr/>
          <p:nvPr/>
        </p:nvSpPr>
        <p:spPr>
          <a:xfrm>
            <a:off x="3825240" y="1783080"/>
            <a:ext cx="2362200" cy="938784"/>
          </a:xfrm>
          <a:prstGeom prst="rect">
            <a:avLst/>
          </a:prstGeom>
          <a:solidFill>
            <a:srgbClr val="FCEBD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endParaRPr/>
          </a:p>
        </p:txBody>
      </p:sp>
      <p:sp>
        <p:nvSpPr>
          <p:cNvPr id="9" name="Matriz 1-3"/>
          <p:cNvSpPr/>
          <p:nvPr/>
        </p:nvSpPr>
        <p:spPr>
          <a:xfrm>
            <a:off x="6187440" y="1783080"/>
            <a:ext cx="2362200" cy="938784"/>
          </a:xfrm>
          <a:prstGeom prst="rect">
            <a:avLst/>
          </a:prstGeom>
          <a:solidFill>
            <a:srgbClr val="E7EFF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r>
              <a:rPr sz="1400" b="1">
                <a:solidFill>
                  <a:srgbClr val="1F3864"/>
                </a:solidFill>
                <a:latin typeface="Calibri"/>
              </a:rPr>
              <a:t>¿LA ORGANIZACIÓN
LO PUEDE ASUMIR?</a:t>
            </a:r>
          </a:p>
        </p:txBody>
      </p:sp>
      <p:sp>
        <p:nvSpPr>
          <p:cNvPr id="10" name="Matriz 2-1"/>
          <p:cNvSpPr/>
          <p:nvPr/>
        </p:nvSpPr>
        <p:spPr>
          <a:xfrm>
            <a:off x="1463040" y="2721864"/>
            <a:ext cx="2362200" cy="938784"/>
          </a:xfrm>
          <a:prstGeom prst="rect">
            <a:avLst/>
          </a:prstGeom>
          <a:solidFill>
            <a:srgbClr val="FCEBD6"/>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endParaRPr/>
          </a:p>
        </p:txBody>
      </p:sp>
      <p:sp>
        <p:nvSpPr>
          <p:cNvPr id="11" name="Matriz 2-2"/>
          <p:cNvSpPr/>
          <p:nvPr/>
        </p:nvSpPr>
        <p:spPr>
          <a:xfrm>
            <a:off x="3825240" y="2721864"/>
            <a:ext cx="2362200" cy="938784"/>
          </a:xfrm>
          <a:prstGeom prst="rect">
            <a:avLst/>
          </a:prstGeom>
          <a:solidFill>
            <a:srgbClr val="E7EFF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r>
              <a:rPr sz="1400" b="1">
                <a:solidFill>
                  <a:srgbClr val="1F3864"/>
                </a:solidFill>
                <a:latin typeface="Calibri"/>
              </a:rPr>
              <a:t>EQUILIBRIO ENTRE
RIESGO Y OPORTUNIDAD</a:t>
            </a:r>
          </a:p>
        </p:txBody>
      </p:sp>
      <p:sp>
        <p:nvSpPr>
          <p:cNvPr id="12" name="Matriz 2-3"/>
          <p:cNvSpPr/>
          <p:nvPr/>
        </p:nvSpPr>
        <p:spPr>
          <a:xfrm>
            <a:off x="6187440" y="2721864"/>
            <a:ext cx="2362200" cy="938784"/>
          </a:xfrm>
          <a:prstGeom prst="rect">
            <a:avLst/>
          </a:prstGeom>
          <a:solidFill>
            <a:srgbClr val="E2F0D9"/>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r>
              <a:rPr sz="1400" b="1">
                <a:solidFill>
                  <a:srgbClr val="3D7832"/>
                </a:solidFill>
                <a:latin typeface="Calibri"/>
              </a:rPr>
              <a:t>BINOMIO ÓPTIMO</a:t>
            </a:r>
          </a:p>
        </p:txBody>
      </p:sp>
      <p:sp>
        <p:nvSpPr>
          <p:cNvPr id="13" name="Matriz 3-1"/>
          <p:cNvSpPr/>
          <p:nvPr/>
        </p:nvSpPr>
        <p:spPr>
          <a:xfrm>
            <a:off x="1463040" y="3660647"/>
            <a:ext cx="2362200" cy="938784"/>
          </a:xfrm>
          <a:prstGeom prst="rect">
            <a:avLst/>
          </a:prstGeom>
          <a:solidFill>
            <a:srgbClr val="E7EFF8"/>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r>
              <a:rPr sz="1400" b="1">
                <a:solidFill>
                  <a:srgbClr val="1F3864"/>
                </a:solidFill>
                <a:latin typeface="Calibri"/>
              </a:rPr>
              <a:t>¿VALE LA PENA?</a:t>
            </a:r>
          </a:p>
        </p:txBody>
      </p:sp>
      <p:sp>
        <p:nvSpPr>
          <p:cNvPr id="14" name="Matriz 3-2"/>
          <p:cNvSpPr/>
          <p:nvPr/>
        </p:nvSpPr>
        <p:spPr>
          <a:xfrm>
            <a:off x="3825240" y="3660647"/>
            <a:ext cx="2362200" cy="938784"/>
          </a:xfrm>
          <a:prstGeom prst="rect">
            <a:avLst/>
          </a:prstGeom>
          <a:solidFill>
            <a:srgbClr val="C6E0B4"/>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r>
              <a:rPr sz="1400" b="1">
                <a:solidFill>
                  <a:srgbClr val="3D7832"/>
                </a:solidFill>
                <a:latin typeface="Calibri"/>
              </a:rPr>
              <a:t>BINOMIO ÓPTIMO</a:t>
            </a:r>
          </a:p>
        </p:txBody>
      </p:sp>
      <p:sp>
        <p:nvSpPr>
          <p:cNvPr id="15" name="Matriz 3-3"/>
          <p:cNvSpPr/>
          <p:nvPr/>
        </p:nvSpPr>
        <p:spPr>
          <a:xfrm>
            <a:off x="6187440" y="3660647"/>
            <a:ext cx="2362200" cy="938784"/>
          </a:xfrm>
          <a:prstGeom prst="rect">
            <a:avLst/>
          </a:prstGeom>
          <a:solidFill>
            <a:srgbClr val="A9D18E"/>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lnSpc>
                <a:spcPct val="95000"/>
              </a:lnSpc>
              <a:spcBef>
                <a:spcPts val="0"/>
              </a:spcBef>
              <a:spcAft>
                <a:spcPts val="0"/>
              </a:spcAft>
            </a:pPr>
            <a:r>
              <a:rPr sz="1400" b="1">
                <a:solidFill>
                  <a:srgbClr val="3D7832"/>
                </a:solidFill>
                <a:latin typeface="Calibri"/>
              </a:rPr>
              <a:t>IDEAL, PERO
MUY RARO</a:t>
            </a:r>
          </a:p>
        </p:txBody>
      </p:sp>
      <p:sp>
        <p:nvSpPr>
          <p:cNvPr id="16" name="Oportunidad BAJO"/>
          <p:cNvSpPr txBox="1"/>
          <p:nvPr/>
        </p:nvSpPr>
        <p:spPr>
          <a:xfrm>
            <a:off x="1463040" y="4663440"/>
            <a:ext cx="2362200" cy="219456"/>
          </a:xfrm>
          <a:prstGeom prst="rect">
            <a:avLst/>
          </a:prstGeom>
          <a:noFill/>
        </p:spPr>
        <p:txBody>
          <a:bodyPr wrap="square" lIns="0" tIns="0" rIns="0" bIns="0" anchor="ctr">
            <a:spAutoFit/>
          </a:bodyPr>
          <a:lstStyle/>
          <a:p>
            <a:pPr algn="ctr">
              <a:lnSpc>
                <a:spcPct val="100000"/>
              </a:lnSpc>
              <a:spcBef>
                <a:spcPts val="0"/>
              </a:spcBef>
              <a:spcAft>
                <a:spcPts val="0"/>
              </a:spcAft>
            </a:pPr>
            <a:r>
              <a:rPr sz="1400" b="1">
                <a:solidFill>
                  <a:srgbClr val="7F7F7F"/>
                </a:solidFill>
                <a:latin typeface="Calibri"/>
              </a:rPr>
              <a:t>BAJO</a:t>
            </a:r>
          </a:p>
        </p:txBody>
      </p:sp>
      <p:sp>
        <p:nvSpPr>
          <p:cNvPr id="17" name="Oportunidad MEDIO"/>
          <p:cNvSpPr txBox="1"/>
          <p:nvPr/>
        </p:nvSpPr>
        <p:spPr>
          <a:xfrm>
            <a:off x="3825240" y="4663440"/>
            <a:ext cx="2362200" cy="219456"/>
          </a:xfrm>
          <a:prstGeom prst="rect">
            <a:avLst/>
          </a:prstGeom>
          <a:noFill/>
        </p:spPr>
        <p:txBody>
          <a:bodyPr wrap="square" lIns="0" tIns="0" rIns="0" bIns="0" anchor="ctr">
            <a:spAutoFit/>
          </a:bodyPr>
          <a:lstStyle/>
          <a:p>
            <a:pPr algn="ctr">
              <a:lnSpc>
                <a:spcPct val="100000"/>
              </a:lnSpc>
              <a:spcBef>
                <a:spcPts val="0"/>
              </a:spcBef>
              <a:spcAft>
                <a:spcPts val="0"/>
              </a:spcAft>
            </a:pPr>
            <a:r>
              <a:rPr sz="1400" b="1">
                <a:solidFill>
                  <a:srgbClr val="7F7F7F"/>
                </a:solidFill>
                <a:latin typeface="Calibri"/>
              </a:rPr>
              <a:t>MEDIO</a:t>
            </a:r>
          </a:p>
        </p:txBody>
      </p:sp>
      <p:sp>
        <p:nvSpPr>
          <p:cNvPr id="18" name="Oportunidad ALTO"/>
          <p:cNvSpPr txBox="1"/>
          <p:nvPr/>
        </p:nvSpPr>
        <p:spPr>
          <a:xfrm>
            <a:off x="6187440" y="4663440"/>
            <a:ext cx="2362200" cy="219456"/>
          </a:xfrm>
          <a:prstGeom prst="rect">
            <a:avLst/>
          </a:prstGeom>
          <a:noFill/>
        </p:spPr>
        <p:txBody>
          <a:bodyPr wrap="square" lIns="0" tIns="0" rIns="0" bIns="0" anchor="ctr">
            <a:spAutoFit/>
          </a:bodyPr>
          <a:lstStyle/>
          <a:p>
            <a:pPr algn="ctr">
              <a:lnSpc>
                <a:spcPct val="100000"/>
              </a:lnSpc>
              <a:spcBef>
                <a:spcPts val="0"/>
              </a:spcBef>
              <a:spcAft>
                <a:spcPts val="0"/>
              </a:spcAft>
            </a:pPr>
            <a:r>
              <a:rPr sz="1400" b="1">
                <a:solidFill>
                  <a:srgbClr val="7F7F7F"/>
                </a:solidFill>
                <a:latin typeface="Calibri"/>
              </a:rPr>
              <a:t>ALTO</a:t>
            </a:r>
          </a:p>
        </p:txBody>
      </p:sp>
      <p:sp>
        <p:nvSpPr>
          <p:cNvPr id="19" name="Eje oportunidad"/>
          <p:cNvSpPr txBox="1"/>
          <p:nvPr/>
        </p:nvSpPr>
        <p:spPr>
          <a:xfrm>
            <a:off x="1463040" y="4910328"/>
            <a:ext cx="7086600" cy="256032"/>
          </a:xfrm>
          <a:prstGeom prst="rect">
            <a:avLst/>
          </a:prstGeom>
          <a:noFill/>
        </p:spPr>
        <p:txBody>
          <a:bodyPr wrap="square" lIns="0" tIns="0" rIns="0" bIns="0" anchor="ctr">
            <a:spAutoFit/>
          </a:bodyPr>
          <a:lstStyle/>
          <a:p>
            <a:pPr algn="ctr">
              <a:lnSpc>
                <a:spcPct val="100000"/>
              </a:lnSpc>
              <a:spcBef>
                <a:spcPts val="0"/>
              </a:spcBef>
              <a:spcAft>
                <a:spcPts val="0"/>
              </a:spcAft>
            </a:pPr>
            <a:r>
              <a:rPr sz="1400" b="1">
                <a:solidFill>
                  <a:srgbClr val="1F3864"/>
                </a:solidFill>
                <a:latin typeface="Calibri"/>
              </a:rPr>
              <a:t>NIVEL DE OPORTUNIDAD  →</a:t>
            </a:r>
          </a:p>
        </p:txBody>
      </p:sp>
      <p:sp>
        <p:nvSpPr>
          <p:cNvPr id="20" name="Riesgo ALTO"/>
          <p:cNvSpPr txBox="1"/>
          <p:nvPr/>
        </p:nvSpPr>
        <p:spPr>
          <a:xfrm>
            <a:off x="768096" y="1783080"/>
            <a:ext cx="621792" cy="938784"/>
          </a:xfrm>
          <a:prstGeom prst="rect">
            <a:avLst/>
          </a:prstGeom>
          <a:noFill/>
        </p:spPr>
        <p:txBody>
          <a:bodyPr wrap="square" lIns="0" tIns="0" rIns="0" bIns="0" anchor="ctr">
            <a:spAutoFit/>
          </a:bodyPr>
          <a:lstStyle/>
          <a:p>
            <a:pPr algn="ctr">
              <a:lnSpc>
                <a:spcPct val="100000"/>
              </a:lnSpc>
              <a:spcBef>
                <a:spcPts val="0"/>
              </a:spcBef>
              <a:spcAft>
                <a:spcPts val="0"/>
              </a:spcAft>
            </a:pPr>
            <a:r>
              <a:rPr sz="1400" b="1">
                <a:solidFill>
                  <a:srgbClr val="7F7F7F"/>
                </a:solidFill>
                <a:latin typeface="Calibri"/>
              </a:rPr>
              <a:t>ALTO</a:t>
            </a:r>
          </a:p>
        </p:txBody>
      </p:sp>
      <p:sp>
        <p:nvSpPr>
          <p:cNvPr id="21" name="Riesgo MEDIO"/>
          <p:cNvSpPr txBox="1"/>
          <p:nvPr/>
        </p:nvSpPr>
        <p:spPr>
          <a:xfrm>
            <a:off x="768096" y="2721864"/>
            <a:ext cx="621792" cy="938784"/>
          </a:xfrm>
          <a:prstGeom prst="rect">
            <a:avLst/>
          </a:prstGeom>
          <a:noFill/>
        </p:spPr>
        <p:txBody>
          <a:bodyPr wrap="square" lIns="0" tIns="0" rIns="0" bIns="0" anchor="ctr">
            <a:spAutoFit/>
          </a:bodyPr>
          <a:lstStyle/>
          <a:p>
            <a:pPr algn="ctr">
              <a:lnSpc>
                <a:spcPct val="100000"/>
              </a:lnSpc>
              <a:spcBef>
                <a:spcPts val="0"/>
              </a:spcBef>
              <a:spcAft>
                <a:spcPts val="0"/>
              </a:spcAft>
            </a:pPr>
            <a:r>
              <a:rPr sz="1400" b="1">
                <a:solidFill>
                  <a:srgbClr val="7F7F7F"/>
                </a:solidFill>
                <a:latin typeface="Calibri"/>
              </a:rPr>
              <a:t>MEDIO</a:t>
            </a:r>
          </a:p>
        </p:txBody>
      </p:sp>
      <p:sp>
        <p:nvSpPr>
          <p:cNvPr id="22" name="Riesgo BAJO"/>
          <p:cNvSpPr txBox="1"/>
          <p:nvPr/>
        </p:nvSpPr>
        <p:spPr>
          <a:xfrm>
            <a:off x="768096" y="3660647"/>
            <a:ext cx="621792" cy="938784"/>
          </a:xfrm>
          <a:prstGeom prst="rect">
            <a:avLst/>
          </a:prstGeom>
          <a:noFill/>
        </p:spPr>
        <p:txBody>
          <a:bodyPr wrap="square" lIns="0" tIns="0" rIns="0" bIns="0" anchor="ctr">
            <a:spAutoFit/>
          </a:bodyPr>
          <a:lstStyle/>
          <a:p>
            <a:pPr algn="ctr">
              <a:lnSpc>
                <a:spcPct val="100000"/>
              </a:lnSpc>
              <a:spcBef>
                <a:spcPts val="0"/>
              </a:spcBef>
              <a:spcAft>
                <a:spcPts val="0"/>
              </a:spcAft>
            </a:pPr>
            <a:r>
              <a:rPr sz="1400" b="1">
                <a:solidFill>
                  <a:srgbClr val="7F7F7F"/>
                </a:solidFill>
                <a:latin typeface="Calibri"/>
              </a:rPr>
              <a:t>BAJO</a:t>
            </a:r>
          </a:p>
        </p:txBody>
      </p:sp>
      <p:sp>
        <p:nvSpPr>
          <p:cNvPr id="23" name="Eje riesgo"/>
          <p:cNvSpPr txBox="1"/>
          <p:nvPr/>
        </p:nvSpPr>
        <p:spPr>
          <a:xfrm>
            <a:off x="566928" y="1527048"/>
            <a:ext cx="841248" cy="228600"/>
          </a:xfrm>
          <a:prstGeom prst="rect">
            <a:avLst/>
          </a:prstGeom>
          <a:noFill/>
        </p:spPr>
        <p:txBody>
          <a:bodyPr wrap="square" lIns="0" tIns="0" rIns="0" bIns="0" anchor="ctr">
            <a:spAutoFit/>
          </a:bodyPr>
          <a:lstStyle/>
          <a:p>
            <a:pPr algn="r">
              <a:lnSpc>
                <a:spcPct val="90000"/>
              </a:lnSpc>
              <a:spcBef>
                <a:spcPts val="0"/>
              </a:spcBef>
              <a:spcAft>
                <a:spcPts val="0"/>
              </a:spcAft>
            </a:pPr>
            <a:r>
              <a:rPr sz="1400" b="1">
                <a:latin typeface="Calibri"/>
              </a:rPr>
              <a:t>RIESGO  ↑</a:t>
            </a:r>
          </a:p>
        </p:txBody>
      </p:sp>
    </p:spTree>
    <p:extLst>
      <p:ext uri="{BB962C8B-B14F-4D97-AF65-F5344CB8AC3E}">
        <p14:creationId xmlns:p14="http://schemas.microsoft.com/office/powerpoint/2010/main" val="9358082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1 Título"/>
          <p:cNvSpPr>
            <a:spLocks noGrp="1"/>
          </p:cNvSpPr>
          <p:nvPr>
            <p:ph type="title"/>
          </p:nvPr>
        </p:nvSpPr>
        <p:spPr>
          <a:xfrm>
            <a:off x="457200" y="304800"/>
            <a:ext cx="8229600" cy="533400"/>
          </a:xfrm>
          <a:noFill/>
          <a:ln>
            <a:noFill/>
          </a:ln>
        </p:spPr>
        <p:txBody>
          <a:bodyPr wrap="square" anchor="t" anchorCtr="0">
            <a:noAutofit/>
          </a:bodyPr>
          <a:lstStyle/>
          <a:p>
            <a:pPr eaLnBrk="1" hangingPunct="1"/>
            <a:r>
              <a:rPr lang="es-ES" sz="2800" b="1">
                <a:solidFill>
                  <a:srgbClr val="1F3864"/>
                </a:solidFill>
                <a:latin typeface="Calibri"/>
                <a:ea typeface="Calibri"/>
                <a:cs typeface="Calibri"/>
              </a:rPr>
              <a:t>¿Cuándo debemos enfrentarnos a los riesgos?</a:t>
            </a:r>
            <a:endParaRPr lang="es-CO" sz="2800" b="1" dirty="0">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A9B65B16-DDED-40F0-9276-6361AB273DD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B45872E2-A5D3-4658-88CC-A419107EDDE3}"/>
              </a:ext>
            </a:extLst>
          </p:cNvPr>
          <p:cNvSpPr/>
          <p:nvPr/>
        </p:nvSpPr>
        <p:spPr>
          <a:xfrm>
            <a:off x="457200" y="1219200"/>
            <a:ext cx="609600" cy="1219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2200" b="1">
                <a:solidFill>
                  <a:srgbClr val="FFFFFF"/>
                </a:solidFill>
                <a:latin typeface="Calibri"/>
                <a:ea typeface="Calibri"/>
                <a:cs typeface="Calibri"/>
              </a:rPr>
              <a:t>1</a:t>
            </a:r>
          </a:p>
        </p:txBody>
      </p:sp>
      <p:sp>
        <p:nvSpPr>
          <p:cNvPr id="6" name="Rectángulo 5">
            <a:extLst>
              <a:ext uri="{FF2B5EF4-FFF2-40B4-BE49-F238E27FC236}">
                <a16:creationId xmlns:a16="http://schemas.microsoft.com/office/drawing/2014/main" id="{972CDFBD-D8FF-488D-AE90-A3755F414DDD}"/>
              </a:ext>
            </a:extLst>
          </p:cNvPr>
          <p:cNvSpPr/>
          <p:nvPr/>
        </p:nvSpPr>
        <p:spPr>
          <a:xfrm>
            <a:off x="1117600" y="1219200"/>
            <a:ext cx="7569200" cy="355600"/>
          </a:xfrm>
          <a:prstGeom prst="rect">
            <a:avLst/>
          </a:prstGeom>
          <a:solidFill>
            <a:srgbClr val="D6DC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Antes de diseñar</a:t>
            </a:r>
          </a:p>
        </p:txBody>
      </p:sp>
      <p:sp>
        <p:nvSpPr>
          <p:cNvPr id="7" name="Rectángulo 6">
            <a:extLst>
              <a:ext uri="{FF2B5EF4-FFF2-40B4-BE49-F238E27FC236}">
                <a16:creationId xmlns:a16="http://schemas.microsoft.com/office/drawing/2014/main" id="{19064791-074A-418C-8C32-7CF274652894}"/>
              </a:ext>
            </a:extLst>
          </p:cNvPr>
          <p:cNvSpPr/>
          <p:nvPr/>
        </p:nvSpPr>
        <p:spPr>
          <a:xfrm>
            <a:off x="1117600" y="1574800"/>
            <a:ext cx="75692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El tratamiento comienza cuando el diseño del proyecto adopta las medidas que eliminan o reducen el riesgo, o lo trasladan a un tercero.</a:t>
            </a:r>
            <a:endParaRPr lang="es-CO" sz="1400">
              <a:solidFill>
                <a:srgbClr val="404040"/>
              </a:solidFill>
              <a:latin typeface="Calibri"/>
              <a:ea typeface="Calibri"/>
              <a:cs typeface="Calibri"/>
            </a:endParaRPr>
          </a:p>
        </p:txBody>
      </p:sp>
      <p:sp>
        <p:nvSpPr>
          <p:cNvPr id="8" name="Rectángulo 7">
            <a:extLst>
              <a:ext uri="{FF2B5EF4-FFF2-40B4-BE49-F238E27FC236}">
                <a16:creationId xmlns:a16="http://schemas.microsoft.com/office/drawing/2014/main" id="{FD076C2A-6009-4686-A9F0-6D6FE7D52844}"/>
              </a:ext>
            </a:extLst>
          </p:cNvPr>
          <p:cNvSpPr/>
          <p:nvPr/>
        </p:nvSpPr>
        <p:spPr>
          <a:xfrm>
            <a:off x="457200" y="2616200"/>
            <a:ext cx="609600" cy="1219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2200" b="1">
                <a:solidFill>
                  <a:srgbClr val="FFFFFF"/>
                </a:solidFill>
                <a:latin typeface="Calibri"/>
                <a:ea typeface="Calibri"/>
                <a:cs typeface="Calibri"/>
              </a:rPr>
              <a:t>2</a:t>
            </a:r>
          </a:p>
        </p:txBody>
      </p:sp>
      <p:sp>
        <p:nvSpPr>
          <p:cNvPr id="9" name="Rectángulo 8">
            <a:extLst>
              <a:ext uri="{FF2B5EF4-FFF2-40B4-BE49-F238E27FC236}">
                <a16:creationId xmlns:a16="http://schemas.microsoft.com/office/drawing/2014/main" id="{8AC69C2C-EF6B-4A29-89BD-52B0A1679D6E}"/>
              </a:ext>
            </a:extLst>
          </p:cNvPr>
          <p:cNvSpPr/>
          <p:nvPr/>
        </p:nvSpPr>
        <p:spPr>
          <a:xfrm>
            <a:off x="1117600" y="2616200"/>
            <a:ext cx="7569200" cy="355600"/>
          </a:xfrm>
          <a:prstGeom prst="rect">
            <a:avLst/>
          </a:prstGeom>
          <a:solidFill>
            <a:srgbClr val="D6DC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Al planificar</a:t>
            </a:r>
          </a:p>
        </p:txBody>
      </p:sp>
      <p:sp>
        <p:nvSpPr>
          <p:cNvPr id="10" name="Rectángulo 9">
            <a:extLst>
              <a:ext uri="{FF2B5EF4-FFF2-40B4-BE49-F238E27FC236}">
                <a16:creationId xmlns:a16="http://schemas.microsoft.com/office/drawing/2014/main" id="{D483B46E-DD23-4397-88E8-368263F1A161}"/>
              </a:ext>
            </a:extLst>
          </p:cNvPr>
          <p:cNvSpPr/>
          <p:nvPr/>
        </p:nvSpPr>
        <p:spPr>
          <a:xfrm>
            <a:off x="1117600" y="2971800"/>
            <a:ext cx="75692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Se corrige lo que no puede evitarse: se identifica el riesgo, se estiman probabilidad e impacto y se adoptan medidas de control.</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83007620-62D9-4FC1-9AA7-2E626CE23497}"/>
              </a:ext>
            </a:extLst>
          </p:cNvPr>
          <p:cNvSpPr/>
          <p:nvPr/>
        </p:nvSpPr>
        <p:spPr>
          <a:xfrm>
            <a:off x="457200" y="4013200"/>
            <a:ext cx="609600" cy="1219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2200" b="1">
                <a:solidFill>
                  <a:srgbClr val="FFFFFF"/>
                </a:solidFill>
                <a:latin typeface="Calibri"/>
                <a:ea typeface="Calibri"/>
                <a:cs typeface="Calibri"/>
              </a:rPr>
              <a:t>3</a:t>
            </a:r>
          </a:p>
        </p:txBody>
      </p:sp>
      <p:sp>
        <p:nvSpPr>
          <p:cNvPr id="12" name="Rectángulo 11">
            <a:extLst>
              <a:ext uri="{FF2B5EF4-FFF2-40B4-BE49-F238E27FC236}">
                <a16:creationId xmlns:a16="http://schemas.microsoft.com/office/drawing/2014/main" id="{B937FF20-7610-4A4D-9A05-B6F2FCEB3530}"/>
              </a:ext>
            </a:extLst>
          </p:cNvPr>
          <p:cNvSpPr/>
          <p:nvPr/>
        </p:nvSpPr>
        <p:spPr>
          <a:xfrm>
            <a:off x="1117600" y="4013200"/>
            <a:ext cx="7569200" cy="355600"/>
          </a:xfrm>
          <a:prstGeom prst="rect">
            <a:avLst/>
          </a:prstGeom>
          <a:solidFill>
            <a:srgbClr val="D6DC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Al materializarse</a:t>
            </a:r>
          </a:p>
        </p:txBody>
      </p:sp>
      <p:sp>
        <p:nvSpPr>
          <p:cNvPr id="13" name="Rectángulo 12">
            <a:extLst>
              <a:ext uri="{FF2B5EF4-FFF2-40B4-BE49-F238E27FC236}">
                <a16:creationId xmlns:a16="http://schemas.microsoft.com/office/drawing/2014/main" id="{66C9B3FB-445F-4429-A6AC-EAB710330957}"/>
              </a:ext>
            </a:extLst>
          </p:cNvPr>
          <p:cNvSpPr/>
          <p:nvPr/>
        </p:nvSpPr>
        <p:spPr>
          <a:xfrm>
            <a:off x="1117600" y="4368800"/>
            <a:ext cx="7569200" cy="863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Si el riesgo ocurre, se actúa según el plan previsto y, si no existe, se decide en el momento con la medida más adecuada.</a:t>
            </a:r>
            <a:endParaRPr lang="es-CO" sz="1400">
              <a:solidFill>
                <a:srgbClr val="404040"/>
              </a:solidFill>
              <a:latin typeface="Calibri"/>
              <a:ea typeface="Calibri"/>
              <a:cs typeface="Calibri"/>
            </a:endParaRPr>
          </a:p>
        </p:txBody>
      </p:sp>
      <p:sp>
        <p:nvSpPr>
          <p:cNvPr id="14" name="CuadroTexto 13">
            <a:extLst>
              <a:ext uri="{FF2B5EF4-FFF2-40B4-BE49-F238E27FC236}">
                <a16:creationId xmlns:a16="http://schemas.microsoft.com/office/drawing/2014/main" id="{0181A32C-FCD3-4662-8198-5D5C0236791A}"/>
              </a:ext>
            </a:extLst>
          </p:cNvPr>
          <p:cNvSpPr txBox="1"/>
          <p:nvPr/>
        </p:nvSpPr>
        <p:spPr>
          <a:xfrm>
            <a:off x="457200" y="54102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Del diseño a la respuesta: tres momentos para actuar sobre el riesgo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7861784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2 Marcador de contenido"/>
          <p:cNvSpPr>
            <a:spLocks noGrp="1"/>
          </p:cNvSpPr>
          <p:nvPr>
            <p:ph idx="1"/>
          </p:nvPr>
        </p:nvSpPr>
        <p:spPr>
          <a:xfrm>
            <a:off x="457200" y="1161288"/>
            <a:ext cx="8229600" cy="384048"/>
          </a:xfrm>
          <a:noFill/>
          <a:ln>
            <a:noFill/>
          </a:ln>
        </p:spPr>
        <p:txBody>
          <a:bodyPr wrap="square" lIns="0" tIns="0" rIns="0" bIns="0" anchor="ctr" anchorCtr="0">
            <a:noAutofit/>
          </a:bodyPr>
          <a:lstStyle/>
          <a:p>
            <a:pPr marL="0" indent="0" algn="l" eaLnBrk="1" hangingPunct="1">
              <a:lnSpc>
                <a:spcPct val="100000"/>
              </a:lnSpc>
              <a:spcBef>
                <a:spcPts val="0"/>
              </a:spcBef>
              <a:spcAft>
                <a:spcPts val="0"/>
              </a:spcAft>
              <a:buFont typeface="Wingdings" pitchFamily="2" charset="2"/>
              <a:buNone/>
            </a:pPr>
            <a:r>
              <a:rPr lang="es-ES" sz="1500" b="0">
                <a:solidFill>
                  <a:srgbClr val="404040"/>
                </a:solidFill>
                <a:latin typeface="Calibri"/>
              </a:rPr>
              <a:t>El tratamiento debe ajustarse a la importancia del riesgo en la actividad de la empresa.</a:t>
            </a:r>
            <a:endParaRPr lang="es-ES" sz="1600" b="1">
              <a:solidFill>
                <a:srgbClr val="FFFFFF"/>
              </a:solidFill>
              <a:latin typeface="Calibri"/>
              <a:ea typeface="Calibri"/>
              <a:cs typeface="Calibri"/>
            </a:endParaRPr>
          </a:p>
        </p:txBody>
      </p:sp>
      <p:sp>
        <p:nvSpPr>
          <p:cNvPr id="3" name="CuadroTexto 2">
            <a:extLst>
              <a:ext uri="{FF2B5EF4-FFF2-40B4-BE49-F238E27FC236}">
                <a16:creationId xmlns:a16="http://schemas.microsoft.com/office/drawing/2014/main" id="{38A0F386-349B-4148-A7C5-EBB93A3FB59D}"/>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¿Cuál tratamiento aplicar?</a:t>
            </a:r>
          </a:p>
        </p:txBody>
      </p:sp>
      <p:sp>
        <p:nvSpPr>
          <p:cNvPr id="4" name="Rectángulo 3">
            <a:extLst>
              <a:ext uri="{FF2B5EF4-FFF2-40B4-BE49-F238E27FC236}">
                <a16:creationId xmlns:a16="http://schemas.microsoft.com/office/drawing/2014/main" id="{AD48A9E7-D583-49DA-82F3-FFC32CD37B6A}"/>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3BF1A817-9791-4BB4-9603-10D8123EB2D0}"/>
              </a:ext>
            </a:extLst>
          </p:cNvPr>
          <p:cNvSpPr txBox="1"/>
          <p:nvPr/>
        </p:nvSpPr>
        <p:spPr>
          <a:xfrm>
            <a:off x="457200" y="5212080"/>
            <a:ext cx="8229600" cy="237744"/>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Opciones de tratamiento según la relevancia del riesgo</a:t>
            </a:r>
            <a:endParaRPr lang="es-CO" sz="1100">
              <a:solidFill>
                <a:srgbClr val="7F7F7F"/>
              </a:solidFill>
              <a:latin typeface="Calibri"/>
              <a:ea typeface="Calibri"/>
              <a:cs typeface="Calibri"/>
            </a:endParaRPr>
          </a:p>
        </p:txBody>
      </p:sp>
      <p:sp>
        <p:nvSpPr>
          <p:cNvPr id="62467" name="Nivel 01"/>
          <p:cNvSpPr/>
          <p:nvPr/>
        </p:nvSpPr>
        <p:spPr>
          <a:xfrm>
            <a:off x="640080" y="1810512"/>
            <a:ext cx="585216" cy="585216"/>
          </a:xfrm>
          <a:prstGeom prst="ellipse">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sz="1700" b="1">
                <a:solidFill>
                  <a:srgbClr val="FFFFFF"/>
                </a:solidFill>
                <a:latin typeface="Calibri"/>
              </a:rPr>
              <a:t>01</a:t>
            </a:r>
          </a:p>
        </p:txBody>
      </p:sp>
      <p:sp>
        <p:nvSpPr>
          <p:cNvPr id="62468" name="Etiqueta BAJO"/>
          <p:cNvSpPr txBox="1"/>
          <p:nvPr/>
        </p:nvSpPr>
        <p:spPr>
          <a:xfrm>
            <a:off x="1426464" y="1819656"/>
            <a:ext cx="1261872" cy="256032"/>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70AD47"/>
                </a:solidFill>
                <a:latin typeface="Calibri"/>
              </a:rPr>
              <a:t>BAJO</a:t>
            </a:r>
          </a:p>
        </p:txBody>
      </p:sp>
      <p:sp>
        <p:nvSpPr>
          <p:cNvPr id="62469" name="Decisión ACEPTAR Y MONITOREAR"/>
          <p:cNvSpPr txBox="1"/>
          <p:nvPr/>
        </p:nvSpPr>
        <p:spPr>
          <a:xfrm>
            <a:off x="2788920" y="1801368"/>
            <a:ext cx="2304288"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F3864"/>
                </a:solidFill>
                <a:latin typeface="Calibri"/>
              </a:rPr>
              <a:t>ACEPTAR Y MONITOREAR</a:t>
            </a:r>
          </a:p>
        </p:txBody>
      </p:sp>
      <p:sp>
        <p:nvSpPr>
          <p:cNvPr id="62470" name="Detalle BAJO"/>
          <p:cNvSpPr txBox="1"/>
          <p:nvPr/>
        </p:nvSpPr>
        <p:spPr>
          <a:xfrm>
            <a:off x="5212080" y="1773936"/>
            <a:ext cx="3090672" cy="621792"/>
          </a:xfrm>
          <a:prstGeom prst="rect">
            <a:avLst/>
          </a:prstGeom>
          <a:noFill/>
        </p:spPr>
        <p:txBody>
          <a:bodyPr wrap="square" lIns="0" tIns="0" rIns="0" bIns="0" anchor="ctr">
            <a:spAutoFit/>
          </a:bodyPr>
          <a:lstStyle/>
          <a:p>
            <a:pPr algn="l">
              <a:lnSpc>
                <a:spcPct val="100000"/>
              </a:lnSpc>
              <a:spcBef>
                <a:spcPts val="0"/>
              </a:spcBef>
              <a:spcAft>
                <a:spcPts val="0"/>
              </a:spcAft>
            </a:pPr>
            <a:r>
              <a:rPr sz="1500" b="0">
                <a:solidFill>
                  <a:srgbClr val="404040"/>
                </a:solidFill>
                <a:latin typeface="Calibri"/>
              </a:rPr>
              <a:t>Puede aceptarse sin una acción adicional; mantener control y seguimiento.</a:t>
            </a:r>
          </a:p>
        </p:txBody>
      </p:sp>
      <p:sp>
        <p:nvSpPr>
          <p:cNvPr id="62471" name="Separador de niveles"/>
          <p:cNvSpPr/>
          <p:nvPr/>
        </p:nvSpPr>
        <p:spPr>
          <a:xfrm>
            <a:off x="640080" y="2651760"/>
            <a:ext cx="7662672"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472" name="Nivel 02"/>
          <p:cNvSpPr/>
          <p:nvPr/>
        </p:nvSpPr>
        <p:spPr>
          <a:xfrm>
            <a:off x="640080" y="2926080"/>
            <a:ext cx="585216" cy="585216"/>
          </a:xfrm>
          <a:prstGeom prst="ellipse">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sz="1700" b="1">
                <a:solidFill>
                  <a:srgbClr val="FFFFFF"/>
                </a:solidFill>
                <a:latin typeface="Calibri"/>
              </a:rPr>
              <a:t>02</a:t>
            </a:r>
          </a:p>
        </p:txBody>
      </p:sp>
      <p:sp>
        <p:nvSpPr>
          <p:cNvPr id="62473" name="Etiqueta SIGNIFICATIVO"/>
          <p:cNvSpPr txBox="1"/>
          <p:nvPr/>
        </p:nvSpPr>
        <p:spPr>
          <a:xfrm>
            <a:off x="1426464" y="2935224"/>
            <a:ext cx="1261872" cy="256032"/>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5B9BD5"/>
                </a:solidFill>
                <a:latin typeface="Calibri"/>
              </a:rPr>
              <a:t>SIGNIFICATIVO</a:t>
            </a:r>
          </a:p>
        </p:txBody>
      </p:sp>
      <p:sp>
        <p:nvSpPr>
          <p:cNvPr id="62474" name="Decisión TRATAR Y DECIDIR"/>
          <p:cNvSpPr txBox="1"/>
          <p:nvPr/>
        </p:nvSpPr>
        <p:spPr>
          <a:xfrm>
            <a:off x="2788920" y="2916936"/>
            <a:ext cx="2304288"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F3864"/>
                </a:solidFill>
                <a:latin typeface="Calibri"/>
              </a:rPr>
              <a:t>TRATAR Y DECIDIR</a:t>
            </a:r>
          </a:p>
        </p:txBody>
      </p:sp>
      <p:sp>
        <p:nvSpPr>
          <p:cNvPr id="62475" name="Detalle SIGNIFICATIVO"/>
          <p:cNvSpPr txBox="1"/>
          <p:nvPr/>
        </p:nvSpPr>
        <p:spPr>
          <a:xfrm>
            <a:off x="5212080" y="2889504"/>
            <a:ext cx="3090672" cy="621792"/>
          </a:xfrm>
          <a:prstGeom prst="rect">
            <a:avLst/>
          </a:prstGeom>
          <a:noFill/>
        </p:spPr>
        <p:txBody>
          <a:bodyPr wrap="square" lIns="0" tIns="0" rIns="0" bIns="0" anchor="ctr">
            <a:spAutoFit/>
          </a:bodyPr>
          <a:lstStyle/>
          <a:p>
            <a:pPr algn="l">
              <a:lnSpc>
                <a:spcPct val="100000"/>
              </a:lnSpc>
              <a:spcBef>
                <a:spcPts val="0"/>
              </a:spcBef>
              <a:spcAft>
                <a:spcPts val="0"/>
              </a:spcAft>
            </a:pPr>
            <a:r>
              <a:rPr sz="1500" b="0">
                <a:solidFill>
                  <a:srgbClr val="404040"/>
                </a:solidFill>
                <a:latin typeface="Calibri"/>
              </a:rPr>
              <a:t>Tratar y controlar siempre; aceptar o no según la estrategia y la oportunidad.</a:t>
            </a:r>
          </a:p>
        </p:txBody>
      </p:sp>
      <p:sp>
        <p:nvSpPr>
          <p:cNvPr id="62476" name="Separador de niveles"/>
          <p:cNvSpPr/>
          <p:nvPr/>
        </p:nvSpPr>
        <p:spPr>
          <a:xfrm>
            <a:off x="640080" y="3767328"/>
            <a:ext cx="7662672"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477" name="Nivel 03"/>
          <p:cNvSpPr/>
          <p:nvPr/>
        </p:nvSpPr>
        <p:spPr>
          <a:xfrm>
            <a:off x="640080" y="4041648"/>
            <a:ext cx="585216" cy="585216"/>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0000"/>
              </a:lnSpc>
              <a:spcBef>
                <a:spcPts val="0"/>
              </a:spcBef>
              <a:spcAft>
                <a:spcPts val="0"/>
              </a:spcAft>
            </a:pPr>
            <a:r>
              <a:rPr sz="1700" b="1">
                <a:solidFill>
                  <a:srgbClr val="FFFFFF"/>
                </a:solidFill>
                <a:latin typeface="Calibri"/>
              </a:rPr>
              <a:t>03</a:t>
            </a:r>
          </a:p>
        </p:txBody>
      </p:sp>
      <p:sp>
        <p:nvSpPr>
          <p:cNvPr id="62478" name="Etiqueta ALTO"/>
          <p:cNvSpPr txBox="1"/>
          <p:nvPr/>
        </p:nvSpPr>
        <p:spPr>
          <a:xfrm>
            <a:off x="1426464" y="4050791"/>
            <a:ext cx="1261872" cy="256032"/>
          </a:xfrm>
          <a:prstGeom prst="rect">
            <a:avLst/>
          </a:prstGeom>
          <a:noFill/>
        </p:spPr>
        <p:txBody>
          <a:bodyPr wrap="square" lIns="0" tIns="0" rIns="0" bIns="0" anchor="ctr">
            <a:spAutoFit/>
          </a:bodyPr>
          <a:lstStyle/>
          <a:p>
            <a:pPr algn="l">
              <a:lnSpc>
                <a:spcPct val="100000"/>
              </a:lnSpc>
              <a:spcBef>
                <a:spcPts val="0"/>
              </a:spcBef>
              <a:spcAft>
                <a:spcPts val="0"/>
              </a:spcAft>
            </a:pPr>
            <a:r>
              <a:rPr sz="1400" b="1">
                <a:solidFill>
                  <a:srgbClr val="ED7D31"/>
                </a:solidFill>
                <a:latin typeface="Calibri"/>
              </a:rPr>
              <a:t>ALTO</a:t>
            </a:r>
          </a:p>
        </p:txBody>
      </p:sp>
      <p:sp>
        <p:nvSpPr>
          <p:cNvPr id="62479" name="Decisión ADMINISTRAR CON PLAN"/>
          <p:cNvSpPr txBox="1"/>
          <p:nvPr/>
        </p:nvSpPr>
        <p:spPr>
          <a:xfrm>
            <a:off x="2788920" y="4032504"/>
            <a:ext cx="2304288"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1F3864"/>
                </a:solidFill>
                <a:latin typeface="Calibri"/>
              </a:rPr>
              <a:t>ADMINISTRAR CON PLAN</a:t>
            </a:r>
          </a:p>
        </p:txBody>
      </p:sp>
      <p:sp>
        <p:nvSpPr>
          <p:cNvPr id="62480" name="Detalle ALTO"/>
          <p:cNvSpPr txBox="1"/>
          <p:nvPr/>
        </p:nvSpPr>
        <p:spPr>
          <a:xfrm>
            <a:off x="5212080" y="4005072"/>
            <a:ext cx="3090672" cy="621792"/>
          </a:xfrm>
          <a:prstGeom prst="rect">
            <a:avLst/>
          </a:prstGeom>
          <a:noFill/>
        </p:spPr>
        <p:txBody>
          <a:bodyPr wrap="square" lIns="0" tIns="0" rIns="0" bIns="0" anchor="ctr">
            <a:spAutoFit/>
          </a:bodyPr>
          <a:lstStyle/>
          <a:p>
            <a:pPr algn="l">
              <a:lnSpc>
                <a:spcPct val="100000"/>
              </a:lnSpc>
              <a:spcBef>
                <a:spcPts val="0"/>
              </a:spcBef>
              <a:spcAft>
                <a:spcPts val="0"/>
              </a:spcAft>
            </a:pPr>
            <a:r>
              <a:rPr sz="1500" b="0">
                <a:solidFill>
                  <a:srgbClr val="404040"/>
                </a:solidFill>
                <a:latin typeface="Calibri"/>
              </a:rPr>
              <a:t>Aplicar una gestión cuidadosa y planes específicos para controlar y corregir consecuencias.</a:t>
            </a:r>
          </a:p>
        </p:txBody>
      </p:sp>
    </p:spTree>
    <p:extLst>
      <p:ext uri="{BB962C8B-B14F-4D97-AF65-F5344CB8AC3E}">
        <p14:creationId xmlns:p14="http://schemas.microsoft.com/office/powerpoint/2010/main" val="295592753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04800"/>
            <a:ext cx="8229600" cy="533400"/>
          </a:xfrm>
          <a:noFill/>
          <a:ln>
            <a:noFill/>
          </a:ln>
        </p:spPr>
        <p:txBody>
          <a:bodyPr vert="horz" wrap="square" lIns="91440" tIns="45720" rIns="91440" bIns="45720" rtlCol="0" anchor="t" anchorCtr="0">
            <a:noAutofit/>
          </a:bodyPr>
          <a:lstStyle/>
          <a:p>
            <a:pPr algn="ctr"/>
            <a:r>
              <a:rPr lang="es-CO" sz="3000" b="1">
                <a:solidFill>
                  <a:srgbClr val="1F3864"/>
                </a:solidFill>
                <a:latin typeface="Calibri"/>
                <a:ea typeface="Calibri"/>
                <a:cs typeface="Calibri"/>
              </a:rPr>
              <a:t>Conectividad de riesgos</a:t>
            </a:r>
            <a:endParaRPr lang="es-CO" sz="3000" b="1" dirty="0">
              <a:solidFill>
                <a:srgbClr val="1F3864"/>
              </a:solidFill>
              <a:latin typeface="Calibri"/>
              <a:ea typeface="Calibri"/>
              <a:cs typeface="Calibri"/>
            </a:endParaRPr>
          </a:p>
        </p:txBody>
      </p:sp>
      <p:pic>
        <p:nvPicPr>
          <p:cNvPr id="4" name="Imagen 3">
            <a:hlinkClick r:id="rId2"/>
          </p:cNvPr>
          <p:cNvPicPr/>
          <p:nvPr/>
        </p:nvPicPr>
        <p:blipFill>
          <a:blip r:embed="rId3">
            <a:extLst>
              <a:ext uri="{28A0092B-C50C-407E-A947-70E740481C1C}">
                <a14:useLocalDpi xmlns:a14="http://schemas.microsoft.com/office/drawing/2010/main" val="0"/>
              </a:ext>
            </a:extLst>
          </a:blip>
          <a:srcRect t="4251"/>
          <a:stretch>
            <a:fillRect/>
          </a:stretch>
        </p:blipFill>
        <p:spPr>
          <a:xfrm>
            <a:off x="457200" y="1981200"/>
            <a:ext cx="3987800" cy="2565400"/>
          </a:xfrm>
          <a:prstGeom prst="rect">
            <a:avLst/>
          </a:prstGeom>
        </p:spPr>
      </p:pic>
      <p:pic>
        <p:nvPicPr>
          <p:cNvPr id="3" name="Imagen 2" descr="Recorte de pantalla"/>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3000" y="1981200"/>
            <a:ext cx="3733800" cy="2527300"/>
          </a:xfrm>
          <a:prstGeom prst="rect">
            <a:avLst/>
          </a:prstGeom>
        </p:spPr>
      </p:pic>
      <p:sp>
        <p:nvSpPr>
          <p:cNvPr id="5" name="Título 1"/>
          <p:cNvSpPr txBox="1">
            <a:spLocks/>
          </p:cNvSpPr>
          <p:nvPr/>
        </p:nvSpPr>
        <p:spPr>
          <a:xfrm>
            <a:off x="457200" y="1168400"/>
            <a:ext cx="8229600" cy="609600"/>
          </a:xfrm>
          <a:prstGeom prst="rect">
            <a:avLst/>
          </a:prstGeom>
          <a:solidFill>
            <a:srgbClr val="1F3864"/>
          </a:solidFill>
          <a:ln>
            <a:noFill/>
          </a:ln>
        </p:spPr>
        <p:txBody>
          <a:bodyPr vert="horz" wrap="square"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ES" sz="1700" b="1">
                <a:solidFill>
                  <a:srgbClr val="FFFFFF"/>
                </a:solidFill>
                <a:latin typeface="Calibri"/>
                <a:ea typeface="Calibri"/>
                <a:cs typeface="Calibri"/>
              </a:rPr>
              <a:t>Efecto dominó: un riesgo activa otros</a:t>
            </a:r>
            <a:endParaRPr lang="es-CO" sz="1700" b="1" dirty="0">
              <a:solidFill>
                <a:srgbClr val="FFFFFF"/>
              </a:solidFill>
              <a:latin typeface="Calibri"/>
              <a:ea typeface="Calibri"/>
              <a:cs typeface="Calibri"/>
            </a:endParaRPr>
          </a:p>
        </p:txBody>
      </p:sp>
      <p:sp>
        <p:nvSpPr>
          <p:cNvPr id="7" name="Rectángulo 6">
            <a:extLst>
              <a:ext uri="{FF2B5EF4-FFF2-40B4-BE49-F238E27FC236}">
                <a16:creationId xmlns:a16="http://schemas.microsoft.com/office/drawing/2014/main" id="{CF6B9A60-12FF-41A0-AC0B-BD59FAD430BC}"/>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CuadroTexto 7">
            <a:extLst>
              <a:ext uri="{FF2B5EF4-FFF2-40B4-BE49-F238E27FC236}">
                <a16:creationId xmlns:a16="http://schemas.microsoft.com/office/drawing/2014/main" id="{5CDD19EA-50A1-4BAB-B8F5-13E1F0B30420}"/>
              </a:ext>
            </a:extLst>
          </p:cNvPr>
          <p:cNvSpPr txBox="1"/>
          <p:nvPr/>
        </p:nvSpPr>
        <p:spPr>
          <a:xfrm>
            <a:off x="457200" y="4648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Un riesgo que se materializa arrastra a los que dependen de él</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209749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2 Marcador de contenido"/>
          <p:cNvSpPr>
            <a:spLocks noGrp="1"/>
          </p:cNvSpPr>
          <p:nvPr>
            <p:ph idx="1"/>
          </p:nvPr>
        </p:nvSpPr>
        <p:spPr>
          <a:xfrm>
            <a:off x="457200" y="1016000"/>
            <a:ext cx="8229600" cy="635000"/>
          </a:xfrm>
          <a:solidFill>
            <a:srgbClr val="F2F5F9"/>
          </a:solidFill>
          <a:ln>
            <a:noFill/>
          </a:ln>
        </p:spPr>
        <p:txBody>
          <a:bodyPr wrap="square" anchor="t" anchorCtr="0">
            <a:noAutofit/>
          </a:bodyPr>
          <a:lstStyle/>
          <a:p>
            <a:pPr algn="ctr" eaLnBrk="1" hangingPunct="1">
              <a:buFont typeface="Wingdings" pitchFamily="2" charset="2"/>
              <a:buNone/>
            </a:pPr>
            <a:r>
              <a:rPr lang="es-ES" sz="1400">
                <a:solidFill>
                  <a:srgbClr val="404040"/>
                </a:solidFill>
                <a:latin typeface="Calibri"/>
                <a:ea typeface="Calibri"/>
                <a:cs typeface="Calibri"/>
              </a:rPr>
              <a:t>Visión global de las decisiones que debe adoptar el dueño del proyecto según la gravedad de cada riesgo y las oportunidades que abre.</a:t>
            </a:r>
            <a:endParaRPr lang="es-CO" sz="1400" dirty="0">
              <a:solidFill>
                <a:srgbClr val="404040"/>
              </a:solidFill>
              <a:latin typeface="Calibri"/>
              <a:ea typeface="Calibri"/>
              <a:cs typeface="Calibri"/>
            </a:endParaRPr>
          </a:p>
        </p:txBody>
      </p:sp>
      <p:pic>
        <p:nvPicPr>
          <p:cNvPr id="4" name="Picture 2"/>
          <p:cNvPicPr>
            <a:picLocks noChangeAspect="1" noChangeArrowheads="1"/>
          </p:cNvPicPr>
          <p:nvPr/>
        </p:nvPicPr>
        <p:blipFill>
          <a:blip r:embed="rId2" cstate="print"/>
          <a:stretch>
            <a:fillRect/>
          </a:stretch>
        </p:blipFill>
        <p:spPr>
          <a:xfrm>
            <a:off x="1369663" y="1803400"/>
            <a:ext cx="6404674" cy="3429000"/>
          </a:xfrm>
          <a:prstGeom prst="rect">
            <a:avLst/>
          </a:prstGeom>
        </p:spPr>
      </p:pic>
      <p:sp>
        <p:nvSpPr>
          <p:cNvPr id="3" name="CuadroTexto 2">
            <a:extLst>
              <a:ext uri="{FF2B5EF4-FFF2-40B4-BE49-F238E27FC236}">
                <a16:creationId xmlns:a16="http://schemas.microsoft.com/office/drawing/2014/main" id="{917B37D4-1DD2-4035-8CE2-C1EA11D0BFC2}"/>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ES" sz="2800" b="1">
                <a:solidFill>
                  <a:srgbClr val="1F3864"/>
                </a:solidFill>
                <a:latin typeface="Calibri"/>
                <a:ea typeface="Calibri"/>
                <a:cs typeface="Calibri"/>
              </a:rPr>
              <a:t>Decisiones del dueño del proyecto</a:t>
            </a:r>
            <a:endParaRPr lang="es-CO" sz="2800" b="1">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2BABFEBF-D2BE-4DAE-823E-61D7C163AC6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8C182686-9B54-42C1-A93B-372E1C38CB9C}"/>
              </a:ext>
            </a:extLst>
          </p:cNvPr>
          <p:cNvSpPr txBox="1"/>
          <p:nvPr/>
        </p:nvSpPr>
        <p:spPr>
          <a:xfrm>
            <a:off x="457200" y="5283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Matriz de decisión por gravedad del riesgo y oportunidad asociada</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90444310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1803400" y="1168400"/>
            <a:ext cx="6883400" cy="762000"/>
          </a:xfrm>
          <a:prstGeom prst="rect">
            <a:avLst/>
          </a:prstGeom>
          <a:solidFill>
            <a:srgbClr val="F2F5F9"/>
          </a:solidFill>
          <a:ln>
            <a:noFill/>
          </a:ln>
        </p:spPr>
        <p:txBody>
          <a:bodyPr wrap="square" anchor="ctr" anchorCtr="0">
            <a:noAutofit/>
          </a:bodyPr>
          <a:lstStyle/>
          <a:p>
            <a:r>
              <a:rPr lang="es-ES" sz="1400">
                <a:solidFill>
                  <a:srgbClr val="404040"/>
                </a:solidFill>
                <a:latin typeface="Calibri"/>
                <a:ea typeface="Calibri"/>
                <a:cs typeface="Calibri"/>
              </a:rPr>
              <a:t>No seguir con la actividad riesgosa. No siempre es posible.</a:t>
            </a:r>
            <a:endParaRPr lang="es-CO" sz="1400" dirty="0">
              <a:solidFill>
                <a:srgbClr val="404040"/>
              </a:solidFill>
              <a:latin typeface="Calibri"/>
              <a:ea typeface="Calibri"/>
              <a:cs typeface="Calibri"/>
            </a:endParaRPr>
          </a:p>
        </p:txBody>
      </p:sp>
      <p:sp>
        <p:nvSpPr>
          <p:cNvPr id="6" name="Título 5"/>
          <p:cNvSpPr>
            <a:spLocks noGrp="1"/>
          </p:cNvSpPr>
          <p:nvPr>
            <p:ph type="title"/>
          </p:nvPr>
        </p:nvSpPr>
        <p:spPr>
          <a:xfrm>
            <a:off x="457200" y="304800"/>
            <a:ext cx="8229600" cy="533400"/>
          </a:xfrm>
          <a:noFill/>
          <a:ln>
            <a:noFill/>
          </a:ln>
        </p:spPr>
        <p:txBody>
          <a:bodyPr vert="horz" wrap="square" lIns="91440" tIns="45720" rIns="91440" bIns="45720" rtlCol="0" anchor="t" anchorCtr="0">
            <a:noAutofit/>
          </a:bodyPr>
          <a:lstStyle/>
          <a:p>
            <a:r>
              <a:rPr lang="es-ES" sz="3000" b="1">
                <a:solidFill>
                  <a:srgbClr val="1F3864"/>
                </a:solidFill>
                <a:latin typeface="Calibri"/>
                <a:ea typeface="Calibri"/>
                <a:cs typeface="Calibri"/>
              </a:rPr>
              <a:t>¿Qué se hace con los riesgos?</a:t>
            </a:r>
            <a:endParaRPr lang="es-CO" sz="3000" b="1" dirty="0">
              <a:solidFill>
                <a:srgbClr val="1F3864"/>
              </a:solidFill>
              <a:latin typeface="Calibri"/>
              <a:ea typeface="Calibri"/>
              <a:cs typeface="Calibri"/>
            </a:endParaRPr>
          </a:p>
        </p:txBody>
      </p:sp>
      <p:sp>
        <p:nvSpPr>
          <p:cNvPr id="3" name="Rectángulo 2">
            <a:extLst>
              <a:ext uri="{FF2B5EF4-FFF2-40B4-BE49-F238E27FC236}">
                <a16:creationId xmlns:a16="http://schemas.microsoft.com/office/drawing/2014/main" id="{5C5A47E9-C1D7-40DC-A3E0-5DADB6B45CE0}"/>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Rectángulo 3">
            <a:extLst>
              <a:ext uri="{FF2B5EF4-FFF2-40B4-BE49-F238E27FC236}">
                <a16:creationId xmlns:a16="http://schemas.microsoft.com/office/drawing/2014/main" id="{3AAFE80B-A3FB-4C2B-91CF-028E97E952B0}"/>
              </a:ext>
            </a:extLst>
          </p:cNvPr>
          <p:cNvSpPr/>
          <p:nvPr/>
        </p:nvSpPr>
        <p:spPr>
          <a:xfrm>
            <a:off x="457200" y="1168400"/>
            <a:ext cx="1219200" cy="7620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FFFFFF"/>
                </a:solidFill>
                <a:latin typeface="Calibri"/>
                <a:ea typeface="Calibri"/>
                <a:cs typeface="Calibri"/>
              </a:rPr>
              <a:t>ELUDIR</a:t>
            </a:r>
          </a:p>
        </p:txBody>
      </p:sp>
      <p:sp>
        <p:nvSpPr>
          <p:cNvPr id="7" name="Rectángulo 6">
            <a:extLst>
              <a:ext uri="{FF2B5EF4-FFF2-40B4-BE49-F238E27FC236}">
                <a16:creationId xmlns:a16="http://schemas.microsoft.com/office/drawing/2014/main" id="{F55287A1-9A90-456F-80AE-0642E04C8359}"/>
              </a:ext>
            </a:extLst>
          </p:cNvPr>
          <p:cNvSpPr/>
          <p:nvPr/>
        </p:nvSpPr>
        <p:spPr>
          <a:xfrm>
            <a:off x="457200" y="2057400"/>
            <a:ext cx="1219200" cy="7620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FFFFFF"/>
                </a:solidFill>
                <a:latin typeface="Calibri"/>
                <a:ea typeface="Calibri"/>
                <a:cs typeface="Calibri"/>
              </a:rPr>
              <a:t>TRANSFERIR</a:t>
            </a:r>
          </a:p>
        </p:txBody>
      </p:sp>
      <p:sp>
        <p:nvSpPr>
          <p:cNvPr id="8" name="Rectángulo 7">
            <a:extLst>
              <a:ext uri="{FF2B5EF4-FFF2-40B4-BE49-F238E27FC236}">
                <a16:creationId xmlns:a16="http://schemas.microsoft.com/office/drawing/2014/main" id="{F46465BE-319E-4DF0-BB69-2CB4C5ABDBC9}"/>
              </a:ext>
            </a:extLst>
          </p:cNvPr>
          <p:cNvSpPr/>
          <p:nvPr/>
        </p:nvSpPr>
        <p:spPr>
          <a:xfrm>
            <a:off x="1803400" y="2057400"/>
            <a:ext cx="68834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Que otra parte soporte parte del riesgo. Hay que pensar qué riesgos nuevos genera ese cambio.</a:t>
            </a:r>
            <a:endParaRPr lang="es-CO" sz="1400">
              <a:solidFill>
                <a:srgbClr val="404040"/>
              </a:solidFill>
              <a:latin typeface="Calibri"/>
              <a:ea typeface="Calibri"/>
              <a:cs typeface="Calibri"/>
            </a:endParaRPr>
          </a:p>
        </p:txBody>
      </p:sp>
      <p:sp>
        <p:nvSpPr>
          <p:cNvPr id="9" name="Rectángulo 8">
            <a:extLst>
              <a:ext uri="{FF2B5EF4-FFF2-40B4-BE49-F238E27FC236}">
                <a16:creationId xmlns:a16="http://schemas.microsoft.com/office/drawing/2014/main" id="{AD56CDFC-C753-4057-AE93-4D519803B74E}"/>
              </a:ext>
            </a:extLst>
          </p:cNvPr>
          <p:cNvSpPr/>
          <p:nvPr/>
        </p:nvSpPr>
        <p:spPr>
          <a:xfrm>
            <a:off x="457200" y="2946400"/>
            <a:ext cx="1219200" cy="7620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FFFFFF"/>
                </a:solidFill>
                <a:latin typeface="Calibri"/>
                <a:ea typeface="Calibri"/>
                <a:cs typeface="Calibri"/>
              </a:rPr>
              <a:t>REDUCIR</a:t>
            </a:r>
          </a:p>
        </p:txBody>
      </p:sp>
      <p:sp>
        <p:nvSpPr>
          <p:cNvPr id="10" name="Rectángulo 9">
            <a:extLst>
              <a:ext uri="{FF2B5EF4-FFF2-40B4-BE49-F238E27FC236}">
                <a16:creationId xmlns:a16="http://schemas.microsoft.com/office/drawing/2014/main" id="{358E8F9E-9492-4C89-AEA7-961BF560786B}"/>
              </a:ext>
            </a:extLst>
          </p:cNvPr>
          <p:cNvSpPr/>
          <p:nvPr/>
        </p:nvSpPr>
        <p:spPr>
          <a:xfrm>
            <a:off x="1803400" y="2946400"/>
            <a:ext cx="68834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Bajar la probabilidad o el impacto. No siempre cuesta dinero: a veces lo ahorra.</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308A1069-7342-49FD-861A-D8574F6F56E5}"/>
              </a:ext>
            </a:extLst>
          </p:cNvPr>
          <p:cNvSpPr/>
          <p:nvPr/>
        </p:nvSpPr>
        <p:spPr>
          <a:xfrm>
            <a:off x="457200" y="3835400"/>
            <a:ext cx="1219200" cy="7620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FFFFFF"/>
                </a:solidFill>
                <a:latin typeface="Calibri"/>
                <a:ea typeface="Calibri"/>
                <a:cs typeface="Calibri"/>
              </a:rPr>
              <a:t>ASUMIR</a:t>
            </a:r>
          </a:p>
        </p:txBody>
      </p:sp>
      <p:sp>
        <p:nvSpPr>
          <p:cNvPr id="12" name="Rectángulo 11">
            <a:extLst>
              <a:ext uri="{FF2B5EF4-FFF2-40B4-BE49-F238E27FC236}">
                <a16:creationId xmlns:a16="http://schemas.microsoft.com/office/drawing/2014/main" id="{7BC61300-6859-4E38-9FB2-132C11DD45A4}"/>
              </a:ext>
            </a:extLst>
          </p:cNvPr>
          <p:cNvSpPr/>
          <p:nvPr/>
        </p:nvSpPr>
        <p:spPr>
          <a:xfrm>
            <a:off x="1803400" y="3835400"/>
            <a:ext cx="6883400" cy="762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Aceptar el riesgo inherente, pero conociéndolo.</a:t>
            </a:r>
            <a:endParaRPr lang="es-CO" sz="1400">
              <a:solidFill>
                <a:srgbClr val="404040"/>
              </a:solidFill>
              <a:latin typeface="Calibri"/>
              <a:ea typeface="Calibri"/>
              <a:cs typeface="Calibri"/>
            </a:endParaRPr>
          </a:p>
        </p:txBody>
      </p:sp>
      <p:sp>
        <p:nvSpPr>
          <p:cNvPr id="13" name="CuadroTexto 12">
            <a:extLst>
              <a:ext uri="{FF2B5EF4-FFF2-40B4-BE49-F238E27FC236}">
                <a16:creationId xmlns:a16="http://schemas.microsoft.com/office/drawing/2014/main" id="{8C36C843-8465-4E8F-9F0C-F0406E090A4F}"/>
              </a:ext>
            </a:extLst>
          </p:cNvPr>
          <p:cNvSpPr txBox="1"/>
          <p:nvPr/>
        </p:nvSpPr>
        <p:spPr>
          <a:xfrm>
            <a:off x="457200" y="4775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Cuatro estrategias frente a un riesgo identificado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6547937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5D6EAE5-10A1-47F9-8842-6B753798DB9C}"/>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EJEMPLO · RIESGO DE UN AUTOMÓVIL</a:t>
            </a:r>
            <a:endParaRPr lang="es-CO" sz="1200" b="1">
              <a:solidFill>
                <a:srgbClr val="ED7D31"/>
              </a:solidFill>
              <a:latin typeface="Calibri"/>
              <a:ea typeface="Calibri"/>
              <a:cs typeface="Calibri"/>
            </a:endParaRPr>
          </a:p>
        </p:txBody>
      </p:sp>
      <p:sp>
        <p:nvSpPr>
          <p:cNvPr id="6" name="CuadroTexto 5">
            <a:extLst>
              <a:ext uri="{FF2B5EF4-FFF2-40B4-BE49-F238E27FC236}">
                <a16:creationId xmlns:a16="http://schemas.microsoft.com/office/drawing/2014/main" id="{98CC9CED-3A02-4803-AEF4-DD8CE4C1C800}"/>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ES" sz="2800" b="1">
                <a:solidFill>
                  <a:srgbClr val="1F3864"/>
                </a:solidFill>
                <a:latin typeface="Calibri"/>
                <a:ea typeface="Calibri"/>
                <a:cs typeface="Calibri"/>
              </a:rPr>
              <a:t>Las cuatro estrategias en un caso concreto</a:t>
            </a:r>
            <a:endParaRPr lang="es-CO" sz="2800" b="1">
              <a:solidFill>
                <a:srgbClr val="1F3864"/>
              </a:solidFill>
              <a:latin typeface="Calibri"/>
              <a:ea typeface="Calibri"/>
              <a:cs typeface="Calibri"/>
            </a:endParaRPr>
          </a:p>
        </p:txBody>
      </p:sp>
      <p:sp>
        <p:nvSpPr>
          <p:cNvPr id="7" name="Rectángulo 6">
            <a:extLst>
              <a:ext uri="{FF2B5EF4-FFF2-40B4-BE49-F238E27FC236}">
                <a16:creationId xmlns:a16="http://schemas.microsoft.com/office/drawing/2014/main" id="{0E8A1895-DBD0-40FC-A2CB-32B7E4BF5C66}"/>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7">
            <a:extLst>
              <a:ext uri="{FF2B5EF4-FFF2-40B4-BE49-F238E27FC236}">
                <a16:creationId xmlns:a16="http://schemas.microsoft.com/office/drawing/2014/main" id="{80197BF0-81C4-4598-A07D-56E00F54D1AF}"/>
              </a:ext>
            </a:extLst>
          </p:cNvPr>
          <p:cNvSpPr/>
          <p:nvPr/>
        </p:nvSpPr>
        <p:spPr>
          <a:xfrm>
            <a:off x="457200" y="1524000"/>
            <a:ext cx="4038600" cy="330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FFFFFF"/>
                </a:solidFill>
                <a:latin typeface="Calibri"/>
                <a:ea typeface="Calibri"/>
                <a:cs typeface="Calibri"/>
              </a:rPr>
              <a:t>MITIGAR</a:t>
            </a:r>
          </a:p>
        </p:txBody>
      </p:sp>
      <p:sp>
        <p:nvSpPr>
          <p:cNvPr id="9" name="Rectángulo 8">
            <a:extLst>
              <a:ext uri="{FF2B5EF4-FFF2-40B4-BE49-F238E27FC236}">
                <a16:creationId xmlns:a16="http://schemas.microsoft.com/office/drawing/2014/main" id="{D6FCBDD0-450D-471B-AFFE-E119DDF182D6}"/>
              </a:ext>
            </a:extLst>
          </p:cNvPr>
          <p:cNvSpPr/>
          <p:nvPr/>
        </p:nvSpPr>
        <p:spPr>
          <a:xfrm>
            <a:off x="457200" y="1854200"/>
            <a:ext cx="4038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a:solidFill>
                  <a:srgbClr val="404040"/>
                </a:solidFill>
                <a:latin typeface="Calibri"/>
                <a:ea typeface="Calibri"/>
                <a:cs typeface="Calibri"/>
              </a:rPr>
              <a:t>Alarmas, mantenimiento, respetar señales</a:t>
            </a:r>
          </a:p>
        </p:txBody>
      </p:sp>
      <p:sp>
        <p:nvSpPr>
          <p:cNvPr id="10" name="Rectángulo 9">
            <a:extLst>
              <a:ext uri="{FF2B5EF4-FFF2-40B4-BE49-F238E27FC236}">
                <a16:creationId xmlns:a16="http://schemas.microsoft.com/office/drawing/2014/main" id="{98005EE5-C25C-4C47-865E-E8B17D262537}"/>
              </a:ext>
            </a:extLst>
          </p:cNvPr>
          <p:cNvSpPr/>
          <p:nvPr/>
        </p:nvSpPr>
        <p:spPr>
          <a:xfrm>
            <a:off x="4648200" y="1524000"/>
            <a:ext cx="4038600" cy="330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FFFFFF"/>
                </a:solidFill>
                <a:latin typeface="Calibri"/>
                <a:ea typeface="Calibri"/>
                <a:cs typeface="Calibri"/>
              </a:rPr>
              <a:t>EVITAR</a:t>
            </a:r>
          </a:p>
        </p:txBody>
      </p:sp>
      <p:sp>
        <p:nvSpPr>
          <p:cNvPr id="11" name="Rectángulo 10">
            <a:extLst>
              <a:ext uri="{FF2B5EF4-FFF2-40B4-BE49-F238E27FC236}">
                <a16:creationId xmlns:a16="http://schemas.microsoft.com/office/drawing/2014/main" id="{CDE4A535-3347-488E-8A05-2BAAD6B9EFBE}"/>
              </a:ext>
            </a:extLst>
          </p:cNvPr>
          <p:cNvSpPr/>
          <p:nvPr/>
        </p:nvSpPr>
        <p:spPr>
          <a:xfrm>
            <a:off x="4648200" y="1854200"/>
            <a:ext cx="4038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a:solidFill>
                  <a:srgbClr val="404040"/>
                </a:solidFill>
                <a:latin typeface="Calibri"/>
                <a:ea typeface="Calibri"/>
                <a:cs typeface="Calibri"/>
              </a:rPr>
              <a:t>No comprar el carro</a:t>
            </a:r>
          </a:p>
        </p:txBody>
      </p:sp>
      <p:sp>
        <p:nvSpPr>
          <p:cNvPr id="12" name="Rectángulo 11">
            <a:extLst>
              <a:ext uri="{FF2B5EF4-FFF2-40B4-BE49-F238E27FC236}">
                <a16:creationId xmlns:a16="http://schemas.microsoft.com/office/drawing/2014/main" id="{03E0B6C8-6153-4469-AF17-E1576BD56716}"/>
              </a:ext>
            </a:extLst>
          </p:cNvPr>
          <p:cNvSpPr/>
          <p:nvPr/>
        </p:nvSpPr>
        <p:spPr>
          <a:xfrm>
            <a:off x="457200" y="3429000"/>
            <a:ext cx="4038600" cy="330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FFFFFF"/>
                </a:solidFill>
                <a:latin typeface="Calibri"/>
                <a:ea typeface="Calibri"/>
                <a:cs typeface="Calibri"/>
              </a:rPr>
              <a:t>TRANSFERIR</a:t>
            </a:r>
          </a:p>
        </p:txBody>
      </p:sp>
      <p:sp>
        <p:nvSpPr>
          <p:cNvPr id="13" name="Rectángulo 12">
            <a:extLst>
              <a:ext uri="{FF2B5EF4-FFF2-40B4-BE49-F238E27FC236}">
                <a16:creationId xmlns:a16="http://schemas.microsoft.com/office/drawing/2014/main" id="{41967729-AA7D-4E14-AC53-1926A8EB98EB}"/>
              </a:ext>
            </a:extLst>
          </p:cNvPr>
          <p:cNvSpPr/>
          <p:nvPr/>
        </p:nvSpPr>
        <p:spPr>
          <a:xfrm>
            <a:off x="457200" y="3759200"/>
            <a:ext cx="4038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Póliza de seguros, contratar un chofer</a:t>
            </a:r>
            <a:endParaRPr lang="es-CO" sz="1400">
              <a:solidFill>
                <a:srgbClr val="404040"/>
              </a:solidFill>
              <a:latin typeface="Calibri"/>
              <a:ea typeface="Calibri"/>
              <a:cs typeface="Calibri"/>
            </a:endParaRPr>
          </a:p>
        </p:txBody>
      </p:sp>
      <p:sp>
        <p:nvSpPr>
          <p:cNvPr id="14" name="Rectángulo 13">
            <a:extLst>
              <a:ext uri="{FF2B5EF4-FFF2-40B4-BE49-F238E27FC236}">
                <a16:creationId xmlns:a16="http://schemas.microsoft.com/office/drawing/2014/main" id="{D19808D6-11B7-4522-A5A0-23D5FF59983D}"/>
              </a:ext>
            </a:extLst>
          </p:cNvPr>
          <p:cNvSpPr/>
          <p:nvPr/>
        </p:nvSpPr>
        <p:spPr>
          <a:xfrm>
            <a:off x="4648200" y="3429000"/>
            <a:ext cx="4038600" cy="330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300" b="1">
                <a:solidFill>
                  <a:srgbClr val="FFFFFF"/>
                </a:solidFill>
                <a:latin typeface="Calibri"/>
                <a:ea typeface="Calibri"/>
                <a:cs typeface="Calibri"/>
              </a:rPr>
              <a:t>ASUMIR</a:t>
            </a:r>
          </a:p>
        </p:txBody>
      </p:sp>
      <p:sp>
        <p:nvSpPr>
          <p:cNvPr id="15" name="Rectángulo 14">
            <a:extLst>
              <a:ext uri="{FF2B5EF4-FFF2-40B4-BE49-F238E27FC236}">
                <a16:creationId xmlns:a16="http://schemas.microsoft.com/office/drawing/2014/main" id="{7D3B2F3B-1638-4F04-AB53-AB3093C965C1}"/>
              </a:ext>
            </a:extLst>
          </p:cNvPr>
          <p:cNvSpPr/>
          <p:nvPr/>
        </p:nvSpPr>
        <p:spPr>
          <a:xfrm>
            <a:off x="4648200" y="3759200"/>
            <a:ext cx="4038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a:solidFill>
                  <a:srgbClr val="404040"/>
                </a:solidFill>
                <a:latin typeface="Calibri"/>
                <a:ea typeface="Calibri"/>
                <a:cs typeface="Calibri"/>
              </a:rPr>
              <a:t>No hacer nada</a:t>
            </a:r>
          </a:p>
        </p:txBody>
      </p:sp>
      <p:sp>
        <p:nvSpPr>
          <p:cNvPr id="16" name="CuadroTexto 15">
            <a:extLst>
              <a:ext uri="{FF2B5EF4-FFF2-40B4-BE49-F238E27FC236}">
                <a16:creationId xmlns:a16="http://schemas.microsoft.com/office/drawing/2014/main" id="{39814CDB-7738-4852-A31C-4BF0123A91C8}"/>
              </a:ext>
            </a:extLst>
          </p:cNvPr>
          <p:cNvSpPr txBox="1"/>
          <p:nvPr/>
        </p:nvSpPr>
        <p:spPr>
          <a:xfrm>
            <a:off x="381000" y="5003801"/>
            <a:ext cx="8229600" cy="228600"/>
          </a:xfrm>
          <a:prstGeom prst="rect">
            <a:avLst/>
          </a:prstGeom>
          <a:noFill/>
        </p:spPr>
        <p:txBody>
          <a:bodyPr vertOverflow="overflow" vert="horz" wrap="square" rtlCol="0" anchor="t">
            <a:noAutofit/>
          </a:bodyPr>
          <a:lstStyle/>
          <a:p>
            <a:pPr algn="l"/>
            <a:r>
              <a:rPr lang="es-ES" sz="1100" dirty="0">
                <a:solidFill>
                  <a:srgbClr val="7F7F7F"/>
                </a:solidFill>
                <a:latin typeface="Calibri"/>
                <a:ea typeface="Calibri"/>
                <a:cs typeface="Calibri"/>
              </a:rPr>
              <a:t>Mismo riesgo, cuatro decisiones posibles</a:t>
            </a:r>
            <a:endParaRPr lang="es-CO" sz="1100" dirty="0">
              <a:solidFill>
                <a:srgbClr val="7F7F7F"/>
              </a:solidFill>
              <a:latin typeface="Calibri"/>
              <a:ea typeface="Calibri"/>
              <a:cs typeface="Calibri"/>
            </a:endParaRPr>
          </a:p>
        </p:txBody>
      </p:sp>
    </p:spTree>
    <p:extLst>
      <p:ext uri="{BB962C8B-B14F-4D97-AF65-F5344CB8AC3E}">
        <p14:creationId xmlns:p14="http://schemas.microsoft.com/office/powerpoint/2010/main" val="92765839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E72F3C0-FF66-4949-8D2C-2270E6BACCED}"/>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CONTROLES</a:t>
            </a:r>
          </a:p>
        </p:txBody>
      </p:sp>
      <p:sp>
        <p:nvSpPr>
          <p:cNvPr id="6" name="CuadroTexto 5">
            <a:extLst>
              <a:ext uri="{FF2B5EF4-FFF2-40B4-BE49-F238E27FC236}">
                <a16:creationId xmlns:a16="http://schemas.microsoft.com/office/drawing/2014/main" id="{2C4D3008-7169-4108-B0A8-9FE5479B1F65}"/>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Transferencia del riesgo</a:t>
            </a:r>
          </a:p>
        </p:txBody>
      </p:sp>
      <p:sp>
        <p:nvSpPr>
          <p:cNvPr id="7" name="Rectángulo 6">
            <a:extLst>
              <a:ext uri="{FF2B5EF4-FFF2-40B4-BE49-F238E27FC236}">
                <a16:creationId xmlns:a16="http://schemas.microsoft.com/office/drawing/2014/main" id="{E881E1E8-D0A6-4D53-AF75-6ABB09D77694}"/>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7">
            <a:extLst>
              <a:ext uri="{FF2B5EF4-FFF2-40B4-BE49-F238E27FC236}">
                <a16:creationId xmlns:a16="http://schemas.microsoft.com/office/drawing/2014/main" id="{F17ECEB3-1909-4277-87F1-490FF0A99BA8}"/>
              </a:ext>
            </a:extLst>
          </p:cNvPr>
          <p:cNvSpPr/>
          <p:nvPr/>
        </p:nvSpPr>
        <p:spPr>
          <a:xfrm>
            <a:off x="457200" y="1346200"/>
            <a:ext cx="2540000" cy="9144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b="1">
                <a:solidFill>
                  <a:srgbClr val="1F3864"/>
                </a:solidFill>
                <a:latin typeface="Calibri"/>
                <a:ea typeface="Calibri"/>
                <a:cs typeface="Calibri"/>
              </a:rPr>
              <a:t>¿Qué es la transferencia del riesgo?</a:t>
            </a:r>
            <a:endParaRPr lang="es-CO" sz="1500" b="1">
              <a:solidFill>
                <a:srgbClr val="1F3864"/>
              </a:solidFill>
              <a:latin typeface="Calibri"/>
              <a:ea typeface="Calibri"/>
              <a:cs typeface="Calibri"/>
            </a:endParaRPr>
          </a:p>
        </p:txBody>
      </p:sp>
      <p:sp>
        <p:nvSpPr>
          <p:cNvPr id="9" name="Rectángulo 8">
            <a:extLst>
              <a:ext uri="{FF2B5EF4-FFF2-40B4-BE49-F238E27FC236}">
                <a16:creationId xmlns:a16="http://schemas.microsoft.com/office/drawing/2014/main" id="{129943CB-4B52-4AE1-9A4E-B2BC0FFD4DD9}"/>
              </a:ext>
            </a:extLst>
          </p:cNvPr>
          <p:cNvSpPr/>
          <p:nvPr/>
        </p:nvSpPr>
        <p:spPr>
          <a:xfrm>
            <a:off x="3200400" y="1346200"/>
            <a:ext cx="5486400" cy="9144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700" b="1">
                <a:solidFill>
                  <a:srgbClr val="FFFFFF"/>
                </a:solidFill>
                <a:latin typeface="Calibri"/>
                <a:ea typeface="Calibri"/>
                <a:cs typeface="Calibri"/>
              </a:rPr>
              <a:t>Trasladar el riesgo a otra compañía.</a:t>
            </a:r>
            <a:endParaRPr lang="es-CO" sz="1700" b="1">
              <a:solidFill>
                <a:srgbClr val="FFFFFF"/>
              </a:solidFill>
              <a:latin typeface="Calibri"/>
              <a:ea typeface="Calibri"/>
              <a:cs typeface="Calibri"/>
            </a:endParaRPr>
          </a:p>
        </p:txBody>
      </p:sp>
      <p:sp>
        <p:nvSpPr>
          <p:cNvPr id="10" name="Rectángulo 9">
            <a:extLst>
              <a:ext uri="{FF2B5EF4-FFF2-40B4-BE49-F238E27FC236}">
                <a16:creationId xmlns:a16="http://schemas.microsoft.com/office/drawing/2014/main" id="{8FFF4A09-E82E-4389-A49C-3D13BD645FBE}"/>
              </a:ext>
            </a:extLst>
          </p:cNvPr>
          <p:cNvSpPr/>
          <p:nvPr/>
        </p:nvSpPr>
        <p:spPr>
          <a:xfrm>
            <a:off x="457200" y="2616200"/>
            <a:ext cx="4038600" cy="1143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Transferencia financiera
Se paga a un tercero para que asuma la pérdida, como en un seguro.</a:t>
            </a:r>
            <a:endParaRPr lang="es-CO" sz="1400">
              <a:solidFill>
                <a:srgbClr val="404040"/>
              </a:solidFill>
              <a:latin typeface="Calibri"/>
              <a:ea typeface="Calibri"/>
              <a:cs typeface="Calibri"/>
            </a:endParaRPr>
          </a:p>
        </p:txBody>
      </p:sp>
      <p:sp>
        <p:nvSpPr>
          <p:cNvPr id="11" name="Rectángulo 10">
            <a:extLst>
              <a:ext uri="{FF2B5EF4-FFF2-40B4-BE49-F238E27FC236}">
                <a16:creationId xmlns:a16="http://schemas.microsoft.com/office/drawing/2014/main" id="{A7A785EE-A699-4E26-8E04-84CC0682C85A}"/>
              </a:ext>
            </a:extLst>
          </p:cNvPr>
          <p:cNvSpPr/>
          <p:nvPr/>
        </p:nvSpPr>
        <p:spPr>
          <a:xfrm>
            <a:off x="4648200" y="2616200"/>
            <a:ext cx="4038600" cy="1143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Transferencia por outsourcing
Se entrega la actividad riesgosa a un proveedor especializado.</a:t>
            </a:r>
            <a:endParaRPr lang="es-CO" sz="1400">
              <a:solidFill>
                <a:srgbClr val="404040"/>
              </a:solidFill>
              <a:latin typeface="Calibri"/>
              <a:ea typeface="Calibri"/>
              <a:cs typeface="Calibri"/>
            </a:endParaRPr>
          </a:p>
        </p:txBody>
      </p:sp>
      <p:sp>
        <p:nvSpPr>
          <p:cNvPr id="12" name="CuadroTexto 11">
            <a:extLst>
              <a:ext uri="{FF2B5EF4-FFF2-40B4-BE49-F238E27FC236}">
                <a16:creationId xmlns:a16="http://schemas.microsoft.com/office/drawing/2014/main" id="{421BE52D-7490-4BD2-9068-FC62588ECA9D}"/>
              </a:ext>
            </a:extLst>
          </p:cNvPr>
          <p:cNvSpPr txBox="1"/>
          <p:nvPr/>
        </p:nvSpPr>
        <p:spPr>
          <a:xfrm>
            <a:off x="457200" y="3886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Dos formas de trasladar el riesgo fuera de la organización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0228625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65313C74-108C-4D51-9EBA-5432160EFFFE}"/>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CONTROLES · TRANSFERENCIA DEL RIESGO</a:t>
            </a:r>
          </a:p>
        </p:txBody>
      </p:sp>
      <p:sp>
        <p:nvSpPr>
          <p:cNvPr id="6" name="CuadroTexto 5">
            <a:extLst>
              <a:ext uri="{FF2B5EF4-FFF2-40B4-BE49-F238E27FC236}">
                <a16:creationId xmlns:a16="http://schemas.microsoft.com/office/drawing/2014/main" id="{619ECAF3-7CDD-4A78-96F4-E64014AA7A63}"/>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El seguro</a:t>
            </a:r>
          </a:p>
        </p:txBody>
      </p:sp>
      <p:sp>
        <p:nvSpPr>
          <p:cNvPr id="7" name="Rectángulo 6">
            <a:extLst>
              <a:ext uri="{FF2B5EF4-FFF2-40B4-BE49-F238E27FC236}">
                <a16:creationId xmlns:a16="http://schemas.microsoft.com/office/drawing/2014/main" id="{CD3B5910-DA2A-4747-8050-C603F21E4F4C}"/>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7">
            <a:extLst>
              <a:ext uri="{FF2B5EF4-FFF2-40B4-BE49-F238E27FC236}">
                <a16:creationId xmlns:a16="http://schemas.microsoft.com/office/drawing/2014/main" id="{98CDC861-78CB-4483-A6B1-CB6BE834A602}"/>
              </a:ext>
            </a:extLst>
          </p:cNvPr>
          <p:cNvSpPr/>
          <p:nvPr/>
        </p:nvSpPr>
        <p:spPr>
          <a:xfrm>
            <a:off x="457200" y="1346200"/>
            <a:ext cx="8229600" cy="8636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700" b="1">
                <a:solidFill>
                  <a:srgbClr val="FFFFFF"/>
                </a:solidFill>
                <a:latin typeface="Calibri"/>
                <a:ea typeface="Calibri"/>
                <a:cs typeface="Calibri"/>
              </a:rPr>
              <a:t>Acuerdo para resarcir un daño al verificarse la eventualidad prevista en el contrato.</a:t>
            </a:r>
            <a:endParaRPr lang="es-CO" sz="1700" b="1">
              <a:solidFill>
                <a:srgbClr val="FFFFFF"/>
              </a:solidFill>
              <a:latin typeface="Calibri"/>
              <a:ea typeface="Calibri"/>
              <a:cs typeface="Calibri"/>
            </a:endParaRPr>
          </a:p>
        </p:txBody>
      </p:sp>
      <p:sp>
        <p:nvSpPr>
          <p:cNvPr id="9" name="Rectángulo 8">
            <a:extLst>
              <a:ext uri="{FF2B5EF4-FFF2-40B4-BE49-F238E27FC236}">
                <a16:creationId xmlns:a16="http://schemas.microsoft.com/office/drawing/2014/main" id="{C8FBB99E-EDB2-4303-926D-F706BE07BAC3}"/>
              </a:ext>
            </a:extLst>
          </p:cNvPr>
          <p:cNvSpPr/>
          <p:nvPr/>
        </p:nvSpPr>
        <p:spPr>
          <a:xfrm>
            <a:off x="457200" y="2463800"/>
            <a:ext cx="8229600" cy="330200"/>
          </a:xfrm>
          <a:prstGeom prst="rect">
            <a:avLst/>
          </a:prstGeom>
          <a:solidFill>
            <a:srgbClr val="D6DC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200" b="1">
                <a:solidFill>
                  <a:srgbClr val="1F3864"/>
                </a:solidFill>
                <a:latin typeface="Calibri"/>
                <a:ea typeface="Calibri"/>
                <a:cs typeface="Calibri"/>
              </a:rPr>
              <a:t>ELEMENTOS DEL SEGURO</a:t>
            </a:r>
          </a:p>
        </p:txBody>
      </p:sp>
      <p:sp>
        <p:nvSpPr>
          <p:cNvPr id="10" name="Rectángulo 9">
            <a:extLst>
              <a:ext uri="{FF2B5EF4-FFF2-40B4-BE49-F238E27FC236}">
                <a16:creationId xmlns:a16="http://schemas.microsoft.com/office/drawing/2014/main" id="{5E1DB1E4-B11A-45CE-9D56-E25ACB6755C3}"/>
              </a:ext>
            </a:extLst>
          </p:cNvPr>
          <p:cNvSpPr/>
          <p:nvPr/>
        </p:nvSpPr>
        <p:spPr>
          <a:xfrm>
            <a:off x="457200" y="29210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Aseguradora</a:t>
            </a:r>
          </a:p>
        </p:txBody>
      </p:sp>
      <p:sp>
        <p:nvSpPr>
          <p:cNvPr id="11" name="Rectángulo 10">
            <a:extLst>
              <a:ext uri="{FF2B5EF4-FFF2-40B4-BE49-F238E27FC236}">
                <a16:creationId xmlns:a16="http://schemas.microsoft.com/office/drawing/2014/main" id="{CDA0FAD5-1641-4D3C-8EF5-A543566FF7E4}"/>
              </a:ext>
            </a:extLst>
          </p:cNvPr>
          <p:cNvSpPr/>
          <p:nvPr/>
        </p:nvSpPr>
        <p:spPr>
          <a:xfrm>
            <a:off x="2540000" y="29210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Asegurado</a:t>
            </a:r>
          </a:p>
        </p:txBody>
      </p:sp>
      <p:sp>
        <p:nvSpPr>
          <p:cNvPr id="12" name="Rectángulo 11">
            <a:extLst>
              <a:ext uri="{FF2B5EF4-FFF2-40B4-BE49-F238E27FC236}">
                <a16:creationId xmlns:a16="http://schemas.microsoft.com/office/drawing/2014/main" id="{BD2D85C4-4276-410D-B0DB-14A829A9EE95}"/>
              </a:ext>
            </a:extLst>
          </p:cNvPr>
          <p:cNvSpPr/>
          <p:nvPr/>
        </p:nvSpPr>
        <p:spPr>
          <a:xfrm>
            <a:off x="4622800" y="29210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Tomador</a:t>
            </a:r>
          </a:p>
        </p:txBody>
      </p:sp>
      <p:sp>
        <p:nvSpPr>
          <p:cNvPr id="13" name="Rectángulo 12">
            <a:extLst>
              <a:ext uri="{FF2B5EF4-FFF2-40B4-BE49-F238E27FC236}">
                <a16:creationId xmlns:a16="http://schemas.microsoft.com/office/drawing/2014/main" id="{60724A0C-F1F8-453B-AEC3-54FB259431F7}"/>
              </a:ext>
            </a:extLst>
          </p:cNvPr>
          <p:cNvSpPr/>
          <p:nvPr/>
        </p:nvSpPr>
        <p:spPr>
          <a:xfrm>
            <a:off x="6705600" y="29210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Beneficiario</a:t>
            </a:r>
          </a:p>
        </p:txBody>
      </p:sp>
      <p:sp>
        <p:nvSpPr>
          <p:cNvPr id="14" name="Rectángulo 13">
            <a:extLst>
              <a:ext uri="{FF2B5EF4-FFF2-40B4-BE49-F238E27FC236}">
                <a16:creationId xmlns:a16="http://schemas.microsoft.com/office/drawing/2014/main" id="{ECBADCA7-31D2-4A77-A59B-AD3721E37478}"/>
              </a:ext>
            </a:extLst>
          </p:cNvPr>
          <p:cNvSpPr/>
          <p:nvPr/>
        </p:nvSpPr>
        <p:spPr>
          <a:xfrm>
            <a:off x="457200" y="36576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Cobertura</a:t>
            </a:r>
          </a:p>
        </p:txBody>
      </p:sp>
      <p:sp>
        <p:nvSpPr>
          <p:cNvPr id="15" name="Rectángulo 14">
            <a:extLst>
              <a:ext uri="{FF2B5EF4-FFF2-40B4-BE49-F238E27FC236}">
                <a16:creationId xmlns:a16="http://schemas.microsoft.com/office/drawing/2014/main" id="{C52D0733-D25A-40E9-BECA-9F45751E4D0D}"/>
              </a:ext>
            </a:extLst>
          </p:cNvPr>
          <p:cNvSpPr/>
          <p:nvPr/>
        </p:nvSpPr>
        <p:spPr>
          <a:xfrm>
            <a:off x="2540000" y="36576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Prima</a:t>
            </a:r>
          </a:p>
        </p:txBody>
      </p:sp>
      <p:sp>
        <p:nvSpPr>
          <p:cNvPr id="16" name="Rectángulo 15">
            <a:extLst>
              <a:ext uri="{FF2B5EF4-FFF2-40B4-BE49-F238E27FC236}">
                <a16:creationId xmlns:a16="http://schemas.microsoft.com/office/drawing/2014/main" id="{82EEAE39-2769-483B-A4C8-92034CF03443}"/>
              </a:ext>
            </a:extLst>
          </p:cNvPr>
          <p:cNvSpPr/>
          <p:nvPr/>
        </p:nvSpPr>
        <p:spPr>
          <a:xfrm>
            <a:off x="4622800" y="36576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Deducible</a:t>
            </a:r>
          </a:p>
        </p:txBody>
      </p:sp>
      <p:sp>
        <p:nvSpPr>
          <p:cNvPr id="17" name="Rectángulo 16">
            <a:extLst>
              <a:ext uri="{FF2B5EF4-FFF2-40B4-BE49-F238E27FC236}">
                <a16:creationId xmlns:a16="http://schemas.microsoft.com/office/drawing/2014/main" id="{17216C73-9F68-4AB4-AD96-A4104839B865}"/>
              </a:ext>
            </a:extLst>
          </p:cNvPr>
          <p:cNvSpPr/>
          <p:nvPr/>
        </p:nvSpPr>
        <p:spPr>
          <a:xfrm>
            <a:off x="6705600" y="3657600"/>
            <a:ext cx="1981200" cy="6096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b="1">
                <a:solidFill>
                  <a:srgbClr val="1F3864"/>
                </a:solidFill>
                <a:latin typeface="Calibri"/>
                <a:ea typeface="Calibri"/>
                <a:cs typeface="Calibri"/>
              </a:rPr>
              <a:t>Garantías</a:t>
            </a:r>
          </a:p>
        </p:txBody>
      </p:sp>
      <p:sp>
        <p:nvSpPr>
          <p:cNvPr id="18" name="CuadroTexto 17">
            <a:extLst>
              <a:ext uri="{FF2B5EF4-FFF2-40B4-BE49-F238E27FC236}">
                <a16:creationId xmlns:a16="http://schemas.microsoft.com/office/drawing/2014/main" id="{AD7B3FF1-A37D-4D54-BE86-BD0BFD375824}"/>
              </a:ext>
            </a:extLst>
          </p:cNvPr>
          <p:cNvSpPr txBox="1"/>
          <p:nvPr/>
        </p:nvSpPr>
        <p:spPr>
          <a:xfrm>
            <a:off x="457200" y="44450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ocho elementos que definen un contrato de seguro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8512395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F77A1DBE-3AB3-470C-821F-A9CA6A491FCB}"/>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CONTROLES</a:t>
            </a:r>
          </a:p>
        </p:txBody>
      </p:sp>
      <p:sp>
        <p:nvSpPr>
          <p:cNvPr id="6" name="CuadroTexto 5">
            <a:extLst>
              <a:ext uri="{FF2B5EF4-FFF2-40B4-BE49-F238E27FC236}">
                <a16:creationId xmlns:a16="http://schemas.microsoft.com/office/drawing/2014/main" id="{44F1D4FB-FCB1-4271-A45B-E8CCEA15DC88}"/>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ES" sz="2600" b="1">
                <a:solidFill>
                  <a:srgbClr val="1F3864"/>
                </a:solidFill>
                <a:latin typeface="Calibri"/>
                <a:ea typeface="Calibri"/>
                <a:cs typeface="Calibri"/>
              </a:rPr>
              <a:t>Análisis costo-beneficio de los tratamientos</a:t>
            </a:r>
            <a:endParaRPr lang="es-CO" sz="2600" b="1">
              <a:solidFill>
                <a:srgbClr val="1F3864"/>
              </a:solidFill>
              <a:latin typeface="Calibri"/>
              <a:ea typeface="Calibri"/>
              <a:cs typeface="Calibri"/>
            </a:endParaRPr>
          </a:p>
        </p:txBody>
      </p:sp>
      <p:sp>
        <p:nvSpPr>
          <p:cNvPr id="7" name="Rectángulo 6">
            <a:extLst>
              <a:ext uri="{FF2B5EF4-FFF2-40B4-BE49-F238E27FC236}">
                <a16:creationId xmlns:a16="http://schemas.microsoft.com/office/drawing/2014/main" id="{055F8D84-5F33-4DC9-87A9-5DDA69DBC25D}"/>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0" name="CuadroTexto 9">
            <a:extLst>
              <a:ext uri="{FF2B5EF4-FFF2-40B4-BE49-F238E27FC236}">
                <a16:creationId xmlns:a16="http://schemas.microsoft.com/office/drawing/2014/main" id="{3E1FFEB5-B547-4EB5-855C-061CF940EA33}"/>
              </a:ext>
            </a:extLst>
          </p:cNvPr>
          <p:cNvSpPr txBox="1"/>
          <p:nvPr/>
        </p:nvSpPr>
        <p:spPr>
          <a:xfrm>
            <a:off x="457200" y="5184648"/>
            <a:ext cx="8229600" cy="228600"/>
          </a:xfrm>
          <a:prstGeom prst="rect">
            <a:avLst/>
          </a:prstGeom>
          <a:noFill/>
        </p:spPr>
        <p:txBody>
          <a:bodyPr vertOverflow="overflow" vert="horz" wrap="square" rtlCol="0" anchor="t">
            <a:noAutofit/>
          </a:bodyPr>
          <a:lstStyle/>
          <a:p>
            <a:pPr algn="l"/>
            <a:r>
              <a:rPr lang="es-ES" sz="1200">
                <a:solidFill>
                  <a:srgbClr val="7F7F7F"/>
                </a:solidFill>
                <a:latin typeface="Calibri"/>
                <a:ea typeface="Calibri"/>
                <a:cs typeface="Calibri"/>
              </a:rPr>
              <a:t>La regla de decisión compara el costo del control con el riesgo que cubre</a:t>
            </a:r>
            <a:endParaRPr lang="es-CO" sz="1100">
              <a:solidFill>
                <a:srgbClr val="7F7F7F"/>
              </a:solidFill>
              <a:latin typeface="Calibri"/>
              <a:ea typeface="Calibri"/>
              <a:cs typeface="Calibri"/>
            </a:endParaRPr>
          </a:p>
        </p:txBody>
      </p:sp>
      <p:sp>
        <p:nvSpPr>
          <p:cNvPr id="11" name="Idea principal"/>
          <p:cNvSpPr txBox="1"/>
          <p:nvPr/>
        </p:nvSpPr>
        <p:spPr>
          <a:xfrm>
            <a:off x="457200" y="1261872"/>
            <a:ext cx="8229600" cy="347472"/>
          </a:xfrm>
          <a:prstGeom prst="rect">
            <a:avLst/>
          </a:prstGeom>
          <a:noFill/>
        </p:spPr>
        <p:txBody>
          <a:bodyPr wrap="square" lIns="0" tIns="0" rIns="0" bIns="0" anchor="ctr">
            <a:spAutoFit/>
          </a:bodyPr>
          <a:lstStyle/>
          <a:p>
            <a:pPr algn="l">
              <a:lnSpc>
                <a:spcPct val="100000"/>
              </a:lnSpc>
              <a:spcBef>
                <a:spcPts val="0"/>
              </a:spcBef>
              <a:spcAft>
                <a:spcPts val="0"/>
              </a:spcAft>
            </a:pPr>
            <a:r>
              <a:rPr sz="1500" b="0">
                <a:solidFill>
                  <a:srgbClr val="404040"/>
                </a:solidFill>
                <a:latin typeface="Calibri"/>
              </a:rPr>
              <a:t>Implemente un tratamiento solo cuando el beneficio esperado supere su costo total.</a:t>
            </a:r>
          </a:p>
        </p:txBody>
      </p:sp>
      <p:sp>
        <p:nvSpPr>
          <p:cNvPr id="12" name="Costo"/>
          <p:cNvSpPr/>
          <p:nvPr/>
        </p:nvSpPr>
        <p:spPr>
          <a:xfrm>
            <a:off x="658368" y="1847088"/>
            <a:ext cx="566928" cy="566928"/>
          </a:xfrm>
          <a:prstGeom prst="ellipse">
            <a:avLst/>
          </a:prstGeom>
          <a:solidFill>
            <a:srgbClr val="ED7D31"/>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Calibri"/>
              </a:rPr>
              <a:t>C</a:t>
            </a:r>
          </a:p>
        </p:txBody>
      </p:sp>
      <p:sp>
        <p:nvSpPr>
          <p:cNvPr id="13" name="Título costo"/>
          <p:cNvSpPr txBox="1"/>
          <p:nvPr/>
        </p:nvSpPr>
        <p:spPr>
          <a:xfrm>
            <a:off x="1389888" y="1847088"/>
            <a:ext cx="2697480"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ED7D31"/>
                </a:solidFill>
                <a:latin typeface="Calibri"/>
              </a:rPr>
              <a:t>COSTO TOTAL</a:t>
            </a:r>
          </a:p>
        </p:txBody>
      </p:sp>
      <p:sp>
        <p:nvSpPr>
          <p:cNvPr id="14" name="Detalle costo"/>
          <p:cNvSpPr txBox="1"/>
          <p:nvPr/>
        </p:nvSpPr>
        <p:spPr>
          <a:xfrm>
            <a:off x="1389888" y="2286000"/>
            <a:ext cx="2852928" cy="932688"/>
          </a:xfrm>
          <a:prstGeom prst="rect">
            <a:avLst/>
          </a:prstGeom>
          <a:noFill/>
        </p:spPr>
        <p:txBody>
          <a:bodyPr wrap="square" lIns="0" tIns="0" rIns="0" bIns="0" anchor="t">
            <a:spAutoFit/>
          </a:bodyPr>
          <a:lstStyle/>
          <a:p>
            <a:pPr algn="l">
              <a:lnSpc>
                <a:spcPct val="100000"/>
              </a:lnSpc>
              <a:spcBef>
                <a:spcPts val="0"/>
              </a:spcBef>
              <a:spcAft>
                <a:spcPts val="800"/>
              </a:spcAft>
            </a:pPr>
            <a:r>
              <a:rPr sz="1500" b="0">
                <a:solidFill>
                  <a:srgbClr val="404040"/>
                </a:solidFill>
                <a:latin typeface="Calibri"/>
              </a:rPr>
              <a:t>✓  Implementación del control</a:t>
            </a:r>
          </a:p>
          <a:p>
            <a:pPr algn="l">
              <a:lnSpc>
                <a:spcPct val="100000"/>
              </a:lnSpc>
              <a:spcBef>
                <a:spcPts val="0"/>
              </a:spcBef>
              <a:spcAft>
                <a:spcPts val="800"/>
              </a:spcAft>
            </a:pPr>
            <a:r>
              <a:rPr sz="1500" b="0">
                <a:solidFill>
                  <a:srgbClr val="404040"/>
                </a:solidFill>
                <a:latin typeface="Calibri"/>
              </a:rPr>
              <a:t>✓  Prima, software o contrato</a:t>
            </a:r>
          </a:p>
          <a:p>
            <a:pPr algn="l">
              <a:lnSpc>
                <a:spcPct val="100000"/>
              </a:lnSpc>
              <a:spcBef>
                <a:spcPts val="0"/>
              </a:spcBef>
              <a:spcAft>
                <a:spcPts val="0"/>
              </a:spcAft>
            </a:pPr>
            <a:r>
              <a:rPr sz="1500" b="0">
                <a:solidFill>
                  <a:srgbClr val="404040"/>
                </a:solidFill>
                <a:latin typeface="Calibri"/>
              </a:rPr>
              <a:t>✓  Administración y seguimiento</a:t>
            </a:r>
          </a:p>
        </p:txBody>
      </p:sp>
      <p:sp>
        <p:nvSpPr>
          <p:cNvPr id="15" name="Beneficio"/>
          <p:cNvSpPr/>
          <p:nvPr/>
        </p:nvSpPr>
        <p:spPr>
          <a:xfrm>
            <a:off x="4800600" y="1847088"/>
            <a:ext cx="566928" cy="566928"/>
          </a:xfrm>
          <a:prstGeom prst="ellipse">
            <a:avLst/>
          </a:prstGeom>
          <a:solidFill>
            <a:srgbClr val="70AD47"/>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800" b="1">
                <a:solidFill>
                  <a:srgbClr val="FFFFFF"/>
                </a:solidFill>
                <a:latin typeface="Calibri"/>
              </a:rPr>
              <a:t>B</a:t>
            </a:r>
          </a:p>
        </p:txBody>
      </p:sp>
      <p:sp>
        <p:nvSpPr>
          <p:cNvPr id="16" name="Título beneficio"/>
          <p:cNvSpPr txBox="1"/>
          <p:nvPr/>
        </p:nvSpPr>
        <p:spPr>
          <a:xfrm>
            <a:off x="5532120" y="1847088"/>
            <a:ext cx="2907792" cy="310896"/>
          </a:xfrm>
          <a:prstGeom prst="rect">
            <a:avLst/>
          </a:prstGeom>
          <a:noFill/>
        </p:spPr>
        <p:txBody>
          <a:bodyPr wrap="square" lIns="0" tIns="0" rIns="0" bIns="0" anchor="ctr">
            <a:spAutoFit/>
          </a:bodyPr>
          <a:lstStyle/>
          <a:p>
            <a:pPr algn="l">
              <a:lnSpc>
                <a:spcPct val="100000"/>
              </a:lnSpc>
              <a:spcBef>
                <a:spcPts val="0"/>
              </a:spcBef>
              <a:spcAft>
                <a:spcPts val="0"/>
              </a:spcAft>
            </a:pPr>
            <a:r>
              <a:rPr sz="1800" b="1">
                <a:solidFill>
                  <a:srgbClr val="70AD47"/>
                </a:solidFill>
                <a:latin typeface="Calibri"/>
              </a:rPr>
              <a:t>BENEFICIO ESPERADO</a:t>
            </a:r>
          </a:p>
        </p:txBody>
      </p:sp>
      <p:sp>
        <p:nvSpPr>
          <p:cNvPr id="17" name="Detalle beneficio"/>
          <p:cNvSpPr txBox="1"/>
          <p:nvPr/>
        </p:nvSpPr>
        <p:spPr>
          <a:xfrm>
            <a:off x="5532120" y="2286000"/>
            <a:ext cx="2907792" cy="932688"/>
          </a:xfrm>
          <a:prstGeom prst="rect">
            <a:avLst/>
          </a:prstGeom>
          <a:noFill/>
        </p:spPr>
        <p:txBody>
          <a:bodyPr wrap="square" lIns="0" tIns="0" rIns="0" bIns="0" anchor="t">
            <a:spAutoFit/>
          </a:bodyPr>
          <a:lstStyle/>
          <a:p>
            <a:pPr algn="l">
              <a:lnSpc>
                <a:spcPct val="100000"/>
              </a:lnSpc>
              <a:spcBef>
                <a:spcPts val="0"/>
              </a:spcBef>
              <a:spcAft>
                <a:spcPts val="800"/>
              </a:spcAft>
            </a:pPr>
            <a:r>
              <a:rPr sz="1500" b="0">
                <a:solidFill>
                  <a:srgbClr val="404040"/>
                </a:solidFill>
                <a:latin typeface="Calibri"/>
              </a:rPr>
              <a:t>✓  Exposición al riesgo reducida</a:t>
            </a:r>
          </a:p>
          <a:p>
            <a:pPr algn="l">
              <a:lnSpc>
                <a:spcPct val="100000"/>
              </a:lnSpc>
              <a:spcBef>
                <a:spcPts val="0"/>
              </a:spcBef>
              <a:spcAft>
                <a:spcPts val="800"/>
              </a:spcAft>
            </a:pPr>
            <a:r>
              <a:rPr sz="1500" b="0">
                <a:solidFill>
                  <a:srgbClr val="404040"/>
                </a:solidFill>
                <a:latin typeface="Calibri"/>
              </a:rPr>
              <a:t>✓  Cobertura o transferencia</a:t>
            </a:r>
          </a:p>
          <a:p>
            <a:pPr algn="l">
              <a:lnSpc>
                <a:spcPct val="100000"/>
              </a:lnSpc>
              <a:spcBef>
                <a:spcPts val="0"/>
              </a:spcBef>
              <a:spcAft>
                <a:spcPts val="0"/>
              </a:spcAft>
            </a:pPr>
            <a:r>
              <a:rPr sz="1500" b="0">
                <a:solidFill>
                  <a:srgbClr val="404040"/>
                </a:solidFill>
                <a:latin typeface="Calibri"/>
              </a:rPr>
              <a:t>✓  Controles fortalecidos</a:t>
            </a:r>
          </a:p>
        </p:txBody>
      </p:sp>
      <p:sp>
        <p:nvSpPr>
          <p:cNvPr id="18" name="Divisor central"/>
          <p:cNvSpPr/>
          <p:nvPr/>
        </p:nvSpPr>
        <p:spPr>
          <a:xfrm>
            <a:off x="4498848" y="1810512"/>
            <a:ext cx="16459" cy="1481328"/>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gla superior"/>
          <p:cNvSpPr/>
          <p:nvPr/>
        </p:nvSpPr>
        <p:spPr>
          <a:xfrm>
            <a:off x="658368" y="3456432"/>
            <a:ext cx="7827264" cy="2286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Fórmula de decisión"/>
          <p:cNvSpPr txBox="1"/>
          <p:nvPr/>
        </p:nvSpPr>
        <p:spPr>
          <a:xfrm>
            <a:off x="658368" y="3639312"/>
            <a:ext cx="7827264" cy="384048"/>
          </a:xfrm>
          <a:prstGeom prst="rect">
            <a:avLst/>
          </a:prstGeom>
          <a:noFill/>
        </p:spPr>
        <p:txBody>
          <a:bodyPr wrap="square" lIns="0" tIns="0" rIns="0" bIns="0" anchor="ctr">
            <a:spAutoFit/>
          </a:bodyPr>
          <a:lstStyle/>
          <a:p>
            <a:pPr algn="ctr">
              <a:lnSpc>
                <a:spcPct val="100000"/>
              </a:lnSpc>
              <a:spcBef>
                <a:spcPts val="0"/>
              </a:spcBef>
              <a:spcAft>
                <a:spcPts val="0"/>
              </a:spcAft>
            </a:pPr>
            <a:r>
              <a:rPr sz="2000" b="1">
                <a:solidFill>
                  <a:srgbClr val="1F3864"/>
                </a:solidFill>
                <a:latin typeface="Calibri"/>
              </a:rPr>
              <a:t>BENEFICIO ESPERADO  −  COSTO TOTAL  =  VALOR NETO</a:t>
            </a:r>
          </a:p>
        </p:txBody>
      </p:sp>
      <p:sp>
        <p:nvSpPr>
          <p:cNvPr id="21" name="No implementar"/>
          <p:cNvSpPr txBox="1"/>
          <p:nvPr/>
        </p:nvSpPr>
        <p:spPr>
          <a:xfrm>
            <a:off x="658368" y="4206240"/>
            <a:ext cx="3584448" cy="713232"/>
          </a:xfrm>
          <a:prstGeom prst="rect">
            <a:avLst/>
          </a:prstGeom>
          <a:noFill/>
        </p:spPr>
        <p:txBody>
          <a:bodyPr wrap="square" lIns="0" tIns="0" rIns="0" bIns="0" anchor="t">
            <a:spAutoFit/>
          </a:bodyPr>
          <a:lstStyle/>
          <a:p>
            <a:pPr algn="l">
              <a:lnSpc>
                <a:spcPct val="100000"/>
              </a:lnSpc>
              <a:spcBef>
                <a:spcPts val="0"/>
              </a:spcBef>
              <a:spcAft>
                <a:spcPts val="800"/>
              </a:spcAft>
            </a:pPr>
            <a:r>
              <a:rPr sz="1700" b="1">
                <a:solidFill>
                  <a:srgbClr val="C00000"/>
                </a:solidFill>
                <a:latin typeface="Calibri"/>
              </a:rPr>
              <a:t>≤ 0   NO IMPLEMENTAR</a:t>
            </a:r>
          </a:p>
          <a:p>
            <a:pPr algn="l">
              <a:lnSpc>
                <a:spcPct val="100000"/>
              </a:lnSpc>
              <a:spcBef>
                <a:spcPts val="0"/>
              </a:spcBef>
              <a:spcAft>
                <a:spcPts val="0"/>
              </a:spcAft>
            </a:pPr>
            <a:r>
              <a:rPr sz="1400" b="0">
                <a:solidFill>
                  <a:srgbClr val="404040"/>
                </a:solidFill>
                <a:latin typeface="Calibri"/>
              </a:rPr>
              <a:t>El costo es igual o mayor que el beneficio.</a:t>
            </a:r>
          </a:p>
        </p:txBody>
      </p:sp>
      <p:sp>
        <p:nvSpPr>
          <p:cNvPr id="22" name="Implementar"/>
          <p:cNvSpPr txBox="1"/>
          <p:nvPr/>
        </p:nvSpPr>
        <p:spPr>
          <a:xfrm>
            <a:off x="4864608" y="4206240"/>
            <a:ext cx="3621024" cy="713232"/>
          </a:xfrm>
          <a:prstGeom prst="rect">
            <a:avLst/>
          </a:prstGeom>
          <a:noFill/>
        </p:spPr>
        <p:txBody>
          <a:bodyPr wrap="square" lIns="0" tIns="0" rIns="0" bIns="0" anchor="t">
            <a:spAutoFit/>
          </a:bodyPr>
          <a:lstStyle/>
          <a:p>
            <a:pPr algn="l">
              <a:lnSpc>
                <a:spcPct val="100000"/>
              </a:lnSpc>
              <a:spcBef>
                <a:spcPts val="0"/>
              </a:spcBef>
              <a:spcAft>
                <a:spcPts val="800"/>
              </a:spcAft>
            </a:pPr>
            <a:r>
              <a:rPr sz="1700" b="1">
                <a:solidFill>
                  <a:srgbClr val="70AD47"/>
                </a:solidFill>
                <a:latin typeface="Calibri"/>
              </a:rPr>
              <a:t>&gt; 0   IMPLEMENTAR</a:t>
            </a:r>
          </a:p>
          <a:p>
            <a:pPr algn="l">
              <a:lnSpc>
                <a:spcPct val="100000"/>
              </a:lnSpc>
              <a:spcBef>
                <a:spcPts val="0"/>
              </a:spcBef>
              <a:spcAft>
                <a:spcPts val="0"/>
              </a:spcAft>
            </a:pPr>
            <a:r>
              <a:rPr sz="1400" b="0">
                <a:solidFill>
                  <a:srgbClr val="404040"/>
                </a:solidFill>
                <a:latin typeface="Calibri"/>
              </a:rPr>
              <a:t>El beneficio supera el costo del tratamiento.</a:t>
            </a:r>
          </a:p>
        </p:txBody>
      </p:sp>
      <p:sp>
        <p:nvSpPr>
          <p:cNvPr id="23" name="Divisor decisiones"/>
          <p:cNvSpPr/>
          <p:nvPr/>
        </p:nvSpPr>
        <p:spPr>
          <a:xfrm>
            <a:off x="4498848" y="4187952"/>
            <a:ext cx="16459" cy="713232"/>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9244004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C6BCE7-01BA-4D5B-BD9D-63D9E3B56B4D}"/>
              </a:ext>
            </a:extLst>
          </p:cNvPr>
          <p:cNvSpPr>
            <a:spLocks noGrp="1"/>
          </p:cNvSpPr>
          <p:nvPr>
            <p:ph type="title"/>
          </p:nvPr>
        </p:nvSpPr>
        <p:spPr>
          <a:xfrm>
            <a:off x="457200" y="2286000"/>
            <a:ext cx="8229600" cy="1397000"/>
          </a:xfrm>
          <a:solidFill>
            <a:srgbClr val="1F3864"/>
          </a:solidFill>
          <a:ln>
            <a:noFill/>
          </a:ln>
        </p:spPr>
        <p:txBody>
          <a:bodyPr wrap="square" anchor="ctr" anchorCtr="0">
            <a:noAutofit/>
          </a:bodyPr>
          <a:lstStyle/>
          <a:p>
            <a:pPr algn="ctr"/>
            <a:r>
              <a:rPr lang="es-ES" sz="3400" b="1">
                <a:solidFill>
                  <a:srgbClr val="FFFFFF"/>
                </a:solidFill>
                <a:latin typeface="Calibri"/>
                <a:ea typeface="Calibri"/>
                <a:cs typeface="Calibri"/>
              </a:rPr>
              <a:t>Identificación de riesgos en el proyecto</a:t>
            </a:r>
            <a:endParaRPr lang="es-CO" sz="3400" b="1" dirty="0">
              <a:solidFill>
                <a:srgbClr val="FFFFFF"/>
              </a:solidFill>
              <a:latin typeface="Calibri"/>
              <a:ea typeface="Calibri"/>
              <a:cs typeface="Calibri"/>
            </a:endParaRPr>
          </a:p>
        </p:txBody>
      </p:sp>
    </p:spTree>
    <p:extLst>
      <p:ext uri="{BB962C8B-B14F-4D97-AF65-F5344CB8AC3E}">
        <p14:creationId xmlns:p14="http://schemas.microsoft.com/office/powerpoint/2010/main" val="27429652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CuadroTexto"/>
          <p:cNvSpPr txBox="1"/>
          <p:nvPr/>
        </p:nvSpPr>
        <p:spPr>
          <a:xfrm>
            <a:off x="457200" y="1320800"/>
            <a:ext cx="4038600" cy="558800"/>
          </a:xfrm>
          <a:prstGeom prst="rect">
            <a:avLst/>
          </a:prstGeom>
          <a:solidFill>
            <a:srgbClr val="1F3864"/>
          </a:solidFill>
          <a:ln>
            <a:noFill/>
          </a:ln>
        </p:spPr>
        <p:txBody>
          <a:bodyPr wrap="square" rtlCol="0" anchor="ctr" anchorCtr="0">
            <a:noAutofit/>
          </a:bodyPr>
          <a:lstStyle/>
          <a:p>
            <a:r>
              <a:rPr lang="es-CO" sz="1600" b="1">
                <a:solidFill>
                  <a:srgbClr val="FFFFFF"/>
                </a:solidFill>
                <a:latin typeface="Calibri"/>
                <a:ea typeface="Calibri"/>
                <a:cs typeface="Calibri"/>
              </a:rPr>
              <a:t>Probabilidad de caída</a:t>
            </a:r>
            <a:endParaRPr lang="es-CO" sz="1600" b="1" dirty="0">
              <a:solidFill>
                <a:srgbClr val="FFFFFF"/>
              </a:solidFill>
              <a:latin typeface="Calibri"/>
              <a:ea typeface="Calibri"/>
              <a:cs typeface="Calibri"/>
            </a:endParaRPr>
          </a:p>
        </p:txBody>
      </p:sp>
      <p:sp>
        <p:nvSpPr>
          <p:cNvPr id="4" name="3 CuadroTexto"/>
          <p:cNvSpPr txBox="1"/>
          <p:nvPr/>
        </p:nvSpPr>
        <p:spPr>
          <a:xfrm>
            <a:off x="4648200" y="1320800"/>
            <a:ext cx="4038600" cy="558800"/>
          </a:xfrm>
          <a:prstGeom prst="rect">
            <a:avLst/>
          </a:prstGeom>
          <a:solidFill>
            <a:srgbClr val="1F3864"/>
          </a:solidFill>
          <a:ln>
            <a:noFill/>
          </a:ln>
        </p:spPr>
        <p:txBody>
          <a:bodyPr wrap="square" rtlCol="0" anchor="ctr" anchorCtr="0">
            <a:noAutofit/>
          </a:bodyPr>
          <a:lstStyle/>
          <a:p>
            <a:r>
              <a:rPr lang="es-CO" sz="1600" b="1">
                <a:solidFill>
                  <a:srgbClr val="FFFFFF"/>
                </a:solidFill>
                <a:latin typeface="Calibri"/>
                <a:ea typeface="Calibri"/>
                <a:cs typeface="Calibri"/>
              </a:rPr>
              <a:t>Impacto si ocurre</a:t>
            </a:r>
            <a:endParaRPr lang="es-CO" sz="1600" b="1" dirty="0">
              <a:solidFill>
                <a:srgbClr val="FFFFFF"/>
              </a:solidFill>
              <a:latin typeface="Calibri"/>
              <a:ea typeface="Calibri"/>
              <a:cs typeface="Calibri"/>
            </a:endParaRPr>
          </a:p>
        </p:txBody>
      </p:sp>
      <p:pic>
        <p:nvPicPr>
          <p:cNvPr id="32770" name="Picture 2" descr="Accidente fatal de parpentista en las Altas Cumbres"/>
          <p:cNvPicPr>
            <a:picLocks noChangeAspect="1" noChangeArrowheads="1"/>
          </p:cNvPicPr>
          <p:nvPr/>
        </p:nvPicPr>
        <p:blipFill>
          <a:blip r:embed="rId2">
            <a:extLst>
              <a:ext uri="{28A0092B-C50C-407E-A947-70E740481C1C}">
                <a14:useLocalDpi xmlns:a14="http://schemas.microsoft.com/office/drawing/2010/main" val="0"/>
              </a:ext>
            </a:extLst>
          </a:blip>
          <a:srcRect l="19000" r="14518"/>
          <a:stretch>
            <a:fillRect/>
          </a:stretch>
        </p:blipFill>
        <p:spPr bwMode="auto">
          <a:xfrm>
            <a:off x="5105400" y="2108200"/>
            <a:ext cx="3225800" cy="2501900"/>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pic>
        <p:nvPicPr>
          <p:cNvPr id="32772" name="Picture 4" descr="File:Parapente en Balboa.jpg"/>
          <p:cNvPicPr>
            <a:picLocks noChangeAspect="1" noChangeArrowheads="1"/>
          </p:cNvPicPr>
          <p:nvPr/>
        </p:nvPicPr>
        <p:blipFill>
          <a:blip r:embed="rId3">
            <a:extLst>
              <a:ext uri="{28A0092B-C50C-407E-A947-70E740481C1C}">
                <a14:useLocalDpi xmlns:a14="http://schemas.microsoft.com/office/drawing/2010/main" val="0"/>
              </a:ext>
            </a:extLst>
          </a:blip>
          <a:srcRect r="4168"/>
          <a:stretch>
            <a:fillRect/>
          </a:stretch>
        </p:blipFill>
        <p:spPr bwMode="auto">
          <a:xfrm>
            <a:off x="762000" y="2108200"/>
            <a:ext cx="3429000" cy="2501900"/>
          </a:xfrm>
          <a:prstGeom prst="rect">
            <a:avLst/>
          </a:prstGeom>
          <a:ln w="228600" cap="sq" cmpd="thickThin">
            <a:solidFill>
              <a:srgbClr val="000000"/>
            </a:solidFill>
            <a:prstDash val="solid"/>
            <a:miter lim="800000"/>
          </a:ln>
          <a:effectLst>
            <a:innerShdw blurRad="76200">
              <a:srgbClr val="000000"/>
            </a:innerShdw>
          </a:effectLst>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8731D137-7DF7-451B-B35C-D98E91DC597D}"/>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ES" sz="2800" b="1">
                <a:solidFill>
                  <a:srgbClr val="1F3864"/>
                </a:solidFill>
                <a:latin typeface="Calibri"/>
                <a:ea typeface="Calibri"/>
                <a:cs typeface="Calibri"/>
              </a:rPr>
              <a:t>Dos preguntas distintas sobre el mismo riesgo</a:t>
            </a:r>
            <a:endParaRPr lang="es-CO" sz="2800" b="1">
              <a:solidFill>
                <a:srgbClr val="1F3864"/>
              </a:solidFill>
              <a:latin typeface="Calibri"/>
              <a:ea typeface="Calibri"/>
              <a:cs typeface="Calibri"/>
            </a:endParaRPr>
          </a:p>
        </p:txBody>
      </p:sp>
      <p:sp>
        <p:nvSpPr>
          <p:cNvPr id="6" name="Rectángulo 5">
            <a:extLst>
              <a:ext uri="{FF2B5EF4-FFF2-40B4-BE49-F238E27FC236}">
                <a16:creationId xmlns:a16="http://schemas.microsoft.com/office/drawing/2014/main" id="{FB08C450-ABB2-4762-A3F2-84052D40F52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CuadroTexto 6">
            <a:extLst>
              <a:ext uri="{FF2B5EF4-FFF2-40B4-BE49-F238E27FC236}">
                <a16:creationId xmlns:a16="http://schemas.microsoft.com/office/drawing/2014/main" id="{EA549B72-2DA7-435E-B414-8ECCE2AF6980}"/>
              </a:ext>
            </a:extLst>
          </p:cNvPr>
          <p:cNvSpPr txBox="1"/>
          <p:nvPr/>
        </p:nvSpPr>
        <p:spPr>
          <a:xfrm>
            <a:off x="457200" y="4838700"/>
            <a:ext cx="8229600" cy="228600"/>
          </a:xfrm>
          <a:prstGeom prst="rect">
            <a:avLst/>
          </a:prstGeom>
          <a:noFill/>
        </p:spPr>
        <p:txBody>
          <a:bodyPr vertOverflow="overflow" vert="horz" wrap="square" rtlCol="0" anchor="t">
            <a:noAutofit/>
          </a:bodyPr>
          <a:lstStyle/>
          <a:p>
            <a:pPr algn="l"/>
            <a:r>
              <a:rPr lang="es-ES" sz="1100" dirty="0">
                <a:solidFill>
                  <a:srgbClr val="7F7F7F"/>
                </a:solidFill>
                <a:latin typeface="Calibri"/>
                <a:ea typeface="Calibri"/>
                <a:cs typeface="Calibri"/>
              </a:rPr>
              <a:t>La probabilidad y el impacto se estiman por separado y luego se combinan</a:t>
            </a:r>
            <a:endParaRPr lang="es-CO" sz="1100" dirty="0">
              <a:solidFill>
                <a:srgbClr val="7F7F7F"/>
              </a:solidFill>
              <a:latin typeface="Calibri"/>
              <a:ea typeface="Calibri"/>
              <a:cs typeface="Calibri"/>
            </a:endParaRPr>
          </a:p>
        </p:txBody>
      </p:sp>
    </p:spTree>
    <p:extLst>
      <p:ext uri="{BB962C8B-B14F-4D97-AF65-F5344CB8AC3E}">
        <p14:creationId xmlns:p14="http://schemas.microsoft.com/office/powerpoint/2010/main" val="372522247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http://1.bp.blogspot.com/-I1iSD3T5AXE/UZBgJm8DCGI/AAAAAAAANA8/VX7jKm4VY5g/s320/gif-animado.gracioso-caida-fail.gif"/>
          <p:cNvPicPr>
            <a:picLocks noChangeAspect="1" noChangeArrowheads="1" noCrop="1"/>
          </p:cNvPicPr>
          <p:nvPr/>
        </p:nvPicPr>
        <p:blipFill>
          <a:blip r:embed="rId2">
            <a:extLst>
              <a:ext uri="{28A0092B-C50C-407E-A947-70E740481C1C}">
                <a14:useLocalDpi xmlns:a14="http://schemas.microsoft.com/office/drawing/2010/main" val="0"/>
              </a:ext>
            </a:extLst>
          </a:blip>
          <a:srcRect t="8666"/>
          <a:stretch>
            <a:fillRect/>
          </a:stretch>
        </p:blipFill>
        <p:spPr bwMode="auto">
          <a:xfrm>
            <a:off x="457200" y="2413000"/>
            <a:ext cx="2565400" cy="1574264"/>
          </a:xfrm>
          <a:prstGeom prst="rect">
            <a:avLst/>
          </a:prstGeom>
          <a:noFill/>
          <a:extLst>
            <a:ext uri="{909E8E84-426E-40DD-AFC4-6F175D3DCCD1}">
              <a14:hiddenFill xmlns:a14="http://schemas.microsoft.com/office/drawing/2010/main">
                <a:solidFill>
                  <a:srgbClr val="FFFFFF"/>
                </a:solidFill>
              </a14:hiddenFill>
            </a:ext>
          </a:extLst>
        </p:spPr>
      </p:pic>
      <p:pic>
        <p:nvPicPr>
          <p:cNvPr id="29700" name="Picture 4" descr="http://i1146.photobucket.com/albums/o528/arcki1/Enbuscadeadrenalina.gif"/>
          <p:cNvPicPr>
            <a:picLocks noChangeAspect="1" noChangeArrowheads="1" noCrop="1"/>
          </p:cNvPicPr>
          <p:nvPr/>
        </p:nvPicPr>
        <p:blipFill>
          <a:blip r:embed="rId3">
            <a:extLst>
              <a:ext uri="{28A0092B-C50C-407E-A947-70E740481C1C}">
                <a14:useLocalDpi xmlns:a14="http://schemas.microsoft.com/office/drawing/2010/main" val="0"/>
              </a:ext>
            </a:extLst>
          </a:blip>
          <a:srcRect t="8000" b="25190"/>
          <a:stretch>
            <a:fillRect/>
          </a:stretch>
        </p:blipFill>
        <p:spPr bwMode="auto">
          <a:xfrm>
            <a:off x="3289300" y="2413000"/>
            <a:ext cx="2565400" cy="1580039"/>
          </a:xfrm>
          <a:prstGeom prst="rect">
            <a:avLst/>
          </a:prstGeom>
          <a:noFill/>
          <a:extLst>
            <a:ext uri="{909E8E84-426E-40DD-AFC4-6F175D3DCCD1}">
              <a14:hiddenFill xmlns:a14="http://schemas.microsoft.com/office/drawing/2010/main">
                <a:solidFill>
                  <a:srgbClr val="FFFFFF"/>
                </a:solidFill>
              </a14:hiddenFill>
            </a:ext>
          </a:extLst>
        </p:spPr>
      </p:pic>
      <p:pic>
        <p:nvPicPr>
          <p:cNvPr id="29702" name="Picture 6" descr="http://i1146.photobucket.com/albums/o528/arcki1/Hamacafail_zps9d90c34a.gif"/>
          <p:cNvPicPr>
            <a:picLocks noChangeAspect="1" noChangeArrowheads="1" noCrop="1"/>
          </p:cNvPicPr>
          <p:nvPr/>
        </p:nvPicPr>
        <p:blipFill>
          <a:blip r:embed="rId4">
            <a:extLst>
              <a:ext uri="{28A0092B-C50C-407E-A947-70E740481C1C}">
                <a14:useLocalDpi xmlns:a14="http://schemas.microsoft.com/office/drawing/2010/main" val="0"/>
              </a:ext>
            </a:extLst>
          </a:blip>
          <a:srcRect l="3500" r="2337"/>
          <a:stretch>
            <a:fillRect/>
          </a:stretch>
        </p:blipFill>
        <p:spPr bwMode="auto">
          <a:xfrm>
            <a:off x="6121400" y="2413000"/>
            <a:ext cx="2565400" cy="1799560"/>
          </a:xfrm>
          <a:prstGeom prst="rect">
            <a:avLst/>
          </a:prstGeom>
          <a:noFill/>
          <a:extLst>
            <a:ext uri="{909E8E84-426E-40DD-AFC4-6F175D3DCCD1}">
              <a14:hiddenFill xmlns:a14="http://schemas.microsoft.com/office/drawing/2010/main">
                <a:solidFill>
                  <a:srgbClr val="FFFFFF"/>
                </a:solidFill>
              </a14:hiddenFill>
            </a:ext>
          </a:extLst>
        </p:spPr>
      </p:pic>
      <p:sp>
        <p:nvSpPr>
          <p:cNvPr id="2" name="CuadroTexto 1">
            <a:extLst>
              <a:ext uri="{FF2B5EF4-FFF2-40B4-BE49-F238E27FC236}">
                <a16:creationId xmlns:a16="http://schemas.microsoft.com/office/drawing/2014/main" id="{A0998B3A-C307-4EB6-9BCF-E7887F765DBE}"/>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1 DE 23</a:t>
            </a:r>
            <a:endParaRPr lang="es-CO" sz="1200" b="1">
              <a:solidFill>
                <a:srgbClr val="ED7D31"/>
              </a:solidFill>
              <a:latin typeface="Calibri"/>
              <a:ea typeface="Calibri"/>
              <a:cs typeface="Calibri"/>
            </a:endParaRPr>
          </a:p>
        </p:txBody>
      </p:sp>
      <p:sp>
        <p:nvSpPr>
          <p:cNvPr id="3" name="CuadroTexto 2">
            <a:extLst>
              <a:ext uri="{FF2B5EF4-FFF2-40B4-BE49-F238E27FC236}">
                <a16:creationId xmlns:a16="http://schemas.microsoft.com/office/drawing/2014/main" id="{6D452294-59DA-4CAB-B298-6537641BDBE8}"/>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ES" sz="2800" b="1">
                <a:solidFill>
                  <a:srgbClr val="1F3864"/>
                </a:solidFill>
                <a:latin typeface="Calibri"/>
                <a:ea typeface="Calibri"/>
                <a:cs typeface="Calibri"/>
              </a:rPr>
              <a:t>¿Qué riesgos ve en estas imágenes?</a:t>
            </a:r>
            <a:endParaRPr lang="es-CO" sz="2800" b="1">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D4BEBDAB-BC3C-4027-BD0E-62EB73358415}"/>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1064F581-5748-47C3-A9B9-8508537B2DFE}"/>
              </a:ext>
            </a:extLst>
          </p:cNvPr>
          <p:cNvSpPr txBox="1"/>
          <p:nvPr/>
        </p:nvSpPr>
        <p:spPr>
          <a:xfrm>
            <a:off x="457200" y="4318000"/>
            <a:ext cx="8229600" cy="2032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Identifique el riesgo, su causa y su efecto en cada caso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2028412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a:noFill/>
          <a:ln>
            <a:noFill/>
          </a:ln>
        </p:spPr>
        <p:txBody>
          <a:bodyPr wrap="square" anchor="t" anchorCtr="0">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1083" y="1346200"/>
            <a:ext cx="5381833" cy="4038600"/>
          </a:xfrm>
          <a:prstGeom prst="rect">
            <a:avLst/>
          </a:prstGeom>
        </p:spPr>
      </p:pic>
      <p:sp>
        <p:nvSpPr>
          <p:cNvPr id="4" name="CuadroTexto 3">
            <a:extLst>
              <a:ext uri="{FF2B5EF4-FFF2-40B4-BE49-F238E27FC236}">
                <a16:creationId xmlns:a16="http://schemas.microsoft.com/office/drawing/2014/main" id="{8CD2CF44-460B-46D6-B5FB-7B5F436588AE}"/>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2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2351D83E-99D6-4CA2-ADB2-A8B1127D923B}"/>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55892133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a:noFill/>
          <a:ln>
            <a:noFill/>
          </a:ln>
        </p:spPr>
        <p:txBody>
          <a:bodyPr wrap="square" anchor="t" anchorCtr="0">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5197" y="1346200"/>
            <a:ext cx="4753605" cy="4038600"/>
          </a:xfrm>
          <a:prstGeom prst="rect">
            <a:avLst/>
          </a:prstGeom>
        </p:spPr>
      </p:pic>
      <p:sp>
        <p:nvSpPr>
          <p:cNvPr id="3" name="CuadroTexto 2">
            <a:extLst>
              <a:ext uri="{FF2B5EF4-FFF2-40B4-BE49-F238E27FC236}">
                <a16:creationId xmlns:a16="http://schemas.microsoft.com/office/drawing/2014/main" id="{0F4E7E54-1BE1-428A-B835-DAD5916287C6}"/>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3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41140E3F-06D7-4E9A-92AB-AA1EEBB93433}"/>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1312133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a:noFill/>
          <a:ln>
            <a:noFill/>
          </a:ln>
        </p:spPr>
        <p:txBody>
          <a:bodyPr wrap="square" anchor="t" anchorCtr="0">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8989" y="1346200"/>
            <a:ext cx="4726021" cy="4038600"/>
          </a:xfrm>
          <a:prstGeom prst="rect">
            <a:avLst/>
          </a:prstGeom>
        </p:spPr>
      </p:pic>
      <p:sp>
        <p:nvSpPr>
          <p:cNvPr id="4" name="CuadroTexto 3">
            <a:extLst>
              <a:ext uri="{FF2B5EF4-FFF2-40B4-BE49-F238E27FC236}">
                <a16:creationId xmlns:a16="http://schemas.microsoft.com/office/drawing/2014/main" id="{39AE0E77-B3C9-40F5-86D3-B516B22CA734}"/>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4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8BF385A0-235C-440A-B958-02C27112BE9E}"/>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388960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a:noFill/>
          <a:ln>
            <a:noFill/>
          </a:ln>
        </p:spPr>
        <p:txBody>
          <a:bodyPr wrap="square" anchor="t" anchorCtr="0">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rcRect t="8500" b="6772"/>
          <a:stretch>
            <a:fillRect/>
          </a:stretch>
        </p:blipFill>
        <p:spPr>
          <a:xfrm>
            <a:off x="2630927" y="1346200"/>
            <a:ext cx="3882144" cy="4038600"/>
          </a:xfrm>
          <a:prstGeom prst="rect">
            <a:avLst/>
          </a:prstGeom>
        </p:spPr>
      </p:pic>
      <p:sp>
        <p:nvSpPr>
          <p:cNvPr id="4" name="CuadroTexto 3">
            <a:extLst>
              <a:ext uri="{FF2B5EF4-FFF2-40B4-BE49-F238E27FC236}">
                <a16:creationId xmlns:a16="http://schemas.microsoft.com/office/drawing/2014/main" id="{BEADE559-AB0D-46B2-9813-520430F1A4BE}"/>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5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E55F6D41-21F6-400E-B510-B9A96967BD38}"/>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02595915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a:noFill/>
          <a:ln>
            <a:noFill/>
          </a:ln>
        </p:spPr>
        <p:txBody>
          <a:bodyPr wrap="square" anchor="t" anchorCtr="0">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rcRect t="17000" b="11401"/>
          <a:stretch>
            <a:fillRect/>
          </a:stretch>
        </p:blipFill>
        <p:spPr>
          <a:xfrm>
            <a:off x="2291522" y="1346200"/>
            <a:ext cx="4560955" cy="4038600"/>
          </a:xfrm>
          <a:prstGeom prst="rect">
            <a:avLst/>
          </a:prstGeom>
        </p:spPr>
      </p:pic>
      <p:sp>
        <p:nvSpPr>
          <p:cNvPr id="4" name="CuadroTexto 3">
            <a:extLst>
              <a:ext uri="{FF2B5EF4-FFF2-40B4-BE49-F238E27FC236}">
                <a16:creationId xmlns:a16="http://schemas.microsoft.com/office/drawing/2014/main" id="{930F41A3-09AC-4DD8-880B-37F4CDFA735B}"/>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6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D69C5956-F456-4871-AE09-585078E333F3}"/>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40287000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a:noFill/>
          <a:ln>
            <a:noFill/>
          </a:ln>
        </p:spPr>
        <p:txBody>
          <a:bodyPr wrap="square" anchor="t" anchorCtr="0">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5412" y="1346200"/>
            <a:ext cx="3013174" cy="4038600"/>
          </a:xfrm>
          <a:prstGeom prst="rect">
            <a:avLst/>
          </a:prstGeom>
        </p:spPr>
      </p:pic>
      <p:sp>
        <p:nvSpPr>
          <p:cNvPr id="4" name="CuadroTexto 3">
            <a:extLst>
              <a:ext uri="{FF2B5EF4-FFF2-40B4-BE49-F238E27FC236}">
                <a16:creationId xmlns:a16="http://schemas.microsoft.com/office/drawing/2014/main" id="{DBD533B1-61A7-4A29-9370-2D313F9EE52B}"/>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7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6BCA73EC-4BF2-4594-B21A-2BBDF1A941C4}"/>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77195483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a:noFill/>
          <a:ln>
            <a:noFill/>
          </a:ln>
        </p:spPr>
        <p:txBody>
          <a:bodyPr wrap="square" anchor="t" anchorCtr="0">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rcRect t="1000" b="16244"/>
          <a:stretch>
            <a:fillRect/>
          </a:stretch>
        </p:blipFill>
        <p:spPr>
          <a:xfrm>
            <a:off x="2131923" y="1346200"/>
            <a:ext cx="4880153" cy="4038600"/>
          </a:xfrm>
          <a:prstGeom prst="rect">
            <a:avLst/>
          </a:prstGeom>
        </p:spPr>
      </p:pic>
      <p:sp>
        <p:nvSpPr>
          <p:cNvPr id="4" name="CuadroTexto 3">
            <a:extLst>
              <a:ext uri="{FF2B5EF4-FFF2-40B4-BE49-F238E27FC236}">
                <a16:creationId xmlns:a16="http://schemas.microsoft.com/office/drawing/2014/main" id="{C8E4D90D-DB69-4F98-A9BB-F196F7E348C7}"/>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8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7579D067-34B3-4485-99D9-B843FE3D97A2}"/>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42321256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a:noFill/>
          <a:ln>
            <a:noFill/>
          </a:ln>
        </p:spPr>
        <p:txBody>
          <a:bodyPr wrap="square" anchor="t" anchorCtr="0">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9077" y="1346200"/>
            <a:ext cx="3805844" cy="4038600"/>
          </a:xfrm>
          <a:prstGeom prst="rect">
            <a:avLst/>
          </a:prstGeom>
        </p:spPr>
      </p:pic>
      <p:sp>
        <p:nvSpPr>
          <p:cNvPr id="4" name="CuadroTexto 3">
            <a:extLst>
              <a:ext uri="{FF2B5EF4-FFF2-40B4-BE49-F238E27FC236}">
                <a16:creationId xmlns:a16="http://schemas.microsoft.com/office/drawing/2014/main" id="{43138E54-96FE-41E1-995F-3954928DB9D8}"/>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ES" sz="1200" b="1">
                <a:solidFill>
                  <a:srgbClr val="ED7D31"/>
                </a:solidFill>
                <a:latin typeface="Calibri"/>
                <a:ea typeface="Calibri"/>
                <a:cs typeface="Calibri"/>
              </a:rPr>
              <a:t>SITUACIONES RIESGOSAS · 9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6B0CEF18-BCE0-4071-B121-5949FCDF34A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62561085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7678" y="1346200"/>
            <a:ext cx="5288642" cy="4038600"/>
          </a:xfrm>
          <a:prstGeom prst="rect">
            <a:avLst/>
          </a:prstGeom>
        </p:spPr>
      </p:pic>
      <p:sp>
        <p:nvSpPr>
          <p:cNvPr id="4" name="CuadroTexto 3">
            <a:extLst>
              <a:ext uri="{FF2B5EF4-FFF2-40B4-BE49-F238E27FC236}">
                <a16:creationId xmlns:a16="http://schemas.microsoft.com/office/drawing/2014/main" id="{0846819D-14E7-4DE5-99F2-41B77601111B}"/>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10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475D3BF0-8BA7-485E-B722-381261596A27}"/>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236367845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7401" y="1346200"/>
            <a:ext cx="5069197" cy="4038600"/>
          </a:xfrm>
          <a:prstGeom prst="rect">
            <a:avLst/>
          </a:prstGeom>
        </p:spPr>
      </p:pic>
      <p:sp>
        <p:nvSpPr>
          <p:cNvPr id="4" name="CuadroTexto 3">
            <a:extLst>
              <a:ext uri="{FF2B5EF4-FFF2-40B4-BE49-F238E27FC236}">
                <a16:creationId xmlns:a16="http://schemas.microsoft.com/office/drawing/2014/main" id="{3D942E5F-8915-4C1F-B3B9-3CC1AF2E71D2}"/>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11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F6189635-BDE9-455D-A633-8F52CAA58479}"/>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06615606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0687" y="1346200"/>
            <a:ext cx="5762625" cy="4010025"/>
          </a:xfrm>
          <a:prstGeom prst="rect">
            <a:avLst/>
          </a:prstGeom>
        </p:spPr>
      </p:pic>
      <p:sp>
        <p:nvSpPr>
          <p:cNvPr id="4" name="CuadroTexto 3">
            <a:extLst>
              <a:ext uri="{FF2B5EF4-FFF2-40B4-BE49-F238E27FC236}">
                <a16:creationId xmlns:a16="http://schemas.microsoft.com/office/drawing/2014/main" id="{066CCE2C-913B-4E0B-B60D-59CAE297044C}"/>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12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F5D35ECB-FADC-41DF-93E3-D3A01A88793E}"/>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63743347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41580" y="1346200"/>
            <a:ext cx="3460839" cy="4038600"/>
          </a:xfrm>
          <a:prstGeom prst="rect">
            <a:avLst/>
          </a:prstGeom>
        </p:spPr>
      </p:pic>
      <p:sp>
        <p:nvSpPr>
          <p:cNvPr id="4" name="CuadroTexto 3">
            <a:extLst>
              <a:ext uri="{FF2B5EF4-FFF2-40B4-BE49-F238E27FC236}">
                <a16:creationId xmlns:a16="http://schemas.microsoft.com/office/drawing/2014/main" id="{EDCC00AF-9D3F-40EA-AFF6-678AA2343705}"/>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13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28B10F83-4798-4CA0-A110-77FE29DB5A42}"/>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9863835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4265" y="1346200"/>
            <a:ext cx="5515469" cy="4038600"/>
          </a:xfrm>
          <a:prstGeom prst="rect">
            <a:avLst/>
          </a:prstGeom>
        </p:spPr>
      </p:pic>
      <p:sp>
        <p:nvSpPr>
          <p:cNvPr id="4" name="CuadroTexto 3">
            <a:extLst>
              <a:ext uri="{FF2B5EF4-FFF2-40B4-BE49-F238E27FC236}">
                <a16:creationId xmlns:a16="http://schemas.microsoft.com/office/drawing/2014/main" id="{133B6140-E1AF-47FD-8F97-860BA19BD509}"/>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14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394BB7F4-67B8-4E65-9CBB-E85A0A75F1E7}"/>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7691823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8150" y="1346200"/>
            <a:ext cx="3027698" cy="4038600"/>
          </a:xfrm>
          <a:prstGeom prst="rect">
            <a:avLst/>
          </a:prstGeom>
        </p:spPr>
      </p:pic>
      <p:sp>
        <p:nvSpPr>
          <p:cNvPr id="4" name="CuadroTexto 3">
            <a:extLst>
              <a:ext uri="{FF2B5EF4-FFF2-40B4-BE49-F238E27FC236}">
                <a16:creationId xmlns:a16="http://schemas.microsoft.com/office/drawing/2014/main" id="{13A61FBA-9F31-4AD1-9402-FC9981466273}"/>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15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F19E86A2-07F8-4895-AF94-478D6F0863F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97307979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9679" y="1346200"/>
            <a:ext cx="3104641" cy="4038600"/>
          </a:xfrm>
          <a:prstGeom prst="rect">
            <a:avLst/>
          </a:prstGeom>
        </p:spPr>
      </p:pic>
      <p:sp>
        <p:nvSpPr>
          <p:cNvPr id="4" name="CuadroTexto 3">
            <a:extLst>
              <a:ext uri="{FF2B5EF4-FFF2-40B4-BE49-F238E27FC236}">
                <a16:creationId xmlns:a16="http://schemas.microsoft.com/office/drawing/2014/main" id="{9738D52D-60C4-47BE-945C-117A26BC47D0}"/>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16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5D86DBA7-8602-4D50-B5AD-820194810797}"/>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156519026"/>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6272" y="1346200"/>
            <a:ext cx="3031455" cy="4038600"/>
          </a:xfrm>
          <a:prstGeom prst="rect">
            <a:avLst/>
          </a:prstGeom>
        </p:spPr>
      </p:pic>
      <p:sp>
        <p:nvSpPr>
          <p:cNvPr id="4" name="CuadroTexto 3">
            <a:extLst>
              <a:ext uri="{FF2B5EF4-FFF2-40B4-BE49-F238E27FC236}">
                <a16:creationId xmlns:a16="http://schemas.microsoft.com/office/drawing/2014/main" id="{5E80BA27-6FEB-4410-B882-32A2AFE0E729}"/>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17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7FCA450F-C5CE-4EC1-9624-546E925A8A4B}"/>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06211667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pic>
        <p:nvPicPr>
          <p:cNvPr id="3" name="Imagen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0544" y="1346200"/>
            <a:ext cx="6062910" cy="4038600"/>
          </a:xfrm>
          <a:prstGeom prst="rect">
            <a:avLst/>
          </a:prstGeom>
        </p:spPr>
      </p:pic>
      <p:sp>
        <p:nvSpPr>
          <p:cNvPr id="4" name="CuadroTexto 3">
            <a:extLst>
              <a:ext uri="{FF2B5EF4-FFF2-40B4-BE49-F238E27FC236}">
                <a16:creationId xmlns:a16="http://schemas.microsoft.com/office/drawing/2014/main" id="{43C13B8F-9459-4228-9499-863D8664D77C}"/>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18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7EAEF884-A33B-44FB-805D-8E1724ABEC6C}"/>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39343357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4804" y="1346200"/>
            <a:ext cx="2694391" cy="4038600"/>
          </a:xfrm>
          <a:prstGeom prst="rect">
            <a:avLst/>
          </a:prstGeom>
        </p:spPr>
      </p:pic>
      <p:sp>
        <p:nvSpPr>
          <p:cNvPr id="3" name="Rectángulo 2"/>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sp>
        <p:nvSpPr>
          <p:cNvPr id="4" name="CuadroTexto 3">
            <a:extLst>
              <a:ext uri="{FF2B5EF4-FFF2-40B4-BE49-F238E27FC236}">
                <a16:creationId xmlns:a16="http://schemas.microsoft.com/office/drawing/2014/main" id="{BB295964-0264-4F72-9742-6AE97063FB33}"/>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19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9E08E99D-6BCC-4482-B32A-28A2D632C985}"/>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269077514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7524" y="1346200"/>
            <a:ext cx="3028950" cy="4038600"/>
          </a:xfrm>
          <a:prstGeom prst="rect">
            <a:avLst/>
          </a:prstGeom>
        </p:spPr>
      </p:pic>
      <p:sp>
        <p:nvSpPr>
          <p:cNvPr id="3" name="Rectángulo 2"/>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sp>
        <p:nvSpPr>
          <p:cNvPr id="4" name="CuadroTexto 3">
            <a:extLst>
              <a:ext uri="{FF2B5EF4-FFF2-40B4-BE49-F238E27FC236}">
                <a16:creationId xmlns:a16="http://schemas.microsoft.com/office/drawing/2014/main" id="{89AAA0FF-5B3B-4ECD-9468-DD5B37D05ECF}"/>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20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21B8D94B-7668-494B-B111-57F2771BD13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17997985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rcRect t="6589" b="1000"/>
          <a:stretch>
            <a:fillRect/>
          </a:stretch>
        </p:blipFill>
        <p:spPr>
          <a:xfrm>
            <a:off x="2386861" y="1346200"/>
            <a:ext cx="4370277" cy="4038600"/>
          </a:xfrm>
          <a:prstGeom prst="rect">
            <a:avLst/>
          </a:prstGeom>
        </p:spPr>
      </p:pic>
      <p:sp>
        <p:nvSpPr>
          <p:cNvPr id="3" name="Rectángulo 2"/>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sp>
        <p:nvSpPr>
          <p:cNvPr id="4" name="CuadroTexto 3">
            <a:extLst>
              <a:ext uri="{FF2B5EF4-FFF2-40B4-BE49-F238E27FC236}">
                <a16:creationId xmlns:a16="http://schemas.microsoft.com/office/drawing/2014/main" id="{8D93359E-9E20-4F2C-A9E0-B9BD623C47C9}"/>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21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825ED2D4-4B7D-4B65-A4DF-C2462890B0E2}"/>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57746485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9600" y="1346200"/>
            <a:ext cx="5384799" cy="4038600"/>
          </a:xfrm>
          <a:prstGeom prst="rect">
            <a:avLst/>
          </a:prstGeom>
        </p:spPr>
      </p:pic>
      <p:sp>
        <p:nvSpPr>
          <p:cNvPr id="3" name="Rectángulo 2"/>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sp>
        <p:nvSpPr>
          <p:cNvPr id="4" name="CuadroTexto 3">
            <a:extLst>
              <a:ext uri="{FF2B5EF4-FFF2-40B4-BE49-F238E27FC236}">
                <a16:creationId xmlns:a16="http://schemas.microsoft.com/office/drawing/2014/main" id="{9E2C5B7A-4DEB-4E04-A9D9-D24F844FC889}"/>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22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7028F5D2-9E17-4B2F-B9F0-32C25B8099AC}"/>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64675390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rcRect b="11955"/>
          <a:stretch>
            <a:fillRect/>
          </a:stretch>
        </p:blipFill>
        <p:spPr>
          <a:xfrm>
            <a:off x="2851881" y="1346200"/>
            <a:ext cx="3440237" cy="4038600"/>
          </a:xfrm>
          <a:prstGeom prst="rect">
            <a:avLst/>
          </a:prstGeom>
        </p:spPr>
      </p:pic>
      <p:sp>
        <p:nvSpPr>
          <p:cNvPr id="3" name="Rectángulo 2"/>
          <p:cNvSpPr/>
          <p:nvPr/>
        </p:nvSpPr>
        <p:spPr>
          <a:xfrm>
            <a:off x="457200" y="533400"/>
            <a:ext cx="8229600" cy="508000"/>
          </a:xfrm>
          <a:prstGeom prst="rect">
            <a:avLst/>
          </a:prstGeom>
        </p:spPr>
        <p:txBody>
          <a:bodyPr wrap="square">
            <a:noAutofit/>
          </a:bodyPr>
          <a:lstStyle/>
          <a:p>
            <a:r>
              <a:rPr lang="es-ES" sz="2800" b="1">
                <a:solidFill>
                  <a:srgbClr val="1F3864"/>
                </a:solidFill>
                <a:latin typeface="Calibri"/>
                <a:ea typeface="Calibri"/>
                <a:cs typeface="Calibri"/>
              </a:rPr>
              <a:t>¿Qué riesgos ve en esta imagen?</a:t>
            </a:r>
            <a:endParaRPr lang="es-CO" sz="2800" b="1" dirty="0">
              <a:solidFill>
                <a:srgbClr val="1F3864"/>
              </a:solidFill>
              <a:latin typeface="Calibri"/>
              <a:ea typeface="Calibri"/>
              <a:cs typeface="Calibri"/>
            </a:endParaRPr>
          </a:p>
        </p:txBody>
      </p:sp>
      <p:sp>
        <p:nvSpPr>
          <p:cNvPr id="4" name="CuadroTexto 3">
            <a:extLst>
              <a:ext uri="{FF2B5EF4-FFF2-40B4-BE49-F238E27FC236}">
                <a16:creationId xmlns:a16="http://schemas.microsoft.com/office/drawing/2014/main" id="{DF89C89D-0DAE-4528-8FC0-BBEF62932F5D}"/>
              </a:ext>
            </a:extLst>
          </p:cNvPr>
          <p:cNvSpPr txBox="1"/>
          <p:nvPr/>
        </p:nvSpPr>
        <p:spPr>
          <a:xfrm>
            <a:off x="457200" y="279400"/>
            <a:ext cx="5334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SITUACIONES RIESGOSAS · 23 DE 23</a:t>
            </a:r>
            <a:endParaRPr lang="es-CO" sz="1200" b="1">
              <a:solidFill>
                <a:srgbClr val="ED7D31"/>
              </a:solidFill>
              <a:latin typeface="Calibri"/>
              <a:ea typeface="Calibri"/>
              <a:cs typeface="Calibri"/>
            </a:endParaRPr>
          </a:p>
        </p:txBody>
      </p:sp>
      <p:sp>
        <p:nvSpPr>
          <p:cNvPr id="5" name="Rectángulo 4">
            <a:extLst>
              <a:ext uri="{FF2B5EF4-FFF2-40B4-BE49-F238E27FC236}">
                <a16:creationId xmlns:a16="http://schemas.microsoft.com/office/drawing/2014/main" id="{3C2B7BE5-F9AD-4E15-B087-E4C23938984B}"/>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52556869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533400"/>
            <a:ext cx="8229600" cy="508000"/>
          </a:xfrm>
          <a:noFill/>
          <a:ln>
            <a:noFill/>
          </a:ln>
        </p:spPr>
        <p:txBody>
          <a:bodyPr wrap="square" anchor="t" anchorCtr="0">
            <a:noAutofit/>
          </a:bodyPr>
          <a:lstStyle/>
          <a:p>
            <a:pPr>
              <a:lnSpc>
                <a:spcPct val="115000"/>
              </a:lnSpc>
            </a:pPr>
            <a:r>
              <a:rPr lang="es-CO" sz="3000" b="1">
                <a:solidFill>
                  <a:srgbClr val="1F3864"/>
                </a:solidFill>
                <a:latin typeface="Calibri"/>
                <a:ea typeface="Calibri"/>
                <a:cs typeface="Calibri"/>
              </a:rPr>
              <a:t>Identificación de riesgos</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346200"/>
            <a:ext cx="4064000" cy="1524000"/>
          </a:xfrm>
          <a:solidFill>
            <a:srgbClr val="1F3864"/>
          </a:solidFill>
          <a:ln>
            <a:noFill/>
          </a:ln>
        </p:spPr>
        <p:txBody>
          <a:bodyPr wrap="square" anchor="ctr" anchorCtr="0">
            <a:noAutofit/>
          </a:bodyPr>
          <a:lstStyle/>
          <a:p>
            <a:pPr marL="0" indent="0">
              <a:buNone/>
            </a:pPr>
            <a:r>
              <a:rPr lang="es-ES" sz="1700" b="1">
                <a:solidFill>
                  <a:srgbClr val="FFFFFF"/>
                </a:solidFill>
                <a:latin typeface="Calibri"/>
                <a:ea typeface="Calibri"/>
                <a:cs typeface="Calibri"/>
              </a:rPr>
              <a:t>Identifique los riesgos del caso y descríbalos con la estructura causa, riesgo y efecto.</a:t>
            </a:r>
            <a:endParaRPr lang="es-CO" sz="1700" b="1" dirty="0">
              <a:solidFill>
                <a:srgbClr val="FFFFFF"/>
              </a:solidFill>
              <a:latin typeface="Calibri"/>
              <a:ea typeface="Calibri"/>
              <a:cs typeface="Calibri"/>
            </a:endParaRPr>
          </a:p>
        </p:txBody>
      </p:sp>
      <p:pic>
        <p:nvPicPr>
          <p:cNvPr id="64514" name="Picture 2" descr="Imagen relacionad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0" y="1346200"/>
            <a:ext cx="3606800" cy="3873500"/>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CAD00B9E-8B2F-43DF-811C-DC3E2241B1D6}"/>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EJERCICIO</a:t>
            </a:r>
          </a:p>
        </p:txBody>
      </p:sp>
      <p:sp>
        <p:nvSpPr>
          <p:cNvPr id="5" name="Rectángulo 4">
            <a:extLst>
              <a:ext uri="{FF2B5EF4-FFF2-40B4-BE49-F238E27FC236}">
                <a16:creationId xmlns:a16="http://schemas.microsoft.com/office/drawing/2014/main" id="{959BA1DC-41AD-4FB1-B50A-4D0637C16EE9}"/>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9040661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1 Título"/>
          <p:cNvSpPr>
            <a:spLocks noGrp="1"/>
          </p:cNvSpPr>
          <p:nvPr>
            <p:ph type="title"/>
          </p:nvPr>
        </p:nvSpPr>
        <p:spPr>
          <a:xfrm>
            <a:off x="457200" y="304800"/>
            <a:ext cx="8229600" cy="533400"/>
          </a:xfrm>
          <a:noFill/>
          <a:ln>
            <a:noFill/>
          </a:ln>
        </p:spPr>
        <p:txBody>
          <a:bodyPr wrap="square" anchor="t" anchorCtr="0">
            <a:noAutofit/>
          </a:bodyPr>
          <a:lstStyle/>
          <a:p>
            <a:pPr eaLnBrk="1" hangingPunct="1"/>
            <a:r>
              <a:rPr lang="es-ES" sz="3000" b="1">
                <a:solidFill>
                  <a:srgbClr val="1F3864"/>
                </a:solidFill>
                <a:latin typeface="Calibri"/>
                <a:ea typeface="Calibri"/>
                <a:cs typeface="Calibri"/>
              </a:rPr>
              <a:t>Matriz de identificación de riesgos</a:t>
            </a:r>
            <a:endParaRPr lang="es-CO" sz="3000" b="1" dirty="0">
              <a:solidFill>
                <a:srgbClr val="1F3864"/>
              </a:solidFill>
              <a:latin typeface="Calibri"/>
              <a:ea typeface="Calibri"/>
              <a:cs typeface="Calibri"/>
            </a:endParaRPr>
          </a:p>
        </p:txBody>
      </p:sp>
      <p:graphicFrame>
        <p:nvGraphicFramePr>
          <p:cNvPr id="5" name="2 Tabla"/>
          <p:cNvGraphicFramePr>
            <a:graphicFrameLocks noGrp="1"/>
          </p:cNvGraphicFramePr>
          <p:nvPr>
            <p:extLst>
              <p:ext uri="{D42A27DB-BD31-4B8C-83A1-F6EECF244321}">
                <p14:modId xmlns:p14="http://schemas.microsoft.com/office/powerpoint/2010/main" val="3629843637"/>
              </p:ext>
            </p:extLst>
          </p:nvPr>
        </p:nvGraphicFramePr>
        <p:xfrm>
          <a:off x="762000" y="1270000"/>
          <a:ext cx="7418105" cy="3274430"/>
        </p:xfrm>
        <a:graphic>
          <a:graphicData uri="http://schemas.openxmlformats.org/drawingml/2006/table">
            <a:tbl>
              <a:tblPr/>
              <a:tblGrid>
                <a:gridCol w="635388">
                  <a:extLst>
                    <a:ext uri="{9D8B030D-6E8A-4147-A177-3AD203B41FA5}">
                      <a16:colId xmlns:a16="http://schemas.microsoft.com/office/drawing/2014/main" val="20000"/>
                    </a:ext>
                  </a:extLst>
                </a:gridCol>
                <a:gridCol w="1130637">
                  <a:extLst>
                    <a:ext uri="{9D8B030D-6E8A-4147-A177-3AD203B41FA5}">
                      <a16:colId xmlns:a16="http://schemas.microsoft.com/office/drawing/2014/main" val="20001"/>
                    </a:ext>
                  </a:extLst>
                </a:gridCol>
                <a:gridCol w="843238">
                  <a:extLst>
                    <a:ext uri="{9D8B030D-6E8A-4147-A177-3AD203B41FA5}">
                      <a16:colId xmlns:a16="http://schemas.microsoft.com/office/drawing/2014/main" val="20002"/>
                    </a:ext>
                  </a:extLst>
                </a:gridCol>
                <a:gridCol w="1177350">
                  <a:extLst>
                    <a:ext uri="{9D8B030D-6E8A-4147-A177-3AD203B41FA5}">
                      <a16:colId xmlns:a16="http://schemas.microsoft.com/office/drawing/2014/main" val="20003"/>
                    </a:ext>
                  </a:extLst>
                </a:gridCol>
                <a:gridCol w="1113711">
                  <a:extLst>
                    <a:ext uri="{9D8B030D-6E8A-4147-A177-3AD203B41FA5}">
                      <a16:colId xmlns:a16="http://schemas.microsoft.com/office/drawing/2014/main" val="20004"/>
                    </a:ext>
                  </a:extLst>
                </a:gridCol>
                <a:gridCol w="1336453">
                  <a:extLst>
                    <a:ext uri="{9D8B030D-6E8A-4147-A177-3AD203B41FA5}">
                      <a16:colId xmlns:a16="http://schemas.microsoft.com/office/drawing/2014/main" val="20005"/>
                    </a:ext>
                  </a:extLst>
                </a:gridCol>
                <a:gridCol w="1181328">
                  <a:extLst>
                    <a:ext uri="{9D8B030D-6E8A-4147-A177-3AD203B41FA5}">
                      <a16:colId xmlns:a16="http://schemas.microsoft.com/office/drawing/2014/main" val="20006"/>
                    </a:ext>
                  </a:extLst>
                </a:gridCol>
              </a:tblGrid>
              <a:tr h="931280">
                <a:tc>
                  <a:txBody>
                    <a:bodyPr/>
                    <a:lstStyle/>
                    <a:p>
                      <a:pPr algn="ctr" rtl="0" fontAlgn="ctr"/>
                      <a:r>
                        <a:rPr lang="es-CO" sz="1200" b="1" i="0" u="none" strike="noStrike" dirty="0">
                          <a:solidFill>
                            <a:schemeClr val="tx1"/>
                          </a:solidFill>
                          <a:effectLst/>
                          <a:latin typeface="Arial"/>
                        </a:rPr>
                        <a:t>RIESGO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2400" b="1" i="0" u="none" strike="noStrike" dirty="0">
                          <a:solidFill>
                            <a:schemeClr val="tx1"/>
                          </a:solidFill>
                          <a:effectLst/>
                          <a:latin typeface="Arial"/>
                        </a:rPr>
                        <a:t>P</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2400" b="1" i="0" u="none" strike="noStrike" dirty="0">
                          <a:solidFill>
                            <a:schemeClr val="tx1"/>
                          </a:solidFill>
                          <a:effectLst/>
                          <a:latin typeface="Arial"/>
                        </a:rPr>
                        <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2400" b="1" i="0" u="none" strike="noStrike" dirty="0">
                          <a:solidFill>
                            <a:schemeClr val="tx1"/>
                          </a:solidFill>
                          <a:effectLst/>
                          <a:latin typeface="Arial"/>
                        </a:rPr>
                        <a:t>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2400" b="1" i="0" u="none" strike="noStrike" dirty="0">
                          <a:solidFill>
                            <a:schemeClr val="tx1"/>
                          </a:solidFill>
                          <a:effectLst/>
                          <a:latin typeface="Arial"/>
                        </a:rPr>
                        <a:t>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2400" b="1" i="0" u="none" strike="noStrike" dirty="0">
                          <a:solidFill>
                            <a:schemeClr val="tx1"/>
                          </a:solidFill>
                          <a:effectLst/>
                          <a:latin typeface="Arial"/>
                        </a:rPr>
                        <a: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2400" b="1" i="0" u="none" strike="noStrike" dirty="0">
                          <a:solidFill>
                            <a:schemeClr val="tx1"/>
                          </a:solidFill>
                          <a:effectLst/>
                          <a:latin typeface="Arial"/>
                        </a:rPr>
                        <a:t>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0"/>
                  </a:ext>
                </a:extLst>
              </a:tr>
              <a:tr h="310427">
                <a:tc>
                  <a:txBody>
                    <a:bodyPr/>
                    <a:lstStyle/>
                    <a:p>
                      <a:pPr algn="ctr" rtl="0" fontAlgn="ctr"/>
                      <a:r>
                        <a:rPr lang="es-CO" sz="1200" b="0" i="0" u="none" strike="noStrike" dirty="0">
                          <a:solidFill>
                            <a:srgbClr val="000000"/>
                          </a:solidFill>
                          <a:effectLst/>
                          <a:latin typeface="Arial"/>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0427">
                <a:tc>
                  <a:txBody>
                    <a:bodyPr/>
                    <a:lstStyle/>
                    <a:p>
                      <a:pPr algn="ctr" rtl="0" fontAlgn="ctr"/>
                      <a:r>
                        <a:rPr lang="es-CO" sz="1200" b="0" i="0" u="none" strike="noStrike" dirty="0">
                          <a:solidFill>
                            <a:srgbClr val="000000"/>
                          </a:solidFill>
                          <a:effectLst/>
                          <a:latin typeface="Arial"/>
                        </a:rPr>
                        <a:t> 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0427">
                <a:tc>
                  <a:txBody>
                    <a:bodyPr/>
                    <a:lstStyle/>
                    <a:p>
                      <a:pPr algn="ctr" rtl="0" fontAlgn="ctr"/>
                      <a:r>
                        <a:rPr lang="es-CO" sz="1200" b="0" i="0" u="none" strike="noStrike" dirty="0">
                          <a:solidFill>
                            <a:srgbClr val="000000"/>
                          </a:solidFill>
                          <a:effectLst/>
                          <a:latin typeface="Arial"/>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0427">
                <a:tc>
                  <a:txBody>
                    <a:bodyPr/>
                    <a:lstStyle/>
                    <a:p>
                      <a:pPr algn="ctr" rtl="0" fontAlgn="ctr"/>
                      <a:r>
                        <a:rPr lang="es-CO" sz="1200" b="0" i="0" u="none" strike="noStrike" dirty="0">
                          <a:solidFill>
                            <a:srgbClr val="000000"/>
                          </a:solidFill>
                          <a:effectLst/>
                          <a:latin typeface="Arial"/>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0427">
                <a:tc>
                  <a:txBody>
                    <a:bodyPr/>
                    <a:lstStyle/>
                    <a:p>
                      <a:pPr algn="ctr" rtl="0" fontAlgn="ctr"/>
                      <a:r>
                        <a:rPr lang="es-CO" sz="1200" b="0" i="0" u="none" strike="noStrike" dirty="0">
                          <a:solidFill>
                            <a:srgbClr val="000000"/>
                          </a:solidFill>
                          <a:effectLst/>
                          <a:latin typeface="Arial"/>
                        </a:rPr>
                        <a:t> 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0427">
                <a:tc>
                  <a:txBody>
                    <a:bodyPr/>
                    <a:lstStyle/>
                    <a:p>
                      <a:pPr algn="ctr" rtl="0" fontAlgn="ctr"/>
                      <a:r>
                        <a:rPr lang="es-CO" sz="1200" b="0" i="0" u="none" strike="noStrike" dirty="0">
                          <a:solidFill>
                            <a:srgbClr val="000000"/>
                          </a:solidFill>
                          <a:effectLst/>
                          <a:latin typeface="Arial"/>
                        </a:rPr>
                        <a:t> 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a:ln>
                            <a:noFill/>
                          </a:ln>
                          <a:solidFill>
                            <a:prstClr val="black"/>
                          </a:solidFill>
                          <a:effectLst/>
                          <a:uLnTx/>
                          <a:uFillTx/>
                          <a:latin typeface="Calibri" panose="020F0502020204030204"/>
                          <a:ea typeface="+mn-ea"/>
                          <a:cs typeface="+mn-cs"/>
                        </a:rPr>
                        <a:t>.</a:t>
                      </a:r>
                      <a:endPar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Debido a la </a:t>
                      </a:r>
                      <a:r>
                        <a:rPr kumimoji="0" lang="es-CO" sz="500" b="1" i="0" u="none" strike="noStrike" kern="1200" cap="none" spc="0" normalizeH="0" baseline="0" noProof="0" dirty="0">
                          <a:ln>
                            <a:noFill/>
                          </a:ln>
                          <a:solidFill>
                            <a:srgbClr val="C00000"/>
                          </a:solidFill>
                          <a:effectLst/>
                          <a:uLnTx/>
                          <a:uFillTx/>
                          <a:latin typeface="Calibri" panose="020F0502020204030204"/>
                          <a:ea typeface="+mn-ea"/>
                          <a:cs typeface="+mn-cs"/>
                        </a:rPr>
                        <a:t>(CAUSA) </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puede ocurrir el </a:t>
                      </a:r>
                      <a:r>
                        <a:rPr kumimoji="0" lang="es-CO" sz="500" b="1" i="0" u="none" strike="noStrike" kern="1200" cap="none" spc="0" normalizeH="0" baseline="0" noProof="0" dirty="0">
                          <a:ln>
                            <a:noFill/>
                          </a:ln>
                          <a:solidFill>
                            <a:srgbClr val="00B050"/>
                          </a:solidFill>
                          <a:effectLst/>
                          <a:uLnTx/>
                          <a:uFillTx/>
                          <a:latin typeface="Calibri" panose="020F0502020204030204"/>
                          <a:ea typeface="+mn-ea"/>
                          <a:cs typeface="+mn-cs"/>
                        </a:rPr>
                        <a:t>(RIESGO o EVENTO INCIERTO)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 lo que provocaría el </a:t>
                      </a:r>
                      <a:r>
                        <a:rPr kumimoji="0" lang="es-CO" sz="500" b="1" i="0" u="none" strike="noStrike" kern="1200" cap="none" spc="0" normalizeH="0" baseline="0" noProof="0" dirty="0">
                          <a:ln>
                            <a:noFill/>
                          </a:ln>
                          <a:solidFill>
                            <a:srgbClr val="7030A0"/>
                          </a:solidFill>
                          <a:effectLst/>
                          <a:uLnTx/>
                          <a:uFillTx/>
                          <a:latin typeface="Calibri" panose="020F0502020204030204"/>
                          <a:ea typeface="+mn-ea"/>
                          <a:cs typeface="+mn-cs"/>
                        </a:rPr>
                        <a:t>(EFECTO DIRECTO EN EL PROYECTO)</a:t>
                      </a:r>
                      <a:r>
                        <a:rPr kumimoji="0" lang="es-CO" sz="500" b="1" i="0" u="none" strike="noStrike" kern="1200" cap="none" spc="0" normalizeH="0" baseline="0" noProof="0" dirty="0">
                          <a:ln>
                            <a:noFill/>
                          </a:ln>
                          <a:solidFill>
                            <a:prstClr val="black"/>
                          </a:solidFill>
                          <a:effectLst/>
                          <a:uLnTx/>
                          <a:uFillTx/>
                          <a:latin typeface="Calibri" panose="020F0502020204030204"/>
                          <a:ea typeface="+mn-ea"/>
                          <a:cs typeface="+mn-cs"/>
                        </a:rPr>
                        <a:t>.</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Rectángulo 2">
            <a:extLst>
              <a:ext uri="{FF2B5EF4-FFF2-40B4-BE49-F238E27FC236}">
                <a16:creationId xmlns:a16="http://schemas.microsoft.com/office/drawing/2014/main" id="{57C8B89F-C9D5-46E0-8528-FD94455F0A1D}"/>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4" name="CuadroTexto 3">
            <a:extLst>
              <a:ext uri="{FF2B5EF4-FFF2-40B4-BE49-F238E27FC236}">
                <a16:creationId xmlns:a16="http://schemas.microsoft.com/office/drawing/2014/main" id="{AF3BF426-3505-4959-808A-8ED87C1652AF}"/>
              </a:ext>
            </a:extLst>
          </p:cNvPr>
          <p:cNvSpPr txBox="1"/>
          <p:nvPr/>
        </p:nvSpPr>
        <p:spPr>
          <a:xfrm>
            <a:off x="457200" y="50800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Formato para registrar cada riesgo con su causa, su efecto y su valoración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98476037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1 Título"/>
          <p:cNvSpPr>
            <a:spLocks noGrp="1"/>
          </p:cNvSpPr>
          <p:nvPr>
            <p:ph type="title"/>
          </p:nvPr>
        </p:nvSpPr>
        <p:spPr>
          <a:xfrm>
            <a:off x="457200" y="304800"/>
            <a:ext cx="8229600" cy="533400"/>
          </a:xfrm>
          <a:noFill/>
          <a:ln>
            <a:noFill/>
          </a:ln>
        </p:spPr>
        <p:txBody>
          <a:bodyPr wrap="square" anchor="t" anchorCtr="0">
            <a:noAutofit/>
          </a:bodyPr>
          <a:lstStyle/>
          <a:p>
            <a:pPr eaLnBrk="1" hangingPunct="1"/>
            <a:r>
              <a:rPr lang="es-CO" sz="3000" b="1">
                <a:solidFill>
                  <a:srgbClr val="1F3864"/>
                </a:solidFill>
                <a:latin typeface="Calibri"/>
                <a:ea typeface="Calibri"/>
                <a:cs typeface="Calibri"/>
              </a:rPr>
              <a:t>Matriz de impacto</a:t>
            </a:r>
            <a:endParaRPr lang="es-CO" sz="3000" b="1" dirty="0">
              <a:solidFill>
                <a:srgbClr val="1F3864"/>
              </a:solidFill>
              <a:latin typeface="Calibri"/>
              <a:ea typeface="Calibri"/>
              <a:cs typeface="Calibri"/>
            </a:endParaRPr>
          </a:p>
        </p:txBody>
      </p:sp>
      <p:sp>
        <p:nvSpPr>
          <p:cNvPr id="73780" name="5 CuadroTexto"/>
          <p:cNvSpPr txBox="1">
            <a:spLocks noChangeArrowheads="1"/>
          </p:cNvSpPr>
          <p:nvPr/>
        </p:nvSpPr>
        <p:spPr bwMode="auto">
          <a:xfrm>
            <a:off x="4826000" y="4470400"/>
            <a:ext cx="3860800" cy="1117600"/>
          </a:xfrm>
          <a:prstGeom prst="rect">
            <a:avLst/>
          </a:prstGeom>
          <a:solidFill>
            <a:srgbClr val="F2F5F9"/>
          </a:solidFill>
          <a:ln w="9525">
            <a:noFill/>
            <a:miter lim="800000"/>
            <a:headEnd/>
            <a:tailEnd/>
          </a:ln>
        </p:spPr>
        <p:txBody>
          <a:bodyPr wrap="square" anchor="ctr" anchorCtr="0">
            <a:noAutofit/>
          </a:bodyPr>
          <a:lstStyle/>
          <a:p>
            <a:r>
              <a:rPr lang="en-US" sz="1200" u="sng" dirty="0">
                <a:solidFill>
                  <a:srgbClr val="404040"/>
                </a:solidFill>
                <a:latin typeface="Calibri"/>
                <a:ea typeface="Calibri"/>
                <a:cs typeface="Calibri"/>
              </a:rPr>
              <a:t>Priority Score</a:t>
            </a:r>
            <a:r>
              <a:rPr lang="en-US" sz="1200" dirty="0">
                <a:solidFill>
                  <a:srgbClr val="404040"/>
                </a:solidFill>
                <a:latin typeface="Calibri"/>
                <a:ea typeface="Calibri"/>
                <a:cs typeface="Calibri"/>
              </a:rPr>
              <a:t>	                            </a:t>
            </a:r>
            <a:r>
              <a:rPr lang="en-US" sz="1200" u="sng" dirty="0">
                <a:solidFill>
                  <a:srgbClr val="404040"/>
                </a:solidFill>
                <a:latin typeface="Calibri"/>
                <a:ea typeface="Calibri"/>
                <a:cs typeface="Calibri"/>
              </a:rPr>
              <a:t>Priority Rating</a:t>
            </a:r>
            <a:endParaRPr lang="es-CO" sz="1200" dirty="0">
              <a:solidFill>
                <a:srgbClr val="404040"/>
              </a:solidFill>
              <a:latin typeface="Calibri"/>
              <a:ea typeface="Calibri"/>
              <a:cs typeface="Calibri"/>
            </a:endParaRPr>
          </a:p>
          <a:p>
            <a:r>
              <a:rPr lang="en-US" sz="1200" dirty="0">
                <a:solidFill>
                  <a:srgbClr val="404040"/>
                </a:solidFill>
                <a:latin typeface="Calibri"/>
                <a:ea typeface="Calibri"/>
                <a:cs typeface="Calibri"/>
              </a:rPr>
              <a:t>0 – 20	                            Very low</a:t>
            </a:r>
            <a:endParaRPr lang="es-CO" sz="1200" dirty="0">
              <a:solidFill>
                <a:srgbClr val="404040"/>
              </a:solidFill>
              <a:latin typeface="Calibri"/>
              <a:ea typeface="Calibri"/>
              <a:cs typeface="Calibri"/>
            </a:endParaRPr>
          </a:p>
          <a:p>
            <a:r>
              <a:rPr lang="en-US" sz="1200" dirty="0">
                <a:solidFill>
                  <a:srgbClr val="404040"/>
                </a:solidFill>
                <a:latin typeface="Calibri"/>
                <a:ea typeface="Calibri"/>
                <a:cs typeface="Calibri"/>
              </a:rPr>
              <a:t>21 – 40	                            Low</a:t>
            </a:r>
            <a:endParaRPr lang="es-CO" sz="1200" dirty="0">
              <a:solidFill>
                <a:srgbClr val="404040"/>
              </a:solidFill>
              <a:latin typeface="Calibri"/>
              <a:ea typeface="Calibri"/>
              <a:cs typeface="Calibri"/>
            </a:endParaRPr>
          </a:p>
          <a:p>
            <a:r>
              <a:rPr lang="en-US" sz="1200" dirty="0">
                <a:solidFill>
                  <a:srgbClr val="404040"/>
                </a:solidFill>
                <a:latin typeface="Calibri"/>
                <a:ea typeface="Calibri"/>
                <a:cs typeface="Calibri"/>
              </a:rPr>
              <a:t>41 – 60	                            Medium</a:t>
            </a:r>
            <a:endParaRPr lang="es-CO" sz="1200" dirty="0">
              <a:solidFill>
                <a:srgbClr val="404040"/>
              </a:solidFill>
              <a:latin typeface="Calibri"/>
              <a:ea typeface="Calibri"/>
              <a:cs typeface="Calibri"/>
            </a:endParaRPr>
          </a:p>
          <a:p>
            <a:r>
              <a:rPr lang="en-US" sz="1200" dirty="0">
                <a:solidFill>
                  <a:srgbClr val="404040"/>
                </a:solidFill>
                <a:latin typeface="Calibri"/>
                <a:ea typeface="Calibri"/>
                <a:cs typeface="Calibri"/>
              </a:rPr>
              <a:t>61 – 80	                            High</a:t>
            </a:r>
            <a:endParaRPr lang="es-CO" sz="1200" dirty="0">
              <a:solidFill>
                <a:srgbClr val="404040"/>
              </a:solidFill>
              <a:latin typeface="Calibri"/>
              <a:ea typeface="Calibri"/>
              <a:cs typeface="Calibri"/>
            </a:endParaRPr>
          </a:p>
          <a:p>
            <a:r>
              <a:rPr lang="en-US" sz="1200" dirty="0">
                <a:solidFill>
                  <a:srgbClr val="404040"/>
                </a:solidFill>
                <a:latin typeface="Calibri"/>
                <a:ea typeface="Calibri"/>
                <a:cs typeface="Calibri"/>
              </a:rPr>
              <a:t>81 – 100	                            Very High </a:t>
            </a:r>
            <a:endParaRPr lang="es-CO" sz="1200" dirty="0">
              <a:solidFill>
                <a:srgbClr val="404040"/>
              </a:solidFill>
              <a:latin typeface="Calibri"/>
              <a:ea typeface="Calibri"/>
              <a:cs typeface="Calibri"/>
            </a:endParaRPr>
          </a:p>
        </p:txBody>
      </p:sp>
      <p:graphicFrame>
        <p:nvGraphicFramePr>
          <p:cNvPr id="5" name="2 Tabla"/>
          <p:cNvGraphicFramePr>
            <a:graphicFrameLocks noGrp="1"/>
          </p:cNvGraphicFramePr>
          <p:nvPr>
            <p:extLst>
              <p:ext uri="{D42A27DB-BD31-4B8C-83A1-F6EECF244321}">
                <p14:modId xmlns:p14="http://schemas.microsoft.com/office/powerpoint/2010/main" val="2846144733"/>
              </p:ext>
            </p:extLst>
          </p:nvPr>
        </p:nvGraphicFramePr>
        <p:xfrm>
          <a:off x="457200" y="1219200"/>
          <a:ext cx="7418105" cy="3534886"/>
        </p:xfrm>
        <a:graphic>
          <a:graphicData uri="http://schemas.openxmlformats.org/drawingml/2006/table">
            <a:tbl>
              <a:tblPr/>
              <a:tblGrid>
                <a:gridCol w="493214">
                  <a:extLst>
                    <a:ext uri="{9D8B030D-6E8A-4147-A177-3AD203B41FA5}">
                      <a16:colId xmlns:a16="http://schemas.microsoft.com/office/drawing/2014/main" val="20000"/>
                    </a:ext>
                  </a:extLst>
                </a:gridCol>
                <a:gridCol w="1272811">
                  <a:extLst>
                    <a:ext uri="{9D8B030D-6E8A-4147-A177-3AD203B41FA5}">
                      <a16:colId xmlns:a16="http://schemas.microsoft.com/office/drawing/2014/main" val="20001"/>
                    </a:ext>
                  </a:extLst>
                </a:gridCol>
                <a:gridCol w="843238">
                  <a:extLst>
                    <a:ext uri="{9D8B030D-6E8A-4147-A177-3AD203B41FA5}">
                      <a16:colId xmlns:a16="http://schemas.microsoft.com/office/drawing/2014/main" val="20002"/>
                    </a:ext>
                  </a:extLst>
                </a:gridCol>
                <a:gridCol w="1177350">
                  <a:extLst>
                    <a:ext uri="{9D8B030D-6E8A-4147-A177-3AD203B41FA5}">
                      <a16:colId xmlns:a16="http://schemas.microsoft.com/office/drawing/2014/main" val="20003"/>
                    </a:ext>
                  </a:extLst>
                </a:gridCol>
                <a:gridCol w="1113711">
                  <a:extLst>
                    <a:ext uri="{9D8B030D-6E8A-4147-A177-3AD203B41FA5}">
                      <a16:colId xmlns:a16="http://schemas.microsoft.com/office/drawing/2014/main" val="20004"/>
                    </a:ext>
                  </a:extLst>
                </a:gridCol>
                <a:gridCol w="1336453">
                  <a:extLst>
                    <a:ext uri="{9D8B030D-6E8A-4147-A177-3AD203B41FA5}">
                      <a16:colId xmlns:a16="http://schemas.microsoft.com/office/drawing/2014/main" val="20005"/>
                    </a:ext>
                  </a:extLst>
                </a:gridCol>
                <a:gridCol w="1181328">
                  <a:extLst>
                    <a:ext uri="{9D8B030D-6E8A-4147-A177-3AD203B41FA5}">
                      <a16:colId xmlns:a16="http://schemas.microsoft.com/office/drawing/2014/main" val="20006"/>
                    </a:ext>
                  </a:extLst>
                </a:gridCol>
              </a:tblGrid>
              <a:tr h="931279">
                <a:tc>
                  <a:txBody>
                    <a:bodyPr/>
                    <a:lstStyle/>
                    <a:p>
                      <a:pPr algn="ctr" rtl="0" fontAlgn="ctr"/>
                      <a:r>
                        <a:rPr lang="es-CO" sz="1200" b="1" i="0" u="none" strike="noStrike" dirty="0">
                          <a:solidFill>
                            <a:schemeClr val="tx1"/>
                          </a:solidFill>
                          <a:effectLst/>
                          <a:latin typeface="Arial"/>
                        </a:rPr>
                        <a:t>ID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1200" b="1" i="0" u="none" strike="noStrike" dirty="0">
                          <a:solidFill>
                            <a:schemeClr val="tx1"/>
                          </a:solidFill>
                          <a:effectLst/>
                          <a:latin typeface="Arial"/>
                        </a:rPr>
                        <a:t>Probabilidad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1200" b="1" i="0" u="none" strike="noStrike">
                          <a:solidFill>
                            <a:schemeClr val="tx1"/>
                          </a:solidFill>
                          <a:effectLst/>
                          <a:latin typeface="Arial"/>
                        </a:rPr>
                        <a:t>Impacto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1200" b="1" i="0" u="none" strike="noStrike" dirty="0">
                          <a:solidFill>
                            <a:schemeClr val="tx1"/>
                          </a:solidFill>
                          <a:effectLst/>
                          <a:latin typeface="Arial"/>
                        </a:rPr>
                        <a:t>Calificación</a:t>
                      </a:r>
                    </a:p>
                    <a:p>
                      <a:pPr algn="ctr" rtl="0" fontAlgn="ctr"/>
                      <a:r>
                        <a:rPr lang="es-CO" sz="1200" b="1" i="0" u="none" strike="noStrike" dirty="0">
                          <a:solidFill>
                            <a:schemeClr val="tx1"/>
                          </a:solidFill>
                          <a:effectLst/>
                          <a:latin typeface="Arial"/>
                        </a:rPr>
                        <a:t>(P+I)/2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1200" b="1" i="0" u="none" strike="noStrike" dirty="0">
                          <a:solidFill>
                            <a:schemeClr val="tx1"/>
                          </a:solidFill>
                          <a:effectLst/>
                          <a:latin typeface="Arial"/>
                        </a:rPr>
                        <a:t>Fecha del Riesgo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1200" b="1" i="0" u="none" strike="noStrike" dirty="0">
                          <a:solidFill>
                            <a:schemeClr val="tx1"/>
                          </a:solidFill>
                          <a:effectLst/>
                          <a:latin typeface="Arial"/>
                        </a:rPr>
                        <a:t>Estrategia de Respuesta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tc>
                  <a:txBody>
                    <a:bodyPr/>
                    <a:lstStyle/>
                    <a:p>
                      <a:pPr algn="ctr" rtl="0" fontAlgn="ctr"/>
                      <a:r>
                        <a:rPr lang="es-CO" sz="1200" b="1" i="0" u="none" strike="noStrike" dirty="0">
                          <a:solidFill>
                            <a:schemeClr val="tx1"/>
                          </a:solidFill>
                          <a:effectLst/>
                          <a:latin typeface="Arial"/>
                        </a:rPr>
                        <a:t>Dueño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75000"/>
                      </a:schemeClr>
                    </a:solidFill>
                  </a:tcPr>
                </a:tc>
                <a:extLst>
                  <a:ext uri="{0D108BD9-81ED-4DB2-BD59-A6C34878D82A}">
                    <a16:rowId xmlns:a16="http://schemas.microsoft.com/office/drawing/2014/main" val="10000"/>
                  </a:ext>
                </a:extLst>
              </a:tr>
              <a:tr h="310426">
                <a:tc>
                  <a:txBody>
                    <a:bodyPr/>
                    <a:lstStyle/>
                    <a:p>
                      <a:pPr algn="ctr" rtl="0" fontAlgn="ctr"/>
                      <a:r>
                        <a:rPr lang="es-CO" sz="1200" b="0" i="0" u="none" strike="noStrike" dirty="0">
                          <a:solidFill>
                            <a:srgbClr val="000000"/>
                          </a:solidFill>
                          <a:effectLst/>
                          <a:latin typeface="Arial"/>
                        </a:rPr>
                        <a:t>  E11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dirty="0">
                          <a:solidFill>
                            <a:srgbClr val="000000"/>
                          </a:solidFill>
                          <a:effectLst/>
                          <a:latin typeface="Arial"/>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dirty="0">
                          <a:solidFill>
                            <a:srgbClr val="000000"/>
                          </a:solidFill>
                          <a:effectLst/>
                          <a:latin typeface="Calibri"/>
                        </a:rPr>
                        <a:t>Indeterminada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dirty="0">
                          <a:latin typeface="Arial Black" panose="020B0A04020102020204" pitchFamily="34" charset="0"/>
                        </a:rPr>
                        <a:t>ELUDIR</a:t>
                      </a:r>
                      <a:r>
                        <a:rPr lang="es-CO" sz="1200" dirty="0">
                          <a:latin typeface="Helvetica-Bold"/>
                        </a:rPr>
                        <a:t> </a:t>
                      </a:r>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a:solidFill>
                            <a:srgbClr val="000000"/>
                          </a:solidFill>
                          <a:effectLst/>
                          <a:latin typeface="Calibri"/>
                        </a:rPr>
                        <a:t>Juan Alberto</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10426">
                <a:tc>
                  <a:txBody>
                    <a:bodyPr/>
                    <a:lstStyle/>
                    <a:p>
                      <a:pPr algn="ctr" rtl="0" fontAlgn="ctr"/>
                      <a:r>
                        <a:rPr lang="es-CO" sz="1200" b="0" i="0" u="none" strike="noStrike" dirty="0">
                          <a:solidFill>
                            <a:srgbClr val="000000"/>
                          </a:solidFill>
                          <a:effectLst/>
                          <a:latin typeface="Arial"/>
                        </a:rPr>
                        <a:t>  E12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dirty="0">
                          <a:solidFill>
                            <a:srgbClr val="000000"/>
                          </a:solidFill>
                          <a:effectLst/>
                          <a:latin typeface="Calibri"/>
                        </a:rPr>
                        <a:t>Determinada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dirty="0">
                          <a:latin typeface="Arial Black" panose="020B0A04020102020204" pitchFamily="34" charset="0"/>
                        </a:rPr>
                        <a:t>ELUDIR</a:t>
                      </a:r>
                      <a:r>
                        <a:rPr lang="es-CO" sz="1200" dirty="0">
                          <a:latin typeface="Helvetica-Bold"/>
                        </a:rPr>
                        <a:t> </a:t>
                      </a:r>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a:solidFill>
                            <a:srgbClr val="000000"/>
                          </a:solidFill>
                          <a:effectLst/>
                          <a:latin typeface="Calibri"/>
                        </a:rPr>
                        <a:t>Pedro Perez</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10426">
                <a:tc>
                  <a:txBody>
                    <a:bodyPr/>
                    <a:lstStyle/>
                    <a:p>
                      <a:pPr algn="ctr" rtl="0" fontAlgn="ctr"/>
                      <a:r>
                        <a:rPr lang="es-CO" sz="1200" b="0" i="0" u="none" strike="noStrike" dirty="0">
                          <a:solidFill>
                            <a:srgbClr val="000000"/>
                          </a:solidFill>
                          <a:effectLst/>
                          <a:latin typeface="Arial"/>
                        </a:rPr>
                        <a:t>  E13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dirty="0">
                          <a:solidFill>
                            <a:srgbClr val="000000"/>
                          </a:solidFill>
                          <a:effectLst/>
                          <a:latin typeface="Arial"/>
                        </a:rPr>
                        <a:t>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dirty="0">
                          <a:solidFill>
                            <a:srgbClr val="000000"/>
                          </a:solidFill>
                          <a:effectLst/>
                          <a:latin typeface="Arial"/>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dirty="0">
                          <a:solidFill>
                            <a:srgbClr val="000000"/>
                          </a:solidFill>
                          <a:effectLst/>
                          <a:latin typeface="Arial"/>
                        </a:rPr>
                        <a:t>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dirty="0">
                          <a:solidFill>
                            <a:srgbClr val="000000"/>
                          </a:solidFill>
                          <a:effectLst/>
                          <a:latin typeface="+mn-lt"/>
                        </a:rPr>
                        <a:t>Indeterminada</a:t>
                      </a:r>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dirty="0">
                          <a:latin typeface="Arial Black" panose="020B0A04020102020204" pitchFamily="34" charset="0"/>
                        </a:rPr>
                        <a:t>ASUMIR </a:t>
                      </a:r>
                      <a:r>
                        <a:rPr lang="es-CO" sz="1200" b="0" i="0" u="none" strike="noStrike" dirty="0">
                          <a:solidFill>
                            <a:srgbClr val="000000"/>
                          </a:solidFill>
                          <a:effectLst/>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dirty="0">
                          <a:solidFill>
                            <a:srgbClr val="000000"/>
                          </a:solidFill>
                          <a:effectLst/>
                          <a:latin typeface="Calibri"/>
                        </a:rPr>
                        <a:t>Eliza Marín</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10426">
                <a:tc>
                  <a:txBody>
                    <a:bodyPr/>
                    <a:lstStyle/>
                    <a:p>
                      <a:pPr algn="ctr" rtl="0" fontAlgn="ctr"/>
                      <a:r>
                        <a:rPr lang="es-CO" sz="1200" b="0" i="0" u="none" strike="noStrike" dirty="0">
                          <a:solidFill>
                            <a:srgbClr val="000000"/>
                          </a:solidFill>
                          <a:effectLst/>
                          <a:latin typeface="Arial"/>
                        </a:rPr>
                        <a:t>  E14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dirty="0">
                          <a:solidFill>
                            <a:srgbClr val="000000"/>
                          </a:solidFill>
                          <a:effectLst/>
                          <a:latin typeface="+mn-lt"/>
                        </a:rPr>
                        <a:t>Indeterminada</a:t>
                      </a:r>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dirty="0">
                          <a:latin typeface="Arial Black" panose="020B0A04020102020204" pitchFamily="34" charset="0"/>
                        </a:rPr>
                        <a:t>TRANSFERIR</a:t>
                      </a:r>
                      <a:r>
                        <a:rPr lang="es-CO" sz="1200" dirty="0">
                          <a:solidFill>
                            <a:srgbClr val="000000"/>
                          </a:solidFill>
                          <a:latin typeface="Helvetica-Bold"/>
                        </a:rPr>
                        <a:t> </a:t>
                      </a:r>
                      <a:r>
                        <a:rPr lang="es-CO" sz="1200" b="0" i="0" u="none" strike="noStrike" dirty="0">
                          <a:solidFill>
                            <a:srgbClr val="000000"/>
                          </a:solidFill>
                          <a:effectLst/>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a:solidFill>
                            <a:srgbClr val="000000"/>
                          </a:solidFill>
                          <a:effectLst/>
                          <a:latin typeface="Calibri"/>
                        </a:rPr>
                        <a:t>Julio Gómez</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10426">
                <a:tc>
                  <a:txBody>
                    <a:bodyPr/>
                    <a:lstStyle/>
                    <a:p>
                      <a:pPr algn="ctr" rtl="0" fontAlgn="ctr"/>
                      <a:r>
                        <a:rPr lang="es-CO" sz="1200" b="0" i="0" u="none" strike="noStrike" dirty="0">
                          <a:solidFill>
                            <a:srgbClr val="000000"/>
                          </a:solidFill>
                          <a:effectLst/>
                          <a:latin typeface="Arial"/>
                        </a:rPr>
                        <a:t>  E15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dirty="0">
                          <a:solidFill>
                            <a:srgbClr val="000000"/>
                          </a:solidFill>
                          <a:effectLst/>
                          <a:latin typeface="Arial"/>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dirty="0">
                          <a:solidFill>
                            <a:srgbClr val="000000"/>
                          </a:solidFill>
                          <a:effectLst/>
                          <a:latin typeface="Arial"/>
                        </a:rPr>
                        <a:t>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dirty="0">
                          <a:solidFill>
                            <a:srgbClr val="000000"/>
                          </a:solidFill>
                          <a:effectLst/>
                          <a:latin typeface="+mn-lt"/>
                        </a:rPr>
                        <a:t>Indeterminada</a:t>
                      </a:r>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dirty="0">
                          <a:latin typeface="Arial Black" panose="020B0A04020102020204" pitchFamily="34" charset="0"/>
                        </a:rPr>
                        <a:t>REDUCIR </a:t>
                      </a:r>
                      <a:r>
                        <a:rPr lang="es-CO" sz="1200" b="0" i="0" u="none" strike="noStrike" dirty="0">
                          <a:solidFill>
                            <a:srgbClr val="000000"/>
                          </a:solidFill>
                          <a:effectLst/>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a:solidFill>
                            <a:srgbClr val="000000"/>
                          </a:solidFill>
                          <a:effectLst/>
                          <a:latin typeface="Calibri"/>
                        </a:rPr>
                        <a:t>Sandra Arrieta</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10426">
                <a:tc>
                  <a:txBody>
                    <a:bodyPr/>
                    <a:lstStyle/>
                    <a:p>
                      <a:pPr algn="ctr" rtl="0" fontAlgn="ctr"/>
                      <a:r>
                        <a:rPr lang="es-CO" sz="1200" b="0" i="0" u="none" strike="noStrike" dirty="0">
                          <a:solidFill>
                            <a:srgbClr val="000000"/>
                          </a:solidFill>
                          <a:effectLst/>
                          <a:latin typeface="Arial"/>
                        </a:rPr>
                        <a:t>  E21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r>
                        <a:rPr lang="es-CO" sz="1200" b="0" i="0" u="none" strike="noStrike">
                          <a:solidFill>
                            <a:srgbClr val="000000"/>
                          </a:solidFill>
                          <a:effectLst/>
                          <a:latin typeface="Arial"/>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dirty="0">
                          <a:solidFill>
                            <a:srgbClr val="000000"/>
                          </a:solidFill>
                          <a:effectLst/>
                          <a:latin typeface="+mn-lt"/>
                        </a:rPr>
                        <a:t>Indeterminada</a:t>
                      </a:r>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dirty="0">
                          <a:latin typeface="Arial Black" panose="020B0A04020102020204" pitchFamily="34" charset="0"/>
                        </a:rPr>
                        <a:t>ASUMIR </a:t>
                      </a:r>
                      <a:r>
                        <a:rPr lang="es-CO" sz="1200" b="0" i="0" u="none" strike="noStrike" dirty="0">
                          <a:solidFill>
                            <a:srgbClr val="000000"/>
                          </a:solidFill>
                          <a:effectLst/>
                          <a:latin typeface="Calibri"/>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r>
                        <a:rPr lang="es-CO" sz="1200" b="0" i="0" u="none" strike="noStrike" dirty="0" err="1">
                          <a:solidFill>
                            <a:srgbClr val="000000"/>
                          </a:solidFill>
                          <a:effectLst/>
                          <a:latin typeface="Calibri"/>
                        </a:rPr>
                        <a:t>Naty</a:t>
                      </a:r>
                      <a:r>
                        <a:rPr lang="es-CO" sz="1200" b="0" i="0" u="none" strike="noStrike" dirty="0">
                          <a:solidFill>
                            <a:srgbClr val="000000"/>
                          </a:solidFill>
                          <a:effectLst/>
                          <a:latin typeface="Calibri"/>
                        </a:rPr>
                        <a:t> Ruiz</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741051">
                <a:tc>
                  <a:txBody>
                    <a:bodyPr/>
                    <a:lstStyle/>
                    <a:p>
                      <a:pPr algn="ctr" rtl="0" fontAlgn="ctr"/>
                      <a:r>
                        <a:rPr lang="es-CO" sz="1200" b="0" i="0" u="none" strike="noStrike" dirty="0">
                          <a:solidFill>
                            <a:srgbClr val="000000"/>
                          </a:solidFill>
                          <a:effectLst/>
                          <a:latin typeface="Arial"/>
                        </a:rPr>
                        <a:t>.</a:t>
                      </a:r>
                    </a:p>
                    <a:p>
                      <a:pPr algn="ctr" rtl="0" fontAlgn="ctr"/>
                      <a:r>
                        <a:rPr lang="es-CO" sz="1200" b="0" i="0" u="none" strike="noStrike" dirty="0">
                          <a:solidFill>
                            <a:srgbClr val="000000"/>
                          </a:solidFill>
                          <a:effectLst/>
                          <a:latin typeface="Arial"/>
                        </a:rPr>
                        <a:t>.</a:t>
                      </a:r>
                    </a:p>
                    <a:p>
                      <a:pPr algn="ctr" rtl="0" fontAlgn="ctr"/>
                      <a:r>
                        <a:rPr lang="es-CO" sz="1200" b="0" i="0" u="none" strike="noStrike" dirty="0">
                          <a:solidFill>
                            <a:srgbClr val="000000"/>
                          </a:solidFill>
                          <a:effectLst/>
                          <a:latin typeface="Arial"/>
                        </a:rPr>
                        <a:t>.</a:t>
                      </a:r>
                    </a:p>
                    <a:p>
                      <a:pPr algn="ctr" rtl="0" fontAlgn="ctr"/>
                      <a:r>
                        <a:rPr lang="es-CO" sz="1200" b="0" i="0" u="none" strike="noStrike" dirty="0">
                          <a:solidFill>
                            <a:srgbClr val="000000"/>
                          </a:solidFill>
                          <a:effectLst/>
                          <a:latin typeface="Arial"/>
                        </a:rPr>
                        <a:t>E65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s-CO" sz="1200" b="0" i="0" u="none" strike="noStrike">
                        <a:solidFill>
                          <a:srgbClr val="000000"/>
                        </a:solidFill>
                        <a:effectLst/>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s-CO" sz="1200" b="0" i="0" u="none" strike="noStrike" dirty="0">
                        <a:solidFill>
                          <a:srgbClr val="000000"/>
                        </a:solidFill>
                        <a:effectLst/>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ctr"/>
                      <a:endParaRPr lang="es-CO" sz="1200" b="0" i="0" u="none" strike="noStrike">
                        <a:solidFill>
                          <a:srgbClr val="000000"/>
                        </a:solidFill>
                        <a:effectLst/>
                        <a:latin typeface="Arial"/>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0" fontAlgn="b"/>
                      <a:endParaRPr lang="es-CO" sz="1200" b="0" i="0" u="none" strike="noStrike" dirty="0">
                        <a:solidFill>
                          <a:srgbClr val="000000"/>
                        </a:solidFill>
                        <a:effectLst/>
                        <a:latin typeface="Calibri"/>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 name="Rectángulo 2">
            <a:extLst>
              <a:ext uri="{FF2B5EF4-FFF2-40B4-BE49-F238E27FC236}">
                <a16:creationId xmlns:a16="http://schemas.microsoft.com/office/drawing/2014/main" id="{510BBE0F-1F0C-4222-B776-236A50952A14}"/>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59461255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04800"/>
            <a:ext cx="8229600" cy="533400"/>
          </a:xfrm>
          <a:noFill/>
          <a:ln>
            <a:noFill/>
          </a:ln>
        </p:spPr>
        <p:txBody>
          <a:bodyPr wrap="square" anchor="t" anchorCtr="0">
            <a:noAutofit/>
          </a:bodyPr>
          <a:lstStyle/>
          <a:p>
            <a:r>
              <a:rPr lang="es-ES" sz="2600" b="1">
                <a:solidFill>
                  <a:srgbClr val="1F3864"/>
                </a:solidFill>
                <a:latin typeface="Calibri"/>
                <a:ea typeface="Calibri"/>
                <a:cs typeface="Calibri"/>
              </a:rPr>
              <a:t>Clasificación de las medidas de riesgo financiero</a:t>
            </a:r>
            <a:endParaRPr lang="es-CO" sz="2600" b="1" dirty="0">
              <a:solidFill>
                <a:srgbClr val="1F3864"/>
              </a:solidFill>
              <a:latin typeface="Calibri"/>
              <a:ea typeface="Calibri"/>
              <a:cs typeface="Calibri"/>
            </a:endParaRPr>
          </a:p>
        </p:txBody>
      </p:sp>
      <p:graphicFrame>
        <p:nvGraphicFramePr>
          <p:cNvPr id="8" name="Diagrama 7"/>
          <p:cNvGraphicFramePr/>
          <p:nvPr>
            <p:extLst>
              <p:ext uri="{D42A27DB-BD31-4B8C-83A1-F6EECF244321}">
                <p14:modId xmlns:p14="http://schemas.microsoft.com/office/powerpoint/2010/main" val="4163464591"/>
              </p:ext>
            </p:extLst>
          </p:nvPr>
        </p:nvGraphicFramePr>
        <p:xfrm>
          <a:off x="635000" y="1168400"/>
          <a:ext cx="7886700" cy="3810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ángulo 3">
            <a:extLst>
              <a:ext uri="{FF2B5EF4-FFF2-40B4-BE49-F238E27FC236}">
                <a16:creationId xmlns:a16="http://schemas.microsoft.com/office/drawing/2014/main" id="{BB7C0389-E5D8-4127-9FBA-DCB11E9EA9D0}"/>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9D6CC99A-26D9-4E22-A642-F084EBF13BFB}"/>
              </a:ext>
            </a:extLst>
          </p:cNvPr>
          <p:cNvSpPr txBox="1"/>
          <p:nvPr/>
        </p:nvSpPr>
        <p:spPr>
          <a:xfrm>
            <a:off x="457200" y="50800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Medidas de sensibilidad, de volatilidad y de riesgo de pérdida</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99920084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ES" sz="3000" b="1">
                <a:solidFill>
                  <a:srgbClr val="1F3864"/>
                </a:solidFill>
                <a:latin typeface="Calibri"/>
                <a:ea typeface="Calibri"/>
                <a:cs typeface="Calibri"/>
              </a:rPr>
              <a:t>Análisis de riesgo en proyectos</a:t>
            </a:r>
            <a:endParaRPr lang="es-CO" sz="3000" b="1" dirty="0">
              <a:solidFill>
                <a:srgbClr val="1F3864"/>
              </a:solidFill>
              <a:latin typeface="Calibri"/>
              <a:ea typeface="Calibri"/>
              <a:cs typeface="Calibri"/>
            </a:endParaRPr>
          </a:p>
        </p:txBody>
      </p:sp>
      <p:sp>
        <p:nvSpPr>
          <p:cNvPr id="3" name="2 Marcador de contenido"/>
          <p:cNvSpPr>
            <a:spLocks noGrp="1"/>
          </p:cNvSpPr>
          <p:nvPr>
            <p:ph idx="1"/>
          </p:nvPr>
        </p:nvSpPr>
        <p:spPr>
          <a:xfrm>
            <a:off x="457200" y="1168400"/>
            <a:ext cx="8229600" cy="4064000"/>
          </a:xfrm>
        </p:spPr>
        <p:txBody>
          <a:bodyPr/>
          <a:lstStyle/>
          <a:p>
            <a:pPr marL="0" indent="0">
              <a:buNone/>
            </a:pPr>
            <a:endParaRPr lang="es-CO" dirty="0"/>
          </a:p>
          <a:p>
            <a:pPr marL="0" indent="0">
              <a:buNone/>
            </a:pPr>
            <a:r>
              <a:rPr lang="es-CO" dirty="0"/>
              <a:t>Evaluación Financiera                   Riesgo en Proyectos </a:t>
            </a:r>
          </a:p>
          <a:p>
            <a:pPr marL="0" indent="0">
              <a:buNone/>
            </a:pPr>
            <a:r>
              <a:rPr lang="es-CO" dirty="0"/>
              <a:t>      de proyectos</a:t>
            </a:r>
          </a:p>
          <a:p>
            <a:pPr marL="0" indent="0">
              <a:buNone/>
            </a:pPr>
            <a:r>
              <a:rPr lang="es-CO" dirty="0"/>
              <a:t>        </a:t>
            </a:r>
          </a:p>
          <a:p>
            <a:pPr marL="0" indent="0">
              <a:buNone/>
            </a:pPr>
            <a:endParaRPr lang="es-CO" dirty="0"/>
          </a:p>
          <a:p>
            <a:pPr marL="0" indent="0">
              <a:buNone/>
            </a:pPr>
            <a:endParaRPr lang="es-CO" dirty="0"/>
          </a:p>
          <a:p>
            <a:pPr marL="0" indent="0">
              <a:buNone/>
            </a:pPr>
            <a:r>
              <a:rPr lang="es-CO" dirty="0"/>
              <a:t>  Proyecciones                                        </a:t>
            </a:r>
            <a:r>
              <a:rPr lang="es-CO" dirty="0" err="1"/>
              <a:t>Proyecciones</a:t>
            </a:r>
            <a:r>
              <a:rPr lang="es-CO" dirty="0"/>
              <a:t> </a:t>
            </a:r>
          </a:p>
          <a:p>
            <a:pPr marL="0" indent="0">
              <a:buNone/>
            </a:pPr>
            <a:r>
              <a:rPr lang="es-CO" dirty="0"/>
              <a:t>Determinísticas                                       Estocásticas</a:t>
            </a:r>
          </a:p>
        </p:txBody>
      </p:sp>
      <p:sp>
        <p:nvSpPr>
          <p:cNvPr id="6" name="5 Flecha derecha"/>
          <p:cNvSpPr/>
          <p:nvPr/>
        </p:nvSpPr>
        <p:spPr>
          <a:xfrm rot="7823515">
            <a:off x="1666872" y="3697219"/>
            <a:ext cx="762000" cy="209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6 Flecha derecha"/>
          <p:cNvSpPr/>
          <p:nvPr/>
        </p:nvSpPr>
        <p:spPr>
          <a:xfrm rot="2669067">
            <a:off x="6524626" y="3680868"/>
            <a:ext cx="762000" cy="2095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419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0163" y="2700338"/>
            <a:ext cx="1228725"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9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0865" y="2811394"/>
            <a:ext cx="1285875" cy="1028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98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3429000"/>
            <a:ext cx="108585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990"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1263" y="3195637"/>
            <a:ext cx="1228725" cy="1381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ángulo 3">
            <a:extLst>
              <a:ext uri="{FF2B5EF4-FFF2-40B4-BE49-F238E27FC236}">
                <a16:creationId xmlns:a16="http://schemas.microsoft.com/office/drawing/2014/main" id="{1530DD6F-E28B-4F9C-9722-4E33B2C3A567}"/>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08332371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270000"/>
            <a:ext cx="4191000" cy="1905000"/>
          </a:xfrm>
          <a:solidFill>
            <a:srgbClr val="1F3864"/>
          </a:solidFill>
          <a:ln>
            <a:noFill/>
          </a:ln>
        </p:spPr>
        <p:txBody>
          <a:bodyPr wrap="square" anchor="ctr" anchorCtr="0">
            <a:noAutofit/>
          </a:bodyPr>
          <a:lstStyle/>
          <a:p>
            <a:pPr marL="0" indent="0">
              <a:buNone/>
            </a:pPr>
            <a:r>
              <a:rPr lang="es-ES" sz="1800" b="1">
                <a:solidFill>
                  <a:srgbClr val="FFFFFF"/>
                </a:solidFill>
                <a:latin typeface="Calibri"/>
                <a:ea typeface="Calibri"/>
                <a:cs typeface="Calibri"/>
              </a:rPr>
              <a:t>Un proceso estocástico es un sistema de eventos contables en el que los eventos ocurren según un proceso aleatorio bien definido.</a:t>
            </a:r>
            <a:endParaRPr lang="es-CO" sz="1800" b="1" dirty="0">
              <a:solidFill>
                <a:srgbClr val="FFFFFF"/>
              </a:solidFill>
              <a:latin typeface="Calibri"/>
              <a:ea typeface="Calibri"/>
              <a:cs typeface="Calibri"/>
            </a:endParaRPr>
          </a:p>
        </p:txBody>
      </p:sp>
      <p:pic>
        <p:nvPicPr>
          <p:cNvPr id="52226" name="Picture 2" descr="Image result for estadistica y probabilid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0000" y="1270000"/>
            <a:ext cx="3200400" cy="3606800"/>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1647F5DE-DFAA-4B07-AB66-1741C16E2C01}"/>
              </a:ext>
            </a:extLst>
          </p:cNvPr>
          <p:cNvSpPr txBox="1"/>
          <p:nvPr/>
        </p:nvSpPr>
        <p:spPr>
          <a:xfrm>
            <a:off x="457200" y="304800"/>
            <a:ext cx="8229600" cy="5334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Procesos estocásticos</a:t>
            </a:r>
          </a:p>
        </p:txBody>
      </p:sp>
      <p:sp>
        <p:nvSpPr>
          <p:cNvPr id="5" name="Rectángulo 4">
            <a:extLst>
              <a:ext uri="{FF2B5EF4-FFF2-40B4-BE49-F238E27FC236}">
                <a16:creationId xmlns:a16="http://schemas.microsoft.com/office/drawing/2014/main" id="{FBA77D59-28B7-4D3C-A261-8DEADF7494F7}"/>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002CE5DB-7B5E-4024-B00F-1C3A4BA61E05}"/>
              </a:ext>
            </a:extLst>
          </p:cNvPr>
          <p:cNvSpPr txBox="1"/>
          <p:nvPr/>
        </p:nvSpPr>
        <p:spPr>
          <a:xfrm>
            <a:off x="5080000" y="4953000"/>
            <a:ext cx="36068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Trayectorias posibles de un proceso aleatorio en el tiempo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43971500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ES" sz="2600" b="1">
                <a:solidFill>
                  <a:srgbClr val="1F3864"/>
                </a:solidFill>
                <a:latin typeface="Calibri"/>
                <a:ea typeface="Calibri"/>
                <a:cs typeface="Calibri"/>
              </a:rPr>
              <a:t>Flujos de caja a partir de proyecciones probabilísticas</a:t>
            </a:r>
            <a:endParaRPr lang="es-CO" sz="2600" b="1" dirty="0">
              <a:solidFill>
                <a:srgbClr val="1F3864"/>
              </a:solidFill>
              <a:latin typeface="Calibri"/>
              <a:ea typeface="Calibri"/>
              <a:cs typeface="Calibri"/>
            </a:endParaRPr>
          </a:p>
        </p:txBody>
      </p:sp>
      <p:sp>
        <p:nvSpPr>
          <p:cNvPr id="4" name="3 Marcador de contenido"/>
          <p:cNvSpPr>
            <a:spLocks noGrp="1"/>
          </p:cNvSpPr>
          <p:nvPr>
            <p:ph idx="1"/>
          </p:nvPr>
        </p:nvSpPr>
        <p:spPr>
          <a:xfrm>
            <a:off x="457200" y="1168400"/>
            <a:ext cx="8229600" cy="711200"/>
          </a:xfrm>
          <a:solidFill>
            <a:srgbClr val="1F3864"/>
          </a:solidFill>
          <a:ln>
            <a:noFill/>
          </a:ln>
        </p:spPr>
        <p:txBody>
          <a:bodyPr wrap="square" anchor="ctr" anchorCtr="0">
            <a:noAutofit/>
          </a:bodyPr>
          <a:lstStyle/>
          <a:p>
            <a:pPr marL="0" indent="0">
              <a:buNone/>
            </a:pPr>
            <a:r>
              <a:rPr lang="es-ES" sz="1700" b="1">
                <a:solidFill>
                  <a:srgbClr val="FFFFFF"/>
                </a:solidFill>
                <a:latin typeface="Calibri"/>
                <a:ea typeface="Calibri"/>
                <a:cs typeface="Calibri"/>
              </a:rPr>
              <a:t>El flujo de caja probabilístico parte de dos fuentes de información.</a:t>
            </a:r>
            <a:endParaRPr lang="es-CO" sz="1700" b="1" dirty="0">
              <a:solidFill>
                <a:srgbClr val="FFFFFF"/>
              </a:solidFill>
              <a:latin typeface="Calibri"/>
              <a:ea typeface="Calibri"/>
              <a:cs typeface="Calibri"/>
            </a:endParaRPr>
          </a:p>
        </p:txBody>
      </p:sp>
      <p:pic>
        <p:nvPicPr>
          <p:cNvPr id="4198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3505200"/>
            <a:ext cx="2311400" cy="180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98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1800" y="3505200"/>
            <a:ext cx="2260600" cy="1803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ángulo 2">
            <a:extLst>
              <a:ext uri="{FF2B5EF4-FFF2-40B4-BE49-F238E27FC236}">
                <a16:creationId xmlns:a16="http://schemas.microsoft.com/office/drawing/2014/main" id="{BDAB5B3D-7440-44E9-AC6C-86857A96C83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4F09C8C6-D707-4582-ACCF-ECB2449AA945}"/>
              </a:ext>
            </a:extLst>
          </p:cNvPr>
          <p:cNvSpPr/>
          <p:nvPr/>
        </p:nvSpPr>
        <p:spPr>
          <a:xfrm>
            <a:off x="457200" y="2108200"/>
            <a:ext cx="4038600" cy="1143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Información histórica
Se ajusta con pruebas de bondad de ajuste.</a:t>
            </a:r>
            <a:endParaRPr lang="es-CO" sz="1500">
              <a:solidFill>
                <a:srgbClr val="404040"/>
              </a:solidFill>
              <a:latin typeface="Calibri"/>
              <a:ea typeface="Calibri"/>
              <a:cs typeface="Calibri"/>
            </a:endParaRPr>
          </a:p>
        </p:txBody>
      </p:sp>
      <p:sp>
        <p:nvSpPr>
          <p:cNvPr id="6" name="Rectángulo 5">
            <a:extLst>
              <a:ext uri="{FF2B5EF4-FFF2-40B4-BE49-F238E27FC236}">
                <a16:creationId xmlns:a16="http://schemas.microsoft.com/office/drawing/2014/main" id="{2F02B6A9-7551-4BE2-9F7F-E3B4AD47AC90}"/>
              </a:ext>
            </a:extLst>
          </p:cNvPr>
          <p:cNvSpPr/>
          <p:nvPr/>
        </p:nvSpPr>
        <p:spPr>
          <a:xfrm>
            <a:off x="4648200" y="2108200"/>
            <a:ext cx="4038600" cy="1143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Juicio de expertos
Se asignan funciones de distribución.</a:t>
            </a:r>
            <a:endParaRPr lang="es-CO" sz="1500">
              <a:solidFill>
                <a:srgbClr val="404040"/>
              </a:solidFill>
              <a:latin typeface="Calibri"/>
              <a:ea typeface="Calibri"/>
              <a:cs typeface="Calibri"/>
            </a:endParaRPr>
          </a:p>
        </p:txBody>
      </p:sp>
    </p:spTree>
    <p:extLst>
      <p:ext uri="{BB962C8B-B14F-4D97-AF65-F5344CB8AC3E}">
        <p14:creationId xmlns:p14="http://schemas.microsoft.com/office/powerpoint/2010/main" val="155442698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304800"/>
            <a:ext cx="8229600" cy="533400"/>
          </a:xfrm>
          <a:noFill/>
          <a:ln>
            <a:noFill/>
          </a:ln>
        </p:spPr>
        <p:txBody>
          <a:bodyPr vert="horz" wrap="square" lIns="91440" tIns="45720" rIns="91440" bIns="45720" rtlCol="0" anchor="t" anchorCtr="0">
            <a:noAutofit/>
          </a:bodyPr>
          <a:lstStyle/>
          <a:p>
            <a:r>
              <a:rPr lang="es-CO" sz="2800" b="1">
                <a:solidFill>
                  <a:srgbClr val="1F3864"/>
                </a:solidFill>
                <a:latin typeface="Calibri"/>
                <a:ea typeface="Calibri"/>
                <a:cs typeface="Calibri"/>
              </a:rPr>
              <a:t>Caracterización probabilística de variables</a:t>
            </a:r>
            <a:endParaRPr lang="es-CO" sz="2800" b="1" dirty="0">
              <a:solidFill>
                <a:srgbClr val="1F3864"/>
              </a:solidFill>
              <a:latin typeface="Calibri"/>
              <a:ea typeface="Calibri"/>
              <a:cs typeface="Calibri"/>
            </a:endParaRPr>
          </a:p>
        </p:txBody>
      </p:sp>
      <p:graphicFrame>
        <p:nvGraphicFramePr>
          <p:cNvPr id="6" name="Diagrama 5"/>
          <p:cNvGraphicFramePr/>
          <p:nvPr>
            <p:extLst>
              <p:ext uri="{D42A27DB-BD31-4B8C-83A1-F6EECF244321}">
                <p14:modId xmlns:p14="http://schemas.microsoft.com/office/powerpoint/2010/main" val="1183696831"/>
              </p:ext>
            </p:extLst>
          </p:nvPr>
        </p:nvGraphicFramePr>
        <p:xfrm>
          <a:off x="508000" y="1168400"/>
          <a:ext cx="41910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7" name="Group 68"/>
          <p:cNvGrpSpPr>
            <a:grpSpLocks/>
          </p:cNvGrpSpPr>
          <p:nvPr/>
        </p:nvGrpSpPr>
        <p:grpSpPr bwMode="auto">
          <a:xfrm>
            <a:off x="5080000" y="1168400"/>
            <a:ext cx="3606800" cy="3581400"/>
            <a:chOff x="7560" y="5250"/>
            <a:chExt cx="2805" cy="5040"/>
          </a:xfrm>
        </p:grpSpPr>
        <p:sp>
          <p:nvSpPr>
            <p:cNvPr id="9" name="Text Box 62"/>
            <p:cNvSpPr txBox="1">
              <a:spLocks noChangeArrowheads="1"/>
            </p:cNvSpPr>
            <p:nvPr/>
          </p:nvSpPr>
          <p:spPr bwMode="auto">
            <a:xfrm>
              <a:off x="7560" y="5250"/>
              <a:ext cx="2790" cy="720"/>
            </a:xfrm>
            <a:prstGeom prst="rect">
              <a:avLst/>
            </a:prstGeom>
            <a:ln/>
          </p:spPr>
          <p:style>
            <a:lnRef idx="1">
              <a:schemeClr val="accent2"/>
            </a:lnRef>
            <a:fillRef idx="2">
              <a:schemeClr val="accent2"/>
            </a:fillRef>
            <a:effectRef idx="1">
              <a:schemeClr val="accent2"/>
            </a:effectRef>
            <a:fontRef idx="minor">
              <a:schemeClr val="dk1"/>
            </a:fontRef>
          </p:style>
          <p:txBody>
            <a:bodyPr rot="0" vert="horz" wrap="square" lIns="91440" tIns="45720" rIns="91440" bIns="45720" anchor="t" anchorCtr="0" upright="1">
              <a:noAutofit/>
            </a:bodyPr>
            <a:lstStyle/>
            <a:p>
              <a:pPr algn="just">
                <a:lnSpc>
                  <a:spcPct val="107000"/>
                </a:lnSpc>
                <a:spcAft>
                  <a:spcPts val="800"/>
                </a:spcAft>
              </a:pPr>
              <a:r>
                <a:rPr lang="es-CO" sz="1000" dirty="0">
                  <a:effectLst/>
                  <a:latin typeface="Calibri" panose="020F0502020204030204" pitchFamily="34" charset="0"/>
                  <a:ea typeface="Calibri" panose="020F0502020204030204" pitchFamily="34" charset="0"/>
                  <a:cs typeface="Times New Roman" panose="02020603050405020304" pitchFamily="18" charset="0"/>
                </a:rPr>
                <a:t>Distribución que puede tomar cualquier valor de un conjunto identificado de valores. Cada uno de</a:t>
              </a:r>
              <a:r>
                <a:rPr lang="es-CO" sz="1100" dirty="0">
                  <a:effectLst/>
                  <a:latin typeface="Calibri" panose="020F0502020204030204" pitchFamily="34" charset="0"/>
                  <a:ea typeface="Calibri" panose="020F0502020204030204" pitchFamily="34" charset="0"/>
                  <a:cs typeface="Times New Roman" panose="02020603050405020304" pitchFamily="18" charset="0"/>
                </a:rPr>
                <a:t> </a:t>
              </a:r>
              <a:r>
                <a:rPr lang="es-CO" sz="1000" dirty="0">
                  <a:effectLst/>
                  <a:latin typeface="Calibri" panose="020F0502020204030204" pitchFamily="34" charset="0"/>
                  <a:ea typeface="Calibri" panose="020F0502020204030204" pitchFamily="34" charset="0"/>
                  <a:cs typeface="Times New Roman" panose="02020603050405020304" pitchFamily="18" charset="0"/>
                </a:rPr>
                <a:t>los cuales tiene una probabilidad de ocurrencia</a:t>
              </a:r>
              <a:endParaRPr lang="es-CO"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 name="Text Box 63"/>
            <p:cNvSpPr txBox="1">
              <a:spLocks noChangeArrowheads="1"/>
            </p:cNvSpPr>
            <p:nvPr/>
          </p:nvSpPr>
          <p:spPr bwMode="auto">
            <a:xfrm>
              <a:off x="7575" y="6105"/>
              <a:ext cx="2790" cy="720"/>
            </a:xfrm>
            <a:prstGeom prst="rect">
              <a:avLst/>
            </a:prstGeom>
            <a:ln/>
          </p:spPr>
          <p:style>
            <a:lnRef idx="1">
              <a:schemeClr val="accent4"/>
            </a:lnRef>
            <a:fillRef idx="2">
              <a:schemeClr val="accent4"/>
            </a:fillRef>
            <a:effectRef idx="1">
              <a:schemeClr val="accent4"/>
            </a:effectRef>
            <a:fontRef idx="minor">
              <a:schemeClr val="dk1"/>
            </a:fontRef>
          </p:style>
          <p:txBody>
            <a:bodyPr rot="0" vert="horz" wrap="square" lIns="91440" tIns="45720" rIns="91440" bIns="45720" anchor="t" anchorCtr="0" upright="1">
              <a:noAutofit/>
            </a:bodyPr>
            <a:lstStyle/>
            <a:p>
              <a:pPr algn="just">
                <a:lnSpc>
                  <a:spcPct val="107000"/>
                </a:lnSpc>
                <a:spcAft>
                  <a:spcPts val="800"/>
                </a:spcAft>
              </a:pPr>
              <a:r>
                <a:rPr lang="es-CO" sz="1000" dirty="0">
                  <a:effectLst/>
                  <a:latin typeface="Calibri" panose="020F0502020204030204" pitchFamily="34" charset="0"/>
                  <a:ea typeface="Calibri" panose="020F0502020204030204" pitchFamily="34" charset="0"/>
                  <a:cs typeface="Times New Roman" panose="02020603050405020304" pitchFamily="18" charset="0"/>
                </a:rPr>
                <a:t>Puede tomar cualquier valor continuo dentro de su dominio</a:t>
              </a:r>
              <a:endParaRPr lang="es-CO"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1" name="Text Box 64"/>
            <p:cNvSpPr txBox="1">
              <a:spLocks noChangeArrowheads="1"/>
            </p:cNvSpPr>
            <p:nvPr/>
          </p:nvSpPr>
          <p:spPr bwMode="auto">
            <a:xfrm>
              <a:off x="7575" y="6990"/>
              <a:ext cx="2790" cy="720"/>
            </a:xfrm>
            <a:prstGeom prst="rect">
              <a:avLst/>
            </a:prstGeom>
            <a:ln/>
          </p:spPr>
          <p:style>
            <a:lnRef idx="1">
              <a:schemeClr val="accent5"/>
            </a:lnRef>
            <a:fillRef idx="2">
              <a:schemeClr val="accent5"/>
            </a:fillRef>
            <a:effectRef idx="1">
              <a:schemeClr val="accent5"/>
            </a:effectRef>
            <a:fontRef idx="minor">
              <a:schemeClr val="dk1"/>
            </a:fontRef>
          </p:style>
          <p:txBody>
            <a:bodyPr rot="0" vert="horz" wrap="square" lIns="91440" tIns="45720" rIns="91440" bIns="45720" anchor="t" anchorCtr="0" upright="1">
              <a:noAutofit/>
            </a:bodyPr>
            <a:lstStyle/>
            <a:p>
              <a:pPr algn="just">
                <a:lnSpc>
                  <a:spcPct val="107000"/>
                </a:lnSpc>
                <a:spcAft>
                  <a:spcPts val="800"/>
                </a:spcAft>
              </a:pPr>
              <a:r>
                <a:rPr lang="es-CO" sz="1000" dirty="0">
                  <a:effectLst/>
                  <a:latin typeface="Calibri" panose="020F0502020204030204" pitchFamily="34" charset="0"/>
                  <a:ea typeface="Calibri" panose="020F0502020204030204" pitchFamily="34" charset="0"/>
                  <a:cs typeface="Times New Roman" panose="02020603050405020304" pitchFamily="18" charset="0"/>
                </a:rPr>
                <a:t>Distribución que puede tomar valores confinados entre dos valores predeterminados</a:t>
              </a:r>
              <a:endParaRPr lang="es-CO"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2" name="Text Box 65"/>
            <p:cNvSpPr txBox="1">
              <a:spLocks noChangeArrowheads="1"/>
            </p:cNvSpPr>
            <p:nvPr/>
          </p:nvSpPr>
          <p:spPr bwMode="auto">
            <a:xfrm>
              <a:off x="7575" y="7845"/>
              <a:ext cx="2790" cy="720"/>
            </a:xfrm>
            <a:prstGeom prst="rect">
              <a:avLst/>
            </a:prstGeom>
            <a:ln/>
          </p:spPr>
          <p:style>
            <a:lnRef idx="1">
              <a:schemeClr val="accent6"/>
            </a:lnRef>
            <a:fillRef idx="2">
              <a:schemeClr val="accent6"/>
            </a:fillRef>
            <a:effectRef idx="1">
              <a:schemeClr val="accent6"/>
            </a:effectRef>
            <a:fontRef idx="minor">
              <a:schemeClr val="dk1"/>
            </a:fontRef>
          </p:style>
          <p:txBody>
            <a:bodyPr rot="0" vert="horz" wrap="square" lIns="91440" tIns="45720" rIns="91440" bIns="45720" anchor="t" anchorCtr="0" upright="1">
              <a:noAutofit/>
            </a:bodyPr>
            <a:lstStyle/>
            <a:p>
              <a:pPr algn="just">
                <a:lnSpc>
                  <a:spcPct val="107000"/>
                </a:lnSpc>
                <a:spcAft>
                  <a:spcPts val="800"/>
                </a:spcAft>
              </a:pPr>
              <a:r>
                <a:rPr lang="es-CO" sz="1000" dirty="0">
                  <a:effectLst/>
                  <a:latin typeface="Calibri" panose="020F0502020204030204" pitchFamily="34" charset="0"/>
                  <a:ea typeface="Calibri" panose="020F0502020204030204" pitchFamily="34" charset="0"/>
                  <a:cs typeface="Times New Roman" panose="02020603050405020304" pitchFamily="18" charset="0"/>
                </a:rPr>
                <a:t>Distribución que puede tomar valores sin estar confinada por valores preestablecidos.</a:t>
              </a:r>
              <a:endParaRPr lang="es-CO"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3" name="Text Box 66"/>
            <p:cNvSpPr txBox="1">
              <a:spLocks noChangeArrowheads="1"/>
            </p:cNvSpPr>
            <p:nvPr/>
          </p:nvSpPr>
          <p:spPr bwMode="auto">
            <a:xfrm>
              <a:off x="7575" y="8685"/>
              <a:ext cx="2790" cy="720"/>
            </a:xfrm>
            <a:prstGeom prst="rect">
              <a:avLst/>
            </a:prstGeom>
            <a:ln/>
          </p:spPr>
          <p:style>
            <a:lnRef idx="1">
              <a:schemeClr val="accent2"/>
            </a:lnRef>
            <a:fillRef idx="3">
              <a:schemeClr val="accent2"/>
            </a:fillRef>
            <a:effectRef idx="2">
              <a:schemeClr val="accent2"/>
            </a:effectRef>
            <a:fontRef idx="minor">
              <a:schemeClr val="lt1"/>
            </a:fontRef>
          </p:style>
          <p:txBody>
            <a:bodyPr rot="0" vert="horz" wrap="square" lIns="91440" tIns="45720" rIns="91440" bIns="45720" anchor="t" anchorCtr="0" upright="1">
              <a:noAutofit/>
            </a:bodyPr>
            <a:lstStyle/>
            <a:p>
              <a:pPr algn="just">
                <a:lnSpc>
                  <a:spcPct val="107000"/>
                </a:lnSpc>
                <a:spcAft>
                  <a:spcPts val="800"/>
                </a:spcAft>
              </a:pPr>
              <a:r>
                <a:rPr lang="es-CO"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Distribución basada en modelos preestablecidos, cuya definición matemática se basa en ciertos comportamientos de variables físicas </a:t>
              </a:r>
              <a:endParaRPr lang="es-CO"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4" name="Text Box 67"/>
            <p:cNvSpPr txBox="1">
              <a:spLocks noChangeArrowheads="1"/>
            </p:cNvSpPr>
            <p:nvPr/>
          </p:nvSpPr>
          <p:spPr bwMode="auto">
            <a:xfrm>
              <a:off x="7560" y="9525"/>
              <a:ext cx="2805" cy="765"/>
            </a:xfrm>
            <a:prstGeom prst="rect">
              <a:avLst/>
            </a:prstGeom>
            <a:ln/>
          </p:spPr>
          <p:style>
            <a:lnRef idx="0">
              <a:schemeClr val="dk1"/>
            </a:lnRef>
            <a:fillRef idx="3">
              <a:schemeClr val="dk1"/>
            </a:fillRef>
            <a:effectRef idx="3">
              <a:schemeClr val="dk1"/>
            </a:effectRef>
            <a:fontRef idx="minor">
              <a:schemeClr val="lt1"/>
            </a:fontRef>
          </p:style>
          <p:txBody>
            <a:bodyPr rot="0" vert="horz" wrap="square" lIns="91440" tIns="45720" rIns="91440" bIns="45720" anchor="t" anchorCtr="0" upright="1">
              <a:noAutofit/>
            </a:bodyPr>
            <a:lstStyle/>
            <a:p>
              <a:pPr algn="just">
                <a:lnSpc>
                  <a:spcPct val="107000"/>
                </a:lnSpc>
                <a:spcAft>
                  <a:spcPts val="800"/>
                </a:spcAft>
              </a:pPr>
              <a:r>
                <a:rPr lang="es-CO" sz="1000" dirty="0">
                  <a:effectLst/>
                  <a:latin typeface="Calibri" panose="020F0502020204030204" pitchFamily="34" charset="0"/>
                  <a:ea typeface="Calibri" panose="020F0502020204030204" pitchFamily="34" charset="0"/>
                  <a:cs typeface="Times New Roman" panose="02020603050405020304" pitchFamily="18" charset="0"/>
                </a:rPr>
                <a:t>Distribución cuya forma y comportamiento es definida exclusiva y particularmente por los datos disponibles.</a:t>
              </a:r>
              <a:endParaRPr lang="es-CO" dirty="0">
                <a:effectLst/>
                <a:latin typeface="Calibri" panose="020F0502020204030204" pitchFamily="34" charset="0"/>
                <a:ea typeface="Calibri" panose="020F0502020204030204" pitchFamily="34" charset="0"/>
                <a:cs typeface="Times New Roman" panose="02020603050405020304" pitchFamily="18" charset="0"/>
              </a:endParaRPr>
            </a:p>
          </p:txBody>
        </p:sp>
      </p:grpSp>
      <p:sp>
        <p:nvSpPr>
          <p:cNvPr id="5" name="Rectángulo 4"/>
          <p:cNvSpPr/>
          <p:nvPr/>
        </p:nvSpPr>
        <p:spPr>
          <a:xfrm>
            <a:off x="457200" y="4902200"/>
            <a:ext cx="8229600" cy="228600"/>
          </a:xfrm>
          <a:prstGeom prst="rect">
            <a:avLst/>
          </a:prstGeom>
          <a:noFill/>
          <a:ln>
            <a:noFill/>
          </a:ln>
        </p:spPr>
        <p:txBody>
          <a:bodyPr wrap="square" anchor="t" anchorCtr="0">
            <a:noAutofit/>
          </a:bodyPr>
          <a:lstStyle/>
          <a:p>
            <a:pPr algn="just">
              <a:lnSpc>
                <a:spcPct val="150000"/>
              </a:lnSpc>
              <a:spcAft>
                <a:spcPts val="800"/>
              </a:spcAft>
            </a:pPr>
            <a:r>
              <a:rPr lang="es-ES" sz="1100">
                <a:solidFill>
                  <a:srgbClr val="7F7F7F"/>
                </a:solidFill>
                <a:latin typeface="Calibri"/>
                <a:ea typeface="Calibri"/>
                <a:cs typeface="Calibri"/>
              </a:rPr>
              <a:t>Tomado de Yáñez, Gómez de la Vega, Semeco, Nucette y Medina, 2010.</a:t>
            </a:r>
            <a:endParaRPr lang="es-CO" sz="1100" dirty="0">
              <a:solidFill>
                <a:srgbClr val="7F7F7F"/>
              </a:solidFill>
              <a:effectLst/>
              <a:latin typeface="Calibri"/>
              <a:ea typeface="Calibri"/>
              <a:cs typeface="Calibri"/>
            </a:endParaRPr>
          </a:p>
        </p:txBody>
      </p:sp>
      <p:sp>
        <p:nvSpPr>
          <p:cNvPr id="4" name="Rectángulo 3">
            <a:extLst>
              <a:ext uri="{FF2B5EF4-FFF2-40B4-BE49-F238E27FC236}">
                <a16:creationId xmlns:a16="http://schemas.microsoft.com/office/drawing/2014/main" id="{8846E843-7EC6-4806-9585-D9FDEA76D63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82126242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457200" y="304800"/>
            <a:ext cx="8229600" cy="533400"/>
          </a:xfrm>
          <a:prstGeom prst="rect">
            <a:avLst/>
          </a:prstGeom>
          <a:noFill/>
          <a:ln>
            <a:noFill/>
          </a:ln>
        </p:spPr>
        <p:txBody>
          <a:bodyPr wrap="square" anchor="t" anchorCtr="0">
            <a:noAutofit/>
          </a:bodyPr>
          <a:lstStyle/>
          <a:p>
            <a:pPr algn="r">
              <a:lnSpc>
                <a:spcPts val="4500"/>
              </a:lnSpc>
              <a:defRPr/>
            </a:pPr>
            <a:r>
              <a:rPr lang="es-CO" sz="3000" b="1">
                <a:solidFill>
                  <a:srgbClr val="1F3864"/>
                </a:solidFill>
                <a:latin typeface="Calibri"/>
                <a:ea typeface="Calibri"/>
                <a:cs typeface="Calibri"/>
              </a:rPr>
              <a:t>Tipos de variables aleatorias</a:t>
            </a:r>
            <a:endParaRPr lang="es-CO" sz="3000" b="1" dirty="0">
              <a:solidFill>
                <a:srgbClr val="1F3864"/>
              </a:solidFill>
              <a:latin typeface="Calibri"/>
              <a:ea typeface="Calibri"/>
              <a:cs typeface="Calibri"/>
            </a:endParaRPr>
          </a:p>
        </p:txBody>
      </p:sp>
      <p:graphicFrame>
        <p:nvGraphicFramePr>
          <p:cNvPr id="16" name="Diagrama 7"/>
          <p:cNvGraphicFramePr/>
          <p:nvPr>
            <p:extLst>
              <p:ext uri="{D42A27DB-BD31-4B8C-83A1-F6EECF244321}">
                <p14:modId xmlns:p14="http://schemas.microsoft.com/office/powerpoint/2010/main" val="960787172"/>
              </p:ext>
            </p:extLst>
          </p:nvPr>
        </p:nvGraphicFramePr>
        <p:xfrm>
          <a:off x="1752600" y="1219200"/>
          <a:ext cx="5638800" cy="4013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Rectángulo 3">
            <a:extLst>
              <a:ext uri="{FF2B5EF4-FFF2-40B4-BE49-F238E27FC236}">
                <a16:creationId xmlns:a16="http://schemas.microsoft.com/office/drawing/2014/main" id="{BBB69615-B3DF-4621-A64F-27D9C7CF9247}"/>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42BFEFF9-43B4-48C3-8693-3BF237C91427}"/>
              </a:ext>
            </a:extLst>
          </p:cNvPr>
          <p:cNvSpPr txBox="1"/>
          <p:nvPr/>
        </p:nvSpPr>
        <p:spPr>
          <a:xfrm>
            <a:off x="457200" y="5283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Variables discretas y continuas, y sus distribuciones típicas</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411746175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457200" y="533400"/>
            <a:ext cx="8229600" cy="508000"/>
          </a:xfrm>
          <a:prstGeom prst="rect">
            <a:avLst/>
          </a:prstGeom>
          <a:noFill/>
          <a:ln>
            <a:noFill/>
          </a:ln>
        </p:spPr>
        <p:txBody>
          <a:bodyPr wrap="square" anchor="t" anchorCtr="0">
            <a:noAutofit/>
          </a:bodyPr>
          <a:lstStyle/>
          <a:p>
            <a:pPr>
              <a:lnSpc>
                <a:spcPts val="4500"/>
              </a:lnSpc>
              <a:defRPr/>
            </a:pPr>
            <a:r>
              <a:rPr lang="es-CO" sz="3000" b="1">
                <a:solidFill>
                  <a:srgbClr val="1F3864"/>
                </a:solidFill>
                <a:latin typeface="Calibri"/>
                <a:ea typeface="Calibri"/>
                <a:cs typeface="Calibri"/>
              </a:rPr>
              <a:t>La media</a:t>
            </a:r>
            <a:endParaRPr lang="es-CO" sz="3000" b="1" dirty="0">
              <a:solidFill>
                <a:srgbClr val="1F3864"/>
              </a:solidFill>
              <a:latin typeface="Calibri"/>
              <a:ea typeface="Calibri"/>
              <a:cs typeface="Calibri"/>
            </a:endParaRPr>
          </a:p>
        </p:txBody>
      </p:sp>
      <p:sp>
        <p:nvSpPr>
          <p:cNvPr id="2" name="CuadroTexto 1">
            <a:extLst>
              <a:ext uri="{FF2B5EF4-FFF2-40B4-BE49-F238E27FC236}">
                <a16:creationId xmlns:a16="http://schemas.microsoft.com/office/drawing/2014/main" id="{342F5220-11BE-29F2-0BFB-155D11AF3D97}"/>
              </a:ext>
            </a:extLst>
          </p:cNvPr>
          <p:cNvSpPr txBox="1"/>
          <p:nvPr/>
        </p:nvSpPr>
        <p:spPr>
          <a:xfrm>
            <a:off x="457200" y="1346200"/>
            <a:ext cx="8229600" cy="1219200"/>
          </a:xfrm>
          <a:prstGeom prst="rect">
            <a:avLst/>
          </a:prstGeom>
          <a:solidFill>
            <a:srgbClr val="1F3864"/>
          </a:solidFill>
          <a:ln>
            <a:noFill/>
          </a:ln>
        </p:spPr>
        <p:txBody>
          <a:bodyPr wrap="square" rtlCol="0" anchor="ctr" anchorCtr="0">
            <a:noAutofit/>
          </a:bodyPr>
          <a:lstStyle/>
          <a:p>
            <a:pPr marL="0" indent="0" algn="l">
              <a:buFont typeface="Arial" panose="020B0604020202020204" pitchFamily="34" charset="0"/>
              <a:buNone/>
            </a:pPr>
            <a:r>
              <a:rPr lang="es-ES" b="1">
                <a:solidFill>
                  <a:srgbClr val="FFFFFF"/>
                </a:solidFill>
                <a:latin typeface="Calibri"/>
                <a:ea typeface="Calibri"/>
                <a:cs typeface="Calibri"/>
              </a:rPr>
              <a:t>Es el punto central o centro de gravedad de la distribución: indica dónde se concentran los valores.</a:t>
            </a:r>
            <a:endParaRPr lang="es-CO" b="1" dirty="0">
              <a:solidFill>
                <a:srgbClr val="FFFFFF"/>
              </a:solidFill>
              <a:latin typeface="Calibri"/>
              <a:ea typeface="Calibri"/>
              <a:cs typeface="Calibri"/>
            </a:endParaRPr>
          </a:p>
        </p:txBody>
      </p:sp>
      <p:sp>
        <p:nvSpPr>
          <p:cNvPr id="5" name="CuadroTexto 4">
            <a:extLst>
              <a:ext uri="{FF2B5EF4-FFF2-40B4-BE49-F238E27FC236}">
                <a16:creationId xmlns:a16="http://schemas.microsoft.com/office/drawing/2014/main" id="{6B7DA5D2-8A90-4E6E-9A60-D2AA0FAB2014}"/>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CONCEPTOS BÁSICOS</a:t>
            </a:r>
          </a:p>
        </p:txBody>
      </p:sp>
      <p:sp>
        <p:nvSpPr>
          <p:cNvPr id="15" name="Rectángulo 14">
            <a:extLst>
              <a:ext uri="{FF2B5EF4-FFF2-40B4-BE49-F238E27FC236}">
                <a16:creationId xmlns:a16="http://schemas.microsoft.com/office/drawing/2014/main" id="{033074AA-6974-4BF6-96E8-2803E9E91223}"/>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6" name="Rectángulo 15">
            <a:extLst>
              <a:ext uri="{FF2B5EF4-FFF2-40B4-BE49-F238E27FC236}">
                <a16:creationId xmlns:a16="http://schemas.microsoft.com/office/drawing/2014/main" id="{CAF8B1CF-5110-4DF8-82EA-3AC914C67BA6}"/>
              </a:ext>
            </a:extLst>
          </p:cNvPr>
          <p:cNvSpPr/>
          <p:nvPr/>
        </p:nvSpPr>
        <p:spPr>
          <a:xfrm>
            <a:off x="457200" y="2819400"/>
            <a:ext cx="4038600" cy="1397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l">
              <a:buNone/>
            </a:pPr>
            <a:r>
              <a:rPr lang="es-ES" sz="1500">
                <a:solidFill>
                  <a:srgbClr val="404040"/>
                </a:solidFill>
                <a:latin typeface="Calibri"/>
                <a:ea typeface="Calibri"/>
                <a:cs typeface="Calibri"/>
              </a:rPr>
              <a:t>Qué informa
El valor central o esperado de la distribución.</a:t>
            </a:r>
            <a:endParaRPr lang="es-CO" sz="1500">
              <a:solidFill>
                <a:srgbClr val="404040"/>
              </a:solidFill>
              <a:latin typeface="Calibri"/>
              <a:ea typeface="Calibri"/>
              <a:cs typeface="Calibri"/>
            </a:endParaRPr>
          </a:p>
        </p:txBody>
      </p:sp>
      <p:sp>
        <p:nvSpPr>
          <p:cNvPr id="17" name="Rectángulo 16">
            <a:extLst>
              <a:ext uri="{FF2B5EF4-FFF2-40B4-BE49-F238E27FC236}">
                <a16:creationId xmlns:a16="http://schemas.microsoft.com/office/drawing/2014/main" id="{C02FB1B1-0B7D-48A6-BCAC-C999EEAF0353}"/>
              </a:ext>
            </a:extLst>
          </p:cNvPr>
          <p:cNvSpPr/>
          <p:nvPr/>
        </p:nvSpPr>
        <p:spPr>
          <a:xfrm>
            <a:off x="4648200" y="2819400"/>
            <a:ext cx="4038600" cy="1397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l">
              <a:buNone/>
            </a:pPr>
            <a:r>
              <a:rPr lang="es-ES" sz="1500">
                <a:solidFill>
                  <a:srgbClr val="404040"/>
                </a:solidFill>
                <a:latin typeface="Calibri"/>
                <a:ea typeface="Calibri"/>
                <a:cs typeface="Calibri"/>
              </a:rPr>
              <a:t>Para qué sirve
Ubicar el valor típico dentro de un conjunto de datos.</a:t>
            </a:r>
            <a:endParaRPr lang="es-CO" sz="1500">
              <a:solidFill>
                <a:srgbClr val="404040"/>
              </a:solidFill>
              <a:latin typeface="Calibri"/>
              <a:ea typeface="Calibri"/>
              <a:cs typeface="Calibri"/>
            </a:endParaRPr>
          </a:p>
        </p:txBody>
      </p:sp>
      <p:sp>
        <p:nvSpPr>
          <p:cNvPr id="18" name="CuadroTexto 17">
            <a:extLst>
              <a:ext uri="{FF2B5EF4-FFF2-40B4-BE49-F238E27FC236}">
                <a16:creationId xmlns:a16="http://schemas.microsoft.com/office/drawing/2014/main" id="{2FE1072D-3A35-44F4-B1E0-3E0DE95D9C36}"/>
              </a:ext>
            </a:extLst>
          </p:cNvPr>
          <p:cNvSpPr txBox="1"/>
          <p:nvPr/>
        </p:nvSpPr>
        <p:spPr>
          <a:xfrm>
            <a:off x="457200" y="43434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Medida de tendencia central de una distribución de probabilidad</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68170925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457200" y="533400"/>
            <a:ext cx="8229600" cy="508000"/>
          </a:xfrm>
          <a:prstGeom prst="rect">
            <a:avLst/>
          </a:prstGeom>
          <a:noFill/>
          <a:ln>
            <a:noFill/>
          </a:ln>
        </p:spPr>
        <p:txBody>
          <a:bodyPr wrap="square" anchor="t" anchorCtr="0">
            <a:noAutofit/>
          </a:bodyPr>
          <a:lstStyle/>
          <a:p>
            <a:pPr>
              <a:lnSpc>
                <a:spcPts val="4500"/>
              </a:lnSpc>
              <a:defRPr/>
            </a:pPr>
            <a:r>
              <a:rPr lang="es-CO" sz="3000" b="1">
                <a:solidFill>
                  <a:srgbClr val="1F3864"/>
                </a:solidFill>
                <a:latin typeface="Calibri"/>
                <a:ea typeface="Calibri"/>
                <a:cs typeface="Calibri"/>
              </a:rPr>
              <a:t>La desviación estándar</a:t>
            </a:r>
            <a:endParaRPr lang="es-CO" sz="3000" b="1" dirty="0">
              <a:solidFill>
                <a:srgbClr val="1F3864"/>
              </a:solidFill>
              <a:latin typeface="Calibri"/>
              <a:ea typeface="Calibri"/>
              <a:cs typeface="Calibri"/>
            </a:endParaRPr>
          </a:p>
        </p:txBody>
      </p:sp>
      <p:sp>
        <p:nvSpPr>
          <p:cNvPr id="5" name="CuadroTexto 4">
            <a:extLst>
              <a:ext uri="{FF2B5EF4-FFF2-40B4-BE49-F238E27FC236}">
                <a16:creationId xmlns:a16="http://schemas.microsoft.com/office/drawing/2014/main" id="{540C8176-4903-0AAC-2983-AC3547F1CDE7}"/>
              </a:ext>
            </a:extLst>
          </p:cNvPr>
          <p:cNvSpPr txBox="1"/>
          <p:nvPr/>
        </p:nvSpPr>
        <p:spPr>
          <a:xfrm>
            <a:off x="457200" y="1346200"/>
            <a:ext cx="8229600" cy="1168400"/>
          </a:xfrm>
          <a:prstGeom prst="rect">
            <a:avLst/>
          </a:prstGeom>
          <a:solidFill>
            <a:srgbClr val="1F3864"/>
          </a:solidFill>
          <a:ln>
            <a:noFill/>
          </a:ln>
        </p:spPr>
        <p:txBody>
          <a:bodyPr wrap="square" rtlCol="0" anchor="ctr" anchorCtr="0">
            <a:noAutofit/>
          </a:bodyPr>
          <a:lstStyle/>
          <a:p>
            <a:pPr marL="0" indent="0" algn="l">
              <a:buFont typeface="Arial" panose="020B0604020202020204" pitchFamily="34" charset="0"/>
              <a:buNone/>
            </a:pPr>
            <a:r>
              <a:rPr lang="es-ES" b="1">
                <a:solidFill>
                  <a:srgbClr val="FFFFFF"/>
                </a:solidFill>
                <a:latin typeface="Calibri"/>
                <a:ea typeface="Calibri"/>
                <a:cs typeface="Calibri"/>
              </a:rPr>
              <a:t>Mide cuánto se alejan los valores individuales de la media: es la variabilidad de los datos.</a:t>
            </a:r>
            <a:endParaRPr lang="es-CO" b="1" dirty="0">
              <a:solidFill>
                <a:srgbClr val="FFFFFF"/>
              </a:solidFill>
              <a:latin typeface="Calibri"/>
              <a:ea typeface="Calibri"/>
              <a:cs typeface="Calibri"/>
            </a:endParaRPr>
          </a:p>
        </p:txBody>
      </p:sp>
      <p:sp>
        <p:nvSpPr>
          <p:cNvPr id="4" name="CuadroTexto 3">
            <a:extLst>
              <a:ext uri="{FF2B5EF4-FFF2-40B4-BE49-F238E27FC236}">
                <a16:creationId xmlns:a16="http://schemas.microsoft.com/office/drawing/2014/main" id="{B26E8E3B-6BBF-46CF-94E8-C1AA565BD7A6}"/>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CONCEPTOS BÁSICOS</a:t>
            </a:r>
          </a:p>
        </p:txBody>
      </p:sp>
      <p:sp>
        <p:nvSpPr>
          <p:cNvPr id="15" name="Rectángulo 14">
            <a:extLst>
              <a:ext uri="{FF2B5EF4-FFF2-40B4-BE49-F238E27FC236}">
                <a16:creationId xmlns:a16="http://schemas.microsoft.com/office/drawing/2014/main" id="{5130E81C-88BE-4003-858D-F4C57567C195}"/>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6" name="Rectángulo 15">
            <a:extLst>
              <a:ext uri="{FF2B5EF4-FFF2-40B4-BE49-F238E27FC236}">
                <a16:creationId xmlns:a16="http://schemas.microsoft.com/office/drawing/2014/main" id="{4D34D4F0-DED4-4F16-B3B6-FE571D8AEB6A}"/>
              </a:ext>
            </a:extLst>
          </p:cNvPr>
          <p:cNvSpPr/>
          <p:nvPr/>
        </p:nvSpPr>
        <p:spPr>
          <a:xfrm>
            <a:off x="457200" y="2768600"/>
            <a:ext cx="4038600" cy="1270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l">
              <a:buNone/>
            </a:pPr>
            <a:r>
              <a:rPr lang="es-ES" sz="1500">
                <a:solidFill>
                  <a:srgbClr val="404040"/>
                </a:solidFill>
                <a:latin typeface="Calibri"/>
                <a:ea typeface="Calibri"/>
                <a:cs typeface="Calibri"/>
              </a:rPr>
              <a:t>Desviación pequeña
Los datos se agrupan cerca de la media.</a:t>
            </a:r>
            <a:endParaRPr lang="es-CO" sz="1500">
              <a:solidFill>
                <a:srgbClr val="404040"/>
              </a:solidFill>
              <a:latin typeface="Calibri"/>
              <a:ea typeface="Calibri"/>
              <a:cs typeface="Calibri"/>
            </a:endParaRPr>
          </a:p>
        </p:txBody>
      </p:sp>
      <p:sp>
        <p:nvSpPr>
          <p:cNvPr id="17" name="Rectángulo 16">
            <a:extLst>
              <a:ext uri="{FF2B5EF4-FFF2-40B4-BE49-F238E27FC236}">
                <a16:creationId xmlns:a16="http://schemas.microsoft.com/office/drawing/2014/main" id="{B9C79702-BBA4-47B6-ADA0-EB337CA33385}"/>
              </a:ext>
            </a:extLst>
          </p:cNvPr>
          <p:cNvSpPr/>
          <p:nvPr/>
        </p:nvSpPr>
        <p:spPr>
          <a:xfrm>
            <a:off x="4648200" y="2768600"/>
            <a:ext cx="4038600" cy="1270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l">
              <a:buNone/>
            </a:pPr>
            <a:r>
              <a:rPr lang="es-ES" sz="1500">
                <a:solidFill>
                  <a:srgbClr val="404040"/>
                </a:solidFill>
                <a:latin typeface="Calibri"/>
                <a:ea typeface="Calibri"/>
                <a:cs typeface="Calibri"/>
              </a:rPr>
              <a:t>Desviación grande
Los datos se dispersan alrededor de la media.</a:t>
            </a:r>
            <a:endParaRPr lang="es-CO" sz="1500">
              <a:solidFill>
                <a:srgbClr val="404040"/>
              </a:solidFill>
              <a:latin typeface="Calibri"/>
              <a:ea typeface="Calibri"/>
              <a:cs typeface="Calibri"/>
            </a:endParaRPr>
          </a:p>
        </p:txBody>
      </p:sp>
      <p:sp>
        <p:nvSpPr>
          <p:cNvPr id="18" name="Rectángulo 17">
            <a:extLst>
              <a:ext uri="{FF2B5EF4-FFF2-40B4-BE49-F238E27FC236}">
                <a16:creationId xmlns:a16="http://schemas.microsoft.com/office/drawing/2014/main" id="{A7F0304F-DF3D-4A79-997A-059883F3DAF6}"/>
              </a:ext>
            </a:extLst>
          </p:cNvPr>
          <p:cNvSpPr/>
          <p:nvPr/>
        </p:nvSpPr>
        <p:spPr>
          <a:xfrm>
            <a:off x="457200" y="4216400"/>
            <a:ext cx="8229600" cy="711200"/>
          </a:xfrm>
          <a:prstGeom prst="rect">
            <a:avLst/>
          </a:prstGeom>
          <a:solidFill>
            <a:srgbClr val="D6DC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lgn="l">
              <a:buNone/>
            </a:pPr>
            <a:r>
              <a:rPr lang="es-ES" sz="1600" b="1">
                <a:solidFill>
                  <a:srgbClr val="1F3864"/>
                </a:solidFill>
                <a:latin typeface="Calibri"/>
                <a:ea typeface="Calibri"/>
                <a:cs typeface="Calibri"/>
              </a:rPr>
              <a:t>A mayor desviación estándar, mayor variabilidad en los datos.</a:t>
            </a:r>
            <a:endParaRPr lang="es-CO" sz="1600" b="1">
              <a:solidFill>
                <a:srgbClr val="1F3864"/>
              </a:solidFill>
              <a:latin typeface="Calibri"/>
              <a:ea typeface="Calibri"/>
              <a:cs typeface="Calibri"/>
            </a:endParaRPr>
          </a:p>
        </p:txBody>
      </p:sp>
      <p:sp>
        <p:nvSpPr>
          <p:cNvPr id="19" name="CuadroTexto 18">
            <a:extLst>
              <a:ext uri="{FF2B5EF4-FFF2-40B4-BE49-F238E27FC236}">
                <a16:creationId xmlns:a16="http://schemas.microsoft.com/office/drawing/2014/main" id="{48690ACF-1D35-44F2-8D94-41B3BBF2C48F}"/>
              </a:ext>
            </a:extLst>
          </p:cNvPr>
          <p:cNvSpPr txBox="1"/>
          <p:nvPr/>
        </p:nvSpPr>
        <p:spPr>
          <a:xfrm>
            <a:off x="457200" y="50546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Medida de dispersión de una distribución de probabilidad</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87493535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descr="Resultado de imagen para @risk 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6400" y="1219200"/>
            <a:ext cx="3251200" cy="4038600"/>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latin typeface="Calibri"/>
                <a:ea typeface="Calibri"/>
                <a:cs typeface="Calibri"/>
              </a:rPr>
              <a:t>La herramienta @Risk</a:t>
            </a:r>
            <a:endParaRPr lang="es-CO" sz="3000" b="1" dirty="0">
              <a:solidFill>
                <a:srgbClr val="1F3864"/>
              </a:solidFill>
              <a:latin typeface="Calibri"/>
              <a:ea typeface="Calibri"/>
              <a:cs typeface="Calibri"/>
            </a:endParaRPr>
          </a:p>
        </p:txBody>
      </p:sp>
      <p:sp>
        <p:nvSpPr>
          <p:cNvPr id="4" name="Rectángulo 3">
            <a:extLst>
              <a:ext uri="{FF2B5EF4-FFF2-40B4-BE49-F238E27FC236}">
                <a16:creationId xmlns:a16="http://schemas.microsoft.com/office/drawing/2014/main" id="{0DEA42BA-AE55-4BF5-95CC-A787D8EC1807}"/>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78B800D9-0248-45E5-93F8-59C2EEA8D005}"/>
              </a:ext>
            </a:extLst>
          </p:cNvPr>
          <p:cNvSpPr txBox="1"/>
          <p:nvPr/>
        </p:nvSpPr>
        <p:spPr>
          <a:xfrm>
            <a:off x="457200" y="53086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Complemento de Excel para simulación de Montecarlo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75091898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200" y="2489200"/>
            <a:ext cx="4165600" cy="2552700"/>
          </a:xfrm>
          <a:prstGeom prst="rect">
            <a:avLst/>
          </a:prstGeom>
          <a:noFill/>
          <a:extLst>
            <a:ext uri="{909E8E84-426E-40DD-AFC4-6F175D3DCCD1}">
              <a14:hiddenFill xmlns:a14="http://schemas.microsoft.com/office/drawing/2010/main">
                <a:solidFill>
                  <a:srgbClr val="FFFFFF"/>
                </a:solidFill>
              </a14:hiddenFill>
            </a:ext>
          </a:extLst>
        </p:spPr>
      </p:pic>
      <p:sp>
        <p:nvSpPr>
          <p:cNvPr id="2" name="1 Título"/>
          <p:cNvSpPr>
            <a:spLocks noGrp="1"/>
          </p:cNvSpPr>
          <p:nvPr>
            <p:ph type="title"/>
          </p:nvPr>
        </p:nvSpPr>
        <p:spPr>
          <a:xfrm>
            <a:off x="457200" y="304800"/>
            <a:ext cx="8229600" cy="533400"/>
          </a:xfrm>
          <a:noFill/>
          <a:ln>
            <a:noFill/>
          </a:ln>
        </p:spPr>
        <p:txBody>
          <a:bodyPr wrap="square" anchor="t" anchorCtr="0">
            <a:noAutofit/>
          </a:bodyPr>
          <a:lstStyle/>
          <a:p>
            <a:r>
              <a:rPr lang="es-CO" sz="3000" b="1">
                <a:solidFill>
                  <a:srgbClr val="1F3864"/>
                </a:solidFill>
                <a:effectLst>
                  <a:outerShdw blurRad="38100" dist="38100" dir="2700000" algn="tl">
                    <a:srgbClr val="000000">
                      <a:alpha val="43137"/>
                    </a:srgbClr>
                  </a:outerShdw>
                </a:effectLst>
                <a:latin typeface="Calibri"/>
                <a:ea typeface="Calibri"/>
                <a:cs typeface="Calibri"/>
              </a:rPr>
              <a:t>Distribución de probabilidad</a:t>
            </a:r>
            <a:endParaRPr lang="es-CO" sz="3000" b="1" dirty="0">
              <a:solidFill>
                <a:srgbClr val="1F3864"/>
              </a:solidFill>
              <a:effectLst>
                <a:outerShdw blurRad="38100" dist="38100" dir="2700000" algn="tl">
                  <a:srgbClr val="000000">
                    <a:alpha val="43137"/>
                  </a:srgbClr>
                </a:outerShdw>
              </a:effectLst>
              <a:latin typeface="Calibri"/>
              <a:ea typeface="Calibri"/>
              <a:cs typeface="Calibri"/>
            </a:endParaRPr>
          </a:p>
        </p:txBody>
      </p:sp>
      <p:sp>
        <p:nvSpPr>
          <p:cNvPr id="3" name="2 Marcador de contenido"/>
          <p:cNvSpPr>
            <a:spLocks noGrp="1"/>
          </p:cNvSpPr>
          <p:nvPr>
            <p:ph idx="1"/>
          </p:nvPr>
        </p:nvSpPr>
        <p:spPr>
          <a:xfrm>
            <a:off x="457200" y="1168400"/>
            <a:ext cx="8229600" cy="1066800"/>
          </a:xfrm>
          <a:solidFill>
            <a:srgbClr val="1F3864"/>
          </a:solidFill>
          <a:ln>
            <a:noFill/>
          </a:ln>
        </p:spPr>
        <p:txBody>
          <a:bodyPr wrap="square" anchor="ctr" anchorCtr="0">
            <a:noAutofit/>
          </a:bodyPr>
          <a:lstStyle/>
          <a:p>
            <a:pPr marL="0" indent="0" algn="just">
              <a:buNone/>
            </a:pPr>
            <a:r>
              <a:rPr lang="es-ES" sz="1800" b="1">
                <a:solidFill>
                  <a:srgbClr val="FFFFFF"/>
                </a:solidFill>
                <a:latin typeface="Calibri"/>
                <a:ea typeface="Calibri"/>
                <a:cs typeface="Calibri"/>
              </a:rPr>
              <a:t>Describe el rango de valores que puede tomar una variable aleatoria y la probabilidad asignada a cada valor o rango.</a:t>
            </a:r>
            <a:endParaRPr lang="es-CO" sz="1800" b="1" dirty="0">
              <a:solidFill>
                <a:srgbClr val="FFFFFF"/>
              </a:solidFill>
              <a:latin typeface="Calibri"/>
              <a:ea typeface="Calibri"/>
              <a:cs typeface="Calibri"/>
            </a:endParaRPr>
          </a:p>
        </p:txBody>
      </p:sp>
      <p:sp>
        <p:nvSpPr>
          <p:cNvPr id="4" name="Rectángulo 3">
            <a:extLst>
              <a:ext uri="{FF2B5EF4-FFF2-40B4-BE49-F238E27FC236}">
                <a16:creationId xmlns:a16="http://schemas.microsoft.com/office/drawing/2014/main" id="{D6BD13EC-C6DC-406E-A7C8-9F45929AF64B}"/>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66F87F1C-D259-406E-9679-316B287193F6}"/>
              </a:ext>
            </a:extLst>
          </p:cNvPr>
          <p:cNvSpPr txBox="1"/>
          <p:nvPr/>
        </p:nvSpPr>
        <p:spPr>
          <a:xfrm>
            <a:off x="457200" y="51054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Forma típica de una distribución continua</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52583416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457200" y="304800"/>
            <a:ext cx="8229600" cy="533400"/>
          </a:xfrm>
          <a:prstGeom prst="rect">
            <a:avLst/>
          </a:prstGeom>
          <a:noFill/>
          <a:ln>
            <a:noFill/>
          </a:ln>
        </p:spPr>
        <p:txBody>
          <a:bodyPr wrap="square" anchor="t" anchorCtr="0">
            <a:noAutofit/>
          </a:bodyPr>
          <a:lstStyle/>
          <a:p>
            <a:pPr algn="l">
              <a:lnSpc>
                <a:spcPts val="4500"/>
              </a:lnSpc>
              <a:defRPr/>
            </a:pPr>
            <a:r>
              <a:rPr lang="es-CO" sz="2800" b="1">
                <a:solidFill>
                  <a:srgbClr val="1F3864"/>
                </a:solidFill>
                <a:latin typeface="Calibri"/>
                <a:ea typeface="Calibri"/>
                <a:cs typeface="Calibri"/>
              </a:rPr>
              <a:t>Distribuciones discretas y continuas</a:t>
            </a:r>
            <a:endParaRPr lang="es-CO" sz="2800" b="1" dirty="0">
              <a:solidFill>
                <a:srgbClr val="1F3864"/>
              </a:solidFill>
              <a:latin typeface="Calibri"/>
              <a:ea typeface="Calibri"/>
              <a:cs typeface="Calibri"/>
            </a:endParaRPr>
          </a:p>
        </p:txBody>
      </p:sp>
      <p:sp>
        <p:nvSpPr>
          <p:cNvPr id="2" name="1 Rectángulo"/>
          <p:cNvSpPr/>
          <p:nvPr/>
        </p:nvSpPr>
        <p:spPr>
          <a:xfrm>
            <a:off x="457200" y="2133600"/>
            <a:ext cx="2133600" cy="1092200"/>
          </a:xfrm>
          <a:prstGeom prst="rect">
            <a:avLst/>
          </a:prstGeom>
          <a:solidFill>
            <a:srgbClr val="F2F5F9"/>
          </a:solidFill>
          <a:ln>
            <a:noFill/>
          </a:ln>
        </p:spPr>
        <p:txBody>
          <a:bodyPr wrap="square" anchor="ctr" anchorCtr="0">
            <a:noAutofit/>
          </a:bodyPr>
          <a:lstStyle/>
          <a:p>
            <a:r>
              <a:rPr lang="es-CO" sz="1300">
                <a:solidFill>
                  <a:srgbClr val="404040"/>
                </a:solidFill>
                <a:latin typeface="Calibri"/>
                <a:ea typeface="Calibri"/>
                <a:cs typeface="Calibri"/>
              </a:rPr>
              <a:t>Ejemplos: binomial, geométrica, Poisson, discreta.</a:t>
            </a:r>
            <a:endParaRPr lang="es-CO" sz="1300" dirty="0">
              <a:solidFill>
                <a:srgbClr val="404040"/>
              </a:solidFill>
              <a:latin typeface="Calibri"/>
              <a:ea typeface="Calibri"/>
              <a:cs typeface="Calibri"/>
            </a:endParaRPr>
          </a:p>
        </p:txBody>
      </p:sp>
      <p:sp>
        <p:nvSpPr>
          <p:cNvPr id="3" name="2 Rectángulo"/>
          <p:cNvSpPr/>
          <p:nvPr/>
        </p:nvSpPr>
        <p:spPr>
          <a:xfrm>
            <a:off x="457200" y="1219200"/>
            <a:ext cx="2133600" cy="812800"/>
          </a:xfrm>
          <a:prstGeom prst="rect">
            <a:avLst/>
          </a:prstGeom>
          <a:solidFill>
            <a:srgbClr val="1F3864"/>
          </a:solidFill>
          <a:ln>
            <a:noFill/>
          </a:ln>
        </p:spPr>
        <p:txBody>
          <a:bodyPr wrap="square" anchor="ctr" anchorCtr="0">
            <a:noAutofit/>
          </a:bodyPr>
          <a:lstStyle/>
          <a:p>
            <a:r>
              <a:rPr lang="es-CO" sz="1500" b="1">
                <a:solidFill>
                  <a:srgbClr val="FFFFFF"/>
                </a:solidFill>
                <a:latin typeface="Calibri"/>
                <a:ea typeface="Calibri"/>
                <a:cs typeface="Calibri"/>
              </a:rPr>
              <a:t>Distribución discreta</a:t>
            </a:r>
            <a:endParaRPr lang="es-CO" sz="1500" b="1" dirty="0">
              <a:solidFill>
                <a:srgbClr val="FFFFFF"/>
              </a:solidFill>
              <a:latin typeface="Calibri"/>
              <a:ea typeface="Calibri"/>
              <a:cs typeface="Calibri"/>
            </a:endParaRPr>
          </a:p>
        </p:txBody>
      </p:sp>
      <p:sp>
        <p:nvSpPr>
          <p:cNvPr id="4" name="3 Rectángulo"/>
          <p:cNvSpPr/>
          <p:nvPr/>
        </p:nvSpPr>
        <p:spPr>
          <a:xfrm>
            <a:off x="6553200" y="1219200"/>
            <a:ext cx="2133600" cy="812800"/>
          </a:xfrm>
          <a:prstGeom prst="rect">
            <a:avLst/>
          </a:prstGeom>
          <a:solidFill>
            <a:srgbClr val="1F3864"/>
          </a:solidFill>
          <a:ln>
            <a:noFill/>
          </a:ln>
        </p:spPr>
        <p:txBody>
          <a:bodyPr wrap="square" anchor="ctr" anchorCtr="0">
            <a:noAutofit/>
          </a:bodyPr>
          <a:lstStyle/>
          <a:p>
            <a:r>
              <a:rPr lang="es-CO" sz="1500" b="1">
                <a:solidFill>
                  <a:srgbClr val="FFFFFF"/>
                </a:solidFill>
                <a:latin typeface="Calibri"/>
                <a:ea typeface="Calibri"/>
                <a:cs typeface="Calibri"/>
              </a:rPr>
              <a:t>Distribución continua</a:t>
            </a:r>
            <a:endParaRPr lang="es-CO" sz="1500" b="1" dirty="0">
              <a:solidFill>
                <a:srgbClr val="FFFFFF"/>
              </a:solidFill>
              <a:latin typeface="Calibri"/>
              <a:ea typeface="Calibri"/>
              <a:cs typeface="Calibri"/>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844800" y="1397646"/>
            <a:ext cx="3454400" cy="2868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2" descr="Image result for variables discretas"/>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b="13856"/>
          <a:stretch/>
        </p:blipFill>
        <p:spPr bwMode="auto">
          <a:xfrm>
            <a:off x="660400" y="3403600"/>
            <a:ext cx="1727200" cy="109220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Image result for variables discretas"/>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934200" y="3593908"/>
            <a:ext cx="1371600" cy="1117983"/>
          </a:xfrm>
          <a:prstGeom prst="rect">
            <a:avLst/>
          </a:prstGeom>
          <a:noFill/>
          <a:extLst>
            <a:ext uri="{909E8E84-426E-40DD-AFC4-6F175D3DCCD1}">
              <a14:hiddenFill xmlns:a14="http://schemas.microsoft.com/office/drawing/2010/main">
                <a:solidFill>
                  <a:srgbClr val="FFFFFF"/>
                </a:solidFill>
              </a14:hiddenFill>
            </a:ext>
          </a:extLst>
        </p:spPr>
      </p:pic>
      <p:sp>
        <p:nvSpPr>
          <p:cNvPr id="5" name="4 Rectángulo"/>
          <p:cNvSpPr/>
          <p:nvPr/>
        </p:nvSpPr>
        <p:spPr>
          <a:xfrm>
            <a:off x="6553200" y="2133600"/>
            <a:ext cx="2133600" cy="1092200"/>
          </a:xfrm>
          <a:prstGeom prst="rect">
            <a:avLst/>
          </a:prstGeom>
          <a:solidFill>
            <a:srgbClr val="F2F5F9"/>
          </a:solidFill>
          <a:ln>
            <a:noFill/>
          </a:ln>
        </p:spPr>
        <p:txBody>
          <a:bodyPr wrap="square" anchor="ctr" anchorCtr="0">
            <a:noAutofit/>
          </a:bodyPr>
          <a:lstStyle/>
          <a:p>
            <a:r>
              <a:rPr lang="es-CO" sz="1300">
                <a:solidFill>
                  <a:srgbClr val="404040"/>
                </a:solidFill>
                <a:latin typeface="Calibri"/>
                <a:ea typeface="Calibri"/>
                <a:cs typeface="Calibri"/>
              </a:rPr>
              <a:t>Ejemplos: normal, lognormal, uniforme, triangular, PERT.</a:t>
            </a:r>
            <a:endParaRPr lang="es-CO" sz="1300" dirty="0">
              <a:solidFill>
                <a:srgbClr val="404040"/>
              </a:solidFill>
              <a:latin typeface="Calibri"/>
              <a:ea typeface="Calibri"/>
              <a:cs typeface="Calibri"/>
            </a:endParaRPr>
          </a:p>
        </p:txBody>
      </p:sp>
      <p:sp>
        <p:nvSpPr>
          <p:cNvPr id="19" name="Rectángulo 18">
            <a:extLst>
              <a:ext uri="{FF2B5EF4-FFF2-40B4-BE49-F238E27FC236}">
                <a16:creationId xmlns:a16="http://schemas.microsoft.com/office/drawing/2014/main" id="{0C3BACDD-5F12-4917-90D4-D2577DD87F7F}"/>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0" name="CuadroTexto 19">
            <a:extLst>
              <a:ext uri="{FF2B5EF4-FFF2-40B4-BE49-F238E27FC236}">
                <a16:creationId xmlns:a16="http://schemas.microsoft.com/office/drawing/2014/main" id="{08FAB2CC-7FBF-4370-A620-E27BAE71AF08}"/>
              </a:ext>
            </a:extLst>
          </p:cNvPr>
          <p:cNvSpPr txBox="1"/>
          <p:nvPr/>
        </p:nvSpPr>
        <p:spPr>
          <a:xfrm>
            <a:off x="457200" y="5029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La variable discreta toma valores contables; la continua, cualquier valor de un intervalo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32358352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457200" y="533400"/>
            <a:ext cx="8229600" cy="508000"/>
          </a:xfrm>
          <a:prstGeom prst="rect">
            <a:avLst/>
          </a:prstGeom>
          <a:noFill/>
          <a:ln>
            <a:noFill/>
          </a:ln>
        </p:spPr>
        <p:txBody>
          <a:bodyPr wrap="square" anchor="t" anchorCtr="0">
            <a:noAutofit/>
          </a:bodyPr>
          <a:lstStyle/>
          <a:p>
            <a:pPr algn="l">
              <a:lnSpc>
                <a:spcPts val="4500"/>
              </a:lnSpc>
              <a:defRPr/>
            </a:pPr>
            <a:r>
              <a:rPr lang="es-CO" sz="3000" b="1">
                <a:solidFill>
                  <a:srgbClr val="1F3864"/>
                </a:solidFill>
                <a:latin typeface="Calibri"/>
                <a:ea typeface="Calibri"/>
                <a:cs typeface="Calibri"/>
              </a:rPr>
              <a:t>Según su limitación</a:t>
            </a:r>
            <a:endParaRPr lang="es-CO" sz="3000" b="1" dirty="0">
              <a:solidFill>
                <a:srgbClr val="1F3864"/>
              </a:solidFill>
              <a:latin typeface="Calibri"/>
              <a:ea typeface="Calibri"/>
              <a:cs typeface="Calibri"/>
            </a:endParaRPr>
          </a:p>
        </p:txBody>
      </p:sp>
      <p:sp>
        <p:nvSpPr>
          <p:cNvPr id="16" name="2 Marcador de contenido"/>
          <p:cNvSpPr>
            <a:spLocks noGrp="1"/>
          </p:cNvSpPr>
          <p:nvPr>
            <p:ph idx="1"/>
          </p:nvPr>
        </p:nvSpPr>
        <p:spPr>
          <a:xfrm>
            <a:off x="457200" y="1346200"/>
            <a:ext cx="5588000" cy="1066800"/>
          </a:xfrm>
          <a:solidFill>
            <a:srgbClr val="F2F5F9"/>
          </a:solidFill>
          <a:ln>
            <a:noFill/>
          </a:ln>
        </p:spPr>
        <p:txBody>
          <a:bodyPr wrap="square" anchor="ctr" anchorCtr="0">
            <a:noAutofit/>
          </a:bodyPr>
          <a:lstStyle/>
          <a:p>
            <a:pPr marL="0" indent="0">
              <a:buNone/>
            </a:pPr>
            <a:r>
              <a:rPr lang="es-ES" sz="1400">
                <a:solidFill>
                  <a:srgbClr val="404040"/>
                </a:solidFill>
                <a:latin typeface="Calibri"/>
                <a:ea typeface="Calibri"/>
                <a:cs typeface="Calibri"/>
              </a:rPr>
              <a:t>No limitadas. La variable puede tomar valores entre menos y más infinito.
Ejemplos: normal, logística.</a:t>
            </a:r>
            <a:endParaRPr lang="es-CO" sz="1400" dirty="0">
              <a:solidFill>
                <a:srgbClr val="404040"/>
              </a:solidFill>
              <a:latin typeface="Calibri"/>
              <a:ea typeface="Calibri"/>
              <a:cs typeface="Calibri"/>
            </a:endParaRP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6350000" y="1479550"/>
            <a:ext cx="905518" cy="8000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50000" y="2540000"/>
            <a:ext cx="902153"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350000" y="3867150"/>
            <a:ext cx="1765738" cy="80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uadroTexto 2">
            <a:extLst>
              <a:ext uri="{FF2B5EF4-FFF2-40B4-BE49-F238E27FC236}">
                <a16:creationId xmlns:a16="http://schemas.microsoft.com/office/drawing/2014/main" id="{803D9620-1F63-4874-A060-7DD254C3BBD1}"/>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FUNCIONES DE DISTRIBUCIÓN</a:t>
            </a:r>
          </a:p>
        </p:txBody>
      </p:sp>
      <p:sp>
        <p:nvSpPr>
          <p:cNvPr id="4" name="Rectángulo 3">
            <a:extLst>
              <a:ext uri="{FF2B5EF4-FFF2-40B4-BE49-F238E27FC236}">
                <a16:creationId xmlns:a16="http://schemas.microsoft.com/office/drawing/2014/main" id="{102661BD-7A42-475B-82B5-45A89A9AE87E}"/>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Rectángulo 4">
            <a:extLst>
              <a:ext uri="{FF2B5EF4-FFF2-40B4-BE49-F238E27FC236}">
                <a16:creationId xmlns:a16="http://schemas.microsoft.com/office/drawing/2014/main" id="{BA3853E0-E633-41D0-AEFE-C42A1F86083E}"/>
              </a:ext>
            </a:extLst>
          </p:cNvPr>
          <p:cNvSpPr/>
          <p:nvPr/>
        </p:nvSpPr>
        <p:spPr>
          <a:xfrm>
            <a:off x="457200" y="2540000"/>
            <a:ext cx="5588000" cy="1066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sz="1400">
                <a:solidFill>
                  <a:srgbClr val="404040"/>
                </a:solidFill>
                <a:latin typeface="Calibri"/>
                <a:ea typeface="Calibri"/>
                <a:cs typeface="Calibri"/>
              </a:rPr>
              <a:t>Limitadas. Los valores quedan confinados entre dos extremos.
Ejemplos: binomial, beta, uniforme, triangular, histograma.</a:t>
            </a:r>
          </a:p>
        </p:txBody>
      </p:sp>
      <p:sp>
        <p:nvSpPr>
          <p:cNvPr id="15" name="Rectángulo 14">
            <a:extLst>
              <a:ext uri="{FF2B5EF4-FFF2-40B4-BE49-F238E27FC236}">
                <a16:creationId xmlns:a16="http://schemas.microsoft.com/office/drawing/2014/main" id="{A08F2111-D041-4DEF-9A75-E7465951B8B5}"/>
              </a:ext>
            </a:extLst>
          </p:cNvPr>
          <p:cNvSpPr/>
          <p:nvPr/>
        </p:nvSpPr>
        <p:spPr>
          <a:xfrm>
            <a:off x="457200" y="3733800"/>
            <a:ext cx="5588000" cy="10668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Parcialmente limitadas. Los valores se limitan en uno de los extremos.
Ejemplos: Poisson, exponencial.</a:t>
            </a:r>
            <a:endParaRPr lang="es-CO" sz="1400">
              <a:solidFill>
                <a:srgbClr val="404040"/>
              </a:solidFill>
              <a:latin typeface="Calibri"/>
              <a:ea typeface="Calibri"/>
              <a:cs typeface="Calibri"/>
            </a:endParaRPr>
          </a:p>
        </p:txBody>
      </p:sp>
      <p:sp>
        <p:nvSpPr>
          <p:cNvPr id="17" name="CuadroTexto 16">
            <a:extLst>
              <a:ext uri="{FF2B5EF4-FFF2-40B4-BE49-F238E27FC236}">
                <a16:creationId xmlns:a16="http://schemas.microsoft.com/office/drawing/2014/main" id="{9E9D2C04-A72E-4F5B-890A-5FF9CD7F55AB}"/>
              </a:ext>
            </a:extLst>
          </p:cNvPr>
          <p:cNvSpPr txBox="1"/>
          <p:nvPr/>
        </p:nvSpPr>
        <p:spPr>
          <a:xfrm>
            <a:off x="457200" y="49276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tres grupos según el recorrido de la variable</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417957733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457200" y="533400"/>
            <a:ext cx="8229600" cy="508000"/>
          </a:xfrm>
          <a:prstGeom prst="rect">
            <a:avLst/>
          </a:prstGeom>
          <a:noFill/>
          <a:ln>
            <a:noFill/>
          </a:ln>
        </p:spPr>
        <p:txBody>
          <a:bodyPr wrap="square" anchor="t" anchorCtr="0">
            <a:noAutofit/>
          </a:bodyPr>
          <a:lstStyle/>
          <a:p>
            <a:pPr algn="l">
              <a:lnSpc>
                <a:spcPts val="4500"/>
              </a:lnSpc>
              <a:defRPr/>
            </a:pPr>
            <a:r>
              <a:rPr lang="es-CO" sz="3000" b="1">
                <a:solidFill>
                  <a:srgbClr val="1F3864"/>
                </a:solidFill>
                <a:latin typeface="Calibri"/>
                <a:ea typeface="Calibri"/>
                <a:cs typeface="Calibri"/>
              </a:rPr>
              <a:t>Según sus parámetros</a:t>
            </a:r>
            <a:endParaRPr lang="es-CO" sz="3000" b="1" dirty="0">
              <a:solidFill>
                <a:srgbClr val="1F3864"/>
              </a:solidFill>
              <a:latin typeface="Calibri"/>
              <a:ea typeface="Calibri"/>
              <a:cs typeface="Calibri"/>
            </a:endParaRPr>
          </a:p>
        </p:txBody>
      </p:sp>
      <p:sp>
        <p:nvSpPr>
          <p:cNvPr id="15" name="2 Marcador de contenido"/>
          <p:cNvSpPr>
            <a:spLocks noGrp="1"/>
          </p:cNvSpPr>
          <p:nvPr>
            <p:ph idx="1"/>
          </p:nvPr>
        </p:nvSpPr>
        <p:spPr>
          <a:xfrm>
            <a:off x="457200" y="1346200"/>
            <a:ext cx="4038600" cy="3048000"/>
          </a:xfrm>
          <a:solidFill>
            <a:srgbClr val="F2F5F9"/>
          </a:solidFill>
          <a:ln>
            <a:noFill/>
          </a:ln>
        </p:spPr>
        <p:txBody>
          <a:bodyPr wrap="square" anchor="t" anchorCtr="0">
            <a:noAutofit/>
          </a:bodyPr>
          <a:lstStyle/>
          <a:p>
            <a:pPr marL="0" indent="0">
              <a:buNone/>
            </a:pPr>
            <a:r>
              <a:rPr lang="es-ES" sz="1400">
                <a:solidFill>
                  <a:srgbClr val="404040"/>
                </a:solidFill>
                <a:effectLst>
                  <a:outerShdw blurRad="38100" dist="38100" dir="2700000" algn="tl">
                    <a:srgbClr val="000000">
                      <a:alpha val="43137"/>
                    </a:srgbClr>
                  </a:outerShdw>
                </a:effectLst>
                <a:latin typeface="Calibri"/>
                <a:ea typeface="Calibri"/>
                <a:cs typeface="Calibri"/>
              </a:rPr>
              <a:t>Paramétricas
Se ajustan a la descripción matemática de un proceso aleatorio que cumple supuestos teóricos.
Sus parámetros no guardan relación intuitiva con la forma de la distribución.
Ejemplos: normal, lognormal, exponencial, beta.</a:t>
            </a:r>
            <a:endParaRPr lang="es-CO" sz="1400" dirty="0">
              <a:solidFill>
                <a:srgbClr val="404040"/>
              </a:solidFill>
              <a:latin typeface="Calibri"/>
              <a:ea typeface="Calibri"/>
              <a:cs typeface="Calibri"/>
            </a:endParaRPr>
          </a:p>
        </p:txBody>
      </p:sp>
      <p:sp>
        <p:nvSpPr>
          <p:cNvPr id="16" name="2 Marcador de contenido"/>
          <p:cNvSpPr txBox="1">
            <a:spLocks/>
          </p:cNvSpPr>
          <p:nvPr/>
        </p:nvSpPr>
        <p:spPr>
          <a:xfrm>
            <a:off x="4648200" y="1346200"/>
            <a:ext cx="4038600" cy="3048000"/>
          </a:xfrm>
          <a:prstGeom prst="rect">
            <a:avLst/>
          </a:prstGeom>
          <a:solidFill>
            <a:srgbClr val="F2F5F9"/>
          </a:solidFill>
          <a:ln>
            <a:noFill/>
          </a:ln>
        </p:spPr>
        <p:txBody>
          <a:bodyPr vert="horz" wrap="square" lIns="91440" tIns="45720" rIns="91440" bIns="4572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s-ES" sz="1400">
                <a:solidFill>
                  <a:srgbClr val="404040"/>
                </a:solidFill>
                <a:effectLst>
                  <a:outerShdw blurRad="38100" dist="38100" dir="2700000" algn="tl">
                    <a:srgbClr val="000000">
                      <a:alpha val="43137"/>
                    </a:srgbClr>
                  </a:outerShdw>
                </a:effectLst>
                <a:latin typeface="Calibri"/>
                <a:ea typeface="Calibri"/>
                <a:cs typeface="Calibri"/>
              </a:rPr>
              <a:t>No paramétricas
Sus parámetros describen directamente la forma de la distribución.
No se apoyan en una teoría del proceso que genera los valores, así que sirven para recoger la opinión de expertos.
Ejemplos: triangular, histograma, general, uniforme, acumulada.</a:t>
            </a:r>
            <a:endParaRPr lang="es-CO" sz="1400" dirty="0">
              <a:solidFill>
                <a:srgbClr val="404040"/>
              </a:solidFill>
              <a:latin typeface="Calibri"/>
              <a:ea typeface="Calibri"/>
              <a:cs typeface="Calibri"/>
            </a:endParaRPr>
          </a:p>
        </p:txBody>
      </p:sp>
      <p:sp>
        <p:nvSpPr>
          <p:cNvPr id="3" name="CuadroTexto 2">
            <a:extLst>
              <a:ext uri="{FF2B5EF4-FFF2-40B4-BE49-F238E27FC236}">
                <a16:creationId xmlns:a16="http://schemas.microsoft.com/office/drawing/2014/main" id="{83789B4B-666C-495D-8528-CA57EF66C122}"/>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FUNCIONES DE DISTRIBUCIÓN</a:t>
            </a:r>
          </a:p>
        </p:txBody>
      </p:sp>
      <p:sp>
        <p:nvSpPr>
          <p:cNvPr id="4" name="Rectángulo 3">
            <a:extLst>
              <a:ext uri="{FF2B5EF4-FFF2-40B4-BE49-F238E27FC236}">
                <a16:creationId xmlns:a16="http://schemas.microsoft.com/office/drawing/2014/main" id="{25D8A247-3917-4142-9F87-B46DA486921C}"/>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5" name="CuadroTexto 4">
            <a:extLst>
              <a:ext uri="{FF2B5EF4-FFF2-40B4-BE49-F238E27FC236}">
                <a16:creationId xmlns:a16="http://schemas.microsoft.com/office/drawing/2014/main" id="{2157904B-76C1-4685-BD9E-D6FF7CC1C64B}"/>
              </a:ext>
            </a:extLst>
          </p:cNvPr>
          <p:cNvSpPr txBox="1"/>
          <p:nvPr/>
        </p:nvSpPr>
        <p:spPr>
          <a:xfrm>
            <a:off x="457200" y="4521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La elección depende de si hay teoría detrás del proceso o solo juicio experto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96669171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p:cNvSpPr/>
          <p:nvPr/>
        </p:nvSpPr>
        <p:spPr>
          <a:xfrm>
            <a:off x="457200" y="533400"/>
            <a:ext cx="8229600" cy="508000"/>
          </a:xfrm>
          <a:prstGeom prst="rect">
            <a:avLst/>
          </a:prstGeom>
          <a:noFill/>
          <a:ln>
            <a:noFill/>
          </a:ln>
        </p:spPr>
        <p:txBody>
          <a:bodyPr wrap="square" anchor="t" anchorCtr="0">
            <a:noAutofit/>
          </a:bodyPr>
          <a:lstStyle/>
          <a:p>
            <a:pPr algn="r">
              <a:lnSpc>
                <a:spcPct val="70000"/>
              </a:lnSpc>
              <a:defRPr/>
            </a:pPr>
            <a:r>
              <a:rPr lang="es-ES" sz="3000" b="1">
                <a:solidFill>
                  <a:srgbClr val="1F3864"/>
                </a:solidFill>
                <a:latin typeface="Calibri"/>
                <a:ea typeface="Calibri"/>
                <a:cs typeface="Calibri"/>
              </a:rPr>
              <a:t>Según la fuente de información</a:t>
            </a:r>
            <a:endParaRPr lang="es-ES" sz="3000" b="1" dirty="0">
              <a:solidFill>
                <a:srgbClr val="1F3864"/>
              </a:solidFill>
              <a:latin typeface="Calibri"/>
              <a:ea typeface="Calibri"/>
              <a:cs typeface="Calibri"/>
            </a:endParaRPr>
          </a:p>
        </p:txBody>
      </p:sp>
      <p:sp>
        <p:nvSpPr>
          <p:cNvPr id="2" name="1 Marcador de contenido"/>
          <p:cNvSpPr>
            <a:spLocks noGrp="1"/>
          </p:cNvSpPr>
          <p:nvPr>
            <p:ph idx="1"/>
          </p:nvPr>
        </p:nvSpPr>
        <p:spPr>
          <a:xfrm>
            <a:off x="457200" y="1346200"/>
            <a:ext cx="8229600" cy="762000"/>
          </a:xfrm>
          <a:solidFill>
            <a:srgbClr val="1F3864"/>
          </a:solidFill>
          <a:ln>
            <a:noFill/>
          </a:ln>
        </p:spPr>
        <p:txBody>
          <a:bodyPr wrap="square" anchor="ctr" anchorCtr="0">
            <a:noAutofit/>
          </a:bodyPr>
          <a:lstStyle/>
          <a:p>
            <a:pPr marL="0" indent="0">
              <a:buNone/>
            </a:pPr>
            <a:r>
              <a:rPr lang="es-ES" sz="1700" b="1">
                <a:solidFill>
                  <a:srgbClr val="FFFFFF"/>
                </a:solidFill>
                <a:latin typeface="Calibri"/>
                <a:ea typeface="Calibri"/>
                <a:cs typeface="Calibri"/>
              </a:rPr>
              <a:t>Dos fuentes permiten cuantificar la incertidumbre de una variable aleatoria.</a:t>
            </a:r>
            <a:endParaRPr lang="es-CO" sz="1700" b="1" dirty="0">
              <a:solidFill>
                <a:srgbClr val="FFFFFF"/>
              </a:solidFill>
              <a:latin typeface="Calibri"/>
              <a:ea typeface="Calibri"/>
              <a:cs typeface="Calibri"/>
            </a:endParaRPr>
          </a:p>
        </p:txBody>
      </p:sp>
      <p:sp>
        <p:nvSpPr>
          <p:cNvPr id="4" name="CuadroTexto 3">
            <a:extLst>
              <a:ext uri="{FF2B5EF4-FFF2-40B4-BE49-F238E27FC236}">
                <a16:creationId xmlns:a16="http://schemas.microsoft.com/office/drawing/2014/main" id="{716D621C-B6DC-48D4-83FD-DFCD47D951C9}"/>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FUNCIONES DE DISTRIBUCIÓN</a:t>
            </a:r>
          </a:p>
        </p:txBody>
      </p:sp>
      <p:sp>
        <p:nvSpPr>
          <p:cNvPr id="5" name="Rectángulo 4">
            <a:extLst>
              <a:ext uri="{FF2B5EF4-FFF2-40B4-BE49-F238E27FC236}">
                <a16:creationId xmlns:a16="http://schemas.microsoft.com/office/drawing/2014/main" id="{6DC0B02F-FE99-400B-B262-16C18401D2E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5" name="Rectángulo 14">
            <a:extLst>
              <a:ext uri="{FF2B5EF4-FFF2-40B4-BE49-F238E27FC236}">
                <a16:creationId xmlns:a16="http://schemas.microsoft.com/office/drawing/2014/main" id="{F8D9E679-C880-41EC-872C-93662913E22C}"/>
              </a:ext>
            </a:extLst>
          </p:cNvPr>
          <p:cNvSpPr/>
          <p:nvPr/>
        </p:nvSpPr>
        <p:spPr>
          <a:xfrm>
            <a:off x="457200" y="2362200"/>
            <a:ext cx="4038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1. Series de datos
Se ajustan con pruebas de bondad de ajuste.</a:t>
            </a:r>
            <a:endParaRPr lang="es-CO" sz="1500">
              <a:solidFill>
                <a:srgbClr val="404040"/>
              </a:solidFill>
              <a:latin typeface="Calibri"/>
              <a:ea typeface="Calibri"/>
              <a:cs typeface="Calibri"/>
            </a:endParaRPr>
          </a:p>
        </p:txBody>
      </p:sp>
      <p:sp>
        <p:nvSpPr>
          <p:cNvPr id="16" name="Rectángulo 15">
            <a:extLst>
              <a:ext uri="{FF2B5EF4-FFF2-40B4-BE49-F238E27FC236}">
                <a16:creationId xmlns:a16="http://schemas.microsoft.com/office/drawing/2014/main" id="{37915BE4-63A1-419E-8560-764D6EB15A97}"/>
              </a:ext>
            </a:extLst>
          </p:cNvPr>
          <p:cNvSpPr/>
          <p:nvPr/>
        </p:nvSpPr>
        <p:spPr>
          <a:xfrm>
            <a:off x="4648200" y="2362200"/>
            <a:ext cx="4038600" cy="1219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2. Opinión de expertos
Se asignan funciones de distribución.</a:t>
            </a:r>
            <a:endParaRPr lang="es-CO" sz="1500">
              <a:solidFill>
                <a:srgbClr val="404040"/>
              </a:solidFill>
              <a:latin typeface="Calibri"/>
              <a:ea typeface="Calibri"/>
              <a:cs typeface="Calibri"/>
            </a:endParaRPr>
          </a:p>
        </p:txBody>
      </p:sp>
      <p:sp>
        <p:nvSpPr>
          <p:cNvPr id="17" name="Rectángulo 16">
            <a:extLst>
              <a:ext uri="{FF2B5EF4-FFF2-40B4-BE49-F238E27FC236}">
                <a16:creationId xmlns:a16="http://schemas.microsoft.com/office/drawing/2014/main" id="{3E5556EA-FA6D-485E-AB76-38F30F0778E8}"/>
              </a:ext>
            </a:extLst>
          </p:cNvPr>
          <p:cNvSpPr/>
          <p:nvPr/>
        </p:nvSpPr>
        <p:spPr>
          <a:xfrm>
            <a:off x="457200" y="3784600"/>
            <a:ext cx="8229600" cy="965200"/>
          </a:xfrm>
          <a:prstGeom prst="rect">
            <a:avLst/>
          </a:prstGeom>
          <a:solidFill>
            <a:srgbClr val="D6DC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b="1">
                <a:solidFill>
                  <a:srgbClr val="1F3864"/>
                </a:solidFill>
                <a:latin typeface="Calibri"/>
                <a:ea typeface="Calibri"/>
                <a:cs typeface="Calibri"/>
              </a:rPr>
              <a:t>Al partir de datos se supone que lo observado es una muestra aleatoria de la distribución que se busca identificar.</a:t>
            </a:r>
            <a:endParaRPr lang="es-CO" sz="1500" b="1">
              <a:solidFill>
                <a:srgbClr val="1F3864"/>
              </a:solidFill>
              <a:latin typeface="Calibri"/>
              <a:ea typeface="Calibri"/>
              <a:cs typeface="Calibri"/>
            </a:endParaRPr>
          </a:p>
        </p:txBody>
      </p:sp>
    </p:spTree>
    <p:extLst>
      <p:ext uri="{BB962C8B-B14F-4D97-AF65-F5344CB8AC3E}">
        <p14:creationId xmlns:p14="http://schemas.microsoft.com/office/powerpoint/2010/main" val="402099941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57200" y="2286000"/>
            <a:ext cx="8229600" cy="1397000"/>
          </a:xfrm>
          <a:solidFill>
            <a:srgbClr val="1F3864"/>
          </a:solidFill>
          <a:ln>
            <a:noFill/>
          </a:ln>
        </p:spPr>
        <p:txBody>
          <a:bodyPr wrap="square" anchor="ctr" anchorCtr="0">
            <a:noAutofit/>
          </a:bodyPr>
          <a:lstStyle/>
          <a:p>
            <a:r>
              <a:rPr lang="es-CO" sz="3400" b="1">
                <a:solidFill>
                  <a:srgbClr val="FFFFFF"/>
                </a:solidFill>
                <a:effectLst>
                  <a:outerShdw blurRad="38100" dist="38100" dir="2700000" algn="tl">
                    <a:srgbClr val="000000">
                      <a:alpha val="43137"/>
                    </a:srgbClr>
                  </a:outerShdw>
                </a:effectLst>
                <a:latin typeface="Calibri"/>
                <a:ea typeface="Calibri"/>
                <a:cs typeface="Calibri"/>
              </a:rPr>
              <a:t>Distribuciones de probabilidad</a:t>
            </a:r>
            <a:endParaRPr lang="es-CO" sz="3400" b="1" dirty="0">
              <a:solidFill>
                <a:srgbClr val="FFFFFF"/>
              </a:solidFill>
              <a:effectLst>
                <a:outerShdw blurRad="38100" dist="38100" dir="2700000" algn="tl">
                  <a:srgbClr val="000000">
                    <a:alpha val="43137"/>
                  </a:srgbClr>
                </a:outerShdw>
              </a:effectLst>
              <a:latin typeface="Calibri"/>
              <a:ea typeface="Calibri"/>
              <a:cs typeface="Calibri"/>
            </a:endParaRPr>
          </a:p>
        </p:txBody>
      </p:sp>
    </p:spTree>
    <p:extLst>
      <p:ext uri="{BB962C8B-B14F-4D97-AF65-F5344CB8AC3E}">
        <p14:creationId xmlns:p14="http://schemas.microsoft.com/office/powerpoint/2010/main" val="256678001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57200" y="304800"/>
            <a:ext cx="8229600" cy="533400"/>
          </a:xfrm>
          <a:noFill/>
          <a:ln>
            <a:noFill/>
          </a:ln>
        </p:spPr>
        <p:txBody>
          <a:bodyPr vert="horz" wrap="square" lIns="91440" tIns="45720" rIns="91440" bIns="45720" rtlCol="0" anchor="t" anchorCtr="0">
            <a:noAutofit/>
          </a:bodyPr>
          <a:lstStyle/>
          <a:p>
            <a:pPr algn="ctr"/>
            <a:r>
              <a:rPr lang="es-ES" sz="2800" b="1">
                <a:solidFill>
                  <a:srgbClr val="1F3864"/>
                </a:solidFill>
                <a:effectLst>
                  <a:outerShdw blurRad="38100" dist="38100" dir="2700000" algn="tl">
                    <a:srgbClr val="000000">
                      <a:alpha val="43137"/>
                    </a:srgbClr>
                  </a:outerShdw>
                </a:effectLst>
                <a:latin typeface="Calibri"/>
                <a:ea typeface="Calibri"/>
                <a:cs typeface="Calibri"/>
              </a:rPr>
              <a:t>Distribuciones más usadas en simulación</a:t>
            </a:r>
            <a:endParaRPr lang="es-CO" sz="2800" b="1" dirty="0">
              <a:solidFill>
                <a:srgbClr val="1F3864"/>
              </a:solidFill>
              <a:effectLst>
                <a:outerShdw blurRad="38100" dist="38100" dir="2700000" algn="tl">
                  <a:srgbClr val="000000">
                    <a:alpha val="43137"/>
                  </a:srgbClr>
                </a:outerShdw>
              </a:effectLst>
              <a:latin typeface="Calibri"/>
              <a:ea typeface="Calibri"/>
              <a:cs typeface="Calibri"/>
            </a:endParaRPr>
          </a:p>
        </p:txBody>
      </p:sp>
      <p:grpSp>
        <p:nvGrpSpPr>
          <p:cNvPr id="3" name="Grupo 2"/>
          <p:cNvGrpSpPr/>
          <p:nvPr/>
        </p:nvGrpSpPr>
        <p:grpSpPr>
          <a:xfrm>
            <a:off x="748612" y="2842027"/>
            <a:ext cx="1890210" cy="990742"/>
            <a:chOff x="2135560" y="1196752"/>
            <a:chExt cx="2520280" cy="1320989"/>
          </a:xfrm>
        </p:grpSpPr>
        <p:pic>
          <p:nvPicPr>
            <p:cNvPr id="6" name="Imagen 5"/>
            <p:cNvPicPr>
              <a:picLocks noChangeAspect="1"/>
            </p:cNvPicPr>
            <p:nvPr/>
          </p:nvPicPr>
          <p:blipFill>
            <a:blip r:embed="rId2"/>
            <a:stretch>
              <a:fillRect/>
            </a:stretch>
          </p:blipFill>
          <p:spPr>
            <a:xfrm>
              <a:off x="2135560" y="1537632"/>
              <a:ext cx="2520280" cy="980109"/>
            </a:xfrm>
            <a:prstGeom prst="rect">
              <a:avLst/>
            </a:prstGeom>
          </p:spPr>
        </p:pic>
        <p:sp>
          <p:nvSpPr>
            <p:cNvPr id="8" name="CuadroTexto 7"/>
            <p:cNvSpPr txBox="1"/>
            <p:nvPr/>
          </p:nvSpPr>
          <p:spPr>
            <a:xfrm>
              <a:off x="2783632" y="1196752"/>
              <a:ext cx="1224136" cy="400109"/>
            </a:xfrm>
            <a:prstGeom prst="rect">
              <a:avLst/>
            </a:prstGeom>
            <a:noFill/>
          </p:spPr>
          <p:txBody>
            <a:bodyPr wrap="square" rtlCol="0">
              <a:spAutoFit/>
            </a:bodyPr>
            <a:lstStyle/>
            <a:p>
              <a:pPr algn="ctr"/>
              <a:r>
                <a:rPr lang="es-CO" sz="1350" b="1" dirty="0">
                  <a:solidFill>
                    <a:srgbClr val="0033CC"/>
                  </a:solidFill>
                </a:rPr>
                <a:t>Binomial</a:t>
              </a:r>
            </a:p>
          </p:txBody>
        </p:sp>
      </p:grpSp>
      <p:grpSp>
        <p:nvGrpSpPr>
          <p:cNvPr id="4" name="Grupo 3"/>
          <p:cNvGrpSpPr/>
          <p:nvPr/>
        </p:nvGrpSpPr>
        <p:grpSpPr>
          <a:xfrm>
            <a:off x="4580302" y="2839991"/>
            <a:ext cx="1620180" cy="861872"/>
            <a:chOff x="4956838" y="1216560"/>
            <a:chExt cx="2160240" cy="1149163"/>
          </a:xfrm>
        </p:grpSpPr>
        <p:pic>
          <p:nvPicPr>
            <p:cNvPr id="5" name="Imagen 4"/>
            <p:cNvPicPr>
              <a:picLocks noChangeAspect="1"/>
            </p:cNvPicPr>
            <p:nvPr/>
          </p:nvPicPr>
          <p:blipFill>
            <a:blip r:embed="rId3"/>
            <a:stretch>
              <a:fillRect/>
            </a:stretch>
          </p:blipFill>
          <p:spPr>
            <a:xfrm>
              <a:off x="4956838" y="1537631"/>
              <a:ext cx="2160240" cy="828092"/>
            </a:xfrm>
            <a:prstGeom prst="rect">
              <a:avLst/>
            </a:prstGeom>
          </p:spPr>
        </p:pic>
        <p:sp>
          <p:nvSpPr>
            <p:cNvPr id="9" name="CuadroTexto 8"/>
            <p:cNvSpPr txBox="1"/>
            <p:nvPr/>
          </p:nvSpPr>
          <p:spPr>
            <a:xfrm>
              <a:off x="5591945" y="1216560"/>
              <a:ext cx="1224136" cy="400109"/>
            </a:xfrm>
            <a:prstGeom prst="rect">
              <a:avLst/>
            </a:prstGeom>
            <a:noFill/>
          </p:spPr>
          <p:txBody>
            <a:bodyPr wrap="square" rtlCol="0">
              <a:spAutoFit/>
            </a:bodyPr>
            <a:lstStyle>
              <a:defPPr>
                <a:defRPr lang="es-MX"/>
              </a:defPPr>
              <a:lvl1pPr algn="ctr">
                <a:defRPr b="1">
                  <a:solidFill>
                    <a:srgbClr val="0033CC"/>
                  </a:solidFill>
                </a:defRPr>
              </a:lvl1pPr>
            </a:lstStyle>
            <a:p>
              <a:r>
                <a:rPr lang="es-CO" sz="1350" dirty="0"/>
                <a:t>Poisson</a:t>
              </a:r>
            </a:p>
          </p:txBody>
        </p:sp>
      </p:grpSp>
      <p:grpSp>
        <p:nvGrpSpPr>
          <p:cNvPr id="19" name="Grupo 18"/>
          <p:cNvGrpSpPr/>
          <p:nvPr/>
        </p:nvGrpSpPr>
        <p:grpSpPr>
          <a:xfrm>
            <a:off x="748612" y="1382617"/>
            <a:ext cx="1774037" cy="1015190"/>
            <a:chOff x="7464152" y="1227575"/>
            <a:chExt cx="2365382" cy="1353586"/>
          </a:xfrm>
        </p:grpSpPr>
        <p:pic>
          <p:nvPicPr>
            <p:cNvPr id="7" name="Imagen 6"/>
            <p:cNvPicPr>
              <a:picLocks noChangeAspect="1"/>
            </p:cNvPicPr>
            <p:nvPr/>
          </p:nvPicPr>
          <p:blipFill>
            <a:blip r:embed="rId4"/>
            <a:stretch>
              <a:fillRect/>
            </a:stretch>
          </p:blipFill>
          <p:spPr>
            <a:xfrm>
              <a:off x="7464152" y="1474209"/>
              <a:ext cx="2365382" cy="1106952"/>
            </a:xfrm>
            <a:prstGeom prst="rect">
              <a:avLst/>
            </a:prstGeom>
          </p:spPr>
        </p:pic>
        <p:sp>
          <p:nvSpPr>
            <p:cNvPr id="10" name="CuadroTexto 9"/>
            <p:cNvSpPr txBox="1"/>
            <p:nvPr/>
          </p:nvSpPr>
          <p:spPr>
            <a:xfrm>
              <a:off x="8089186" y="1227575"/>
              <a:ext cx="1224136" cy="400109"/>
            </a:xfrm>
            <a:prstGeom prst="rect">
              <a:avLst/>
            </a:prstGeom>
            <a:noFill/>
          </p:spPr>
          <p:txBody>
            <a:bodyPr wrap="square" rtlCol="0">
              <a:spAutoFit/>
            </a:bodyPr>
            <a:lstStyle>
              <a:defPPr>
                <a:defRPr lang="es-MX"/>
              </a:defPPr>
              <a:lvl1pPr algn="ctr">
                <a:defRPr b="1">
                  <a:solidFill>
                    <a:srgbClr val="0033CC"/>
                  </a:solidFill>
                </a:defRPr>
              </a:lvl1pPr>
            </a:lstStyle>
            <a:p>
              <a:r>
                <a:rPr lang="es-CO" sz="1350" dirty="0"/>
                <a:t>Normal</a:t>
              </a:r>
            </a:p>
          </p:txBody>
        </p:sp>
      </p:grpSp>
      <p:grpSp>
        <p:nvGrpSpPr>
          <p:cNvPr id="20" name="Grupo 19"/>
          <p:cNvGrpSpPr/>
          <p:nvPr/>
        </p:nvGrpSpPr>
        <p:grpSpPr>
          <a:xfrm>
            <a:off x="4248306" y="1274746"/>
            <a:ext cx="2167998" cy="1120676"/>
            <a:chOff x="2066174" y="2852936"/>
            <a:chExt cx="2890664" cy="1494235"/>
          </a:xfrm>
        </p:grpSpPr>
        <p:pic>
          <p:nvPicPr>
            <p:cNvPr id="11" name="Imagen 10"/>
            <p:cNvPicPr>
              <a:picLocks noChangeAspect="1"/>
            </p:cNvPicPr>
            <p:nvPr/>
          </p:nvPicPr>
          <p:blipFill>
            <a:blip r:embed="rId5"/>
            <a:stretch>
              <a:fillRect/>
            </a:stretch>
          </p:blipFill>
          <p:spPr>
            <a:xfrm>
              <a:off x="2066174" y="3327388"/>
              <a:ext cx="2890664" cy="1019783"/>
            </a:xfrm>
            <a:prstGeom prst="rect">
              <a:avLst/>
            </a:prstGeom>
          </p:spPr>
        </p:pic>
        <p:sp>
          <p:nvSpPr>
            <p:cNvPr id="12" name="CuadroTexto 11"/>
            <p:cNvSpPr txBox="1"/>
            <p:nvPr/>
          </p:nvSpPr>
          <p:spPr>
            <a:xfrm>
              <a:off x="2758698" y="2852936"/>
              <a:ext cx="1224136" cy="400109"/>
            </a:xfrm>
            <a:prstGeom prst="rect">
              <a:avLst/>
            </a:prstGeom>
            <a:noFill/>
          </p:spPr>
          <p:txBody>
            <a:bodyPr wrap="square" rtlCol="0">
              <a:spAutoFit/>
            </a:bodyPr>
            <a:lstStyle>
              <a:defPPr>
                <a:defRPr lang="es-MX"/>
              </a:defPPr>
              <a:lvl1pPr algn="ctr">
                <a:defRPr b="1">
                  <a:solidFill>
                    <a:srgbClr val="0033CC"/>
                  </a:solidFill>
                </a:defRPr>
              </a:lvl1pPr>
            </a:lstStyle>
            <a:p>
              <a:r>
                <a:rPr lang="es-CO" sz="1350" dirty="0"/>
                <a:t>Triangular</a:t>
              </a:r>
            </a:p>
          </p:txBody>
        </p:sp>
      </p:grpSp>
      <p:grpSp>
        <p:nvGrpSpPr>
          <p:cNvPr id="21" name="Grupo 20"/>
          <p:cNvGrpSpPr/>
          <p:nvPr/>
        </p:nvGrpSpPr>
        <p:grpSpPr>
          <a:xfrm>
            <a:off x="2888921" y="1292236"/>
            <a:ext cx="1150000" cy="1105571"/>
            <a:chOff x="5430474" y="2852936"/>
            <a:chExt cx="1533333" cy="1474094"/>
          </a:xfrm>
        </p:grpSpPr>
        <p:pic>
          <p:nvPicPr>
            <p:cNvPr id="13" name="Imagen 12"/>
            <p:cNvPicPr>
              <a:picLocks noChangeAspect="1"/>
            </p:cNvPicPr>
            <p:nvPr/>
          </p:nvPicPr>
          <p:blipFill>
            <a:blip r:embed="rId6"/>
            <a:stretch>
              <a:fillRect/>
            </a:stretch>
          </p:blipFill>
          <p:spPr>
            <a:xfrm>
              <a:off x="5430474" y="3222268"/>
              <a:ext cx="1533333" cy="1104762"/>
            </a:xfrm>
            <a:prstGeom prst="rect">
              <a:avLst/>
            </a:prstGeom>
          </p:spPr>
        </p:pic>
        <p:sp>
          <p:nvSpPr>
            <p:cNvPr id="14" name="CuadroTexto 13"/>
            <p:cNvSpPr txBox="1"/>
            <p:nvPr/>
          </p:nvSpPr>
          <p:spPr>
            <a:xfrm>
              <a:off x="5483933" y="2852936"/>
              <a:ext cx="1224136" cy="400109"/>
            </a:xfrm>
            <a:prstGeom prst="rect">
              <a:avLst/>
            </a:prstGeom>
            <a:noFill/>
          </p:spPr>
          <p:txBody>
            <a:bodyPr wrap="square" rtlCol="0">
              <a:spAutoFit/>
            </a:bodyPr>
            <a:lstStyle>
              <a:defPPr>
                <a:defRPr lang="es-MX"/>
              </a:defPPr>
              <a:lvl1pPr algn="ctr">
                <a:defRPr b="1">
                  <a:solidFill>
                    <a:srgbClr val="0033CC"/>
                  </a:solidFill>
                </a:defRPr>
              </a:lvl1pPr>
            </a:lstStyle>
            <a:p>
              <a:r>
                <a:rPr lang="es-CO" sz="1350" dirty="0"/>
                <a:t>Pert</a:t>
              </a:r>
            </a:p>
          </p:txBody>
        </p:sp>
      </p:grpSp>
      <p:grpSp>
        <p:nvGrpSpPr>
          <p:cNvPr id="22" name="Grupo 21"/>
          <p:cNvGrpSpPr/>
          <p:nvPr/>
        </p:nvGrpSpPr>
        <p:grpSpPr>
          <a:xfrm>
            <a:off x="6888519" y="1244118"/>
            <a:ext cx="1599129" cy="1151304"/>
            <a:chOff x="7184044" y="2868995"/>
            <a:chExt cx="2132172" cy="1535072"/>
          </a:xfrm>
        </p:grpSpPr>
        <p:pic>
          <p:nvPicPr>
            <p:cNvPr id="15" name="Imagen 14"/>
            <p:cNvPicPr>
              <a:picLocks noChangeAspect="1"/>
            </p:cNvPicPr>
            <p:nvPr/>
          </p:nvPicPr>
          <p:blipFill>
            <a:blip r:embed="rId7"/>
            <a:stretch>
              <a:fillRect/>
            </a:stretch>
          </p:blipFill>
          <p:spPr>
            <a:xfrm>
              <a:off x="7184044" y="3345542"/>
              <a:ext cx="2132172" cy="1058525"/>
            </a:xfrm>
            <a:prstGeom prst="rect">
              <a:avLst/>
            </a:prstGeom>
          </p:spPr>
        </p:pic>
        <p:sp>
          <p:nvSpPr>
            <p:cNvPr id="16" name="CuadroTexto 15"/>
            <p:cNvSpPr txBox="1"/>
            <p:nvPr/>
          </p:nvSpPr>
          <p:spPr>
            <a:xfrm>
              <a:off x="7638063" y="2868995"/>
              <a:ext cx="1224136" cy="400109"/>
            </a:xfrm>
            <a:prstGeom prst="rect">
              <a:avLst/>
            </a:prstGeom>
            <a:noFill/>
          </p:spPr>
          <p:txBody>
            <a:bodyPr wrap="square" rtlCol="0">
              <a:spAutoFit/>
            </a:bodyPr>
            <a:lstStyle>
              <a:defPPr>
                <a:defRPr lang="es-MX"/>
              </a:defPPr>
              <a:lvl1pPr algn="ctr">
                <a:defRPr b="1">
                  <a:solidFill>
                    <a:srgbClr val="0033CC"/>
                  </a:solidFill>
                </a:defRPr>
              </a:lvl1pPr>
            </a:lstStyle>
            <a:p>
              <a:r>
                <a:rPr lang="es-CO" sz="1350" dirty="0"/>
                <a:t>Uniforme</a:t>
              </a:r>
            </a:p>
          </p:txBody>
        </p:sp>
      </p:grpSp>
      <p:grpSp>
        <p:nvGrpSpPr>
          <p:cNvPr id="23" name="Grupo 22"/>
          <p:cNvGrpSpPr/>
          <p:nvPr/>
        </p:nvGrpSpPr>
        <p:grpSpPr>
          <a:xfrm>
            <a:off x="3395967" y="4051417"/>
            <a:ext cx="2933602" cy="811888"/>
            <a:chOff x="4036834" y="4565279"/>
            <a:chExt cx="3911469" cy="1082517"/>
          </a:xfrm>
        </p:grpSpPr>
        <p:pic>
          <p:nvPicPr>
            <p:cNvPr id="17" name="Imagen 16" descr="Recorte de pantalla"/>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36834" y="4962218"/>
              <a:ext cx="3911469" cy="685578"/>
            </a:xfrm>
            <a:prstGeom prst="rect">
              <a:avLst/>
            </a:prstGeom>
          </p:spPr>
        </p:pic>
        <p:sp>
          <p:nvSpPr>
            <p:cNvPr id="18" name="CuadroTexto 17"/>
            <p:cNvSpPr txBox="1"/>
            <p:nvPr/>
          </p:nvSpPr>
          <p:spPr>
            <a:xfrm>
              <a:off x="5237721" y="4565279"/>
              <a:ext cx="1578359" cy="400109"/>
            </a:xfrm>
            <a:prstGeom prst="rect">
              <a:avLst/>
            </a:prstGeom>
            <a:noFill/>
          </p:spPr>
          <p:txBody>
            <a:bodyPr wrap="square" rtlCol="0">
              <a:spAutoFit/>
            </a:bodyPr>
            <a:lstStyle>
              <a:defPPr>
                <a:defRPr lang="es-MX"/>
              </a:defPPr>
              <a:lvl1pPr algn="ctr">
                <a:defRPr b="1">
                  <a:solidFill>
                    <a:srgbClr val="0033CC"/>
                  </a:solidFill>
                </a:defRPr>
              </a:lvl1pPr>
            </a:lstStyle>
            <a:p>
              <a:r>
                <a:rPr lang="es-CO" sz="1350" dirty="0"/>
                <a:t>Log-Normal</a:t>
              </a:r>
            </a:p>
          </p:txBody>
        </p:sp>
      </p:grpSp>
      <p:grpSp>
        <p:nvGrpSpPr>
          <p:cNvPr id="27" name="Grupo 26"/>
          <p:cNvGrpSpPr/>
          <p:nvPr/>
        </p:nvGrpSpPr>
        <p:grpSpPr>
          <a:xfrm>
            <a:off x="2909205" y="2876309"/>
            <a:ext cx="1225607" cy="677770"/>
            <a:chOff x="8985051" y="3103454"/>
            <a:chExt cx="1634143" cy="903693"/>
          </a:xfrm>
        </p:grpSpPr>
        <p:pic>
          <p:nvPicPr>
            <p:cNvPr id="25" name="Imagen 24" descr="Recorte de pantalla"/>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985051" y="3563775"/>
              <a:ext cx="1634143" cy="443372"/>
            </a:xfrm>
            <a:prstGeom prst="rect">
              <a:avLst/>
            </a:prstGeom>
          </p:spPr>
        </p:pic>
        <p:sp>
          <p:nvSpPr>
            <p:cNvPr id="26" name="Rectángulo 25"/>
            <p:cNvSpPr/>
            <p:nvPr/>
          </p:nvSpPr>
          <p:spPr>
            <a:xfrm>
              <a:off x="9372750" y="3103454"/>
              <a:ext cx="1020024" cy="400109"/>
            </a:xfrm>
            <a:prstGeom prst="rect">
              <a:avLst/>
            </a:prstGeom>
          </p:spPr>
          <p:txBody>
            <a:bodyPr wrap="none">
              <a:spAutoFit/>
            </a:bodyPr>
            <a:lstStyle/>
            <a:p>
              <a:r>
                <a:rPr lang="es-CO" sz="1350" b="1">
                  <a:solidFill>
                    <a:srgbClr val="0033CC"/>
                  </a:solidFill>
                </a:rPr>
                <a:t>Discreta</a:t>
              </a:r>
            </a:p>
          </p:txBody>
        </p:sp>
      </p:grpSp>
      <p:pic>
        <p:nvPicPr>
          <p:cNvPr id="37" name="Imagen 36" descr="Recorte de pantalla"/>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981848" y="3078404"/>
            <a:ext cx="1505801" cy="857009"/>
          </a:xfrm>
          <a:prstGeom prst="rect">
            <a:avLst/>
          </a:prstGeom>
        </p:spPr>
      </p:pic>
      <p:sp>
        <p:nvSpPr>
          <p:cNvPr id="38" name="Rectángulo 37"/>
          <p:cNvSpPr/>
          <p:nvPr/>
        </p:nvSpPr>
        <p:spPr>
          <a:xfrm>
            <a:off x="7338205" y="2801404"/>
            <a:ext cx="746743" cy="300082"/>
          </a:xfrm>
          <a:prstGeom prst="rect">
            <a:avLst/>
          </a:prstGeom>
        </p:spPr>
        <p:txBody>
          <a:bodyPr wrap="none">
            <a:spAutoFit/>
          </a:bodyPr>
          <a:lstStyle/>
          <a:p>
            <a:r>
              <a:rPr lang="es-CO" sz="1350" b="1" dirty="0">
                <a:solidFill>
                  <a:srgbClr val="0033CC"/>
                </a:solidFill>
              </a:rPr>
              <a:t>General</a:t>
            </a:r>
          </a:p>
        </p:txBody>
      </p:sp>
      <p:sp>
        <p:nvSpPr>
          <p:cNvPr id="28" name="Rectángulo 27">
            <a:extLst>
              <a:ext uri="{FF2B5EF4-FFF2-40B4-BE49-F238E27FC236}">
                <a16:creationId xmlns:a16="http://schemas.microsoft.com/office/drawing/2014/main" id="{7FA67E67-F707-4E99-9705-DF120520B38F}"/>
              </a:ext>
            </a:extLst>
          </p:cNvPr>
          <p:cNvSpPr/>
          <p:nvPr/>
        </p:nvSpPr>
        <p:spPr>
          <a:xfrm>
            <a:off x="457200" y="914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9" name="CuadroTexto 28">
            <a:extLst>
              <a:ext uri="{FF2B5EF4-FFF2-40B4-BE49-F238E27FC236}">
                <a16:creationId xmlns:a16="http://schemas.microsoft.com/office/drawing/2014/main" id="{109E2392-7539-45C7-BA06-C243B978F8F0}"/>
              </a:ext>
            </a:extLst>
          </p:cNvPr>
          <p:cNvSpPr txBox="1"/>
          <p:nvPr/>
        </p:nvSpPr>
        <p:spPr>
          <a:xfrm>
            <a:off x="457200" y="52324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Formas típicas de las distribuciones que aparecen con más frecuencia en modelos de riesgo</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62208302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346200"/>
            <a:ext cx="8229600" cy="1219200"/>
          </a:xfrm>
          <a:solidFill>
            <a:srgbClr val="1F3864"/>
          </a:solidFill>
          <a:ln>
            <a:noFill/>
          </a:ln>
        </p:spPr>
        <p:txBody>
          <a:bodyPr wrap="square" anchor="ctr" anchorCtr="0">
            <a:noAutofit/>
          </a:bodyPr>
          <a:lstStyle/>
          <a:p>
            <a:pPr marL="0" indent="0">
              <a:buNone/>
            </a:pPr>
            <a:r>
              <a:rPr lang="es-ES" sz="1700" b="1">
                <a:solidFill>
                  <a:srgbClr val="FFFFFF"/>
                </a:solidFill>
                <a:effectLst>
                  <a:outerShdw blurRad="38100" dist="38100" dir="2700000" algn="tl">
                    <a:srgbClr val="000000">
                      <a:alpha val="43137"/>
                    </a:srgbClr>
                  </a:outerShdw>
                </a:effectLst>
                <a:latin typeface="Calibri"/>
                <a:ea typeface="Calibri"/>
                <a:cs typeface="Calibri"/>
              </a:rPr>
              <a:t>Sirve para distribuciones discretas y continuas, numéricas y no numéricas.</a:t>
            </a:r>
            <a:endParaRPr lang="es-CO" sz="1700" b="1" dirty="0">
              <a:solidFill>
                <a:srgbClr val="FFFFFF"/>
              </a:solidFill>
              <a:latin typeface="Calibri"/>
              <a:ea typeface="Calibri"/>
              <a:cs typeface="Calibri"/>
            </a:endParaRPr>
          </a:p>
        </p:txBody>
      </p:sp>
      <p:sp>
        <p:nvSpPr>
          <p:cNvPr id="4" name="CuadroTexto 3">
            <a:extLst>
              <a:ext uri="{FF2B5EF4-FFF2-40B4-BE49-F238E27FC236}">
                <a16:creationId xmlns:a16="http://schemas.microsoft.com/office/drawing/2014/main" id="{748C9956-2250-4185-B13A-82458F9530FF}"/>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BONDAD DE AJUSTE · 1 DE 3</a:t>
            </a:r>
          </a:p>
        </p:txBody>
      </p:sp>
      <p:sp>
        <p:nvSpPr>
          <p:cNvPr id="5" name="CuadroTexto 4">
            <a:extLst>
              <a:ext uri="{FF2B5EF4-FFF2-40B4-BE49-F238E27FC236}">
                <a16:creationId xmlns:a16="http://schemas.microsoft.com/office/drawing/2014/main" id="{DBA05AC8-B391-458C-8EA2-75DEDAB1543B}"/>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Chi cuadrado</a:t>
            </a:r>
          </a:p>
        </p:txBody>
      </p:sp>
      <p:sp>
        <p:nvSpPr>
          <p:cNvPr id="6" name="Rectángulo 5">
            <a:extLst>
              <a:ext uri="{FF2B5EF4-FFF2-40B4-BE49-F238E27FC236}">
                <a16:creationId xmlns:a16="http://schemas.microsoft.com/office/drawing/2014/main" id="{BD783B14-4C41-41B0-867E-5F91D53913DD}"/>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DF29B011-B567-4D60-9A07-FD8AC818178D}"/>
              </a:ext>
            </a:extLst>
          </p:cNvPr>
          <p:cNvSpPr/>
          <p:nvPr/>
        </p:nvSpPr>
        <p:spPr>
          <a:xfrm>
            <a:off x="457200" y="2768600"/>
            <a:ext cx="8229600" cy="1016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500">
                <a:solidFill>
                  <a:srgbClr val="404040"/>
                </a:solidFill>
                <a:latin typeface="Calibri"/>
                <a:ea typeface="Calibri"/>
                <a:cs typeface="Calibri"/>
              </a:rPr>
              <a:t>Se usa para ajustar datos con funciones de probabilidad homogénea o funciones cuadradas.</a:t>
            </a:r>
            <a:endParaRPr lang="es-CO" sz="1500">
              <a:solidFill>
                <a:srgbClr val="404040"/>
              </a:solidFill>
              <a:latin typeface="Calibri"/>
              <a:ea typeface="Calibri"/>
              <a:cs typeface="Calibri"/>
            </a:endParaRPr>
          </a:p>
        </p:txBody>
      </p:sp>
      <p:sp>
        <p:nvSpPr>
          <p:cNvPr id="8" name="CuadroTexto 7">
            <a:extLst>
              <a:ext uri="{FF2B5EF4-FFF2-40B4-BE49-F238E27FC236}">
                <a16:creationId xmlns:a16="http://schemas.microsoft.com/office/drawing/2014/main" id="{EF6C545D-1F11-467A-A047-EA6C656B32B8}"/>
              </a:ext>
            </a:extLst>
          </p:cNvPr>
          <p:cNvSpPr txBox="1"/>
          <p:nvPr/>
        </p:nvSpPr>
        <p:spPr>
          <a:xfrm>
            <a:off x="457200" y="3886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indicadores de bondad de ajuste más usados son tres: chi cuadrado, Kolmogorov-Smirnov y Anderson-Darling</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14368081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346200"/>
            <a:ext cx="4064000" cy="1778000"/>
          </a:xfrm>
          <a:solidFill>
            <a:srgbClr val="1F3864"/>
          </a:solidFill>
          <a:ln>
            <a:noFill/>
          </a:ln>
        </p:spPr>
        <p:txBody>
          <a:bodyPr wrap="square" anchor="ctr" anchorCtr="0">
            <a:noAutofit/>
          </a:bodyPr>
          <a:lstStyle/>
          <a:p>
            <a:pPr marL="0" indent="0" algn="just">
              <a:buNone/>
            </a:pPr>
            <a:r>
              <a:rPr lang="es-ES" sz="1700" b="1">
                <a:solidFill>
                  <a:srgbClr val="FFFFFF"/>
                </a:solidFill>
                <a:latin typeface="Calibri"/>
                <a:ea typeface="Calibri"/>
                <a:cs typeface="Calibri"/>
              </a:rPr>
              <a:t>Para distribuciones continuas. Especialista en datos centrales.</a:t>
            </a:r>
            <a:endParaRPr lang="es-CO" sz="1700" b="1" dirty="0">
              <a:solidFill>
                <a:srgbClr val="FFFFFF"/>
              </a:solidFill>
              <a:latin typeface="Calibri"/>
              <a:ea typeface="Calibri"/>
              <a:cs typeface="Calibri"/>
            </a:endParaRPr>
          </a:p>
        </p:txBody>
      </p:sp>
      <p:pic>
        <p:nvPicPr>
          <p:cNvPr id="4" name="Picture 2" descr="Image result for colas pesadas estadistic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346200"/>
            <a:ext cx="3657600" cy="269240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B2C172B9-BE0D-4FD4-BBF5-A33E80532CBA}"/>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BONDAD DE AJUSTE · 2 DE 3</a:t>
            </a:r>
          </a:p>
        </p:txBody>
      </p:sp>
      <p:sp>
        <p:nvSpPr>
          <p:cNvPr id="6" name="CuadroTexto 5">
            <a:extLst>
              <a:ext uri="{FF2B5EF4-FFF2-40B4-BE49-F238E27FC236}">
                <a16:creationId xmlns:a16="http://schemas.microsoft.com/office/drawing/2014/main" id="{14CE0991-7E32-4DB2-94D9-D1C7CE51AB25}"/>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Kolmogorov-Smirnov</a:t>
            </a:r>
          </a:p>
        </p:txBody>
      </p:sp>
      <p:sp>
        <p:nvSpPr>
          <p:cNvPr id="7" name="Rectángulo 6">
            <a:extLst>
              <a:ext uri="{FF2B5EF4-FFF2-40B4-BE49-F238E27FC236}">
                <a16:creationId xmlns:a16="http://schemas.microsoft.com/office/drawing/2014/main" id="{1FDB5C21-8A95-44DD-BD8E-34B90D1987F5}"/>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7">
            <a:extLst>
              <a:ext uri="{FF2B5EF4-FFF2-40B4-BE49-F238E27FC236}">
                <a16:creationId xmlns:a16="http://schemas.microsoft.com/office/drawing/2014/main" id="{249EED4D-3331-4F07-869E-98788E8A07D2}"/>
              </a:ext>
            </a:extLst>
          </p:cNvPr>
          <p:cNvSpPr/>
          <p:nvPr/>
        </p:nvSpPr>
        <p:spPr>
          <a:xfrm>
            <a:off x="457200" y="3302000"/>
            <a:ext cx="4064000" cy="1524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dirty="0">
                <a:solidFill>
                  <a:srgbClr val="404040"/>
                </a:solidFill>
                <a:latin typeface="Calibri"/>
                <a:ea typeface="Calibri"/>
                <a:cs typeface="Calibri"/>
              </a:rPr>
              <a:t>Ajusta datos a una función de distribución cuando están centrados en la media y hay muchos datos que se extienden en las colas.</a:t>
            </a:r>
            <a:endParaRPr lang="es-CO" sz="1400" dirty="0">
              <a:solidFill>
                <a:srgbClr val="404040"/>
              </a:solidFill>
              <a:latin typeface="Calibri"/>
              <a:ea typeface="Calibri"/>
              <a:cs typeface="Calibri"/>
            </a:endParaRPr>
          </a:p>
        </p:txBody>
      </p:sp>
      <p:sp>
        <p:nvSpPr>
          <p:cNvPr id="9" name="CuadroTexto 8">
            <a:extLst>
              <a:ext uri="{FF2B5EF4-FFF2-40B4-BE49-F238E27FC236}">
                <a16:creationId xmlns:a16="http://schemas.microsoft.com/office/drawing/2014/main" id="{25360AE5-0327-44C6-B31A-176644133686}"/>
              </a:ext>
            </a:extLst>
          </p:cNvPr>
          <p:cNvSpPr txBox="1"/>
          <p:nvPr/>
        </p:nvSpPr>
        <p:spPr>
          <a:xfrm>
            <a:off x="457200" y="49276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Comparación entre la distribución empírica y la teórica</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91928738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1905000"/>
            <a:ext cx="3657600" cy="1473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uadroTexto 6">
            <a:extLst>
              <a:ext uri="{FF2B5EF4-FFF2-40B4-BE49-F238E27FC236}">
                <a16:creationId xmlns:a16="http://schemas.microsoft.com/office/drawing/2014/main" id="{76B9964B-31A3-420D-AE80-2DA17473DE37}"/>
              </a:ext>
            </a:extLst>
          </p:cNvPr>
          <p:cNvSpPr txBox="1"/>
          <p:nvPr/>
        </p:nvSpPr>
        <p:spPr>
          <a:xfrm>
            <a:off x="457200" y="279400"/>
            <a:ext cx="5334000" cy="203200"/>
          </a:xfrm>
          <a:prstGeom prst="rect">
            <a:avLst/>
          </a:prstGeom>
          <a:noFill/>
          <a:ln>
            <a:noFill/>
          </a:ln>
        </p:spPr>
        <p:txBody>
          <a:bodyPr vertOverflow="overflow" vert="horz" wrap="square" rtlCol="0" anchor="t" anchorCtr="0">
            <a:noAutofit/>
          </a:bodyPr>
          <a:lstStyle/>
          <a:p>
            <a:pPr algn="l"/>
            <a:r>
              <a:rPr lang="es-CO" sz="1200" b="1">
                <a:solidFill>
                  <a:srgbClr val="ED7D31"/>
                </a:solidFill>
                <a:latin typeface="Calibri"/>
                <a:ea typeface="Calibri"/>
                <a:cs typeface="Calibri"/>
              </a:rPr>
              <a:t>BONDAD DE AJUSTE · 3 DE 3</a:t>
            </a:r>
          </a:p>
        </p:txBody>
      </p:sp>
      <p:sp>
        <p:nvSpPr>
          <p:cNvPr id="8" name="CuadroTexto 7">
            <a:extLst>
              <a:ext uri="{FF2B5EF4-FFF2-40B4-BE49-F238E27FC236}">
                <a16:creationId xmlns:a16="http://schemas.microsoft.com/office/drawing/2014/main" id="{736C2032-5DAC-46B0-8A88-B109BA189315}"/>
              </a:ext>
            </a:extLst>
          </p:cNvPr>
          <p:cNvSpPr txBox="1"/>
          <p:nvPr/>
        </p:nvSpPr>
        <p:spPr>
          <a:xfrm>
            <a:off x="457200" y="533400"/>
            <a:ext cx="8229600" cy="508000"/>
          </a:xfrm>
          <a:prstGeom prst="rect">
            <a:avLst/>
          </a:prstGeom>
          <a:noFill/>
          <a:ln>
            <a:noFill/>
          </a:ln>
        </p:spPr>
        <p:txBody>
          <a:bodyPr vertOverflow="overflow" vert="horz" wrap="square" rtlCol="0" anchor="t" anchorCtr="0">
            <a:noAutofit/>
          </a:bodyPr>
          <a:lstStyle/>
          <a:p>
            <a:pPr algn="l"/>
            <a:r>
              <a:rPr lang="es-CO" sz="3000" b="1">
                <a:solidFill>
                  <a:srgbClr val="1F3864"/>
                </a:solidFill>
                <a:latin typeface="Calibri"/>
                <a:ea typeface="Calibri"/>
                <a:cs typeface="Calibri"/>
              </a:rPr>
              <a:t>Anderson-Darling</a:t>
            </a:r>
          </a:p>
        </p:txBody>
      </p:sp>
      <p:sp>
        <p:nvSpPr>
          <p:cNvPr id="9" name="Rectángulo 8">
            <a:extLst>
              <a:ext uri="{FF2B5EF4-FFF2-40B4-BE49-F238E27FC236}">
                <a16:creationId xmlns:a16="http://schemas.microsoft.com/office/drawing/2014/main" id="{EB3B2BF8-A1A8-4F6B-BD70-76F5715E5FC2}"/>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0" name="Rectángulo 9">
            <a:extLst>
              <a:ext uri="{FF2B5EF4-FFF2-40B4-BE49-F238E27FC236}">
                <a16:creationId xmlns:a16="http://schemas.microsoft.com/office/drawing/2014/main" id="{CC4D6F56-F333-4DDD-BBB2-BACEC5896D9A}"/>
              </a:ext>
            </a:extLst>
          </p:cNvPr>
          <p:cNvSpPr/>
          <p:nvPr/>
        </p:nvSpPr>
        <p:spPr>
          <a:xfrm>
            <a:off x="457200" y="1346200"/>
            <a:ext cx="4064000" cy="16510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700" b="1">
                <a:solidFill>
                  <a:srgbClr val="FFFFFF"/>
                </a:solidFill>
                <a:latin typeface="Calibri"/>
                <a:ea typeface="Calibri"/>
                <a:cs typeface="Calibri"/>
              </a:rPr>
              <a:t>Versión más sofisticada de Kolmogorov-Smirnov: pone el énfasis en las colas.</a:t>
            </a:r>
            <a:endParaRPr lang="es-CO" sz="1700" b="1">
              <a:solidFill>
                <a:srgbClr val="FFFFFF"/>
              </a:solidFill>
              <a:latin typeface="Calibri"/>
              <a:ea typeface="Calibri"/>
              <a:cs typeface="Calibri"/>
            </a:endParaRPr>
          </a:p>
        </p:txBody>
      </p:sp>
      <p:sp>
        <p:nvSpPr>
          <p:cNvPr id="11" name="Rectángulo 10">
            <a:extLst>
              <a:ext uri="{FF2B5EF4-FFF2-40B4-BE49-F238E27FC236}">
                <a16:creationId xmlns:a16="http://schemas.microsoft.com/office/drawing/2014/main" id="{BE98746D-DDAA-4ECB-BF80-B774DFE59476}"/>
              </a:ext>
            </a:extLst>
          </p:cNvPr>
          <p:cNvSpPr/>
          <p:nvPr/>
        </p:nvSpPr>
        <p:spPr>
          <a:xfrm>
            <a:off x="457200" y="3175000"/>
            <a:ext cx="4064000" cy="16510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400">
                <a:solidFill>
                  <a:srgbClr val="404040"/>
                </a:solidFill>
                <a:latin typeface="Calibri"/>
                <a:ea typeface="Calibri"/>
                <a:cs typeface="Calibri"/>
              </a:rPr>
              <a:t>Ajusta datos a una función de distribución cuando están centrados en la media y hay pocos datos en las colas.</a:t>
            </a:r>
            <a:endParaRPr lang="es-CO" sz="1400">
              <a:solidFill>
                <a:srgbClr val="404040"/>
              </a:solidFill>
              <a:latin typeface="Calibri"/>
              <a:ea typeface="Calibri"/>
              <a:cs typeface="Calibri"/>
            </a:endParaRPr>
          </a:p>
        </p:txBody>
      </p:sp>
      <p:sp>
        <p:nvSpPr>
          <p:cNvPr id="12" name="CuadroTexto 11">
            <a:extLst>
              <a:ext uri="{FF2B5EF4-FFF2-40B4-BE49-F238E27FC236}">
                <a16:creationId xmlns:a16="http://schemas.microsoft.com/office/drawing/2014/main" id="{E8E8D1DF-BA95-4C59-8A1C-FF9ABD80668C}"/>
              </a:ext>
            </a:extLst>
          </p:cNvPr>
          <p:cNvSpPr txBox="1"/>
          <p:nvPr/>
        </p:nvSpPr>
        <p:spPr>
          <a:xfrm>
            <a:off x="5029200" y="3556000"/>
            <a:ext cx="3657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Comparación del ajuste en las colas de la distribución</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13581370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168400"/>
            <a:ext cx="8229600" cy="1397000"/>
          </a:xfrm>
          <a:solidFill>
            <a:srgbClr val="1F3864"/>
          </a:solidFill>
          <a:ln>
            <a:noFill/>
          </a:ln>
        </p:spPr>
        <p:txBody>
          <a:bodyPr wrap="square" anchor="ctr" anchorCtr="0">
            <a:noAutofit/>
          </a:bodyPr>
          <a:lstStyle/>
          <a:p>
            <a:pPr marL="0" indent="0">
              <a:buNone/>
            </a:pPr>
            <a:r>
              <a:rPr lang="es-ES" sz="1600" b="1">
                <a:solidFill>
                  <a:srgbClr val="FFFFFF"/>
                </a:solidFill>
                <a:latin typeface="Calibri"/>
                <a:ea typeface="Calibri"/>
                <a:cs typeface="Calibri"/>
              </a:rPr>
              <a:t>En variables de proyecto, cuando se combina una cola pesada con una liviana se comparan las desviaciones estándar de Anderson-Darling y de Kolmogorov-Smirnov, y se elige la menor.</a:t>
            </a:r>
            <a:endParaRPr lang="es-CO" sz="1600" b="1" dirty="0">
              <a:solidFill>
                <a:srgbClr val="FFFFFF"/>
              </a:solidFill>
              <a:latin typeface="Calibri"/>
              <a:ea typeface="Calibri"/>
              <a:cs typeface="Calibri"/>
            </a:endParaRPr>
          </a:p>
        </p:txBody>
      </p:sp>
      <p:pic>
        <p:nvPicPr>
          <p:cNvPr id="573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54300" y="2870200"/>
            <a:ext cx="3835400" cy="1422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uadroTexto 3">
            <a:extLst>
              <a:ext uri="{FF2B5EF4-FFF2-40B4-BE49-F238E27FC236}">
                <a16:creationId xmlns:a16="http://schemas.microsoft.com/office/drawing/2014/main" id="{9F07E40A-5478-4DDF-B0C8-CCB005D042C5}"/>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Combinación de colas livianas y pesadas.</a:t>
            </a:r>
            <a:endParaRPr lang="es-CO" sz="2800" b="1">
              <a:solidFill>
                <a:srgbClr val="1F3864"/>
              </a:solidFill>
              <a:latin typeface="Calibri"/>
              <a:ea typeface="Calibri"/>
              <a:cs typeface="Calibri"/>
            </a:endParaRPr>
          </a:p>
        </p:txBody>
      </p:sp>
      <p:sp>
        <p:nvSpPr>
          <p:cNvPr id="5" name="Rectángulo 4">
            <a:extLst>
              <a:ext uri="{FF2B5EF4-FFF2-40B4-BE49-F238E27FC236}">
                <a16:creationId xmlns:a16="http://schemas.microsoft.com/office/drawing/2014/main" id="{52ADC4FE-FCB2-4EA9-A307-16E81FE2D2DA}"/>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F7401FC0-788D-432A-86CA-F7273AE0C245}"/>
              </a:ext>
            </a:extLst>
          </p:cNvPr>
          <p:cNvSpPr txBox="1"/>
          <p:nvPr/>
        </p:nvSpPr>
        <p:spPr>
          <a:xfrm>
            <a:off x="457200" y="4394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Criterio de selección entre los dos indicadores</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206290313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168400"/>
            <a:ext cx="8229600" cy="1524000"/>
          </a:xfrm>
          <a:solidFill>
            <a:srgbClr val="F2F5F9"/>
          </a:solidFill>
          <a:ln>
            <a:noFill/>
          </a:ln>
        </p:spPr>
        <p:txBody>
          <a:bodyPr wrap="square" anchor="ctr" anchorCtr="0">
            <a:noAutofit/>
          </a:bodyPr>
          <a:lstStyle/>
          <a:p>
            <a:pPr marL="0" indent="0">
              <a:buNone/>
            </a:pPr>
            <a:r>
              <a:rPr lang="es-CO" sz="1500" dirty="0">
                <a:solidFill>
                  <a:srgbClr val="404040"/>
                </a:solidFill>
                <a:latin typeface="Calibri"/>
                <a:ea typeface="Calibri"/>
                <a:cs typeface="Calibri"/>
              </a:rPr>
              <a:t>Cuanto menor sea el valor de cada indicador, mayor será el ajuste aparente entre la distribución teórica y los datos observados. </a:t>
            </a:r>
          </a:p>
          <a:p>
            <a:pPr marL="0" indent="0">
              <a:buNone/>
            </a:pPr>
            <a:r>
              <a:rPr lang="es-CO" sz="1500" dirty="0">
                <a:solidFill>
                  <a:srgbClr val="404040"/>
                </a:solidFill>
                <a:latin typeface="Calibri"/>
                <a:ea typeface="Calibri"/>
                <a:cs typeface="Calibri"/>
              </a:rPr>
              <a:t>Los valores standard de K-S y A-D son de uso limitado para comparar valores críticos cuando hay menos de 30 observaciones. Esto se puede corregir usando K-S y A-D modificados. </a:t>
            </a:r>
          </a:p>
          <a:p>
            <a:pPr marL="0" indent="0">
              <a:buNone/>
            </a:pPr>
            <a:r>
              <a:rPr lang="es-CO" sz="1500" dirty="0">
                <a:solidFill>
                  <a:srgbClr val="404040"/>
                </a:solidFill>
                <a:latin typeface="Calibri"/>
                <a:ea typeface="Calibri"/>
                <a:cs typeface="Calibri"/>
              </a:rPr>
              <a:t>Hay muchas distribuciones que tienen formas similares y que pueden ser capaces de generar los datos observados. </a:t>
            </a:r>
          </a:p>
        </p:txBody>
      </p:sp>
      <p:sp>
        <p:nvSpPr>
          <p:cNvPr id="4" name="CuadroTexto 3">
            <a:extLst>
              <a:ext uri="{FF2B5EF4-FFF2-40B4-BE49-F238E27FC236}">
                <a16:creationId xmlns:a16="http://schemas.microsoft.com/office/drawing/2014/main" id="{F325CD84-B2E9-4729-8313-E4C36FC4A4B7}"/>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CO" sz="3000" b="1">
                <a:solidFill>
                  <a:srgbClr val="1F3864"/>
                </a:solidFill>
                <a:latin typeface="Calibri"/>
                <a:ea typeface="Calibri"/>
                <a:cs typeface="Calibri"/>
              </a:rPr>
              <a:t>Indicadores de Bondad de Ajuste</a:t>
            </a:r>
          </a:p>
        </p:txBody>
      </p:sp>
      <p:sp>
        <p:nvSpPr>
          <p:cNvPr id="5" name="Rectángulo 4">
            <a:extLst>
              <a:ext uri="{FF2B5EF4-FFF2-40B4-BE49-F238E27FC236}">
                <a16:creationId xmlns:a16="http://schemas.microsoft.com/office/drawing/2014/main" id="{57BB668B-6BDB-40ED-82A0-D13D83489B88}"/>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Rectángulo 5">
            <a:extLst>
              <a:ext uri="{FF2B5EF4-FFF2-40B4-BE49-F238E27FC236}">
                <a16:creationId xmlns:a16="http://schemas.microsoft.com/office/drawing/2014/main" id="{6BD17014-6E30-459A-9717-4A16884D52A1}"/>
              </a:ext>
            </a:extLst>
          </p:cNvPr>
          <p:cNvSpPr/>
          <p:nvPr/>
        </p:nvSpPr>
        <p:spPr>
          <a:xfrm>
            <a:off x="457200" y="2946400"/>
            <a:ext cx="8229600" cy="965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ES" sz="1700" b="1">
                <a:solidFill>
                  <a:srgbClr val="FFFFFF"/>
                </a:solidFill>
                <a:latin typeface="Calibri"/>
                <a:ea typeface="Calibri"/>
                <a:cs typeface="Calibri"/>
              </a:rPr>
              <a:t>Cuanto menor sea el valor del indicador, mejor es el ajuste entre la distribución teórica y los datos observados.</a:t>
            </a:r>
            <a:endParaRPr lang="es-CO" sz="1700" b="1">
              <a:solidFill>
                <a:srgbClr val="FFFFFF"/>
              </a:solidFill>
              <a:latin typeface="Calibri"/>
              <a:ea typeface="Calibri"/>
              <a:cs typeface="Calibri"/>
            </a:endParaRPr>
          </a:p>
        </p:txBody>
      </p:sp>
      <p:sp>
        <p:nvSpPr>
          <p:cNvPr id="7" name="CuadroTexto 6">
            <a:extLst>
              <a:ext uri="{FF2B5EF4-FFF2-40B4-BE49-F238E27FC236}">
                <a16:creationId xmlns:a16="http://schemas.microsoft.com/office/drawing/2014/main" id="{3D7FC0E7-7719-4EAE-B393-1C3C39658DE0}"/>
              </a:ext>
            </a:extLst>
          </p:cNvPr>
          <p:cNvSpPr txBox="1"/>
          <p:nvPr/>
        </p:nvSpPr>
        <p:spPr>
          <a:xfrm>
            <a:off x="457200" y="40132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Los valores estándar de K-S y A-D sirven poco para comparar entre distribuciones distintas</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1151009034"/>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873052E7-96CF-3580-6ADE-438B58BDC198}"/>
              </a:ext>
            </a:extLst>
          </p:cNvPr>
          <p:cNvPicPr>
            <a:picLocks noChangeAspect="1"/>
          </p:cNvPicPr>
          <p:nvPr/>
        </p:nvPicPr>
        <p:blipFill>
          <a:blip r:embed="rId2"/>
          <a:stretch>
            <a:fillRect/>
          </a:stretch>
        </p:blipFill>
        <p:spPr>
          <a:xfrm>
            <a:off x="5762171" y="1438728"/>
            <a:ext cx="2653695" cy="3980543"/>
          </a:xfrm>
          <a:prstGeom prst="rect">
            <a:avLst/>
          </a:prstGeom>
        </p:spPr>
      </p:pic>
      <p:sp>
        <p:nvSpPr>
          <p:cNvPr id="6" name="Text 1">
            <a:extLst>
              <a:ext uri="{FF2B5EF4-FFF2-40B4-BE49-F238E27FC236}">
                <a16:creationId xmlns:a16="http://schemas.microsoft.com/office/drawing/2014/main" id="{DF9614FC-20D9-47A4-5E0D-8DDFDD851752}"/>
              </a:ext>
            </a:extLst>
          </p:cNvPr>
          <p:cNvSpPr/>
          <p:nvPr/>
        </p:nvSpPr>
        <p:spPr>
          <a:xfrm>
            <a:off x="271274" y="1832292"/>
            <a:ext cx="4300724" cy="2934652"/>
          </a:xfrm>
          <a:prstGeom prst="rect">
            <a:avLst/>
          </a:prstGeom>
          <a:noFill/>
          <a:ln/>
        </p:spPr>
        <p:txBody>
          <a:bodyPr wrap="square" lIns="0" tIns="0" rIns="0" bIns="0" rtlCol="0" anchor="t"/>
          <a:lstStyle/>
          <a:p>
            <a:pPr marL="0" indent="0" algn="just">
              <a:lnSpc>
                <a:spcPts val="2850"/>
              </a:lnSpc>
              <a:buNone/>
            </a:pPr>
            <a:r>
              <a:rPr lang="en-US" sz="1750" dirty="0">
                <a:solidFill>
                  <a:srgbClr val="2C3249"/>
                </a:solidFill>
                <a:latin typeface="Martel Sans" pitchFamily="34" charset="0"/>
                <a:ea typeface="Martel Sans" pitchFamily="34" charset="-122"/>
                <a:cs typeface="Martel Sans" pitchFamily="34" charset="-120"/>
              </a:rPr>
              <a:t>El bootstrapping estadístico es una técnica poderosa que nos permite estimar la distribución muestral de una estadística, utilizando únicamente la información contenida en una muestra.</a:t>
            </a:r>
            <a:endParaRPr lang="en-US" sz="1750" dirty="0"/>
          </a:p>
        </p:txBody>
      </p:sp>
      <p:sp>
        <p:nvSpPr>
          <p:cNvPr id="7" name="CuadroTexto 6">
            <a:extLst>
              <a:ext uri="{FF2B5EF4-FFF2-40B4-BE49-F238E27FC236}">
                <a16:creationId xmlns:a16="http://schemas.microsoft.com/office/drawing/2014/main" id="{A7B751F5-38D1-46A4-8A66-8BC98EA5AA3F}"/>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Introducción al Bootstrapping Estadístico</a:t>
            </a:r>
          </a:p>
        </p:txBody>
      </p:sp>
      <p:sp>
        <p:nvSpPr>
          <p:cNvPr id="8" name="Rectángulo 7">
            <a:extLst>
              <a:ext uri="{FF2B5EF4-FFF2-40B4-BE49-F238E27FC236}">
                <a16:creationId xmlns:a16="http://schemas.microsoft.com/office/drawing/2014/main" id="{788439F3-76C8-46D5-A339-9D16C6B8D29D}"/>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64394961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3A3B3A5E-7AD2-3586-43B4-F63D7DFD79FD}"/>
              </a:ext>
            </a:extLst>
          </p:cNvPr>
          <p:cNvSpPr/>
          <p:nvPr/>
        </p:nvSpPr>
        <p:spPr>
          <a:xfrm>
            <a:off x="457200" y="1269881"/>
            <a:ext cx="8229600" cy="693658"/>
          </a:xfrm>
          <a:prstGeom prst="rect">
            <a:avLst/>
          </a:prstGeom>
          <a:noFill/>
          <a:ln/>
        </p:spPr>
        <p:txBody>
          <a:bodyPr wrap="square" lIns="0" tIns="0" rIns="0" bIns="0" rtlCol="0" anchor="t"/>
          <a:lstStyle/>
          <a:p>
            <a:pPr marL="0" indent="0">
              <a:lnSpc>
                <a:spcPts val="2700"/>
              </a:lnSpc>
              <a:buNone/>
            </a:pPr>
            <a:r>
              <a:rPr lang="en-US" sz="1700" dirty="0">
                <a:solidFill>
                  <a:srgbClr val="2C3249"/>
                </a:solidFill>
                <a:latin typeface="Martel Sans" pitchFamily="34" charset="0"/>
                <a:ea typeface="Martel Sans" pitchFamily="34" charset="-122"/>
                <a:cs typeface="Martel Sans" pitchFamily="34" charset="-120"/>
              </a:rPr>
              <a:t>El bootstrapping estadístico consiste en generar múltiples muestras "pseudo" de la muestra original, mediante remuestreo con reemplazo.</a:t>
            </a:r>
            <a:endParaRPr lang="en-US" sz="1700" dirty="0"/>
          </a:p>
        </p:txBody>
      </p:sp>
      <p:sp>
        <p:nvSpPr>
          <p:cNvPr id="6" name="Shape 2">
            <a:extLst>
              <a:ext uri="{FF2B5EF4-FFF2-40B4-BE49-F238E27FC236}">
                <a16:creationId xmlns:a16="http://schemas.microsoft.com/office/drawing/2014/main" id="{CAFCC627-3F85-ECF2-6C03-457A3A0651C4}"/>
              </a:ext>
            </a:extLst>
          </p:cNvPr>
          <p:cNvSpPr/>
          <p:nvPr/>
        </p:nvSpPr>
        <p:spPr>
          <a:xfrm>
            <a:off x="897373" y="2451219"/>
            <a:ext cx="487680" cy="487680"/>
          </a:xfrm>
          <a:prstGeom prst="roundRect">
            <a:avLst>
              <a:gd name="adj" fmla="val 18671"/>
            </a:avLst>
          </a:prstGeom>
          <a:solidFill>
            <a:srgbClr val="DFECE9"/>
          </a:solidFill>
          <a:ln w="7620">
            <a:solidFill>
              <a:srgbClr val="C5D2CF"/>
            </a:solidFill>
            <a:prstDash val="solid"/>
          </a:ln>
        </p:spPr>
        <p:txBody>
          <a:bodyPr/>
          <a:lstStyle/>
          <a:p>
            <a:endParaRPr lang="es-CO"/>
          </a:p>
        </p:txBody>
      </p:sp>
      <p:sp>
        <p:nvSpPr>
          <p:cNvPr id="7" name="Text 3">
            <a:extLst>
              <a:ext uri="{FF2B5EF4-FFF2-40B4-BE49-F238E27FC236}">
                <a16:creationId xmlns:a16="http://schemas.microsoft.com/office/drawing/2014/main" id="{57708B1E-2C42-558A-188D-9B0594B096EC}"/>
              </a:ext>
            </a:extLst>
          </p:cNvPr>
          <p:cNvSpPr/>
          <p:nvPr/>
        </p:nvSpPr>
        <p:spPr>
          <a:xfrm>
            <a:off x="1091802" y="2532420"/>
            <a:ext cx="98822" cy="325160"/>
          </a:xfrm>
          <a:prstGeom prst="rect">
            <a:avLst/>
          </a:prstGeom>
          <a:noFill/>
          <a:ln/>
        </p:spPr>
        <p:txBody>
          <a:bodyPr wrap="none" lIns="0" tIns="0" rIns="0" bIns="0" rtlCol="0" anchor="t"/>
          <a:lstStyle/>
          <a:p>
            <a:pPr marL="0" indent="0" algn="ctr">
              <a:lnSpc>
                <a:spcPts val="2550"/>
              </a:lnSpc>
              <a:buNone/>
            </a:pPr>
            <a:r>
              <a:rPr lang="en-US" sz="2550" dirty="0">
                <a:solidFill>
                  <a:srgbClr val="2C3249"/>
                </a:solidFill>
                <a:latin typeface="Kanit Light" pitchFamily="34" charset="0"/>
                <a:ea typeface="Kanit Light" pitchFamily="34" charset="-122"/>
                <a:cs typeface="Kanit Light" pitchFamily="34" charset="-120"/>
              </a:rPr>
              <a:t>1</a:t>
            </a:r>
            <a:endParaRPr lang="en-US" sz="2550" dirty="0"/>
          </a:p>
        </p:txBody>
      </p:sp>
      <p:sp>
        <p:nvSpPr>
          <p:cNvPr id="8" name="Text 4">
            <a:extLst>
              <a:ext uri="{FF2B5EF4-FFF2-40B4-BE49-F238E27FC236}">
                <a16:creationId xmlns:a16="http://schemas.microsoft.com/office/drawing/2014/main" id="{D45F7509-4B0A-DC25-3C5E-2D71075766DC}"/>
              </a:ext>
            </a:extLst>
          </p:cNvPr>
          <p:cNvSpPr/>
          <p:nvPr/>
        </p:nvSpPr>
        <p:spPr>
          <a:xfrm>
            <a:off x="1601748" y="2451219"/>
            <a:ext cx="2709863" cy="338733"/>
          </a:xfrm>
          <a:prstGeom prst="rect">
            <a:avLst/>
          </a:prstGeom>
          <a:noFill/>
          <a:ln/>
        </p:spPr>
        <p:txBody>
          <a:bodyPr wrap="none" lIns="0" tIns="0" rIns="0" bIns="0" rtlCol="0" anchor="t"/>
          <a:lstStyle/>
          <a:p>
            <a:pPr marL="0" indent="0">
              <a:lnSpc>
                <a:spcPts val="2650"/>
              </a:lnSpc>
              <a:buNone/>
            </a:pPr>
            <a:r>
              <a:rPr lang="en-US" sz="2100" dirty="0">
                <a:solidFill>
                  <a:srgbClr val="2C3249"/>
                </a:solidFill>
                <a:latin typeface="Kanit Light" pitchFamily="34" charset="0"/>
                <a:ea typeface="Kanit Light" pitchFamily="34" charset="-122"/>
                <a:cs typeface="Kanit Light" pitchFamily="34" charset="-120"/>
              </a:rPr>
              <a:t>Resampleo</a:t>
            </a:r>
            <a:endParaRPr lang="en-US" sz="2100" dirty="0"/>
          </a:p>
        </p:txBody>
      </p:sp>
      <p:sp>
        <p:nvSpPr>
          <p:cNvPr id="9" name="Text 5">
            <a:extLst>
              <a:ext uri="{FF2B5EF4-FFF2-40B4-BE49-F238E27FC236}">
                <a16:creationId xmlns:a16="http://schemas.microsoft.com/office/drawing/2014/main" id="{5D22EC83-046C-7626-BB12-B9CC2ABF9AA4}"/>
              </a:ext>
            </a:extLst>
          </p:cNvPr>
          <p:cNvSpPr/>
          <p:nvPr/>
        </p:nvSpPr>
        <p:spPr>
          <a:xfrm>
            <a:off x="1601748" y="2919968"/>
            <a:ext cx="3000613" cy="1387316"/>
          </a:xfrm>
          <a:prstGeom prst="rect">
            <a:avLst/>
          </a:prstGeom>
          <a:noFill/>
          <a:ln/>
        </p:spPr>
        <p:txBody>
          <a:bodyPr wrap="square" lIns="0" tIns="0" rIns="0" bIns="0" rtlCol="0" anchor="t"/>
          <a:lstStyle/>
          <a:p>
            <a:pPr marL="0" indent="0">
              <a:lnSpc>
                <a:spcPts val="2700"/>
              </a:lnSpc>
              <a:buNone/>
            </a:pPr>
            <a:r>
              <a:rPr lang="en-US" sz="1700" dirty="0">
                <a:solidFill>
                  <a:srgbClr val="2C3249"/>
                </a:solidFill>
                <a:latin typeface="Martel Sans" pitchFamily="34" charset="0"/>
                <a:ea typeface="Martel Sans" pitchFamily="34" charset="-122"/>
                <a:cs typeface="Martel Sans" pitchFamily="34" charset="-120"/>
              </a:rPr>
              <a:t>Se trata de extraer repetidamente observaciones de la muestra original con reemplazo.</a:t>
            </a:r>
            <a:endParaRPr lang="en-US" sz="1700" dirty="0"/>
          </a:p>
        </p:txBody>
      </p:sp>
      <p:sp>
        <p:nvSpPr>
          <p:cNvPr id="10" name="Shape 6">
            <a:extLst>
              <a:ext uri="{FF2B5EF4-FFF2-40B4-BE49-F238E27FC236}">
                <a16:creationId xmlns:a16="http://schemas.microsoft.com/office/drawing/2014/main" id="{E0914973-32FA-BE17-6AE5-5DBC83F9478E}"/>
              </a:ext>
            </a:extLst>
          </p:cNvPr>
          <p:cNvSpPr/>
          <p:nvPr/>
        </p:nvSpPr>
        <p:spPr>
          <a:xfrm>
            <a:off x="4819054" y="2451219"/>
            <a:ext cx="487680" cy="487680"/>
          </a:xfrm>
          <a:prstGeom prst="roundRect">
            <a:avLst>
              <a:gd name="adj" fmla="val 18671"/>
            </a:avLst>
          </a:prstGeom>
          <a:solidFill>
            <a:srgbClr val="DFECE9"/>
          </a:solidFill>
          <a:ln w="7620">
            <a:solidFill>
              <a:srgbClr val="C5D2CF"/>
            </a:solidFill>
            <a:prstDash val="solid"/>
          </a:ln>
        </p:spPr>
        <p:txBody>
          <a:bodyPr/>
          <a:lstStyle/>
          <a:p>
            <a:endParaRPr lang="es-CO"/>
          </a:p>
        </p:txBody>
      </p:sp>
      <p:sp>
        <p:nvSpPr>
          <p:cNvPr id="11" name="Text 7">
            <a:extLst>
              <a:ext uri="{FF2B5EF4-FFF2-40B4-BE49-F238E27FC236}">
                <a16:creationId xmlns:a16="http://schemas.microsoft.com/office/drawing/2014/main" id="{829B8E1A-4853-C270-EB48-B205A0B8B259}"/>
              </a:ext>
            </a:extLst>
          </p:cNvPr>
          <p:cNvSpPr/>
          <p:nvPr/>
        </p:nvSpPr>
        <p:spPr>
          <a:xfrm>
            <a:off x="4980623" y="2532420"/>
            <a:ext cx="164544" cy="325160"/>
          </a:xfrm>
          <a:prstGeom prst="rect">
            <a:avLst/>
          </a:prstGeom>
          <a:noFill/>
          <a:ln/>
        </p:spPr>
        <p:txBody>
          <a:bodyPr wrap="none" lIns="0" tIns="0" rIns="0" bIns="0" rtlCol="0" anchor="t"/>
          <a:lstStyle/>
          <a:p>
            <a:pPr marL="0" indent="0" algn="ctr">
              <a:lnSpc>
                <a:spcPts val="2550"/>
              </a:lnSpc>
              <a:buNone/>
            </a:pPr>
            <a:r>
              <a:rPr lang="en-US" sz="2550" dirty="0">
                <a:solidFill>
                  <a:srgbClr val="2C3249"/>
                </a:solidFill>
                <a:latin typeface="Kanit Light" pitchFamily="34" charset="0"/>
                <a:ea typeface="Kanit Light" pitchFamily="34" charset="-122"/>
                <a:cs typeface="Kanit Light" pitchFamily="34" charset="-120"/>
              </a:rPr>
              <a:t>2</a:t>
            </a:r>
            <a:endParaRPr lang="en-US" sz="2550" dirty="0"/>
          </a:p>
        </p:txBody>
      </p:sp>
      <p:sp>
        <p:nvSpPr>
          <p:cNvPr id="12" name="Text 8">
            <a:extLst>
              <a:ext uri="{FF2B5EF4-FFF2-40B4-BE49-F238E27FC236}">
                <a16:creationId xmlns:a16="http://schemas.microsoft.com/office/drawing/2014/main" id="{3413A178-E52D-B85F-F2AD-F7A67F5B1E0C}"/>
              </a:ext>
            </a:extLst>
          </p:cNvPr>
          <p:cNvSpPr/>
          <p:nvPr/>
        </p:nvSpPr>
        <p:spPr>
          <a:xfrm>
            <a:off x="5523429" y="2451219"/>
            <a:ext cx="2709863" cy="338733"/>
          </a:xfrm>
          <a:prstGeom prst="rect">
            <a:avLst/>
          </a:prstGeom>
          <a:noFill/>
          <a:ln/>
        </p:spPr>
        <p:txBody>
          <a:bodyPr wrap="none" lIns="0" tIns="0" rIns="0" bIns="0" rtlCol="0" anchor="t"/>
          <a:lstStyle/>
          <a:p>
            <a:pPr marL="0" indent="0">
              <a:lnSpc>
                <a:spcPts val="2650"/>
              </a:lnSpc>
              <a:buNone/>
            </a:pPr>
            <a:r>
              <a:rPr lang="en-US" sz="2100" dirty="0">
                <a:solidFill>
                  <a:srgbClr val="2C3249"/>
                </a:solidFill>
                <a:latin typeface="Kanit Light" pitchFamily="34" charset="0"/>
                <a:ea typeface="Kanit Light" pitchFamily="34" charset="-122"/>
                <a:cs typeface="Kanit Light" pitchFamily="34" charset="-120"/>
              </a:rPr>
              <a:t>Distribución muestral</a:t>
            </a:r>
            <a:endParaRPr lang="en-US" sz="2100" dirty="0"/>
          </a:p>
        </p:txBody>
      </p:sp>
      <p:sp>
        <p:nvSpPr>
          <p:cNvPr id="13" name="Text 9">
            <a:extLst>
              <a:ext uri="{FF2B5EF4-FFF2-40B4-BE49-F238E27FC236}">
                <a16:creationId xmlns:a16="http://schemas.microsoft.com/office/drawing/2014/main" id="{6001FD01-2488-8E86-C77B-4B7C11FCA701}"/>
              </a:ext>
            </a:extLst>
          </p:cNvPr>
          <p:cNvSpPr/>
          <p:nvPr/>
        </p:nvSpPr>
        <p:spPr>
          <a:xfrm>
            <a:off x="5523429" y="2919968"/>
            <a:ext cx="3000613" cy="1387316"/>
          </a:xfrm>
          <a:prstGeom prst="rect">
            <a:avLst/>
          </a:prstGeom>
          <a:noFill/>
          <a:ln/>
        </p:spPr>
        <p:txBody>
          <a:bodyPr wrap="square" lIns="0" tIns="0" rIns="0" bIns="0" rtlCol="0" anchor="t"/>
          <a:lstStyle/>
          <a:p>
            <a:pPr marL="0" indent="0">
              <a:lnSpc>
                <a:spcPts val="2700"/>
              </a:lnSpc>
              <a:buNone/>
            </a:pPr>
            <a:r>
              <a:rPr lang="en-US" sz="1700" dirty="0">
                <a:solidFill>
                  <a:srgbClr val="2C3249"/>
                </a:solidFill>
                <a:latin typeface="Martel Sans" pitchFamily="34" charset="0"/>
                <a:ea typeface="Martel Sans" pitchFamily="34" charset="-122"/>
                <a:cs typeface="Martel Sans" pitchFamily="34" charset="-120"/>
              </a:rPr>
              <a:t>La distribución muestral es la distribución de una estadística calculada a partir de múltiples muestras.</a:t>
            </a:r>
            <a:endParaRPr lang="en-US" sz="1700" dirty="0"/>
          </a:p>
        </p:txBody>
      </p:sp>
      <p:sp>
        <p:nvSpPr>
          <p:cNvPr id="14" name="Shape 10">
            <a:extLst>
              <a:ext uri="{FF2B5EF4-FFF2-40B4-BE49-F238E27FC236}">
                <a16:creationId xmlns:a16="http://schemas.microsoft.com/office/drawing/2014/main" id="{7517D9C3-DC1E-63C8-74F9-44C47D4A4DB0}"/>
              </a:ext>
            </a:extLst>
          </p:cNvPr>
          <p:cNvSpPr/>
          <p:nvPr/>
        </p:nvSpPr>
        <p:spPr>
          <a:xfrm>
            <a:off x="843319" y="4393181"/>
            <a:ext cx="487680" cy="487680"/>
          </a:xfrm>
          <a:prstGeom prst="roundRect">
            <a:avLst>
              <a:gd name="adj" fmla="val 18671"/>
            </a:avLst>
          </a:prstGeom>
          <a:solidFill>
            <a:srgbClr val="DFECE9"/>
          </a:solidFill>
          <a:ln w="7620">
            <a:solidFill>
              <a:srgbClr val="C5D2CF"/>
            </a:solidFill>
            <a:prstDash val="solid"/>
          </a:ln>
        </p:spPr>
        <p:txBody>
          <a:bodyPr/>
          <a:lstStyle/>
          <a:p>
            <a:endParaRPr lang="es-CO"/>
          </a:p>
        </p:txBody>
      </p:sp>
      <p:sp>
        <p:nvSpPr>
          <p:cNvPr id="15" name="Text 11">
            <a:extLst>
              <a:ext uri="{FF2B5EF4-FFF2-40B4-BE49-F238E27FC236}">
                <a16:creationId xmlns:a16="http://schemas.microsoft.com/office/drawing/2014/main" id="{BF574549-B977-AA7B-B616-8BB772E564D9}"/>
              </a:ext>
            </a:extLst>
          </p:cNvPr>
          <p:cNvSpPr/>
          <p:nvPr/>
        </p:nvSpPr>
        <p:spPr>
          <a:xfrm>
            <a:off x="975360" y="4548856"/>
            <a:ext cx="167164" cy="325160"/>
          </a:xfrm>
          <a:prstGeom prst="rect">
            <a:avLst/>
          </a:prstGeom>
          <a:noFill/>
          <a:ln/>
        </p:spPr>
        <p:txBody>
          <a:bodyPr wrap="none" lIns="0" tIns="0" rIns="0" bIns="0" rtlCol="0" anchor="t"/>
          <a:lstStyle/>
          <a:p>
            <a:pPr marL="0" indent="0" algn="ctr">
              <a:lnSpc>
                <a:spcPts val="2550"/>
              </a:lnSpc>
              <a:buNone/>
            </a:pPr>
            <a:r>
              <a:rPr lang="en-US" sz="2550" dirty="0">
                <a:solidFill>
                  <a:srgbClr val="2C3249"/>
                </a:solidFill>
                <a:latin typeface="Kanit Light" pitchFamily="34" charset="0"/>
                <a:ea typeface="Kanit Light" pitchFamily="34" charset="-122"/>
                <a:cs typeface="Kanit Light" pitchFamily="34" charset="-120"/>
              </a:rPr>
              <a:t>3</a:t>
            </a:r>
            <a:endParaRPr lang="en-US" sz="2550" dirty="0"/>
          </a:p>
        </p:txBody>
      </p:sp>
      <p:sp>
        <p:nvSpPr>
          <p:cNvPr id="16" name="Text 12">
            <a:extLst>
              <a:ext uri="{FF2B5EF4-FFF2-40B4-BE49-F238E27FC236}">
                <a16:creationId xmlns:a16="http://schemas.microsoft.com/office/drawing/2014/main" id="{EB123535-0416-AF59-B527-9D36A90B4B59}"/>
              </a:ext>
            </a:extLst>
          </p:cNvPr>
          <p:cNvSpPr/>
          <p:nvPr/>
        </p:nvSpPr>
        <p:spPr>
          <a:xfrm>
            <a:off x="1519475" y="4467655"/>
            <a:ext cx="2709863" cy="338733"/>
          </a:xfrm>
          <a:prstGeom prst="rect">
            <a:avLst/>
          </a:prstGeom>
          <a:noFill/>
          <a:ln/>
        </p:spPr>
        <p:txBody>
          <a:bodyPr wrap="none" lIns="0" tIns="0" rIns="0" bIns="0" rtlCol="0" anchor="t"/>
          <a:lstStyle/>
          <a:p>
            <a:pPr marL="0" indent="0">
              <a:lnSpc>
                <a:spcPts val="2650"/>
              </a:lnSpc>
              <a:buNone/>
            </a:pPr>
            <a:r>
              <a:rPr lang="en-US" sz="2100" dirty="0">
                <a:solidFill>
                  <a:srgbClr val="2C3249"/>
                </a:solidFill>
                <a:latin typeface="Kanit Light" pitchFamily="34" charset="0"/>
                <a:ea typeface="Kanit Light" pitchFamily="34" charset="-122"/>
                <a:cs typeface="Kanit Light" pitchFamily="34" charset="-120"/>
              </a:rPr>
              <a:t>Estimación</a:t>
            </a:r>
            <a:endParaRPr lang="en-US" sz="2100" dirty="0"/>
          </a:p>
        </p:txBody>
      </p:sp>
      <p:sp>
        <p:nvSpPr>
          <p:cNvPr id="17" name="Text 13">
            <a:extLst>
              <a:ext uri="{FF2B5EF4-FFF2-40B4-BE49-F238E27FC236}">
                <a16:creationId xmlns:a16="http://schemas.microsoft.com/office/drawing/2014/main" id="{FCD2E627-7E44-5475-F7D8-402EBBCC7808}"/>
              </a:ext>
            </a:extLst>
          </p:cNvPr>
          <p:cNvSpPr/>
          <p:nvPr/>
        </p:nvSpPr>
        <p:spPr>
          <a:xfrm>
            <a:off x="457200" y="4936404"/>
            <a:ext cx="8229600" cy="693658"/>
          </a:xfrm>
          <a:prstGeom prst="rect">
            <a:avLst/>
          </a:prstGeom>
          <a:noFill/>
          <a:ln/>
        </p:spPr>
        <p:txBody>
          <a:bodyPr wrap="square" lIns="0" tIns="0" rIns="0" bIns="0" rtlCol="0" anchor="t"/>
          <a:lstStyle/>
          <a:p>
            <a:pPr marL="0" indent="0">
              <a:lnSpc>
                <a:spcPts val="2700"/>
              </a:lnSpc>
              <a:buNone/>
            </a:pPr>
            <a:r>
              <a:rPr lang="en-US" sz="1700" dirty="0">
                <a:solidFill>
                  <a:srgbClr val="2C3249"/>
                </a:solidFill>
                <a:latin typeface="Martel Sans" pitchFamily="34" charset="0"/>
                <a:ea typeface="Martel Sans" pitchFamily="34" charset="-122"/>
                <a:cs typeface="Martel Sans" pitchFamily="34" charset="-120"/>
              </a:rPr>
              <a:t>El bootstrapping nos permite estimar la distribución muestral de una estadística, a partir de la información de una sola muestra.</a:t>
            </a:r>
            <a:endParaRPr lang="en-US" sz="1700" dirty="0"/>
          </a:p>
        </p:txBody>
      </p:sp>
      <p:sp>
        <p:nvSpPr>
          <p:cNvPr id="18" name="CuadroTexto 17">
            <a:extLst>
              <a:ext uri="{FF2B5EF4-FFF2-40B4-BE49-F238E27FC236}">
                <a16:creationId xmlns:a16="http://schemas.microsoft.com/office/drawing/2014/main" id="{7C9F797E-9563-4676-8F59-DF1DCABB64F4}"/>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CO" sz="3000" b="1">
                <a:solidFill>
                  <a:srgbClr val="1F3864"/>
                </a:solidFill>
                <a:latin typeface="Calibri"/>
                <a:ea typeface="Calibri"/>
                <a:cs typeface="Calibri"/>
              </a:rPr>
              <a:t>Definición y conceptos básicos</a:t>
            </a:r>
          </a:p>
        </p:txBody>
      </p:sp>
      <p:sp>
        <p:nvSpPr>
          <p:cNvPr id="19" name="Rectángulo 18">
            <a:extLst>
              <a:ext uri="{FF2B5EF4-FFF2-40B4-BE49-F238E27FC236}">
                <a16:creationId xmlns:a16="http://schemas.microsoft.com/office/drawing/2014/main" id="{9154B623-C888-41A0-88C8-70FE115CA77E}"/>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94964521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1B70A960-2E3A-7EB1-D5F4-20D1BD748C72}"/>
              </a:ext>
            </a:extLst>
          </p:cNvPr>
          <p:cNvSpPr/>
          <p:nvPr/>
        </p:nvSpPr>
        <p:spPr>
          <a:xfrm>
            <a:off x="453748" y="899815"/>
            <a:ext cx="8229600" cy="725805"/>
          </a:xfrm>
          <a:prstGeom prst="rect">
            <a:avLst/>
          </a:prstGeom>
          <a:noFill/>
          <a:ln/>
        </p:spPr>
        <p:txBody>
          <a:bodyPr wrap="square" lIns="0" tIns="0" rIns="0" bIns="0" rtlCol="0" anchor="t"/>
          <a:lstStyle/>
          <a:p>
            <a:pPr marL="0" indent="0">
              <a:lnSpc>
                <a:spcPts val="2850"/>
              </a:lnSpc>
              <a:buNone/>
            </a:pPr>
            <a:r>
              <a:rPr lang="en-US" sz="1600" dirty="0">
                <a:solidFill>
                  <a:srgbClr val="2C3249"/>
                </a:solidFill>
                <a:latin typeface="Martel Sans" pitchFamily="34" charset="0"/>
                <a:ea typeface="Martel Sans" pitchFamily="34" charset="-122"/>
                <a:cs typeface="Martel Sans" pitchFamily="34" charset="-120"/>
              </a:rPr>
              <a:t>El bootstrapping tiene aplicaciones en diversas áreas de la estadística, incluyendo la construcción de intervalos de confianza, la realización de pruebas de hipótesis y la estimación de parámetros.</a:t>
            </a:r>
            <a:endParaRPr lang="en-US" sz="1600" dirty="0"/>
          </a:p>
        </p:txBody>
      </p:sp>
      <p:sp>
        <p:nvSpPr>
          <p:cNvPr id="4" name="Text 2">
            <a:extLst>
              <a:ext uri="{FF2B5EF4-FFF2-40B4-BE49-F238E27FC236}">
                <a16:creationId xmlns:a16="http://schemas.microsoft.com/office/drawing/2014/main" id="{A1B73C59-3C3B-454F-3DF1-FF6541BC6C39}"/>
              </a:ext>
            </a:extLst>
          </p:cNvPr>
          <p:cNvSpPr/>
          <p:nvPr/>
        </p:nvSpPr>
        <p:spPr>
          <a:xfrm>
            <a:off x="529042" y="2121066"/>
            <a:ext cx="3978116" cy="708660"/>
          </a:xfrm>
          <a:prstGeom prst="rect">
            <a:avLst/>
          </a:prstGeom>
          <a:noFill/>
          <a:ln/>
        </p:spPr>
        <p:txBody>
          <a:bodyPr wrap="square" lIns="0" tIns="0" rIns="0" bIns="0" rtlCol="0" anchor="t"/>
          <a:lstStyle/>
          <a:p>
            <a:pPr marL="0" indent="0">
              <a:lnSpc>
                <a:spcPts val="2750"/>
              </a:lnSpc>
              <a:buNone/>
            </a:pPr>
            <a:r>
              <a:rPr lang="en-US" sz="1600" b="1" dirty="0">
                <a:solidFill>
                  <a:srgbClr val="272D45"/>
                </a:solidFill>
                <a:latin typeface="Kanit Light" pitchFamily="34" charset="0"/>
                <a:ea typeface="Kanit Light" pitchFamily="34" charset="-122"/>
                <a:cs typeface="Kanit Light" pitchFamily="34" charset="-120"/>
              </a:rPr>
              <a:t>Construcción de Intervalos de Confianza</a:t>
            </a:r>
            <a:endParaRPr lang="en-US" sz="1600" b="1" dirty="0"/>
          </a:p>
        </p:txBody>
      </p:sp>
      <p:sp>
        <p:nvSpPr>
          <p:cNvPr id="5" name="Text 3">
            <a:extLst>
              <a:ext uri="{FF2B5EF4-FFF2-40B4-BE49-F238E27FC236}">
                <a16:creationId xmlns:a16="http://schemas.microsoft.com/office/drawing/2014/main" id="{E6AEF13F-7BFF-E46F-987D-A35E2A377212}"/>
              </a:ext>
            </a:extLst>
          </p:cNvPr>
          <p:cNvSpPr/>
          <p:nvPr/>
        </p:nvSpPr>
        <p:spPr>
          <a:xfrm>
            <a:off x="453748" y="2556179"/>
            <a:ext cx="3978116" cy="1088708"/>
          </a:xfrm>
          <a:prstGeom prst="rect">
            <a:avLst/>
          </a:prstGeom>
          <a:noFill/>
          <a:ln/>
        </p:spPr>
        <p:txBody>
          <a:bodyPr wrap="square" lIns="0" tIns="0" rIns="0" bIns="0" rtlCol="0" anchor="t"/>
          <a:lstStyle/>
          <a:p>
            <a:pPr marL="0" indent="0">
              <a:lnSpc>
                <a:spcPts val="2850"/>
              </a:lnSpc>
              <a:buNone/>
            </a:pPr>
            <a:r>
              <a:rPr lang="en-US" sz="1600" dirty="0">
                <a:solidFill>
                  <a:srgbClr val="2C3249"/>
                </a:solidFill>
                <a:latin typeface="Martel Sans" pitchFamily="34" charset="0"/>
                <a:ea typeface="Martel Sans" pitchFamily="34" charset="-122"/>
                <a:cs typeface="Martel Sans" pitchFamily="34" charset="-120"/>
              </a:rPr>
              <a:t>El bootstrapping es una herramienta útil para construir intervalos de confianza para una estadística.</a:t>
            </a:r>
            <a:endParaRPr lang="en-US" sz="1600" dirty="0"/>
          </a:p>
        </p:txBody>
      </p:sp>
      <p:sp>
        <p:nvSpPr>
          <p:cNvPr id="6" name="Text 4">
            <a:extLst>
              <a:ext uri="{FF2B5EF4-FFF2-40B4-BE49-F238E27FC236}">
                <a16:creationId xmlns:a16="http://schemas.microsoft.com/office/drawing/2014/main" id="{00CE8C63-A47E-5223-4443-949B619C4F16}"/>
              </a:ext>
            </a:extLst>
          </p:cNvPr>
          <p:cNvSpPr/>
          <p:nvPr/>
        </p:nvSpPr>
        <p:spPr>
          <a:xfrm>
            <a:off x="399011" y="3966400"/>
            <a:ext cx="2835235" cy="354330"/>
          </a:xfrm>
          <a:prstGeom prst="rect">
            <a:avLst/>
          </a:prstGeom>
          <a:noFill/>
          <a:ln/>
        </p:spPr>
        <p:txBody>
          <a:bodyPr wrap="none" lIns="0" tIns="0" rIns="0" bIns="0" rtlCol="0" anchor="t"/>
          <a:lstStyle/>
          <a:p>
            <a:pPr marL="0" indent="0">
              <a:lnSpc>
                <a:spcPts val="2750"/>
              </a:lnSpc>
              <a:buNone/>
            </a:pPr>
            <a:r>
              <a:rPr lang="en-US" sz="1600" b="1" dirty="0">
                <a:solidFill>
                  <a:srgbClr val="272D45"/>
                </a:solidFill>
                <a:latin typeface="Kanit Light" pitchFamily="34" charset="0"/>
                <a:ea typeface="Kanit Light" pitchFamily="34" charset="-122"/>
                <a:cs typeface="Kanit Light" pitchFamily="34" charset="-120"/>
              </a:rPr>
              <a:t>Pruebas de Hipótesis</a:t>
            </a:r>
            <a:endParaRPr lang="en-US" sz="1600" b="1" dirty="0"/>
          </a:p>
        </p:txBody>
      </p:sp>
      <p:sp>
        <p:nvSpPr>
          <p:cNvPr id="7" name="Text 5">
            <a:extLst>
              <a:ext uri="{FF2B5EF4-FFF2-40B4-BE49-F238E27FC236}">
                <a16:creationId xmlns:a16="http://schemas.microsoft.com/office/drawing/2014/main" id="{B167C9E3-7983-D7AB-739F-ED2046EDD131}"/>
              </a:ext>
            </a:extLst>
          </p:cNvPr>
          <p:cNvSpPr/>
          <p:nvPr/>
        </p:nvSpPr>
        <p:spPr>
          <a:xfrm>
            <a:off x="457200" y="4482297"/>
            <a:ext cx="8229600" cy="725806"/>
          </a:xfrm>
          <a:prstGeom prst="rect">
            <a:avLst/>
          </a:prstGeom>
          <a:noFill/>
          <a:ln/>
        </p:spPr>
        <p:txBody>
          <a:bodyPr wrap="square" lIns="0" tIns="0" rIns="0" bIns="0" rtlCol="0" anchor="t"/>
          <a:lstStyle/>
          <a:p>
            <a:pPr marL="0" indent="0">
              <a:lnSpc>
                <a:spcPts val="2850"/>
              </a:lnSpc>
              <a:buNone/>
            </a:pPr>
            <a:r>
              <a:rPr lang="en-US" sz="1600" dirty="0">
                <a:solidFill>
                  <a:srgbClr val="2C3249"/>
                </a:solidFill>
                <a:latin typeface="Martel Sans" pitchFamily="34" charset="0"/>
                <a:ea typeface="Martel Sans" pitchFamily="34" charset="-122"/>
                <a:cs typeface="Martel Sans" pitchFamily="34" charset="-120"/>
              </a:rPr>
              <a:t>El bootstrapping se puede utilizar para llevar a cabo pruebas de hipótesis, comparando la estadística de interés con una distribución bootstrap.</a:t>
            </a:r>
            <a:endParaRPr lang="en-US" sz="1600" dirty="0"/>
          </a:p>
        </p:txBody>
      </p:sp>
      <p:sp>
        <p:nvSpPr>
          <p:cNvPr id="8" name="Text 6">
            <a:extLst>
              <a:ext uri="{FF2B5EF4-FFF2-40B4-BE49-F238E27FC236}">
                <a16:creationId xmlns:a16="http://schemas.microsoft.com/office/drawing/2014/main" id="{B35EC80B-E127-E4A6-746E-A65B3F76FCC6}"/>
              </a:ext>
            </a:extLst>
          </p:cNvPr>
          <p:cNvSpPr/>
          <p:nvPr/>
        </p:nvSpPr>
        <p:spPr>
          <a:xfrm>
            <a:off x="4932376" y="2045507"/>
            <a:ext cx="3248620" cy="354330"/>
          </a:xfrm>
          <a:prstGeom prst="rect">
            <a:avLst/>
          </a:prstGeom>
          <a:noFill/>
          <a:ln/>
        </p:spPr>
        <p:txBody>
          <a:bodyPr wrap="none" lIns="0" tIns="0" rIns="0" bIns="0" rtlCol="0" anchor="t"/>
          <a:lstStyle/>
          <a:p>
            <a:pPr marL="0" indent="0">
              <a:lnSpc>
                <a:spcPts val="2750"/>
              </a:lnSpc>
              <a:buNone/>
            </a:pPr>
            <a:r>
              <a:rPr lang="en-US" sz="1600" b="1" dirty="0">
                <a:solidFill>
                  <a:srgbClr val="272D45"/>
                </a:solidFill>
                <a:latin typeface="Kanit Light" pitchFamily="34" charset="0"/>
                <a:ea typeface="Kanit Light" pitchFamily="34" charset="-122"/>
                <a:cs typeface="Kanit Light" pitchFamily="34" charset="-120"/>
              </a:rPr>
              <a:t>Estimación de Parámetros</a:t>
            </a:r>
            <a:endParaRPr lang="en-US" sz="1600" b="1" dirty="0"/>
          </a:p>
        </p:txBody>
      </p:sp>
      <p:sp>
        <p:nvSpPr>
          <p:cNvPr id="9" name="Text 7">
            <a:extLst>
              <a:ext uri="{FF2B5EF4-FFF2-40B4-BE49-F238E27FC236}">
                <a16:creationId xmlns:a16="http://schemas.microsoft.com/office/drawing/2014/main" id="{7D1D75F6-C81D-2FC9-A470-BA5C221A2505}"/>
              </a:ext>
            </a:extLst>
          </p:cNvPr>
          <p:cNvSpPr/>
          <p:nvPr/>
        </p:nvSpPr>
        <p:spPr>
          <a:xfrm>
            <a:off x="4932376" y="2527982"/>
            <a:ext cx="3978116" cy="1451610"/>
          </a:xfrm>
          <a:prstGeom prst="rect">
            <a:avLst/>
          </a:prstGeom>
          <a:noFill/>
          <a:ln/>
        </p:spPr>
        <p:txBody>
          <a:bodyPr wrap="square" lIns="0" tIns="0" rIns="0" bIns="0" rtlCol="0" anchor="t"/>
          <a:lstStyle/>
          <a:p>
            <a:pPr marL="0" indent="0">
              <a:lnSpc>
                <a:spcPts val="2850"/>
              </a:lnSpc>
              <a:buNone/>
            </a:pPr>
            <a:r>
              <a:rPr lang="en-US" sz="1600" dirty="0">
                <a:solidFill>
                  <a:srgbClr val="2C3249"/>
                </a:solidFill>
                <a:latin typeface="Martel Sans" pitchFamily="34" charset="0"/>
                <a:ea typeface="Martel Sans" pitchFamily="34" charset="-122"/>
                <a:cs typeface="Martel Sans" pitchFamily="34" charset="-120"/>
              </a:rPr>
              <a:t>El bootstrapping permite estimar parámetros poblacionales, como la media o la varianza, utilizando información de la muestra.</a:t>
            </a:r>
            <a:endParaRPr lang="en-US" sz="1600" dirty="0"/>
          </a:p>
        </p:txBody>
      </p:sp>
      <p:sp>
        <p:nvSpPr>
          <p:cNvPr id="12" name="CuadroTexto 11">
            <a:extLst>
              <a:ext uri="{FF2B5EF4-FFF2-40B4-BE49-F238E27FC236}">
                <a16:creationId xmlns:a16="http://schemas.microsoft.com/office/drawing/2014/main" id="{3F72F1A0-58F4-4C43-8E23-12DE6E97DD5A}"/>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CO" sz="3000" b="1">
                <a:solidFill>
                  <a:srgbClr val="1F3864"/>
                </a:solidFill>
                <a:latin typeface="Calibri"/>
                <a:ea typeface="Calibri"/>
                <a:cs typeface="Calibri"/>
              </a:rPr>
              <a:t>Aplicaciones del Bootstrapping</a:t>
            </a:r>
          </a:p>
        </p:txBody>
      </p:sp>
      <p:sp>
        <p:nvSpPr>
          <p:cNvPr id="13" name="Rectángulo 12">
            <a:extLst>
              <a:ext uri="{FF2B5EF4-FFF2-40B4-BE49-F238E27FC236}">
                <a16:creationId xmlns:a16="http://schemas.microsoft.com/office/drawing/2014/main" id="{FD5E667D-5E30-424D-99C6-1798303921C6}"/>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949632268"/>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4AE3C636-03ED-F480-6F5B-6ECCD375D3D0}"/>
              </a:ext>
            </a:extLst>
          </p:cNvPr>
          <p:cNvSpPr/>
          <p:nvPr/>
        </p:nvSpPr>
        <p:spPr>
          <a:xfrm>
            <a:off x="457200" y="1297781"/>
            <a:ext cx="8229600" cy="990838"/>
          </a:xfrm>
          <a:prstGeom prst="rect">
            <a:avLst/>
          </a:prstGeom>
          <a:noFill/>
          <a:ln/>
        </p:spPr>
        <p:txBody>
          <a:bodyPr wrap="squar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El bootstrapping tiene ventajas y desventajas, como cualquier otra técnica estadística. Es importante conocer ambas para tomar decisiones informadas sobre su aplicación.</a:t>
            </a:r>
            <a:endParaRPr lang="en-US" sz="1600" dirty="0"/>
          </a:p>
        </p:txBody>
      </p:sp>
      <p:sp>
        <p:nvSpPr>
          <p:cNvPr id="4" name="Shape 2">
            <a:extLst>
              <a:ext uri="{FF2B5EF4-FFF2-40B4-BE49-F238E27FC236}">
                <a16:creationId xmlns:a16="http://schemas.microsoft.com/office/drawing/2014/main" id="{68599944-594B-54FC-80E0-0A673150C982}"/>
              </a:ext>
            </a:extLst>
          </p:cNvPr>
          <p:cNvSpPr/>
          <p:nvPr/>
        </p:nvSpPr>
        <p:spPr>
          <a:xfrm>
            <a:off x="512324" y="1599485"/>
            <a:ext cx="7698819" cy="4039314"/>
          </a:xfrm>
          <a:prstGeom prst="roundRect">
            <a:avLst>
              <a:gd name="adj" fmla="val 2147"/>
            </a:avLst>
          </a:prstGeom>
          <a:noFill/>
          <a:ln w="7620">
            <a:solidFill>
              <a:srgbClr val="000000">
                <a:alpha val="8000"/>
              </a:srgbClr>
            </a:solidFill>
            <a:prstDash val="solid"/>
          </a:ln>
        </p:spPr>
        <p:txBody>
          <a:bodyPr/>
          <a:lstStyle/>
          <a:p>
            <a:endParaRPr lang="es-CO"/>
          </a:p>
        </p:txBody>
      </p:sp>
      <p:sp>
        <p:nvSpPr>
          <p:cNvPr id="5" name="Shape 3">
            <a:extLst>
              <a:ext uri="{FF2B5EF4-FFF2-40B4-BE49-F238E27FC236}">
                <a16:creationId xmlns:a16="http://schemas.microsoft.com/office/drawing/2014/main" id="{B71D04A9-742A-89F0-39A3-98DC7D947E8C}"/>
              </a:ext>
            </a:extLst>
          </p:cNvPr>
          <p:cNvSpPr/>
          <p:nvPr/>
        </p:nvSpPr>
        <p:spPr>
          <a:xfrm>
            <a:off x="519944" y="1999654"/>
            <a:ext cx="7683579" cy="593169"/>
          </a:xfrm>
          <a:prstGeom prst="rect">
            <a:avLst/>
          </a:prstGeom>
          <a:solidFill>
            <a:srgbClr val="FFFFFF">
              <a:alpha val="4000"/>
            </a:srgbClr>
          </a:solidFill>
          <a:ln/>
        </p:spPr>
        <p:txBody>
          <a:bodyPr/>
          <a:lstStyle/>
          <a:p>
            <a:endParaRPr lang="es-CO"/>
          </a:p>
        </p:txBody>
      </p:sp>
      <p:sp>
        <p:nvSpPr>
          <p:cNvPr id="6" name="Text 4">
            <a:extLst>
              <a:ext uri="{FF2B5EF4-FFF2-40B4-BE49-F238E27FC236}">
                <a16:creationId xmlns:a16="http://schemas.microsoft.com/office/drawing/2014/main" id="{1CBC15FF-42AC-5701-6E4D-A9287208490D}"/>
              </a:ext>
            </a:extLst>
          </p:cNvPr>
          <p:cNvSpPr/>
          <p:nvPr/>
        </p:nvSpPr>
        <p:spPr>
          <a:xfrm>
            <a:off x="726400" y="2131099"/>
            <a:ext cx="3425071" cy="330279"/>
          </a:xfrm>
          <a:prstGeom prst="rect">
            <a:avLst/>
          </a:prstGeom>
          <a:noFill/>
          <a:ln/>
        </p:spPr>
        <p:txBody>
          <a:bodyPr wrap="non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Ventajas</a:t>
            </a:r>
            <a:endParaRPr lang="en-US" sz="1600" dirty="0"/>
          </a:p>
        </p:txBody>
      </p:sp>
      <p:sp>
        <p:nvSpPr>
          <p:cNvPr id="7" name="Text 5">
            <a:extLst>
              <a:ext uri="{FF2B5EF4-FFF2-40B4-BE49-F238E27FC236}">
                <a16:creationId xmlns:a16="http://schemas.microsoft.com/office/drawing/2014/main" id="{F7DD0F49-50B4-3DAD-73E1-2F4BADA454B6}"/>
              </a:ext>
            </a:extLst>
          </p:cNvPr>
          <p:cNvSpPr/>
          <p:nvPr/>
        </p:nvSpPr>
        <p:spPr>
          <a:xfrm>
            <a:off x="4572000" y="2131099"/>
            <a:ext cx="3425071" cy="330279"/>
          </a:xfrm>
          <a:prstGeom prst="rect">
            <a:avLst/>
          </a:prstGeom>
          <a:noFill/>
          <a:ln/>
        </p:spPr>
        <p:txBody>
          <a:bodyPr wrap="non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Desventajas</a:t>
            </a:r>
            <a:endParaRPr lang="en-US" sz="1600" dirty="0"/>
          </a:p>
        </p:txBody>
      </p:sp>
      <p:sp>
        <p:nvSpPr>
          <p:cNvPr id="8" name="Shape 6">
            <a:extLst>
              <a:ext uri="{FF2B5EF4-FFF2-40B4-BE49-F238E27FC236}">
                <a16:creationId xmlns:a16="http://schemas.microsoft.com/office/drawing/2014/main" id="{7BE45F1C-CD51-12E0-034D-23A64FB31BCD}"/>
              </a:ext>
            </a:extLst>
          </p:cNvPr>
          <p:cNvSpPr/>
          <p:nvPr/>
        </p:nvSpPr>
        <p:spPr>
          <a:xfrm>
            <a:off x="519944" y="2592823"/>
            <a:ext cx="7683579" cy="1253728"/>
          </a:xfrm>
          <a:prstGeom prst="rect">
            <a:avLst/>
          </a:prstGeom>
          <a:solidFill>
            <a:srgbClr val="000000">
              <a:alpha val="4000"/>
            </a:srgbClr>
          </a:solidFill>
          <a:ln/>
        </p:spPr>
        <p:txBody>
          <a:bodyPr/>
          <a:lstStyle/>
          <a:p>
            <a:endParaRPr lang="es-CO"/>
          </a:p>
        </p:txBody>
      </p:sp>
      <p:sp>
        <p:nvSpPr>
          <p:cNvPr id="9" name="Text 7">
            <a:extLst>
              <a:ext uri="{FF2B5EF4-FFF2-40B4-BE49-F238E27FC236}">
                <a16:creationId xmlns:a16="http://schemas.microsoft.com/office/drawing/2014/main" id="{43333D52-7B14-1FB9-2923-2CB7B36D71E8}"/>
              </a:ext>
            </a:extLst>
          </p:cNvPr>
          <p:cNvSpPr/>
          <p:nvPr/>
        </p:nvSpPr>
        <p:spPr>
          <a:xfrm>
            <a:off x="726400" y="2724268"/>
            <a:ext cx="3425071" cy="660559"/>
          </a:xfrm>
          <a:prstGeom prst="rect">
            <a:avLst/>
          </a:prstGeom>
          <a:noFill/>
          <a:ln/>
        </p:spPr>
        <p:txBody>
          <a:bodyPr wrap="squar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No requiere suposiciones sobre la distribución de los datos.</a:t>
            </a:r>
            <a:endParaRPr lang="en-US" sz="1600" dirty="0"/>
          </a:p>
        </p:txBody>
      </p:sp>
      <p:sp>
        <p:nvSpPr>
          <p:cNvPr id="10" name="Text 8">
            <a:extLst>
              <a:ext uri="{FF2B5EF4-FFF2-40B4-BE49-F238E27FC236}">
                <a16:creationId xmlns:a16="http://schemas.microsoft.com/office/drawing/2014/main" id="{4B62C1F6-02A7-3749-2ED5-27C3B0DE618C}"/>
              </a:ext>
            </a:extLst>
          </p:cNvPr>
          <p:cNvSpPr/>
          <p:nvPr/>
        </p:nvSpPr>
        <p:spPr>
          <a:xfrm>
            <a:off x="4572000" y="2724268"/>
            <a:ext cx="3425071" cy="990838"/>
          </a:xfrm>
          <a:prstGeom prst="rect">
            <a:avLst/>
          </a:prstGeom>
          <a:noFill/>
          <a:ln/>
        </p:spPr>
        <p:txBody>
          <a:bodyPr wrap="squar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Puede ser computacionalmente costoso para conjuntos de datos grandes.</a:t>
            </a:r>
            <a:endParaRPr lang="en-US" sz="1600" dirty="0"/>
          </a:p>
        </p:txBody>
      </p:sp>
      <p:sp>
        <p:nvSpPr>
          <p:cNvPr id="11" name="Shape 9">
            <a:extLst>
              <a:ext uri="{FF2B5EF4-FFF2-40B4-BE49-F238E27FC236}">
                <a16:creationId xmlns:a16="http://schemas.microsoft.com/office/drawing/2014/main" id="{78A16C86-8486-CDC3-EAFF-0E5D816DB653}"/>
              </a:ext>
            </a:extLst>
          </p:cNvPr>
          <p:cNvSpPr/>
          <p:nvPr/>
        </p:nvSpPr>
        <p:spPr>
          <a:xfrm>
            <a:off x="519944" y="3846551"/>
            <a:ext cx="7683579" cy="923449"/>
          </a:xfrm>
          <a:prstGeom prst="rect">
            <a:avLst/>
          </a:prstGeom>
          <a:solidFill>
            <a:srgbClr val="FFFFFF">
              <a:alpha val="4000"/>
            </a:srgbClr>
          </a:solidFill>
          <a:ln/>
        </p:spPr>
        <p:txBody>
          <a:bodyPr/>
          <a:lstStyle/>
          <a:p>
            <a:endParaRPr lang="es-CO"/>
          </a:p>
        </p:txBody>
      </p:sp>
      <p:sp>
        <p:nvSpPr>
          <p:cNvPr id="12" name="Text 10">
            <a:extLst>
              <a:ext uri="{FF2B5EF4-FFF2-40B4-BE49-F238E27FC236}">
                <a16:creationId xmlns:a16="http://schemas.microsoft.com/office/drawing/2014/main" id="{A0C0CB03-C119-D415-BDB2-E63AEB347277}"/>
              </a:ext>
            </a:extLst>
          </p:cNvPr>
          <p:cNvSpPr/>
          <p:nvPr/>
        </p:nvSpPr>
        <p:spPr>
          <a:xfrm>
            <a:off x="726400" y="3977996"/>
            <a:ext cx="3425071" cy="660559"/>
          </a:xfrm>
          <a:prstGeom prst="rect">
            <a:avLst/>
          </a:prstGeom>
          <a:noFill/>
          <a:ln/>
        </p:spPr>
        <p:txBody>
          <a:bodyPr wrap="squar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Puede proporcionar estimaciones robustas de la variabilidad.</a:t>
            </a:r>
            <a:endParaRPr lang="en-US" sz="1600" dirty="0"/>
          </a:p>
        </p:txBody>
      </p:sp>
      <p:sp>
        <p:nvSpPr>
          <p:cNvPr id="13" name="Text 11">
            <a:extLst>
              <a:ext uri="{FF2B5EF4-FFF2-40B4-BE49-F238E27FC236}">
                <a16:creationId xmlns:a16="http://schemas.microsoft.com/office/drawing/2014/main" id="{BD665FF8-6516-C888-1EC9-F943D4EFBFC5}"/>
              </a:ext>
            </a:extLst>
          </p:cNvPr>
          <p:cNvSpPr/>
          <p:nvPr/>
        </p:nvSpPr>
        <p:spPr>
          <a:xfrm>
            <a:off x="4572000" y="3977996"/>
            <a:ext cx="3425071" cy="660559"/>
          </a:xfrm>
          <a:prstGeom prst="rect">
            <a:avLst/>
          </a:prstGeom>
          <a:noFill/>
          <a:ln/>
        </p:spPr>
        <p:txBody>
          <a:bodyPr wrap="squar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Puede no ser apropiado para todos los tipos de problemas.</a:t>
            </a:r>
            <a:endParaRPr lang="en-US" sz="1600" dirty="0"/>
          </a:p>
        </p:txBody>
      </p:sp>
      <p:sp>
        <p:nvSpPr>
          <p:cNvPr id="14" name="Shape 12">
            <a:extLst>
              <a:ext uri="{FF2B5EF4-FFF2-40B4-BE49-F238E27FC236}">
                <a16:creationId xmlns:a16="http://schemas.microsoft.com/office/drawing/2014/main" id="{01BC747E-043F-F98C-2FD3-599EF59DEA0A}"/>
              </a:ext>
            </a:extLst>
          </p:cNvPr>
          <p:cNvSpPr/>
          <p:nvPr/>
        </p:nvSpPr>
        <p:spPr>
          <a:xfrm>
            <a:off x="519944" y="4385072"/>
            <a:ext cx="7683579" cy="1253728"/>
          </a:xfrm>
          <a:prstGeom prst="rect">
            <a:avLst/>
          </a:prstGeom>
          <a:solidFill>
            <a:srgbClr val="000000">
              <a:alpha val="4000"/>
            </a:srgbClr>
          </a:solidFill>
          <a:ln/>
        </p:spPr>
        <p:txBody>
          <a:bodyPr/>
          <a:lstStyle/>
          <a:p>
            <a:endParaRPr lang="es-CO"/>
          </a:p>
        </p:txBody>
      </p:sp>
      <p:sp>
        <p:nvSpPr>
          <p:cNvPr id="15" name="Text 13">
            <a:extLst>
              <a:ext uri="{FF2B5EF4-FFF2-40B4-BE49-F238E27FC236}">
                <a16:creationId xmlns:a16="http://schemas.microsoft.com/office/drawing/2014/main" id="{390F9D41-DFB4-A4CF-D648-5A92CF1CACA2}"/>
              </a:ext>
            </a:extLst>
          </p:cNvPr>
          <p:cNvSpPr/>
          <p:nvPr/>
        </p:nvSpPr>
        <p:spPr>
          <a:xfrm>
            <a:off x="726400" y="4901445"/>
            <a:ext cx="3425071" cy="660559"/>
          </a:xfrm>
          <a:prstGeom prst="rect">
            <a:avLst/>
          </a:prstGeom>
          <a:noFill/>
          <a:ln/>
        </p:spPr>
        <p:txBody>
          <a:bodyPr wrap="squar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Es relativamente fácil de implementar.</a:t>
            </a:r>
            <a:endParaRPr lang="en-US" sz="1600" dirty="0"/>
          </a:p>
        </p:txBody>
      </p:sp>
      <p:sp>
        <p:nvSpPr>
          <p:cNvPr id="16" name="Text 14">
            <a:extLst>
              <a:ext uri="{FF2B5EF4-FFF2-40B4-BE49-F238E27FC236}">
                <a16:creationId xmlns:a16="http://schemas.microsoft.com/office/drawing/2014/main" id="{301415A5-864E-1DA6-1E2B-60C79F1AA56E}"/>
              </a:ext>
            </a:extLst>
          </p:cNvPr>
          <p:cNvSpPr/>
          <p:nvPr/>
        </p:nvSpPr>
        <p:spPr>
          <a:xfrm>
            <a:off x="4572000" y="4647962"/>
            <a:ext cx="3425071" cy="990838"/>
          </a:xfrm>
          <a:prstGeom prst="rect">
            <a:avLst/>
          </a:prstGeom>
          <a:noFill/>
          <a:ln/>
        </p:spPr>
        <p:txBody>
          <a:bodyPr wrap="square" lIns="0" tIns="0" rIns="0" bIns="0" rtlCol="0" anchor="t"/>
          <a:lstStyle/>
          <a:p>
            <a:pPr marL="0" indent="0">
              <a:lnSpc>
                <a:spcPts val="2600"/>
              </a:lnSpc>
              <a:buNone/>
            </a:pPr>
            <a:r>
              <a:rPr lang="en-US" sz="1600" dirty="0">
                <a:solidFill>
                  <a:srgbClr val="2C3249"/>
                </a:solidFill>
                <a:latin typeface="Martel Sans" pitchFamily="34" charset="0"/>
                <a:ea typeface="Martel Sans" pitchFamily="34" charset="-122"/>
                <a:cs typeface="Martel Sans" pitchFamily="34" charset="-120"/>
              </a:rPr>
              <a:t>La precisión de las estimaciones depende del tamaño de la muestra.</a:t>
            </a:r>
            <a:endParaRPr lang="en-US" sz="1600" dirty="0"/>
          </a:p>
        </p:txBody>
      </p:sp>
      <p:sp>
        <p:nvSpPr>
          <p:cNvPr id="19" name="CuadroTexto 18">
            <a:extLst>
              <a:ext uri="{FF2B5EF4-FFF2-40B4-BE49-F238E27FC236}">
                <a16:creationId xmlns:a16="http://schemas.microsoft.com/office/drawing/2014/main" id="{82DE77D9-A1A7-400F-B583-CAA974996540}"/>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Ventajas y desventajas del Bootstrapping</a:t>
            </a:r>
            <a:endParaRPr lang="es-CO" sz="2800" b="1">
              <a:solidFill>
                <a:srgbClr val="1F3864"/>
              </a:solidFill>
              <a:latin typeface="Calibri"/>
              <a:ea typeface="Calibri"/>
              <a:cs typeface="Calibri"/>
            </a:endParaRPr>
          </a:p>
        </p:txBody>
      </p:sp>
      <p:sp>
        <p:nvSpPr>
          <p:cNvPr id="20" name="Rectángulo 19">
            <a:extLst>
              <a:ext uri="{FF2B5EF4-FFF2-40B4-BE49-F238E27FC236}">
                <a16:creationId xmlns:a16="http://schemas.microsoft.com/office/drawing/2014/main" id="{22CC7D51-5169-4450-94B6-720C3167D62C}"/>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286570988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ángulo 27">
            <a:extLst>
              <a:ext uri="{FF2B5EF4-FFF2-40B4-BE49-F238E27FC236}">
                <a16:creationId xmlns:a16="http://schemas.microsoft.com/office/drawing/2014/main" id="{EB7B07C7-381B-4F31-B44A-9D09ACD0165E}"/>
              </a:ext>
            </a:extLst>
          </p:cNvPr>
          <p:cNvSpPr/>
          <p:nvPr/>
        </p:nvSpPr>
        <p:spPr>
          <a:xfrm>
            <a:off x="1016000" y="4775200"/>
            <a:ext cx="76708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5" name="Rectángulo 14">
            <a:extLst>
              <a:ext uri="{FF2B5EF4-FFF2-40B4-BE49-F238E27FC236}">
                <a16:creationId xmlns:a16="http://schemas.microsoft.com/office/drawing/2014/main" id="{D36ED1D1-6C4D-405E-9F10-27A48F2BA890}"/>
              </a:ext>
            </a:extLst>
          </p:cNvPr>
          <p:cNvSpPr/>
          <p:nvPr/>
        </p:nvSpPr>
        <p:spPr>
          <a:xfrm>
            <a:off x="1016000" y="3987800"/>
            <a:ext cx="76708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2" name="Rectángulo 11">
            <a:extLst>
              <a:ext uri="{FF2B5EF4-FFF2-40B4-BE49-F238E27FC236}">
                <a16:creationId xmlns:a16="http://schemas.microsoft.com/office/drawing/2014/main" id="{7BCBB27D-2FDF-4835-B592-F8FC92F9CCCC}"/>
              </a:ext>
            </a:extLst>
          </p:cNvPr>
          <p:cNvSpPr/>
          <p:nvPr/>
        </p:nvSpPr>
        <p:spPr>
          <a:xfrm>
            <a:off x="1016000" y="3200400"/>
            <a:ext cx="76708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0" name="Rectángulo 9">
            <a:extLst>
              <a:ext uri="{FF2B5EF4-FFF2-40B4-BE49-F238E27FC236}">
                <a16:creationId xmlns:a16="http://schemas.microsoft.com/office/drawing/2014/main" id="{B6E88717-D24F-44DE-8731-4A137150CC1C}"/>
              </a:ext>
            </a:extLst>
          </p:cNvPr>
          <p:cNvSpPr/>
          <p:nvPr/>
        </p:nvSpPr>
        <p:spPr>
          <a:xfrm>
            <a:off x="1016000" y="2413000"/>
            <a:ext cx="76708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Rectángulo 7">
            <a:extLst>
              <a:ext uri="{FF2B5EF4-FFF2-40B4-BE49-F238E27FC236}">
                <a16:creationId xmlns:a16="http://schemas.microsoft.com/office/drawing/2014/main" id="{E747CB9F-36D7-4104-9DB0-3094AD1F8860}"/>
              </a:ext>
            </a:extLst>
          </p:cNvPr>
          <p:cNvSpPr/>
          <p:nvPr/>
        </p:nvSpPr>
        <p:spPr>
          <a:xfrm>
            <a:off x="1016000" y="1625600"/>
            <a:ext cx="7670800" cy="711200"/>
          </a:xfrm>
          <a:prstGeom prst="rect">
            <a:avLst/>
          </a:prstGeom>
          <a:solidFill>
            <a:srgbClr val="F2F5F9"/>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6" name="CuadroTexto 15">
            <a:extLst>
              <a:ext uri="{FF2B5EF4-FFF2-40B4-BE49-F238E27FC236}">
                <a16:creationId xmlns:a16="http://schemas.microsoft.com/office/drawing/2014/main" id="{69289275-DC2E-6DA5-C8BF-779E82B91919}"/>
              </a:ext>
            </a:extLst>
          </p:cNvPr>
          <p:cNvSpPr txBox="1"/>
          <p:nvPr/>
        </p:nvSpPr>
        <p:spPr>
          <a:xfrm>
            <a:off x="457200" y="1066800"/>
            <a:ext cx="8229600" cy="457200"/>
          </a:xfrm>
          <a:prstGeom prst="rect">
            <a:avLst/>
          </a:prstGeom>
          <a:noFill/>
          <a:ln>
            <a:noFill/>
          </a:ln>
        </p:spPr>
        <p:txBody>
          <a:bodyPr wrap="square" anchor="ctr" anchorCtr="0">
            <a:noAutofit/>
          </a:bodyPr>
          <a:lstStyle/>
          <a:p>
            <a:pPr marL="0" indent="0">
              <a:lnSpc>
                <a:spcPts val="1900"/>
              </a:lnSpc>
              <a:buNone/>
            </a:pPr>
            <a:r>
              <a:rPr lang="es-ES" sz="1400">
                <a:solidFill>
                  <a:srgbClr val="7F7F7F"/>
                </a:solidFill>
                <a:latin typeface="Calibri"/>
                <a:ea typeface="Calibri"/>
                <a:cs typeface="Calibri"/>
              </a:rPr>
              <a:t>El procedimiento consta de cinco pasos que deben seguirse en orden para obtener resultados precisos.</a:t>
            </a:r>
            <a:endParaRPr lang="en-US" sz="1400" dirty="0">
              <a:solidFill>
                <a:srgbClr val="7F7F7F"/>
              </a:solidFill>
              <a:latin typeface="Calibri"/>
              <a:ea typeface="Calibri"/>
              <a:cs typeface="Calibri"/>
            </a:endParaRPr>
          </a:p>
        </p:txBody>
      </p:sp>
      <p:sp>
        <p:nvSpPr>
          <p:cNvPr id="17" name="Text 2">
            <a:extLst>
              <a:ext uri="{FF2B5EF4-FFF2-40B4-BE49-F238E27FC236}">
                <a16:creationId xmlns:a16="http://schemas.microsoft.com/office/drawing/2014/main" id="{647FD286-AB24-3377-051A-7C60768231F0}"/>
              </a:ext>
            </a:extLst>
          </p:cNvPr>
          <p:cNvSpPr/>
          <p:nvPr/>
        </p:nvSpPr>
        <p:spPr>
          <a:xfrm>
            <a:off x="1168400" y="1701800"/>
            <a:ext cx="7366000" cy="254000"/>
          </a:xfrm>
          <a:prstGeom prst="rect">
            <a:avLst/>
          </a:prstGeom>
          <a:noFill/>
          <a:ln>
            <a:noFill/>
          </a:ln>
        </p:spPr>
        <p:txBody>
          <a:bodyPr wrap="square" lIns="0" tIns="0" rIns="0" bIns="0" rtlCol="0" anchor="t" anchorCtr="0">
            <a:noAutofit/>
          </a:bodyPr>
          <a:lstStyle/>
          <a:p>
            <a:pPr marL="0" indent="0" algn="l">
              <a:lnSpc>
                <a:spcPts val="1850"/>
              </a:lnSpc>
              <a:buNone/>
            </a:pPr>
            <a:r>
              <a:rPr lang="en-US" sz="1500" b="1">
                <a:solidFill>
                  <a:srgbClr val="1F3864"/>
                </a:solidFill>
                <a:latin typeface="Calibri"/>
                <a:ea typeface="Calibri"/>
                <a:cs typeface="Calibri"/>
              </a:rPr>
              <a:t>Obtención de una muestra</a:t>
            </a:r>
            <a:endParaRPr lang="en-US" sz="1500" b="1" dirty="0">
              <a:solidFill>
                <a:srgbClr val="1F3864"/>
              </a:solidFill>
              <a:latin typeface="Calibri"/>
              <a:ea typeface="Calibri"/>
              <a:cs typeface="Calibri"/>
            </a:endParaRPr>
          </a:p>
        </p:txBody>
      </p:sp>
      <p:sp>
        <p:nvSpPr>
          <p:cNvPr id="18" name="Text 3">
            <a:extLst>
              <a:ext uri="{FF2B5EF4-FFF2-40B4-BE49-F238E27FC236}">
                <a16:creationId xmlns:a16="http://schemas.microsoft.com/office/drawing/2014/main" id="{2F6E839F-6ADA-A8D7-4624-D8DDD75816ED}"/>
              </a:ext>
            </a:extLst>
          </p:cNvPr>
          <p:cNvSpPr/>
          <p:nvPr/>
        </p:nvSpPr>
        <p:spPr>
          <a:xfrm>
            <a:off x="1168400" y="1955800"/>
            <a:ext cx="7366000" cy="330200"/>
          </a:xfrm>
          <a:prstGeom prst="rect">
            <a:avLst/>
          </a:prstGeom>
          <a:noFill/>
          <a:ln>
            <a:noFill/>
          </a:ln>
        </p:spPr>
        <p:txBody>
          <a:bodyPr wrap="square" lIns="0" tIns="0" rIns="0" bIns="0" rtlCol="0" anchor="t" anchorCtr="0">
            <a:noAutofit/>
          </a:bodyPr>
          <a:lstStyle/>
          <a:p>
            <a:pPr marL="0" indent="0" algn="l">
              <a:lnSpc>
                <a:spcPts val="1900"/>
              </a:lnSpc>
              <a:buNone/>
            </a:pPr>
            <a:r>
              <a:rPr lang="en-US" sz="1300" dirty="0">
                <a:solidFill>
                  <a:srgbClr val="404040"/>
                </a:solidFill>
                <a:latin typeface="Calibri"/>
                <a:ea typeface="Calibri"/>
                <a:cs typeface="Calibri"/>
              </a:rPr>
              <a:t>Se recolecta una muestra aleatoria de datos de la población objetivo.</a:t>
            </a:r>
          </a:p>
        </p:txBody>
      </p:sp>
      <p:sp>
        <p:nvSpPr>
          <p:cNvPr id="19" name="Text 4">
            <a:extLst>
              <a:ext uri="{FF2B5EF4-FFF2-40B4-BE49-F238E27FC236}">
                <a16:creationId xmlns:a16="http://schemas.microsoft.com/office/drawing/2014/main" id="{EFC9979A-8C1F-2557-016D-A01FC293BAF7}"/>
              </a:ext>
            </a:extLst>
          </p:cNvPr>
          <p:cNvSpPr/>
          <p:nvPr/>
        </p:nvSpPr>
        <p:spPr>
          <a:xfrm>
            <a:off x="1168400" y="2489200"/>
            <a:ext cx="7366000" cy="254000"/>
          </a:xfrm>
          <a:prstGeom prst="rect">
            <a:avLst/>
          </a:prstGeom>
          <a:noFill/>
          <a:ln>
            <a:noFill/>
          </a:ln>
        </p:spPr>
        <p:txBody>
          <a:bodyPr wrap="square" lIns="0" tIns="0" rIns="0" bIns="0" rtlCol="0" anchor="t" anchorCtr="0">
            <a:noAutofit/>
          </a:bodyPr>
          <a:lstStyle/>
          <a:p>
            <a:pPr marL="0" indent="0" algn="l">
              <a:lnSpc>
                <a:spcPts val="1850"/>
              </a:lnSpc>
              <a:buNone/>
            </a:pPr>
            <a:r>
              <a:rPr lang="en-US" sz="1500" b="1">
                <a:solidFill>
                  <a:srgbClr val="1F3864"/>
                </a:solidFill>
                <a:latin typeface="Calibri"/>
                <a:ea typeface="Calibri"/>
                <a:cs typeface="Calibri"/>
              </a:rPr>
              <a:t>Resampleo</a:t>
            </a:r>
            <a:endParaRPr lang="en-US" sz="1500" b="1" dirty="0">
              <a:solidFill>
                <a:srgbClr val="1F3864"/>
              </a:solidFill>
              <a:latin typeface="Calibri"/>
              <a:ea typeface="Calibri"/>
              <a:cs typeface="Calibri"/>
            </a:endParaRPr>
          </a:p>
        </p:txBody>
      </p:sp>
      <p:sp>
        <p:nvSpPr>
          <p:cNvPr id="20" name="Text 5">
            <a:extLst>
              <a:ext uri="{FF2B5EF4-FFF2-40B4-BE49-F238E27FC236}">
                <a16:creationId xmlns:a16="http://schemas.microsoft.com/office/drawing/2014/main" id="{0FE97BD0-7A48-BC5C-433F-D85E29893843}"/>
              </a:ext>
            </a:extLst>
          </p:cNvPr>
          <p:cNvSpPr/>
          <p:nvPr/>
        </p:nvSpPr>
        <p:spPr>
          <a:xfrm>
            <a:off x="1168400" y="2743200"/>
            <a:ext cx="7366000" cy="330200"/>
          </a:xfrm>
          <a:prstGeom prst="rect">
            <a:avLst/>
          </a:prstGeom>
          <a:noFill/>
          <a:ln>
            <a:noFill/>
          </a:ln>
        </p:spPr>
        <p:txBody>
          <a:bodyPr wrap="square" lIns="0" tIns="0" rIns="0" bIns="0" rtlCol="0" anchor="t" anchorCtr="0">
            <a:noAutofit/>
          </a:bodyPr>
          <a:lstStyle/>
          <a:p>
            <a:pPr marL="0" indent="0" algn="l">
              <a:lnSpc>
                <a:spcPts val="1900"/>
              </a:lnSpc>
              <a:buNone/>
            </a:pPr>
            <a:r>
              <a:rPr lang="en-US" sz="1300" dirty="0">
                <a:solidFill>
                  <a:srgbClr val="404040"/>
                </a:solidFill>
                <a:latin typeface="Calibri"/>
                <a:ea typeface="Calibri"/>
                <a:cs typeface="Calibri"/>
              </a:rPr>
              <a:t>Se generan múltiples muestras "pseudo" de la muestra original, mediante remuestreo con reemplazo.</a:t>
            </a:r>
          </a:p>
        </p:txBody>
      </p:sp>
      <p:sp>
        <p:nvSpPr>
          <p:cNvPr id="21" name="Text 6">
            <a:extLst>
              <a:ext uri="{FF2B5EF4-FFF2-40B4-BE49-F238E27FC236}">
                <a16:creationId xmlns:a16="http://schemas.microsoft.com/office/drawing/2014/main" id="{E97F419F-3641-DC88-7EF0-61B3DD880221}"/>
              </a:ext>
            </a:extLst>
          </p:cNvPr>
          <p:cNvSpPr/>
          <p:nvPr/>
        </p:nvSpPr>
        <p:spPr>
          <a:xfrm>
            <a:off x="1168400" y="3276600"/>
            <a:ext cx="7366000" cy="254000"/>
          </a:xfrm>
          <a:prstGeom prst="rect">
            <a:avLst/>
          </a:prstGeom>
          <a:noFill/>
          <a:ln>
            <a:noFill/>
          </a:ln>
        </p:spPr>
        <p:txBody>
          <a:bodyPr wrap="square" lIns="0" tIns="0" rIns="0" bIns="0" rtlCol="0" anchor="t" anchorCtr="0">
            <a:noAutofit/>
          </a:bodyPr>
          <a:lstStyle/>
          <a:p>
            <a:pPr marL="0" indent="0" algn="l">
              <a:lnSpc>
                <a:spcPts val="1850"/>
              </a:lnSpc>
              <a:buNone/>
            </a:pPr>
            <a:r>
              <a:rPr lang="en-US" sz="1500" b="1">
                <a:solidFill>
                  <a:srgbClr val="1F3864"/>
                </a:solidFill>
                <a:latin typeface="Calibri"/>
                <a:ea typeface="Calibri"/>
                <a:cs typeface="Calibri"/>
              </a:rPr>
              <a:t>Cálculo de la estadística</a:t>
            </a:r>
            <a:endParaRPr lang="en-US" sz="1500" b="1" dirty="0">
              <a:solidFill>
                <a:srgbClr val="1F3864"/>
              </a:solidFill>
              <a:latin typeface="Calibri"/>
              <a:ea typeface="Calibri"/>
              <a:cs typeface="Calibri"/>
            </a:endParaRPr>
          </a:p>
        </p:txBody>
      </p:sp>
      <p:sp>
        <p:nvSpPr>
          <p:cNvPr id="22" name="Text 7">
            <a:extLst>
              <a:ext uri="{FF2B5EF4-FFF2-40B4-BE49-F238E27FC236}">
                <a16:creationId xmlns:a16="http://schemas.microsoft.com/office/drawing/2014/main" id="{82E85CD5-DBE0-3B4C-5927-FBE7114DC00C}"/>
              </a:ext>
            </a:extLst>
          </p:cNvPr>
          <p:cNvSpPr/>
          <p:nvPr/>
        </p:nvSpPr>
        <p:spPr>
          <a:xfrm>
            <a:off x="1168400" y="3530600"/>
            <a:ext cx="7366000" cy="330200"/>
          </a:xfrm>
          <a:prstGeom prst="rect">
            <a:avLst/>
          </a:prstGeom>
          <a:noFill/>
          <a:ln>
            <a:noFill/>
          </a:ln>
        </p:spPr>
        <p:txBody>
          <a:bodyPr wrap="square" lIns="0" tIns="0" rIns="0" bIns="0" rtlCol="0" anchor="t" anchorCtr="0">
            <a:noAutofit/>
          </a:bodyPr>
          <a:lstStyle/>
          <a:p>
            <a:pPr marL="0" indent="0" algn="l">
              <a:lnSpc>
                <a:spcPts val="1900"/>
              </a:lnSpc>
              <a:buNone/>
            </a:pPr>
            <a:r>
              <a:rPr lang="en-US" sz="1300" dirty="0">
                <a:solidFill>
                  <a:srgbClr val="404040"/>
                </a:solidFill>
                <a:latin typeface="Calibri"/>
                <a:ea typeface="Calibri"/>
                <a:cs typeface="Calibri"/>
              </a:rPr>
              <a:t>Se calcula la estadística de interés para cada muestra bootstrap.</a:t>
            </a:r>
          </a:p>
        </p:txBody>
      </p:sp>
      <p:sp>
        <p:nvSpPr>
          <p:cNvPr id="23" name="Text 8">
            <a:extLst>
              <a:ext uri="{FF2B5EF4-FFF2-40B4-BE49-F238E27FC236}">
                <a16:creationId xmlns:a16="http://schemas.microsoft.com/office/drawing/2014/main" id="{CD7C5238-3F8F-7EE4-9376-22D1F240C805}"/>
              </a:ext>
            </a:extLst>
          </p:cNvPr>
          <p:cNvSpPr/>
          <p:nvPr/>
        </p:nvSpPr>
        <p:spPr>
          <a:xfrm>
            <a:off x="1168400" y="4064000"/>
            <a:ext cx="7366000" cy="254000"/>
          </a:xfrm>
          <a:prstGeom prst="rect">
            <a:avLst/>
          </a:prstGeom>
          <a:noFill/>
          <a:ln>
            <a:noFill/>
          </a:ln>
        </p:spPr>
        <p:txBody>
          <a:bodyPr wrap="square" lIns="0" tIns="0" rIns="0" bIns="0" rtlCol="0" anchor="t" anchorCtr="0">
            <a:noAutofit/>
          </a:bodyPr>
          <a:lstStyle/>
          <a:p>
            <a:pPr marL="0" indent="0" algn="l">
              <a:lnSpc>
                <a:spcPts val="1850"/>
              </a:lnSpc>
              <a:buNone/>
            </a:pPr>
            <a:r>
              <a:rPr lang="es-ES" sz="1500" b="1">
                <a:solidFill>
                  <a:srgbClr val="1F3864"/>
                </a:solidFill>
                <a:latin typeface="Calibri"/>
                <a:ea typeface="Calibri"/>
                <a:cs typeface="Calibri"/>
              </a:rPr>
              <a:t>Construcción de la distribución bootstrap</a:t>
            </a:r>
            <a:endParaRPr lang="en-US" sz="1500" b="1" dirty="0">
              <a:solidFill>
                <a:srgbClr val="1F3864"/>
              </a:solidFill>
              <a:latin typeface="Calibri"/>
              <a:ea typeface="Calibri"/>
              <a:cs typeface="Calibri"/>
            </a:endParaRPr>
          </a:p>
        </p:txBody>
      </p:sp>
      <p:sp>
        <p:nvSpPr>
          <p:cNvPr id="24" name="Text 9">
            <a:extLst>
              <a:ext uri="{FF2B5EF4-FFF2-40B4-BE49-F238E27FC236}">
                <a16:creationId xmlns:a16="http://schemas.microsoft.com/office/drawing/2014/main" id="{596464CF-B91C-4428-FBC9-39437D492091}"/>
              </a:ext>
            </a:extLst>
          </p:cNvPr>
          <p:cNvSpPr/>
          <p:nvPr/>
        </p:nvSpPr>
        <p:spPr>
          <a:xfrm>
            <a:off x="1168400" y="4318000"/>
            <a:ext cx="7366000" cy="330200"/>
          </a:xfrm>
          <a:prstGeom prst="rect">
            <a:avLst/>
          </a:prstGeom>
          <a:noFill/>
          <a:ln>
            <a:noFill/>
          </a:ln>
        </p:spPr>
        <p:txBody>
          <a:bodyPr wrap="square" lIns="0" tIns="0" rIns="0" bIns="0" rtlCol="0" anchor="t" anchorCtr="0">
            <a:noAutofit/>
          </a:bodyPr>
          <a:lstStyle/>
          <a:p>
            <a:pPr marL="0" indent="0" algn="l">
              <a:lnSpc>
                <a:spcPts val="1900"/>
              </a:lnSpc>
              <a:buNone/>
            </a:pPr>
            <a:r>
              <a:rPr lang="en-US" sz="1300" dirty="0">
                <a:solidFill>
                  <a:srgbClr val="404040"/>
                </a:solidFill>
                <a:latin typeface="Calibri"/>
                <a:ea typeface="Calibri"/>
                <a:cs typeface="Calibri"/>
              </a:rPr>
              <a:t>Se crea una distribución a partir de las estadísticas calculadas en el paso anterior.</a:t>
            </a:r>
          </a:p>
        </p:txBody>
      </p:sp>
      <p:sp>
        <p:nvSpPr>
          <p:cNvPr id="25" name="Text 10">
            <a:extLst>
              <a:ext uri="{FF2B5EF4-FFF2-40B4-BE49-F238E27FC236}">
                <a16:creationId xmlns:a16="http://schemas.microsoft.com/office/drawing/2014/main" id="{F5E82653-E5CC-E657-C60C-BAFE69024B1E}"/>
              </a:ext>
            </a:extLst>
          </p:cNvPr>
          <p:cNvSpPr/>
          <p:nvPr/>
        </p:nvSpPr>
        <p:spPr>
          <a:xfrm>
            <a:off x="1168400" y="4851400"/>
            <a:ext cx="7366000" cy="254000"/>
          </a:xfrm>
          <a:prstGeom prst="rect">
            <a:avLst/>
          </a:prstGeom>
          <a:noFill/>
          <a:ln>
            <a:noFill/>
          </a:ln>
        </p:spPr>
        <p:txBody>
          <a:bodyPr wrap="square" lIns="0" tIns="0" rIns="0" bIns="0" rtlCol="0" anchor="t" anchorCtr="0">
            <a:noAutofit/>
          </a:bodyPr>
          <a:lstStyle/>
          <a:p>
            <a:pPr marL="0" indent="0" algn="l">
              <a:lnSpc>
                <a:spcPts val="1850"/>
              </a:lnSpc>
              <a:buNone/>
            </a:pPr>
            <a:r>
              <a:rPr lang="en-US" sz="1500" b="1">
                <a:solidFill>
                  <a:srgbClr val="1F3864"/>
                </a:solidFill>
                <a:latin typeface="Calibri"/>
                <a:ea typeface="Calibri"/>
                <a:cs typeface="Calibri"/>
              </a:rPr>
              <a:t>Interpretación de los resultados</a:t>
            </a:r>
            <a:endParaRPr lang="en-US" sz="1500" b="1" dirty="0">
              <a:solidFill>
                <a:srgbClr val="1F3864"/>
              </a:solidFill>
              <a:latin typeface="Calibri"/>
              <a:ea typeface="Calibri"/>
              <a:cs typeface="Calibri"/>
            </a:endParaRPr>
          </a:p>
        </p:txBody>
      </p:sp>
      <p:sp>
        <p:nvSpPr>
          <p:cNvPr id="26" name="Text 11">
            <a:extLst>
              <a:ext uri="{FF2B5EF4-FFF2-40B4-BE49-F238E27FC236}">
                <a16:creationId xmlns:a16="http://schemas.microsoft.com/office/drawing/2014/main" id="{F8AF756E-A31E-3C2A-3B0F-896DEAE31D58}"/>
              </a:ext>
            </a:extLst>
          </p:cNvPr>
          <p:cNvSpPr/>
          <p:nvPr/>
        </p:nvSpPr>
        <p:spPr>
          <a:xfrm>
            <a:off x="1168400" y="5105400"/>
            <a:ext cx="7366000" cy="330200"/>
          </a:xfrm>
          <a:prstGeom prst="rect">
            <a:avLst/>
          </a:prstGeom>
          <a:noFill/>
          <a:ln>
            <a:noFill/>
          </a:ln>
        </p:spPr>
        <p:txBody>
          <a:bodyPr wrap="square" lIns="0" tIns="0" rIns="0" bIns="0" rtlCol="0" anchor="t" anchorCtr="0">
            <a:noAutofit/>
          </a:bodyPr>
          <a:lstStyle/>
          <a:p>
            <a:pPr marL="0" indent="0" algn="l">
              <a:lnSpc>
                <a:spcPts val="1900"/>
              </a:lnSpc>
              <a:buNone/>
            </a:pPr>
            <a:r>
              <a:rPr lang="en-US" sz="1300" dirty="0">
                <a:solidFill>
                  <a:srgbClr val="404040"/>
                </a:solidFill>
                <a:latin typeface="Calibri"/>
                <a:ea typeface="Calibri"/>
                <a:cs typeface="Calibri"/>
              </a:rPr>
              <a:t>Se utilizan los resultados para estimar intervalos de confianza, realizar pruebas de </a:t>
            </a:r>
            <a:r>
              <a:rPr lang="en-US" sz="1300" dirty="0" err="1">
                <a:solidFill>
                  <a:srgbClr val="404040"/>
                </a:solidFill>
                <a:latin typeface="Calibri"/>
                <a:ea typeface="Calibri"/>
                <a:cs typeface="Calibri"/>
              </a:rPr>
              <a:t>hipótesis</a:t>
            </a:r>
            <a:endParaRPr lang="en-US" sz="1300" dirty="0">
              <a:solidFill>
                <a:srgbClr val="404040"/>
              </a:solidFill>
              <a:latin typeface="Calibri"/>
              <a:ea typeface="Calibri"/>
              <a:cs typeface="Calibri"/>
            </a:endParaRPr>
          </a:p>
          <a:p>
            <a:pPr marL="0" indent="0" algn="l">
              <a:lnSpc>
                <a:spcPts val="1900"/>
              </a:lnSpc>
              <a:buNone/>
            </a:pPr>
            <a:r>
              <a:rPr lang="en-US" sz="1300" dirty="0">
                <a:solidFill>
                  <a:srgbClr val="404040"/>
                </a:solidFill>
                <a:latin typeface="Calibri"/>
                <a:ea typeface="Calibri"/>
                <a:cs typeface="Calibri"/>
              </a:rPr>
              <a:t> o estimar parámetros.</a:t>
            </a:r>
          </a:p>
        </p:txBody>
      </p:sp>
      <p:sp>
        <p:nvSpPr>
          <p:cNvPr id="5" name="CuadroTexto 4">
            <a:extLst>
              <a:ext uri="{FF2B5EF4-FFF2-40B4-BE49-F238E27FC236}">
                <a16:creationId xmlns:a16="http://schemas.microsoft.com/office/drawing/2014/main" id="{97F4922F-C190-4C65-B150-63DCF676DDC1}"/>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Procedimiento paso a paso del Bootstrapping</a:t>
            </a:r>
            <a:endParaRPr lang="es-CO" sz="2800" b="1">
              <a:solidFill>
                <a:srgbClr val="1F3864"/>
              </a:solidFill>
              <a:latin typeface="Calibri"/>
              <a:ea typeface="Calibri"/>
              <a:cs typeface="Calibri"/>
            </a:endParaRPr>
          </a:p>
        </p:txBody>
      </p:sp>
      <p:sp>
        <p:nvSpPr>
          <p:cNvPr id="6" name="Rectángulo 5">
            <a:extLst>
              <a:ext uri="{FF2B5EF4-FFF2-40B4-BE49-F238E27FC236}">
                <a16:creationId xmlns:a16="http://schemas.microsoft.com/office/drawing/2014/main" id="{3A3E8B74-6070-4776-89BD-D3586377BE90}"/>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6">
            <a:extLst>
              <a:ext uri="{FF2B5EF4-FFF2-40B4-BE49-F238E27FC236}">
                <a16:creationId xmlns:a16="http://schemas.microsoft.com/office/drawing/2014/main" id="{105F4E8C-B38F-4EC7-BB2F-0F54D21B9993}"/>
              </a:ext>
            </a:extLst>
          </p:cNvPr>
          <p:cNvSpPr/>
          <p:nvPr/>
        </p:nvSpPr>
        <p:spPr>
          <a:xfrm>
            <a:off x="457200" y="1625600"/>
            <a:ext cx="508000" cy="711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b="1">
                <a:solidFill>
                  <a:srgbClr val="FFFFFF"/>
                </a:solidFill>
                <a:latin typeface="Calibri"/>
                <a:ea typeface="Calibri"/>
                <a:cs typeface="Calibri"/>
              </a:rPr>
              <a:t>1</a:t>
            </a:r>
          </a:p>
        </p:txBody>
      </p:sp>
      <p:sp>
        <p:nvSpPr>
          <p:cNvPr id="9" name="Rectángulo 8">
            <a:extLst>
              <a:ext uri="{FF2B5EF4-FFF2-40B4-BE49-F238E27FC236}">
                <a16:creationId xmlns:a16="http://schemas.microsoft.com/office/drawing/2014/main" id="{C7B252B8-66C7-4270-B637-D7BF6F53DAD8}"/>
              </a:ext>
            </a:extLst>
          </p:cNvPr>
          <p:cNvSpPr/>
          <p:nvPr/>
        </p:nvSpPr>
        <p:spPr>
          <a:xfrm>
            <a:off x="457200" y="2413000"/>
            <a:ext cx="508000" cy="711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b="1">
                <a:solidFill>
                  <a:srgbClr val="FFFFFF"/>
                </a:solidFill>
                <a:latin typeface="Calibri"/>
                <a:ea typeface="Calibri"/>
                <a:cs typeface="Calibri"/>
              </a:rPr>
              <a:t>2</a:t>
            </a:r>
          </a:p>
        </p:txBody>
      </p:sp>
      <p:sp>
        <p:nvSpPr>
          <p:cNvPr id="11" name="Rectángulo 10">
            <a:extLst>
              <a:ext uri="{FF2B5EF4-FFF2-40B4-BE49-F238E27FC236}">
                <a16:creationId xmlns:a16="http://schemas.microsoft.com/office/drawing/2014/main" id="{E3647379-FE33-4B1F-8934-C0E9959677F1}"/>
              </a:ext>
            </a:extLst>
          </p:cNvPr>
          <p:cNvSpPr/>
          <p:nvPr/>
        </p:nvSpPr>
        <p:spPr>
          <a:xfrm>
            <a:off x="457200" y="3200400"/>
            <a:ext cx="508000" cy="711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b="1">
                <a:solidFill>
                  <a:srgbClr val="FFFFFF"/>
                </a:solidFill>
                <a:latin typeface="Calibri"/>
                <a:ea typeface="Calibri"/>
                <a:cs typeface="Calibri"/>
              </a:rPr>
              <a:t>3</a:t>
            </a:r>
          </a:p>
        </p:txBody>
      </p:sp>
      <p:sp>
        <p:nvSpPr>
          <p:cNvPr id="13" name="Rectángulo 12">
            <a:extLst>
              <a:ext uri="{FF2B5EF4-FFF2-40B4-BE49-F238E27FC236}">
                <a16:creationId xmlns:a16="http://schemas.microsoft.com/office/drawing/2014/main" id="{FF797725-EAFF-45CF-9096-4A7D9F773FC6}"/>
              </a:ext>
            </a:extLst>
          </p:cNvPr>
          <p:cNvSpPr/>
          <p:nvPr/>
        </p:nvSpPr>
        <p:spPr>
          <a:xfrm>
            <a:off x="457200" y="3987800"/>
            <a:ext cx="508000" cy="711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b="1">
                <a:solidFill>
                  <a:srgbClr val="FFFFFF"/>
                </a:solidFill>
                <a:latin typeface="Calibri"/>
                <a:ea typeface="Calibri"/>
                <a:cs typeface="Calibri"/>
              </a:rPr>
              <a:t>4</a:t>
            </a:r>
          </a:p>
        </p:txBody>
      </p:sp>
      <p:sp>
        <p:nvSpPr>
          <p:cNvPr id="27" name="Rectángulo 26">
            <a:extLst>
              <a:ext uri="{FF2B5EF4-FFF2-40B4-BE49-F238E27FC236}">
                <a16:creationId xmlns:a16="http://schemas.microsoft.com/office/drawing/2014/main" id="{728A0A0C-3A45-42F1-83F2-A6CC93DA2093}"/>
              </a:ext>
            </a:extLst>
          </p:cNvPr>
          <p:cNvSpPr/>
          <p:nvPr/>
        </p:nvSpPr>
        <p:spPr>
          <a:xfrm>
            <a:off x="457200" y="4775200"/>
            <a:ext cx="508000" cy="7112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s-CO" b="1">
                <a:solidFill>
                  <a:srgbClr val="FFFFFF"/>
                </a:solidFill>
                <a:latin typeface="Calibri"/>
                <a:ea typeface="Calibri"/>
                <a:cs typeface="Calibri"/>
              </a:rPr>
              <a:t>5</a:t>
            </a:r>
          </a:p>
        </p:txBody>
      </p:sp>
    </p:spTree>
    <p:extLst>
      <p:ext uri="{BB962C8B-B14F-4D97-AF65-F5344CB8AC3E}">
        <p14:creationId xmlns:p14="http://schemas.microsoft.com/office/powerpoint/2010/main" val="1224059260"/>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103BE995-6774-7960-0C15-64E819E4E977}"/>
              </a:ext>
            </a:extLst>
          </p:cNvPr>
          <p:cNvPicPr>
            <a:picLocks noChangeAspect="1"/>
          </p:cNvPicPr>
          <p:nvPr/>
        </p:nvPicPr>
        <p:blipFill>
          <a:blip r:embed="rId2"/>
          <a:stretch>
            <a:fillRect/>
          </a:stretch>
        </p:blipFill>
        <p:spPr>
          <a:xfrm>
            <a:off x="514060" y="646565"/>
            <a:ext cx="8115879" cy="4694691"/>
          </a:xfrm>
          <a:prstGeom prst="rect">
            <a:avLst/>
          </a:prstGeom>
        </p:spPr>
      </p:pic>
    </p:spTree>
    <p:extLst>
      <p:ext uri="{BB962C8B-B14F-4D97-AF65-F5344CB8AC3E}">
        <p14:creationId xmlns:p14="http://schemas.microsoft.com/office/powerpoint/2010/main" val="336072628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1">
            <a:extLst>
              <a:ext uri="{FF2B5EF4-FFF2-40B4-BE49-F238E27FC236}">
                <a16:creationId xmlns:a16="http://schemas.microsoft.com/office/drawing/2014/main" id="{36CE72BF-E32F-A22F-2213-1BBB5EC0180E}"/>
              </a:ext>
            </a:extLst>
          </p:cNvPr>
          <p:cNvSpPr/>
          <p:nvPr/>
        </p:nvSpPr>
        <p:spPr>
          <a:xfrm>
            <a:off x="457200" y="1382605"/>
            <a:ext cx="8229600" cy="580549"/>
          </a:xfrm>
          <a:prstGeom prst="rect">
            <a:avLst/>
          </a:prstGeom>
          <a:noFill/>
          <a:ln/>
        </p:spPr>
        <p:txBody>
          <a:bodyPr wrap="square" lIns="0" tIns="0" rIns="0" bIns="0" rtlCol="0" anchor="t"/>
          <a:lstStyle/>
          <a:p>
            <a:pPr marL="0" indent="0">
              <a:lnSpc>
                <a:spcPts val="2250"/>
              </a:lnSpc>
              <a:buNone/>
            </a:pPr>
            <a:r>
              <a:rPr lang="en-US" sz="1600" dirty="0">
                <a:solidFill>
                  <a:srgbClr val="2C3249"/>
                </a:solidFill>
                <a:latin typeface="Martel Sans" pitchFamily="34" charset="0"/>
                <a:ea typeface="Martel Sans" pitchFamily="34" charset="-122"/>
                <a:cs typeface="Martel Sans" pitchFamily="34" charset="-120"/>
              </a:rPr>
              <a:t>La interpretación de los resultados del bootstrapping depende del objetivo del análisis y de la estadística utilizada.</a:t>
            </a:r>
            <a:endParaRPr lang="en-US" sz="1600" dirty="0"/>
          </a:p>
        </p:txBody>
      </p:sp>
      <p:sp>
        <p:nvSpPr>
          <p:cNvPr id="7" name="Text 2">
            <a:extLst>
              <a:ext uri="{FF2B5EF4-FFF2-40B4-BE49-F238E27FC236}">
                <a16:creationId xmlns:a16="http://schemas.microsoft.com/office/drawing/2014/main" id="{B5FE3954-0B63-4FFF-DC5E-D15EB2D4E5DE}"/>
              </a:ext>
            </a:extLst>
          </p:cNvPr>
          <p:cNvSpPr/>
          <p:nvPr/>
        </p:nvSpPr>
        <p:spPr>
          <a:xfrm>
            <a:off x="547992" y="2204791"/>
            <a:ext cx="1908935" cy="283488"/>
          </a:xfrm>
          <a:prstGeom prst="rect">
            <a:avLst/>
          </a:prstGeom>
          <a:noFill/>
          <a:ln/>
        </p:spPr>
        <p:txBody>
          <a:bodyPr wrap="none" lIns="0" tIns="0" rIns="0" bIns="0" rtlCol="0" anchor="t"/>
          <a:lstStyle/>
          <a:p>
            <a:pPr marL="0" indent="0" algn="l">
              <a:lnSpc>
                <a:spcPts val="2200"/>
              </a:lnSpc>
              <a:buNone/>
            </a:pPr>
            <a:r>
              <a:rPr lang="en-US" dirty="0">
                <a:solidFill>
                  <a:srgbClr val="2C3249"/>
                </a:solidFill>
                <a:latin typeface="Kanit Light" pitchFamily="34" charset="0"/>
                <a:ea typeface="Kanit Light" pitchFamily="34" charset="-122"/>
                <a:cs typeface="Kanit Light" pitchFamily="34" charset="-120"/>
              </a:rPr>
              <a:t>Intervalos de Confianza</a:t>
            </a:r>
            <a:endParaRPr lang="en-US" dirty="0"/>
          </a:p>
        </p:txBody>
      </p:sp>
      <p:sp>
        <p:nvSpPr>
          <p:cNvPr id="8" name="Text 3">
            <a:extLst>
              <a:ext uri="{FF2B5EF4-FFF2-40B4-BE49-F238E27FC236}">
                <a16:creationId xmlns:a16="http://schemas.microsoft.com/office/drawing/2014/main" id="{8AC1F37E-58EF-B1A9-9E1E-38E533DDC521}"/>
              </a:ext>
            </a:extLst>
          </p:cNvPr>
          <p:cNvSpPr/>
          <p:nvPr/>
        </p:nvSpPr>
        <p:spPr>
          <a:xfrm>
            <a:off x="457200" y="2597102"/>
            <a:ext cx="8229600" cy="290274"/>
          </a:xfrm>
          <a:prstGeom prst="rect">
            <a:avLst/>
          </a:prstGeom>
          <a:noFill/>
          <a:ln/>
        </p:spPr>
        <p:txBody>
          <a:bodyPr wrap="none" lIns="0" tIns="0" rIns="0" bIns="0" rtlCol="0" anchor="t"/>
          <a:lstStyle/>
          <a:p>
            <a:pPr marL="0" indent="0" algn="l">
              <a:lnSpc>
                <a:spcPts val="2250"/>
              </a:lnSpc>
              <a:buNone/>
            </a:pPr>
            <a:r>
              <a:rPr lang="en-US" sz="1600" dirty="0">
                <a:solidFill>
                  <a:srgbClr val="2C3249"/>
                </a:solidFill>
                <a:latin typeface="Martel Sans" pitchFamily="34" charset="0"/>
                <a:ea typeface="Martel Sans" pitchFamily="34" charset="-122"/>
                <a:cs typeface="Martel Sans" pitchFamily="34" charset="-120"/>
              </a:rPr>
              <a:t>Se utilizan para estimar el rango probable de valores para una estadística.</a:t>
            </a:r>
            <a:endParaRPr lang="en-US" sz="1600" dirty="0"/>
          </a:p>
        </p:txBody>
      </p:sp>
      <p:sp>
        <p:nvSpPr>
          <p:cNvPr id="9" name="Text 4">
            <a:extLst>
              <a:ext uri="{FF2B5EF4-FFF2-40B4-BE49-F238E27FC236}">
                <a16:creationId xmlns:a16="http://schemas.microsoft.com/office/drawing/2014/main" id="{E7ADC0EB-6A9D-8DBD-E12B-8198DB3F2CBC}"/>
              </a:ext>
            </a:extLst>
          </p:cNvPr>
          <p:cNvSpPr/>
          <p:nvPr/>
        </p:nvSpPr>
        <p:spPr>
          <a:xfrm>
            <a:off x="547992" y="3283885"/>
            <a:ext cx="1853101" cy="283488"/>
          </a:xfrm>
          <a:prstGeom prst="rect">
            <a:avLst/>
          </a:prstGeom>
          <a:noFill/>
          <a:ln/>
        </p:spPr>
        <p:txBody>
          <a:bodyPr wrap="none" lIns="0" tIns="0" rIns="0" bIns="0" rtlCol="0" anchor="t"/>
          <a:lstStyle/>
          <a:p>
            <a:pPr marL="0" indent="0" algn="l">
              <a:lnSpc>
                <a:spcPts val="2200"/>
              </a:lnSpc>
              <a:buNone/>
            </a:pPr>
            <a:r>
              <a:rPr lang="en-US" dirty="0">
                <a:solidFill>
                  <a:srgbClr val="2C3249"/>
                </a:solidFill>
                <a:latin typeface="Kanit Light" pitchFamily="34" charset="0"/>
                <a:ea typeface="Kanit Light" pitchFamily="34" charset="-122"/>
                <a:cs typeface="Kanit Light" pitchFamily="34" charset="-120"/>
              </a:rPr>
              <a:t>Pruebas de Hipótesis</a:t>
            </a:r>
            <a:endParaRPr lang="en-US" dirty="0"/>
          </a:p>
        </p:txBody>
      </p:sp>
      <p:sp>
        <p:nvSpPr>
          <p:cNvPr id="10" name="Text 5">
            <a:extLst>
              <a:ext uri="{FF2B5EF4-FFF2-40B4-BE49-F238E27FC236}">
                <a16:creationId xmlns:a16="http://schemas.microsoft.com/office/drawing/2014/main" id="{22EE0116-C6ED-5698-C734-ECEF5D09F778}"/>
              </a:ext>
            </a:extLst>
          </p:cNvPr>
          <p:cNvSpPr/>
          <p:nvPr/>
        </p:nvSpPr>
        <p:spPr>
          <a:xfrm>
            <a:off x="457200" y="3676196"/>
            <a:ext cx="8229600" cy="290274"/>
          </a:xfrm>
          <a:prstGeom prst="rect">
            <a:avLst/>
          </a:prstGeom>
          <a:noFill/>
          <a:ln/>
        </p:spPr>
        <p:txBody>
          <a:bodyPr wrap="none" lIns="0" tIns="0" rIns="0" bIns="0" rtlCol="0" anchor="t"/>
          <a:lstStyle/>
          <a:p>
            <a:pPr marL="0" indent="0" algn="l">
              <a:lnSpc>
                <a:spcPts val="2250"/>
              </a:lnSpc>
              <a:buNone/>
            </a:pPr>
            <a:r>
              <a:rPr lang="en-US" sz="1600" dirty="0">
                <a:solidFill>
                  <a:srgbClr val="2C3249"/>
                </a:solidFill>
                <a:latin typeface="Martel Sans" pitchFamily="34" charset="0"/>
                <a:ea typeface="Martel Sans" pitchFamily="34" charset="-122"/>
                <a:cs typeface="Martel Sans" pitchFamily="34" charset="-120"/>
              </a:rPr>
              <a:t>Se usan para determinar si hay suficiente evidencia para rechazar una hipótesis nula.</a:t>
            </a:r>
            <a:endParaRPr lang="en-US" sz="1600" dirty="0"/>
          </a:p>
        </p:txBody>
      </p:sp>
      <p:sp>
        <p:nvSpPr>
          <p:cNvPr id="11" name="Text 6">
            <a:extLst>
              <a:ext uri="{FF2B5EF4-FFF2-40B4-BE49-F238E27FC236}">
                <a16:creationId xmlns:a16="http://schemas.microsoft.com/office/drawing/2014/main" id="{50A036C9-5D96-CC65-A7B1-C2EC4016D1E4}"/>
              </a:ext>
            </a:extLst>
          </p:cNvPr>
          <p:cNvSpPr/>
          <p:nvPr/>
        </p:nvSpPr>
        <p:spPr>
          <a:xfrm>
            <a:off x="583429" y="4316930"/>
            <a:ext cx="2123221" cy="283488"/>
          </a:xfrm>
          <a:prstGeom prst="rect">
            <a:avLst/>
          </a:prstGeom>
          <a:noFill/>
          <a:ln/>
        </p:spPr>
        <p:txBody>
          <a:bodyPr wrap="none" lIns="0" tIns="0" rIns="0" bIns="0" rtlCol="0" anchor="t"/>
          <a:lstStyle/>
          <a:p>
            <a:pPr marL="0" indent="0" algn="l">
              <a:lnSpc>
                <a:spcPts val="2200"/>
              </a:lnSpc>
              <a:buNone/>
            </a:pPr>
            <a:r>
              <a:rPr lang="en-US" dirty="0">
                <a:solidFill>
                  <a:srgbClr val="2C3249"/>
                </a:solidFill>
                <a:latin typeface="Kanit Light" pitchFamily="34" charset="0"/>
                <a:ea typeface="Kanit Light" pitchFamily="34" charset="-122"/>
                <a:cs typeface="Kanit Light" pitchFamily="34" charset="-120"/>
              </a:rPr>
              <a:t>Estimación de Parámetros</a:t>
            </a:r>
            <a:endParaRPr lang="en-US" dirty="0"/>
          </a:p>
        </p:txBody>
      </p:sp>
      <p:sp>
        <p:nvSpPr>
          <p:cNvPr id="12" name="Text 7">
            <a:extLst>
              <a:ext uri="{FF2B5EF4-FFF2-40B4-BE49-F238E27FC236}">
                <a16:creationId xmlns:a16="http://schemas.microsoft.com/office/drawing/2014/main" id="{CF46F9A1-54F4-8989-8709-7926DF2D8D0C}"/>
              </a:ext>
            </a:extLst>
          </p:cNvPr>
          <p:cNvSpPr/>
          <p:nvPr/>
        </p:nvSpPr>
        <p:spPr>
          <a:xfrm>
            <a:off x="457200" y="4709241"/>
            <a:ext cx="8229600" cy="290274"/>
          </a:xfrm>
          <a:prstGeom prst="rect">
            <a:avLst/>
          </a:prstGeom>
          <a:noFill/>
          <a:ln/>
        </p:spPr>
        <p:txBody>
          <a:bodyPr wrap="none" lIns="0" tIns="0" rIns="0" bIns="0" rtlCol="0" anchor="t"/>
          <a:lstStyle/>
          <a:p>
            <a:pPr marL="0" indent="0" algn="l">
              <a:lnSpc>
                <a:spcPts val="2250"/>
              </a:lnSpc>
              <a:buNone/>
            </a:pPr>
            <a:r>
              <a:rPr lang="en-US" sz="1600" dirty="0">
                <a:solidFill>
                  <a:srgbClr val="2C3249"/>
                </a:solidFill>
                <a:latin typeface="Martel Sans" pitchFamily="34" charset="0"/>
                <a:ea typeface="Martel Sans" pitchFamily="34" charset="-122"/>
                <a:cs typeface="Martel Sans" pitchFamily="34" charset="-120"/>
              </a:rPr>
              <a:t>Se usan para estimar el valor de un parámetro poblacional, como la media o la varianza.</a:t>
            </a:r>
            <a:endParaRPr lang="en-US" sz="1600" dirty="0"/>
          </a:p>
        </p:txBody>
      </p:sp>
      <p:sp>
        <p:nvSpPr>
          <p:cNvPr id="4" name="CuadroTexto 3">
            <a:extLst>
              <a:ext uri="{FF2B5EF4-FFF2-40B4-BE49-F238E27FC236}">
                <a16:creationId xmlns:a16="http://schemas.microsoft.com/office/drawing/2014/main" id="{001EB324-25D3-4732-9A70-B29F079370A3}"/>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ES" sz="2600" b="1">
                <a:solidFill>
                  <a:srgbClr val="1F3864"/>
                </a:solidFill>
                <a:latin typeface="Calibri"/>
                <a:ea typeface="Calibri"/>
                <a:cs typeface="Calibri"/>
              </a:rPr>
              <a:t>Interpretación de los resultados del Bootstrapping</a:t>
            </a:r>
            <a:endParaRPr lang="es-CO" sz="2600" b="1">
              <a:solidFill>
                <a:srgbClr val="1F3864"/>
              </a:solidFill>
              <a:latin typeface="Calibri"/>
              <a:ea typeface="Calibri"/>
              <a:cs typeface="Calibri"/>
            </a:endParaRPr>
          </a:p>
        </p:txBody>
      </p:sp>
      <p:sp>
        <p:nvSpPr>
          <p:cNvPr id="13" name="Rectángulo 12">
            <a:extLst>
              <a:ext uri="{FF2B5EF4-FFF2-40B4-BE49-F238E27FC236}">
                <a16:creationId xmlns:a16="http://schemas.microsoft.com/office/drawing/2014/main" id="{2F4DC122-B2C5-4047-887B-DC37BACA20A4}"/>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26325325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1">
            <a:extLst>
              <a:ext uri="{FF2B5EF4-FFF2-40B4-BE49-F238E27FC236}">
                <a16:creationId xmlns:a16="http://schemas.microsoft.com/office/drawing/2014/main" id="{5394A63C-E4AB-EE23-699A-F89C1D7CCD6A}"/>
              </a:ext>
            </a:extLst>
          </p:cNvPr>
          <p:cNvSpPr/>
          <p:nvPr/>
        </p:nvSpPr>
        <p:spPr>
          <a:xfrm>
            <a:off x="457200" y="1388923"/>
            <a:ext cx="8229600" cy="1079421"/>
          </a:xfrm>
          <a:prstGeom prst="rect">
            <a:avLst/>
          </a:prstGeom>
          <a:noFill/>
          <a:ln/>
        </p:spPr>
        <p:txBody>
          <a:bodyPr wrap="square" lIns="0" tIns="0" rIns="0" bIns="0" rtlCol="0" anchor="t"/>
          <a:lstStyle/>
          <a:p>
            <a:pPr marL="0" indent="0">
              <a:lnSpc>
                <a:spcPts val="2800"/>
              </a:lnSpc>
              <a:buNone/>
            </a:pPr>
            <a:r>
              <a:rPr lang="en-US" sz="1750" dirty="0">
                <a:solidFill>
                  <a:srgbClr val="2C3249"/>
                </a:solidFill>
                <a:latin typeface="Martel Sans" pitchFamily="34" charset="0"/>
                <a:ea typeface="Martel Sans" pitchFamily="34" charset="-122"/>
                <a:cs typeface="Martel Sans" pitchFamily="34" charset="-120"/>
              </a:rPr>
              <a:t>Existen numerosos ejemplos prácticos de cómo se puede aplicar el bootstrapping en diferentes campos, desde la biología hasta la economía.</a:t>
            </a:r>
            <a:endParaRPr lang="en-US" sz="1750" dirty="0"/>
          </a:p>
        </p:txBody>
      </p:sp>
      <p:sp>
        <p:nvSpPr>
          <p:cNvPr id="6" name="Shape 2">
            <a:extLst>
              <a:ext uri="{FF2B5EF4-FFF2-40B4-BE49-F238E27FC236}">
                <a16:creationId xmlns:a16="http://schemas.microsoft.com/office/drawing/2014/main" id="{33203917-EF21-452A-9E37-DE5958892DD5}"/>
              </a:ext>
            </a:extLst>
          </p:cNvPr>
          <p:cNvSpPr/>
          <p:nvPr/>
        </p:nvSpPr>
        <p:spPr>
          <a:xfrm>
            <a:off x="337297" y="2233676"/>
            <a:ext cx="4269224" cy="1848205"/>
          </a:xfrm>
          <a:prstGeom prst="roundRect">
            <a:avLst>
              <a:gd name="adj" fmla="val 3966"/>
            </a:avLst>
          </a:prstGeom>
          <a:solidFill>
            <a:srgbClr val="DFECE9"/>
          </a:solidFill>
          <a:ln w="7620">
            <a:solidFill>
              <a:srgbClr val="C5D2CF"/>
            </a:solidFill>
            <a:prstDash val="solid"/>
          </a:ln>
        </p:spPr>
        <p:txBody>
          <a:bodyPr/>
          <a:lstStyle/>
          <a:p>
            <a:endParaRPr lang="es-CO"/>
          </a:p>
        </p:txBody>
      </p:sp>
      <p:sp>
        <p:nvSpPr>
          <p:cNvPr id="7" name="Text 3">
            <a:extLst>
              <a:ext uri="{FF2B5EF4-FFF2-40B4-BE49-F238E27FC236}">
                <a16:creationId xmlns:a16="http://schemas.microsoft.com/office/drawing/2014/main" id="{C8583899-465D-A34C-B1D7-804E6B34444F}"/>
              </a:ext>
            </a:extLst>
          </p:cNvPr>
          <p:cNvSpPr/>
          <p:nvPr/>
        </p:nvSpPr>
        <p:spPr>
          <a:xfrm>
            <a:off x="569826" y="2466205"/>
            <a:ext cx="3728581" cy="702945"/>
          </a:xfrm>
          <a:prstGeom prst="rect">
            <a:avLst/>
          </a:prstGeom>
          <a:noFill/>
          <a:ln/>
        </p:spPr>
        <p:txBody>
          <a:bodyPr wrap="square" lIns="0" tIns="0" rIns="0" bIns="0" rtlCol="0" anchor="t"/>
          <a:lstStyle/>
          <a:p>
            <a:pPr marL="0" indent="0">
              <a:lnSpc>
                <a:spcPts val="2750"/>
              </a:lnSpc>
              <a:buNone/>
            </a:pPr>
            <a:r>
              <a:rPr lang="en-US" sz="2200" dirty="0">
                <a:solidFill>
                  <a:srgbClr val="2C3249"/>
                </a:solidFill>
                <a:latin typeface="Kanit Light" pitchFamily="34" charset="0"/>
                <a:ea typeface="Kanit Light" pitchFamily="34" charset="-122"/>
                <a:cs typeface="Kanit Light" pitchFamily="34" charset="-120"/>
              </a:rPr>
              <a:t>Análisis de datos genéticos</a:t>
            </a:r>
            <a:endParaRPr lang="en-US" sz="2200" dirty="0"/>
          </a:p>
        </p:txBody>
      </p:sp>
      <p:sp>
        <p:nvSpPr>
          <p:cNvPr id="8" name="Text 4">
            <a:extLst>
              <a:ext uri="{FF2B5EF4-FFF2-40B4-BE49-F238E27FC236}">
                <a16:creationId xmlns:a16="http://schemas.microsoft.com/office/drawing/2014/main" id="{7AACAB76-8FC9-B2A4-40B6-08DCD7C76DE8}"/>
              </a:ext>
            </a:extLst>
          </p:cNvPr>
          <p:cNvSpPr/>
          <p:nvPr/>
        </p:nvSpPr>
        <p:spPr>
          <a:xfrm>
            <a:off x="607618" y="3002460"/>
            <a:ext cx="3728581" cy="1079421"/>
          </a:xfrm>
          <a:prstGeom prst="rect">
            <a:avLst/>
          </a:prstGeom>
          <a:noFill/>
          <a:ln/>
        </p:spPr>
        <p:txBody>
          <a:bodyPr wrap="square" lIns="0" tIns="0" rIns="0" bIns="0" rtlCol="0" anchor="t"/>
          <a:lstStyle/>
          <a:p>
            <a:pPr marL="0" indent="0">
              <a:lnSpc>
                <a:spcPts val="2800"/>
              </a:lnSpc>
              <a:buNone/>
            </a:pPr>
            <a:r>
              <a:rPr lang="en-US" sz="1750" dirty="0">
                <a:solidFill>
                  <a:srgbClr val="2C3249"/>
                </a:solidFill>
                <a:latin typeface="Martel Sans" pitchFamily="34" charset="0"/>
                <a:ea typeface="Martel Sans" pitchFamily="34" charset="-122"/>
                <a:cs typeface="Martel Sans" pitchFamily="34" charset="-120"/>
              </a:rPr>
              <a:t>Se puede utilizar para estimar la variabilidad genética en una población.</a:t>
            </a:r>
            <a:endParaRPr lang="en-US" sz="1750" dirty="0"/>
          </a:p>
        </p:txBody>
      </p:sp>
      <p:sp>
        <p:nvSpPr>
          <p:cNvPr id="9" name="Shape 5">
            <a:extLst>
              <a:ext uri="{FF2B5EF4-FFF2-40B4-BE49-F238E27FC236}">
                <a16:creationId xmlns:a16="http://schemas.microsoft.com/office/drawing/2014/main" id="{4C0AB9A7-C0CA-9C6E-7E61-E83B24F9D92F}"/>
              </a:ext>
            </a:extLst>
          </p:cNvPr>
          <p:cNvSpPr/>
          <p:nvPr/>
        </p:nvSpPr>
        <p:spPr>
          <a:xfrm>
            <a:off x="4839051" y="2233677"/>
            <a:ext cx="4269224" cy="1781852"/>
          </a:xfrm>
          <a:prstGeom prst="roundRect">
            <a:avLst>
              <a:gd name="adj" fmla="val 3966"/>
            </a:avLst>
          </a:prstGeom>
          <a:solidFill>
            <a:srgbClr val="DFECE9"/>
          </a:solidFill>
          <a:ln w="7620">
            <a:solidFill>
              <a:srgbClr val="C5D2CF"/>
            </a:solidFill>
            <a:prstDash val="solid"/>
          </a:ln>
        </p:spPr>
        <p:txBody>
          <a:bodyPr/>
          <a:lstStyle/>
          <a:p>
            <a:endParaRPr lang="es-CO"/>
          </a:p>
        </p:txBody>
      </p:sp>
      <p:sp>
        <p:nvSpPr>
          <p:cNvPr id="10" name="Text 6">
            <a:extLst>
              <a:ext uri="{FF2B5EF4-FFF2-40B4-BE49-F238E27FC236}">
                <a16:creationId xmlns:a16="http://schemas.microsoft.com/office/drawing/2014/main" id="{F818E0D8-B8B8-3682-6D47-9A043FE13C39}"/>
              </a:ext>
            </a:extLst>
          </p:cNvPr>
          <p:cNvSpPr/>
          <p:nvPr/>
        </p:nvSpPr>
        <p:spPr>
          <a:xfrm>
            <a:off x="5071578" y="2466205"/>
            <a:ext cx="3728581" cy="702945"/>
          </a:xfrm>
          <a:prstGeom prst="rect">
            <a:avLst/>
          </a:prstGeom>
          <a:noFill/>
          <a:ln/>
        </p:spPr>
        <p:txBody>
          <a:bodyPr wrap="square" lIns="0" tIns="0" rIns="0" bIns="0" rtlCol="0" anchor="t"/>
          <a:lstStyle/>
          <a:p>
            <a:pPr marL="0" indent="0">
              <a:lnSpc>
                <a:spcPts val="2750"/>
              </a:lnSpc>
              <a:buNone/>
            </a:pPr>
            <a:r>
              <a:rPr lang="en-US" sz="2200" dirty="0">
                <a:solidFill>
                  <a:srgbClr val="2C3249"/>
                </a:solidFill>
                <a:latin typeface="Kanit Light" pitchFamily="34" charset="0"/>
                <a:ea typeface="Kanit Light" pitchFamily="34" charset="-122"/>
                <a:cs typeface="Kanit Light" pitchFamily="34" charset="-120"/>
              </a:rPr>
              <a:t>Investigación de mercados</a:t>
            </a:r>
            <a:endParaRPr lang="en-US" sz="2200" dirty="0"/>
          </a:p>
        </p:txBody>
      </p:sp>
      <p:sp>
        <p:nvSpPr>
          <p:cNvPr id="11" name="Text 7">
            <a:extLst>
              <a:ext uri="{FF2B5EF4-FFF2-40B4-BE49-F238E27FC236}">
                <a16:creationId xmlns:a16="http://schemas.microsoft.com/office/drawing/2014/main" id="{74896425-DB3D-7BD5-A268-B38ABE4659E0}"/>
              </a:ext>
            </a:extLst>
          </p:cNvPr>
          <p:cNvSpPr/>
          <p:nvPr/>
        </p:nvSpPr>
        <p:spPr>
          <a:xfrm>
            <a:off x="5078120" y="2936107"/>
            <a:ext cx="3728581" cy="1079421"/>
          </a:xfrm>
          <a:prstGeom prst="rect">
            <a:avLst/>
          </a:prstGeom>
          <a:noFill/>
          <a:ln/>
        </p:spPr>
        <p:txBody>
          <a:bodyPr wrap="square" lIns="0" tIns="0" rIns="0" bIns="0" rtlCol="0" anchor="t"/>
          <a:lstStyle/>
          <a:p>
            <a:pPr marL="0" indent="0">
              <a:lnSpc>
                <a:spcPts val="2800"/>
              </a:lnSpc>
              <a:buNone/>
            </a:pPr>
            <a:r>
              <a:rPr lang="en-US" sz="1750" dirty="0">
                <a:solidFill>
                  <a:srgbClr val="2C3249"/>
                </a:solidFill>
                <a:latin typeface="Martel Sans" pitchFamily="34" charset="0"/>
                <a:ea typeface="Martel Sans" pitchFamily="34" charset="-122"/>
                <a:cs typeface="Martel Sans" pitchFamily="34" charset="-120"/>
              </a:rPr>
              <a:t>Se puede utilizar para estimar la preferencia del consumidor por un producto.</a:t>
            </a:r>
            <a:endParaRPr lang="en-US" sz="1750" dirty="0"/>
          </a:p>
        </p:txBody>
      </p:sp>
      <p:sp>
        <p:nvSpPr>
          <p:cNvPr id="12" name="Shape 8">
            <a:extLst>
              <a:ext uri="{FF2B5EF4-FFF2-40B4-BE49-F238E27FC236}">
                <a16:creationId xmlns:a16="http://schemas.microsoft.com/office/drawing/2014/main" id="{6DA744D4-90F2-550A-F9E9-837CC2594B1F}"/>
              </a:ext>
            </a:extLst>
          </p:cNvPr>
          <p:cNvSpPr/>
          <p:nvPr/>
        </p:nvSpPr>
        <p:spPr>
          <a:xfrm>
            <a:off x="349932" y="4314410"/>
            <a:ext cx="8406685" cy="1311235"/>
          </a:xfrm>
          <a:prstGeom prst="roundRect">
            <a:avLst>
              <a:gd name="adj" fmla="val 7205"/>
            </a:avLst>
          </a:prstGeom>
          <a:solidFill>
            <a:srgbClr val="DFECE9"/>
          </a:solidFill>
          <a:ln w="7620">
            <a:solidFill>
              <a:srgbClr val="C5D2CF"/>
            </a:solidFill>
            <a:prstDash val="solid"/>
          </a:ln>
        </p:spPr>
        <p:txBody>
          <a:bodyPr/>
          <a:lstStyle/>
          <a:p>
            <a:endParaRPr lang="es-CO"/>
          </a:p>
        </p:txBody>
      </p:sp>
      <p:sp>
        <p:nvSpPr>
          <p:cNvPr id="13" name="Text 9">
            <a:extLst>
              <a:ext uri="{FF2B5EF4-FFF2-40B4-BE49-F238E27FC236}">
                <a16:creationId xmlns:a16="http://schemas.microsoft.com/office/drawing/2014/main" id="{95EA70F0-0450-5859-E662-25F963D85468}"/>
              </a:ext>
            </a:extLst>
          </p:cNvPr>
          <p:cNvSpPr/>
          <p:nvPr/>
        </p:nvSpPr>
        <p:spPr>
          <a:xfrm>
            <a:off x="567946" y="4546939"/>
            <a:ext cx="4269224" cy="351472"/>
          </a:xfrm>
          <a:prstGeom prst="rect">
            <a:avLst/>
          </a:prstGeom>
          <a:noFill/>
          <a:ln/>
        </p:spPr>
        <p:txBody>
          <a:bodyPr wrap="none" lIns="0" tIns="0" rIns="0" bIns="0" rtlCol="0" anchor="t"/>
          <a:lstStyle/>
          <a:p>
            <a:pPr marL="0" indent="0">
              <a:lnSpc>
                <a:spcPts val="2750"/>
              </a:lnSpc>
              <a:buNone/>
            </a:pPr>
            <a:r>
              <a:rPr lang="en-US" sz="2200" dirty="0">
                <a:solidFill>
                  <a:srgbClr val="2C3249"/>
                </a:solidFill>
                <a:latin typeface="Kanit Light" pitchFamily="34" charset="0"/>
                <a:ea typeface="Kanit Light" pitchFamily="34" charset="-122"/>
                <a:cs typeface="Kanit Light" pitchFamily="34" charset="-120"/>
              </a:rPr>
              <a:t>Evaluación de modelos financieros</a:t>
            </a:r>
            <a:endParaRPr lang="en-US" sz="2200" dirty="0"/>
          </a:p>
        </p:txBody>
      </p:sp>
      <p:sp>
        <p:nvSpPr>
          <p:cNvPr id="14" name="Text 10">
            <a:extLst>
              <a:ext uri="{FF2B5EF4-FFF2-40B4-BE49-F238E27FC236}">
                <a16:creationId xmlns:a16="http://schemas.microsoft.com/office/drawing/2014/main" id="{F63DECF8-C1AA-4484-C9B8-C30D623618C6}"/>
              </a:ext>
            </a:extLst>
          </p:cNvPr>
          <p:cNvSpPr/>
          <p:nvPr/>
        </p:nvSpPr>
        <p:spPr>
          <a:xfrm>
            <a:off x="457200" y="5033309"/>
            <a:ext cx="8229600" cy="359807"/>
          </a:xfrm>
          <a:prstGeom prst="rect">
            <a:avLst/>
          </a:prstGeom>
          <a:noFill/>
          <a:ln/>
        </p:spPr>
        <p:txBody>
          <a:bodyPr wrap="none" lIns="0" tIns="0" rIns="0" bIns="0" rtlCol="0" anchor="t"/>
          <a:lstStyle/>
          <a:p>
            <a:pPr marL="0" indent="0">
              <a:lnSpc>
                <a:spcPts val="2800"/>
              </a:lnSpc>
              <a:buNone/>
            </a:pPr>
            <a:r>
              <a:rPr lang="en-US" sz="1750" dirty="0">
                <a:solidFill>
                  <a:srgbClr val="2C3249"/>
                </a:solidFill>
                <a:latin typeface="Martel Sans" pitchFamily="34" charset="0"/>
                <a:ea typeface="Martel Sans" pitchFamily="34" charset="-122"/>
                <a:cs typeface="Martel Sans" pitchFamily="34" charset="-120"/>
              </a:rPr>
              <a:t>Se puede utilizar para estimar el riesgo de una inversión.</a:t>
            </a:r>
            <a:endParaRPr lang="en-US" sz="1750" dirty="0"/>
          </a:p>
        </p:txBody>
      </p:sp>
      <p:sp>
        <p:nvSpPr>
          <p:cNvPr id="15" name="CuadroTexto 14">
            <a:extLst>
              <a:ext uri="{FF2B5EF4-FFF2-40B4-BE49-F238E27FC236}">
                <a16:creationId xmlns:a16="http://schemas.microsoft.com/office/drawing/2014/main" id="{EEF63487-01A2-47E1-82A3-46A18CFF622D}"/>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Ejemplos prácticos de Bootstrapping</a:t>
            </a:r>
          </a:p>
        </p:txBody>
      </p:sp>
      <p:sp>
        <p:nvSpPr>
          <p:cNvPr id="16" name="Rectángulo 15">
            <a:extLst>
              <a:ext uri="{FF2B5EF4-FFF2-40B4-BE49-F238E27FC236}">
                <a16:creationId xmlns:a16="http://schemas.microsoft.com/office/drawing/2014/main" id="{73380F94-6E04-4EE6-A100-6F48CE6128D8}"/>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200925139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200" y="2362200"/>
            <a:ext cx="4165600" cy="2552700"/>
          </a:xfrm>
          <a:prstGeom prst="rect">
            <a:avLst/>
          </a:prstGeom>
          <a:noFill/>
          <a:extLst>
            <a:ext uri="{909E8E84-426E-40DD-AFC4-6F175D3DCCD1}">
              <a14:hiddenFill xmlns:a14="http://schemas.microsoft.com/office/drawing/2010/main">
                <a:solidFill>
                  <a:srgbClr val="FFFFFF"/>
                </a:solidFill>
              </a14:hiddenFill>
            </a:ext>
          </a:extLst>
        </p:spPr>
      </p:pic>
      <p:sp>
        <p:nvSpPr>
          <p:cNvPr id="3" name="2 Marcador de contenido"/>
          <p:cNvSpPr>
            <a:spLocks noGrp="1"/>
          </p:cNvSpPr>
          <p:nvPr>
            <p:ph idx="1"/>
          </p:nvPr>
        </p:nvSpPr>
        <p:spPr>
          <a:xfrm>
            <a:off x="457200" y="1168400"/>
            <a:ext cx="8229600" cy="889000"/>
          </a:xfrm>
          <a:solidFill>
            <a:srgbClr val="1F3864"/>
          </a:solidFill>
          <a:ln>
            <a:noFill/>
          </a:ln>
        </p:spPr>
        <p:txBody>
          <a:bodyPr wrap="square" anchor="ctr" anchorCtr="0">
            <a:noAutofit/>
          </a:bodyPr>
          <a:lstStyle/>
          <a:p>
            <a:pPr marL="0" indent="0" algn="just">
              <a:buNone/>
            </a:pPr>
            <a:r>
              <a:rPr lang="es-ES" sz="1700" b="1">
                <a:solidFill>
                  <a:srgbClr val="FFFFFF"/>
                </a:solidFill>
                <a:latin typeface="Calibri"/>
                <a:ea typeface="Calibri"/>
                <a:cs typeface="Calibri"/>
              </a:rPr>
              <a:t>Se cuantifican los riesgos operativos posibles y se analiza su impacto en el flujo de caja.</a:t>
            </a:r>
            <a:endParaRPr lang="es-CO" sz="1700" b="1" dirty="0">
              <a:solidFill>
                <a:srgbClr val="FFFFFF"/>
              </a:solidFill>
              <a:latin typeface="Calibri"/>
              <a:ea typeface="Calibri"/>
              <a:cs typeface="Calibri"/>
            </a:endParaRPr>
          </a:p>
        </p:txBody>
      </p:sp>
      <p:sp>
        <p:nvSpPr>
          <p:cNvPr id="4" name="CuadroTexto 3">
            <a:extLst>
              <a:ext uri="{FF2B5EF4-FFF2-40B4-BE49-F238E27FC236}">
                <a16:creationId xmlns:a16="http://schemas.microsoft.com/office/drawing/2014/main" id="{CBBC5618-BEA1-4143-85A4-6E6603C21C1C}"/>
              </a:ext>
            </a:extLst>
          </p:cNvPr>
          <p:cNvSpPr txBox="1"/>
          <p:nvPr/>
        </p:nvSpPr>
        <p:spPr>
          <a:xfrm>
            <a:off x="457200" y="304800"/>
            <a:ext cx="8229600" cy="5588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Cuantificación de Riesgos Operativos</a:t>
            </a:r>
          </a:p>
        </p:txBody>
      </p:sp>
      <p:sp>
        <p:nvSpPr>
          <p:cNvPr id="5" name="Rectángulo 4">
            <a:extLst>
              <a:ext uri="{FF2B5EF4-FFF2-40B4-BE49-F238E27FC236}">
                <a16:creationId xmlns:a16="http://schemas.microsoft.com/office/drawing/2014/main" id="{62AAC4E1-49C1-4486-8FD4-898AB7F583C2}"/>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6" name="CuadroTexto 5">
            <a:extLst>
              <a:ext uri="{FF2B5EF4-FFF2-40B4-BE49-F238E27FC236}">
                <a16:creationId xmlns:a16="http://schemas.microsoft.com/office/drawing/2014/main" id="{9CD1A95E-CA7D-40BB-A9C2-1C2D502818C1}"/>
              </a:ext>
            </a:extLst>
          </p:cNvPr>
          <p:cNvSpPr txBox="1"/>
          <p:nvPr/>
        </p:nvSpPr>
        <p:spPr>
          <a:xfrm>
            <a:off x="457200" y="4978400"/>
            <a:ext cx="8229600" cy="228600"/>
          </a:xfrm>
          <a:prstGeom prst="rect">
            <a:avLst/>
          </a:prstGeom>
          <a:noFill/>
        </p:spPr>
        <p:txBody>
          <a:bodyPr vertOverflow="overflow" vert="horz" wrap="square" rtlCol="0" anchor="t">
            <a:noAutofit/>
          </a:bodyPr>
          <a:lstStyle/>
          <a:p>
            <a:pPr algn="l"/>
            <a:r>
              <a:rPr lang="es-ES" sz="1100">
                <a:solidFill>
                  <a:srgbClr val="7F7F7F"/>
                </a:solidFill>
                <a:latin typeface="Calibri"/>
                <a:ea typeface="Calibri"/>
                <a:cs typeface="Calibri"/>
              </a:rPr>
              <a:t>Distribución del flujo de caja con los riesgos operativos incorporados</a:t>
            </a:r>
            <a:endParaRPr lang="es-CO" sz="1100">
              <a:solidFill>
                <a:srgbClr val="7F7F7F"/>
              </a:solidFill>
              <a:latin typeface="Calibri"/>
              <a:ea typeface="Calibri"/>
              <a:cs typeface="Calibri"/>
            </a:endParaRPr>
          </a:p>
        </p:txBody>
      </p:sp>
    </p:spTree>
    <p:extLst>
      <p:ext uri="{BB962C8B-B14F-4D97-AF65-F5344CB8AC3E}">
        <p14:creationId xmlns:p14="http://schemas.microsoft.com/office/powerpoint/2010/main" val="4249614678"/>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743000" y="0"/>
            <a:ext cx="7657998" cy="5638800"/>
          </a:xfrm>
          <a:prstGeom prst="rect">
            <a:avLst/>
          </a:prstGeom>
        </p:spPr>
      </p:pic>
    </p:spTree>
    <p:extLst>
      <p:ext uri="{BB962C8B-B14F-4D97-AF65-F5344CB8AC3E}">
        <p14:creationId xmlns:p14="http://schemas.microsoft.com/office/powerpoint/2010/main" val="266772348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581226" y="0"/>
            <a:ext cx="7781847" cy="5638800"/>
          </a:xfrm>
          <a:prstGeom prst="rect">
            <a:avLst/>
          </a:prstGeom>
        </p:spPr>
      </p:pic>
    </p:spTree>
    <p:extLst>
      <p:ext uri="{BB962C8B-B14F-4D97-AF65-F5344CB8AC3E}">
        <p14:creationId xmlns:p14="http://schemas.microsoft.com/office/powerpoint/2010/main" val="4143910758"/>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584340" y="1"/>
            <a:ext cx="7975317" cy="5638799"/>
          </a:xfrm>
          <a:prstGeom prst="rect">
            <a:avLst/>
          </a:prstGeom>
        </p:spPr>
      </p:pic>
    </p:spTree>
    <p:extLst>
      <p:ext uri="{BB962C8B-B14F-4D97-AF65-F5344CB8AC3E}">
        <p14:creationId xmlns:p14="http://schemas.microsoft.com/office/powerpoint/2010/main" val="143569706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261934" y="1270000"/>
            <a:ext cx="6620130" cy="4191000"/>
          </a:xfrm>
          <a:prstGeom prst="rect">
            <a:avLst/>
          </a:prstGeom>
        </p:spPr>
      </p:pic>
      <p:sp>
        <p:nvSpPr>
          <p:cNvPr id="5" name="CuadroTexto 4">
            <a:extLst>
              <a:ext uri="{FF2B5EF4-FFF2-40B4-BE49-F238E27FC236}">
                <a16:creationId xmlns:a16="http://schemas.microsoft.com/office/drawing/2014/main" id="{18D2478F-F1F7-480C-87CE-D3095B329125}"/>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RIESGO OPERATIVO</a:t>
            </a:r>
          </a:p>
        </p:txBody>
      </p:sp>
      <p:sp>
        <p:nvSpPr>
          <p:cNvPr id="6" name="CuadroTexto 5">
            <a:extLst>
              <a:ext uri="{FF2B5EF4-FFF2-40B4-BE49-F238E27FC236}">
                <a16:creationId xmlns:a16="http://schemas.microsoft.com/office/drawing/2014/main" id="{DC1ADAD8-2755-4B77-8D2F-0FC5BCF6E3FA}"/>
              </a:ext>
            </a:extLst>
          </p:cNvPr>
          <p:cNvSpPr txBox="1"/>
          <p:nvPr/>
        </p:nvSpPr>
        <p:spPr>
          <a:xfrm>
            <a:off x="457200" y="533400"/>
            <a:ext cx="8229600" cy="5334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Documentación del proceso</a:t>
            </a:r>
          </a:p>
        </p:txBody>
      </p:sp>
      <p:sp>
        <p:nvSpPr>
          <p:cNvPr id="7" name="Rectángulo 6">
            <a:extLst>
              <a:ext uri="{FF2B5EF4-FFF2-40B4-BE49-F238E27FC236}">
                <a16:creationId xmlns:a16="http://schemas.microsoft.com/office/drawing/2014/main" id="{7D750048-4FDE-431D-A8AB-9391FFF6729F}"/>
              </a:ext>
            </a:extLst>
          </p:cNvPr>
          <p:cNvSpPr/>
          <p:nvPr/>
        </p:nvSpPr>
        <p:spPr>
          <a:xfrm>
            <a:off x="457200" y="1168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2016477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640589" y="1270000"/>
            <a:ext cx="5862819" cy="4191000"/>
          </a:xfrm>
          <a:prstGeom prst="rect">
            <a:avLst/>
          </a:prstGeom>
        </p:spPr>
      </p:pic>
      <p:sp>
        <p:nvSpPr>
          <p:cNvPr id="5" name="CuadroTexto 4">
            <a:extLst>
              <a:ext uri="{FF2B5EF4-FFF2-40B4-BE49-F238E27FC236}">
                <a16:creationId xmlns:a16="http://schemas.microsoft.com/office/drawing/2014/main" id="{A4E1D416-E7F5-4771-B82D-014B2319CBCD}"/>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RIESGO OPERATIVO</a:t>
            </a:r>
          </a:p>
        </p:txBody>
      </p:sp>
      <p:sp>
        <p:nvSpPr>
          <p:cNvPr id="6" name="CuadroTexto 5">
            <a:extLst>
              <a:ext uri="{FF2B5EF4-FFF2-40B4-BE49-F238E27FC236}">
                <a16:creationId xmlns:a16="http://schemas.microsoft.com/office/drawing/2014/main" id="{F281F348-0935-41B7-9615-FB238C33DBED}"/>
              </a:ext>
            </a:extLst>
          </p:cNvPr>
          <p:cNvSpPr txBox="1"/>
          <p:nvPr/>
        </p:nvSpPr>
        <p:spPr>
          <a:xfrm>
            <a:off x="457200" y="533400"/>
            <a:ext cx="8229600" cy="5334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Identificación con equipo de expertos</a:t>
            </a:r>
            <a:endParaRPr lang="es-CO" sz="2800" b="1">
              <a:solidFill>
                <a:srgbClr val="1F3864"/>
              </a:solidFill>
              <a:latin typeface="Calibri"/>
              <a:ea typeface="Calibri"/>
              <a:cs typeface="Calibri"/>
            </a:endParaRPr>
          </a:p>
        </p:txBody>
      </p:sp>
      <p:sp>
        <p:nvSpPr>
          <p:cNvPr id="7" name="Rectángulo 6">
            <a:extLst>
              <a:ext uri="{FF2B5EF4-FFF2-40B4-BE49-F238E27FC236}">
                <a16:creationId xmlns:a16="http://schemas.microsoft.com/office/drawing/2014/main" id="{0A4B5643-60F0-49D9-B2B3-29C41FDA52F3}"/>
              </a:ext>
            </a:extLst>
          </p:cNvPr>
          <p:cNvSpPr/>
          <p:nvPr/>
        </p:nvSpPr>
        <p:spPr>
          <a:xfrm>
            <a:off x="457200" y="1168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89985011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rotWithShape="1">
          <a:blip r:embed="rId2"/>
          <a:srcRect b="742"/>
          <a:stretch/>
        </p:blipFill>
        <p:spPr>
          <a:xfrm>
            <a:off x="685800" y="1219200"/>
            <a:ext cx="7772400" cy="4191000"/>
          </a:xfrm>
          <a:prstGeom prst="rect">
            <a:avLst/>
          </a:prstGeom>
        </p:spPr>
      </p:pic>
      <p:sp>
        <p:nvSpPr>
          <p:cNvPr id="6" name="Rectángulo 5">
            <a:extLst>
              <a:ext uri="{FF2B5EF4-FFF2-40B4-BE49-F238E27FC236}">
                <a16:creationId xmlns:a16="http://schemas.microsoft.com/office/drawing/2014/main" id="{7D799239-9FA8-4658-B6EA-914B6DC01E1B}"/>
              </a:ext>
            </a:extLst>
          </p:cNvPr>
          <p:cNvSpPr/>
          <p:nvPr/>
        </p:nvSpPr>
        <p:spPr>
          <a:xfrm>
            <a:off x="457200" y="9398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CuadroTexto 6">
            <a:extLst>
              <a:ext uri="{FF2B5EF4-FFF2-40B4-BE49-F238E27FC236}">
                <a16:creationId xmlns:a16="http://schemas.microsoft.com/office/drawing/2014/main" id="{9ACF755F-2734-40CC-BF13-E3101AB2B734}"/>
              </a:ext>
            </a:extLst>
          </p:cNvPr>
          <p:cNvSpPr txBox="1"/>
          <p:nvPr/>
        </p:nvSpPr>
        <p:spPr>
          <a:xfrm>
            <a:off x="457200" y="304800"/>
            <a:ext cx="8229600" cy="508000"/>
          </a:xfrm>
          <a:prstGeom prst="rect">
            <a:avLst/>
          </a:prstGeom>
          <a:noFill/>
        </p:spPr>
        <p:txBody>
          <a:bodyPr vertOverflow="overflow" vert="horz" wrap="square" rtlCol="0" anchor="ctr" anchorCtr="0">
            <a:noAutofit/>
          </a:bodyPr>
          <a:lstStyle/>
          <a:p>
            <a:pPr algn="l"/>
            <a:r>
              <a:rPr lang="es-CO" sz="3000" b="1">
                <a:solidFill>
                  <a:srgbClr val="1F3864"/>
                </a:solidFill>
                <a:latin typeface="Calibri"/>
                <a:ea typeface="Calibri"/>
                <a:cs typeface="Calibri"/>
              </a:rPr>
              <a:t>Cuantificación de riesgos operativos</a:t>
            </a:r>
          </a:p>
        </p:txBody>
      </p:sp>
    </p:spTree>
    <p:extLst>
      <p:ext uri="{BB962C8B-B14F-4D97-AF65-F5344CB8AC3E}">
        <p14:creationId xmlns:p14="http://schemas.microsoft.com/office/powerpoint/2010/main" val="147367554"/>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949546" y="1270000"/>
            <a:ext cx="7244907" cy="4191000"/>
          </a:xfrm>
          <a:prstGeom prst="rect">
            <a:avLst/>
          </a:prstGeom>
        </p:spPr>
      </p:pic>
      <p:sp>
        <p:nvSpPr>
          <p:cNvPr id="5" name="CuadroTexto 4">
            <a:extLst>
              <a:ext uri="{FF2B5EF4-FFF2-40B4-BE49-F238E27FC236}">
                <a16:creationId xmlns:a16="http://schemas.microsoft.com/office/drawing/2014/main" id="{F39429B6-2466-4F91-850A-BC298E909E74}"/>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RIESGO OPERATIVO</a:t>
            </a:r>
          </a:p>
        </p:txBody>
      </p:sp>
      <p:sp>
        <p:nvSpPr>
          <p:cNvPr id="6" name="CuadroTexto 5">
            <a:extLst>
              <a:ext uri="{FF2B5EF4-FFF2-40B4-BE49-F238E27FC236}">
                <a16:creationId xmlns:a16="http://schemas.microsoft.com/office/drawing/2014/main" id="{B9FBFDEF-9364-461A-B049-383A921AF9A9}"/>
              </a:ext>
            </a:extLst>
          </p:cNvPr>
          <p:cNvSpPr txBox="1"/>
          <p:nvPr/>
        </p:nvSpPr>
        <p:spPr>
          <a:xfrm>
            <a:off x="457200" y="533400"/>
            <a:ext cx="8229600" cy="5334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Secuencia del análisis cuantitativo</a:t>
            </a:r>
          </a:p>
        </p:txBody>
      </p:sp>
      <p:sp>
        <p:nvSpPr>
          <p:cNvPr id="7" name="Rectángulo 6">
            <a:extLst>
              <a:ext uri="{FF2B5EF4-FFF2-40B4-BE49-F238E27FC236}">
                <a16:creationId xmlns:a16="http://schemas.microsoft.com/office/drawing/2014/main" id="{4EE7EE0D-221F-4DC2-9957-1CEDCA00DCC4}"/>
              </a:ext>
            </a:extLst>
          </p:cNvPr>
          <p:cNvSpPr/>
          <p:nvPr/>
        </p:nvSpPr>
        <p:spPr>
          <a:xfrm>
            <a:off x="457200" y="1168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46368557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57200" y="1346200"/>
            <a:ext cx="5207000" cy="762000"/>
          </a:xfrm>
          <a:prstGeom prst="rect">
            <a:avLst/>
          </a:prstGeom>
          <a:solidFill>
            <a:srgbClr val="1F3864"/>
          </a:solidFill>
          <a:ln>
            <a:noFill/>
          </a:ln>
        </p:spPr>
        <p:txBody>
          <a:bodyPr wrap="square" anchor="ctr" anchorCtr="0">
            <a:noAutofit/>
          </a:bodyPr>
          <a:lstStyle/>
          <a:p>
            <a:r>
              <a:rPr lang="es-ES" sz="1500" b="1">
                <a:solidFill>
                  <a:srgbClr val="FFFFFF"/>
                </a:solidFill>
                <a:latin typeface="Calibri"/>
                <a:ea typeface="Calibri"/>
                <a:cs typeface="Calibri"/>
              </a:rPr>
              <a:t>La matriz del modelo binomial debe contener estos datos:</a:t>
            </a:r>
            <a:endParaRPr lang="es-CO" sz="1500" b="1" dirty="0">
              <a:solidFill>
                <a:srgbClr val="FFFFFF"/>
              </a:solidFill>
              <a:latin typeface="Calibri"/>
              <a:ea typeface="Calibri"/>
              <a:cs typeface="Calibri"/>
            </a:endParaRPr>
          </a:p>
        </p:txBody>
      </p:sp>
      <p:pic>
        <p:nvPicPr>
          <p:cNvPr id="6" name="Imagen 5"/>
          <p:cNvPicPr/>
          <p:nvPr/>
        </p:nvPicPr>
        <p:blipFill>
          <a:blip r:embed="rId2"/>
          <a:stretch>
            <a:fillRect/>
          </a:stretch>
        </p:blipFill>
        <p:spPr>
          <a:xfrm>
            <a:off x="457200" y="2286000"/>
            <a:ext cx="5207000" cy="1346200"/>
          </a:xfrm>
          <a:prstGeom prst="rect">
            <a:avLst/>
          </a:prstGeom>
        </p:spPr>
      </p:pic>
      <p:sp>
        <p:nvSpPr>
          <p:cNvPr id="7" name="Rectángulo 6"/>
          <p:cNvSpPr/>
          <p:nvPr/>
        </p:nvSpPr>
        <p:spPr>
          <a:xfrm>
            <a:off x="5842000" y="1346200"/>
            <a:ext cx="2844800" cy="762000"/>
          </a:xfrm>
          <a:prstGeom prst="rect">
            <a:avLst/>
          </a:prstGeom>
          <a:solidFill>
            <a:srgbClr val="F2F5F9"/>
          </a:solidFill>
          <a:ln>
            <a:noFill/>
          </a:ln>
        </p:spPr>
        <p:txBody>
          <a:bodyPr wrap="square" anchor="ctr" anchorCtr="0">
            <a:noAutofit/>
          </a:bodyPr>
          <a:lstStyle/>
          <a:p>
            <a:pPr lvl="0" algn="just">
              <a:lnSpc>
                <a:spcPct val="115000"/>
              </a:lnSpc>
              <a:spcAft>
                <a:spcPts val="1000"/>
              </a:spcAft>
              <a:buSzPts val="1100"/>
            </a:pPr>
            <a:r>
              <a:rPr lang="es-CO" sz="1300" dirty="0">
                <a:solidFill>
                  <a:srgbClr val="404040"/>
                </a:solidFill>
                <a:latin typeface="Calibri"/>
                <a:ea typeface="Calibri"/>
                <a:cs typeface="Calibri"/>
              </a:rPr>
              <a:t>Evento: Son los riesgos principales que puede tener un proyecto.</a:t>
            </a:r>
          </a:p>
        </p:txBody>
      </p:sp>
      <p:sp>
        <p:nvSpPr>
          <p:cNvPr id="8" name="Rectángulo 7"/>
          <p:cNvSpPr/>
          <p:nvPr/>
        </p:nvSpPr>
        <p:spPr>
          <a:xfrm>
            <a:off x="5842000" y="2235200"/>
            <a:ext cx="2844800" cy="1320800"/>
          </a:xfrm>
          <a:prstGeom prst="rect">
            <a:avLst/>
          </a:prstGeom>
          <a:solidFill>
            <a:srgbClr val="F2F5F9"/>
          </a:solidFill>
          <a:ln>
            <a:noFill/>
          </a:ln>
        </p:spPr>
        <p:txBody>
          <a:bodyPr wrap="square" anchor="ctr" anchorCtr="0">
            <a:noAutofit/>
          </a:bodyPr>
          <a:lstStyle/>
          <a:p>
            <a:pPr lvl="0" algn="just">
              <a:lnSpc>
                <a:spcPct val="115000"/>
              </a:lnSpc>
              <a:spcAft>
                <a:spcPts val="1000"/>
              </a:spcAft>
              <a:buSzPts val="1100"/>
            </a:pPr>
            <a:r>
              <a:rPr lang="es-CO" sz="1300" dirty="0">
                <a:solidFill>
                  <a:srgbClr val="404040"/>
                </a:solidFill>
                <a:latin typeface="Calibri"/>
                <a:ea typeface="Calibri"/>
                <a:cs typeface="Calibri"/>
              </a:rPr>
              <a:t>Probabilidad de ocurrencia por año. (%): Es la probabilidad de que estos riesgos ocurran, la suma de estas probabilidades debe ser igual a 1.</a:t>
            </a:r>
          </a:p>
        </p:txBody>
      </p:sp>
      <p:sp>
        <p:nvSpPr>
          <p:cNvPr id="9" name="Rectángulo 8"/>
          <p:cNvSpPr/>
          <p:nvPr/>
        </p:nvSpPr>
        <p:spPr>
          <a:xfrm>
            <a:off x="5842000" y="3683000"/>
            <a:ext cx="2844800" cy="1498600"/>
          </a:xfrm>
          <a:prstGeom prst="rect">
            <a:avLst/>
          </a:prstGeom>
          <a:solidFill>
            <a:srgbClr val="F2F5F9"/>
          </a:solidFill>
          <a:ln>
            <a:noFill/>
          </a:ln>
        </p:spPr>
        <p:txBody>
          <a:bodyPr wrap="square" anchor="ctr" anchorCtr="0">
            <a:noAutofit/>
          </a:bodyPr>
          <a:lstStyle/>
          <a:p>
            <a:pPr lvl="0" algn="just">
              <a:lnSpc>
                <a:spcPct val="115000"/>
              </a:lnSpc>
              <a:spcAft>
                <a:spcPts val="0"/>
              </a:spcAft>
              <a:buSzPts val="1100"/>
            </a:pPr>
            <a:r>
              <a:rPr lang="es-CO" sz="1300" dirty="0">
                <a:solidFill>
                  <a:srgbClr val="404040"/>
                </a:solidFill>
                <a:latin typeface="Calibri"/>
                <a:ea typeface="Calibri"/>
                <a:cs typeface="Calibri"/>
              </a:rPr>
              <a:t>Ocurre?: Se calcula la  posibilidad de que ocurra o no el evento, de la siguiente forma:</a:t>
            </a:r>
          </a:p>
          <a:p>
            <a:pPr lvl="0" algn="just">
              <a:lnSpc>
                <a:spcPct val="115000"/>
              </a:lnSpc>
              <a:spcAft>
                <a:spcPts val="0"/>
              </a:spcAft>
              <a:buSzPts val="1100"/>
            </a:pPr>
            <a:r>
              <a:rPr lang="es-CO" sz="1300" dirty="0">
                <a:solidFill>
                  <a:srgbClr val="404040"/>
                </a:solidFill>
                <a:latin typeface="Calibri"/>
                <a:ea typeface="Calibri"/>
                <a:cs typeface="Calibri"/>
              </a:rPr>
              <a:t>=</a:t>
            </a:r>
            <a:r>
              <a:rPr lang="es-CO" sz="1300" dirty="0" err="1">
                <a:solidFill>
                  <a:srgbClr val="404040"/>
                </a:solidFill>
                <a:latin typeface="Calibri"/>
                <a:ea typeface="Calibri"/>
                <a:cs typeface="Calibri"/>
              </a:rPr>
              <a:t>RiskBinomial</a:t>
            </a:r>
            <a:r>
              <a:rPr lang="es-CO" sz="1300" dirty="0">
                <a:solidFill>
                  <a:srgbClr val="404040"/>
                </a:solidFill>
                <a:latin typeface="Calibri"/>
                <a:ea typeface="Calibri"/>
                <a:cs typeface="Calibri"/>
              </a:rPr>
              <a:t>(1;Probabilidad de ocurrencia)</a:t>
            </a:r>
          </a:p>
        </p:txBody>
      </p:sp>
      <p:sp>
        <p:nvSpPr>
          <p:cNvPr id="10" name="CuadroTexto 9">
            <a:extLst>
              <a:ext uri="{FF2B5EF4-FFF2-40B4-BE49-F238E27FC236}">
                <a16:creationId xmlns:a16="http://schemas.microsoft.com/office/drawing/2014/main" id="{B5BF72EA-7763-4516-ABD9-E7445968DA22}"/>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CUANTIFICACIÓN DE RIESGOS OPERATIVOS</a:t>
            </a:r>
          </a:p>
        </p:txBody>
      </p:sp>
      <p:sp>
        <p:nvSpPr>
          <p:cNvPr id="11" name="Rectángulo 10">
            <a:extLst>
              <a:ext uri="{FF2B5EF4-FFF2-40B4-BE49-F238E27FC236}">
                <a16:creationId xmlns:a16="http://schemas.microsoft.com/office/drawing/2014/main" id="{7C855777-AED3-4B18-8F32-B4C975032DCF}"/>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2" name="CuadroTexto 11">
            <a:extLst>
              <a:ext uri="{FF2B5EF4-FFF2-40B4-BE49-F238E27FC236}">
                <a16:creationId xmlns:a16="http://schemas.microsoft.com/office/drawing/2014/main" id="{8DA26D63-5662-45CE-977A-7FB696474AEB}"/>
              </a:ext>
            </a:extLst>
          </p:cNvPr>
          <p:cNvSpPr txBox="1"/>
          <p:nvPr/>
        </p:nvSpPr>
        <p:spPr>
          <a:xfrm>
            <a:off x="457200" y="533400"/>
            <a:ext cx="8229600" cy="5080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Modelo binomial con opinión de expertos</a:t>
            </a:r>
            <a:endParaRPr lang="es-CO" sz="2800" b="1">
              <a:solidFill>
                <a:srgbClr val="1F3864"/>
              </a:solidFill>
              <a:latin typeface="Calibri"/>
              <a:ea typeface="Calibri"/>
              <a:cs typeface="Calibri"/>
            </a:endParaRPr>
          </a:p>
        </p:txBody>
      </p:sp>
    </p:spTree>
    <p:extLst>
      <p:ext uri="{BB962C8B-B14F-4D97-AF65-F5344CB8AC3E}">
        <p14:creationId xmlns:p14="http://schemas.microsoft.com/office/powerpoint/2010/main" val="2097751568"/>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a:blip r:embed="rId2"/>
          <a:stretch>
            <a:fillRect/>
          </a:stretch>
        </p:blipFill>
        <p:spPr>
          <a:xfrm>
            <a:off x="457200" y="1346200"/>
            <a:ext cx="5042432" cy="1320800"/>
          </a:xfrm>
          <a:prstGeom prst="rect">
            <a:avLst/>
          </a:prstGeom>
        </p:spPr>
      </p:pic>
      <p:pic>
        <p:nvPicPr>
          <p:cNvPr id="5" name="Imagen 4"/>
          <p:cNvPicPr/>
          <p:nvPr/>
        </p:nvPicPr>
        <p:blipFill>
          <a:blip r:embed="rId3"/>
          <a:stretch>
            <a:fillRect/>
          </a:stretch>
        </p:blipFill>
        <p:spPr>
          <a:xfrm>
            <a:off x="457200" y="2768600"/>
            <a:ext cx="4105955" cy="1320800"/>
          </a:xfrm>
          <a:prstGeom prst="rect">
            <a:avLst/>
          </a:prstGeom>
        </p:spPr>
      </p:pic>
      <p:pic>
        <p:nvPicPr>
          <p:cNvPr id="6" name="Imagen 5"/>
          <p:cNvPicPr/>
          <p:nvPr/>
        </p:nvPicPr>
        <p:blipFill>
          <a:blip r:embed="rId4"/>
          <a:stretch>
            <a:fillRect/>
          </a:stretch>
        </p:blipFill>
        <p:spPr>
          <a:xfrm>
            <a:off x="457200" y="4191000"/>
            <a:ext cx="3462839" cy="1320800"/>
          </a:xfrm>
          <a:prstGeom prst="rect">
            <a:avLst/>
          </a:prstGeom>
        </p:spPr>
      </p:pic>
      <p:sp>
        <p:nvSpPr>
          <p:cNvPr id="7" name="Rectángulo 6"/>
          <p:cNvSpPr/>
          <p:nvPr/>
        </p:nvSpPr>
        <p:spPr>
          <a:xfrm>
            <a:off x="5842000" y="1346200"/>
            <a:ext cx="2844800" cy="1219200"/>
          </a:xfrm>
          <a:prstGeom prst="rect">
            <a:avLst/>
          </a:prstGeom>
          <a:solidFill>
            <a:srgbClr val="1F3864"/>
          </a:solidFill>
          <a:ln>
            <a:noFill/>
          </a:ln>
        </p:spPr>
        <p:txBody>
          <a:bodyPr wrap="square" anchor="ctr" anchorCtr="0">
            <a:noAutofit/>
          </a:bodyPr>
          <a:lstStyle/>
          <a:p>
            <a:pPr lvl="0" algn="just">
              <a:lnSpc>
                <a:spcPct val="115000"/>
              </a:lnSpc>
              <a:spcAft>
                <a:spcPts val="1000"/>
              </a:spcAft>
            </a:pPr>
            <a:r>
              <a:rPr lang="es-CO" sz="1300" b="1" dirty="0">
                <a:solidFill>
                  <a:srgbClr val="FFFFFF"/>
                </a:solidFill>
                <a:latin typeface="Calibri"/>
                <a:ea typeface="Calibri"/>
                <a:cs typeface="Calibri"/>
              </a:rPr>
              <a:t>Para construir un modelo binomial-triangular se debe hacer una matriz que contenga los mismos datos del modelo binomial y además se deben considerar los siguientes:</a:t>
            </a:r>
          </a:p>
        </p:txBody>
      </p:sp>
      <p:sp>
        <p:nvSpPr>
          <p:cNvPr id="8" name="Rectángulo 7"/>
          <p:cNvSpPr/>
          <p:nvPr/>
        </p:nvSpPr>
        <p:spPr>
          <a:xfrm>
            <a:off x="5842000" y="2692400"/>
            <a:ext cx="2844800" cy="1320800"/>
          </a:xfrm>
          <a:prstGeom prst="rect">
            <a:avLst/>
          </a:prstGeom>
          <a:solidFill>
            <a:srgbClr val="F2F5F9"/>
          </a:solidFill>
          <a:ln>
            <a:noFill/>
          </a:ln>
        </p:spPr>
        <p:txBody>
          <a:bodyPr wrap="square" anchor="ctr" anchorCtr="0">
            <a:noAutofit/>
          </a:bodyPr>
          <a:lstStyle/>
          <a:p>
            <a:pPr lvl="0" algn="just">
              <a:lnSpc>
                <a:spcPct val="115000"/>
              </a:lnSpc>
              <a:spcAft>
                <a:spcPts val="0"/>
              </a:spcAft>
              <a:buSzPts val="1100"/>
            </a:pPr>
            <a:r>
              <a:rPr lang="es-CO" sz="1200" dirty="0">
                <a:solidFill>
                  <a:srgbClr val="404040"/>
                </a:solidFill>
                <a:latin typeface="Calibri"/>
                <a:ea typeface="Calibri"/>
                <a:cs typeface="Calibri"/>
              </a:rPr>
              <a:t>Impacto si ocurre, valor mínimo: Se determina un porcentaje mínimo del valor del impacto medio, se multiplica por el impacto medio si ocurre así:</a:t>
            </a:r>
          </a:p>
          <a:p>
            <a:pPr lvl="0" algn="just">
              <a:lnSpc>
                <a:spcPct val="115000"/>
              </a:lnSpc>
              <a:spcAft>
                <a:spcPts val="0"/>
              </a:spcAft>
              <a:buSzPts val="1100"/>
            </a:pPr>
            <a:r>
              <a:rPr lang="es-CO" sz="1200" dirty="0">
                <a:solidFill>
                  <a:srgbClr val="404040"/>
                </a:solidFill>
                <a:latin typeface="Calibri"/>
                <a:ea typeface="Calibri"/>
                <a:cs typeface="Calibri"/>
              </a:rPr>
              <a:t>= (impacto si ocurre*(1-porcentaje de impacto mínimo))</a:t>
            </a:r>
          </a:p>
        </p:txBody>
      </p:sp>
      <p:sp>
        <p:nvSpPr>
          <p:cNvPr id="9" name="Rectángulo 8"/>
          <p:cNvSpPr/>
          <p:nvPr/>
        </p:nvSpPr>
        <p:spPr>
          <a:xfrm>
            <a:off x="5842000" y="4140200"/>
            <a:ext cx="2844800" cy="1320800"/>
          </a:xfrm>
          <a:prstGeom prst="rect">
            <a:avLst/>
          </a:prstGeom>
          <a:solidFill>
            <a:srgbClr val="F2F5F9"/>
          </a:solidFill>
          <a:ln>
            <a:noFill/>
          </a:ln>
        </p:spPr>
        <p:txBody>
          <a:bodyPr wrap="square" anchor="ctr" anchorCtr="0">
            <a:noAutofit/>
          </a:bodyPr>
          <a:lstStyle/>
          <a:p>
            <a:pPr lvl="0" algn="just">
              <a:lnSpc>
                <a:spcPct val="115000"/>
              </a:lnSpc>
              <a:spcAft>
                <a:spcPts val="0"/>
              </a:spcAft>
              <a:buSzPts val="1100"/>
            </a:pPr>
            <a:r>
              <a:rPr lang="es-CO" sz="1200" dirty="0">
                <a:solidFill>
                  <a:srgbClr val="404040"/>
                </a:solidFill>
                <a:latin typeface="Calibri"/>
                <a:ea typeface="Calibri"/>
                <a:cs typeface="Calibri"/>
              </a:rPr>
              <a:t>Impacto si ocurre, valor máximo. Se determina un porcentaje máximo del valor del impacto medio, Este valor se multiplica por el impacto medio si ocurre así:= (impacto si ocurre*(1+porcentaje de impacto máximo))</a:t>
            </a:r>
          </a:p>
        </p:txBody>
      </p:sp>
      <p:sp>
        <p:nvSpPr>
          <p:cNvPr id="10" name="CuadroTexto 9">
            <a:extLst>
              <a:ext uri="{FF2B5EF4-FFF2-40B4-BE49-F238E27FC236}">
                <a16:creationId xmlns:a16="http://schemas.microsoft.com/office/drawing/2014/main" id="{11C87024-4F8C-4354-9305-60C4DAFB722D}"/>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MODELO BINOMIAL-TRIANGULAR</a:t>
            </a:r>
          </a:p>
        </p:txBody>
      </p:sp>
      <p:sp>
        <p:nvSpPr>
          <p:cNvPr id="11" name="CuadroTexto 10">
            <a:extLst>
              <a:ext uri="{FF2B5EF4-FFF2-40B4-BE49-F238E27FC236}">
                <a16:creationId xmlns:a16="http://schemas.microsoft.com/office/drawing/2014/main" id="{63EA5C7D-3D1E-4FED-9F75-4B65253E32B0}"/>
              </a:ext>
            </a:extLst>
          </p:cNvPr>
          <p:cNvSpPr txBox="1"/>
          <p:nvPr/>
        </p:nvSpPr>
        <p:spPr>
          <a:xfrm>
            <a:off x="457200" y="533400"/>
            <a:ext cx="8229600" cy="5080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Datos adicionales del modelo</a:t>
            </a:r>
          </a:p>
        </p:txBody>
      </p:sp>
      <p:sp>
        <p:nvSpPr>
          <p:cNvPr id="12" name="Rectángulo 11">
            <a:extLst>
              <a:ext uri="{FF2B5EF4-FFF2-40B4-BE49-F238E27FC236}">
                <a16:creationId xmlns:a16="http://schemas.microsoft.com/office/drawing/2014/main" id="{F4DD28BC-4982-4C1D-A9CC-22D4676A5EB0}"/>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228947359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5"/>
          <p:cNvSpPr/>
          <p:nvPr/>
        </p:nvSpPr>
        <p:spPr>
          <a:xfrm>
            <a:off x="5842000" y="1346200"/>
            <a:ext cx="2844800" cy="1270000"/>
          </a:xfrm>
          <a:prstGeom prst="rect">
            <a:avLst/>
          </a:prstGeom>
          <a:solidFill>
            <a:srgbClr val="F2F5F9"/>
          </a:solidFill>
          <a:ln>
            <a:noFill/>
          </a:ln>
        </p:spPr>
        <p:txBody>
          <a:bodyPr wrap="square" anchor="ctr" anchorCtr="0">
            <a:noAutofit/>
          </a:bodyPr>
          <a:lstStyle/>
          <a:p>
            <a:pPr lvl="0" algn="just">
              <a:lnSpc>
                <a:spcPct val="115000"/>
              </a:lnSpc>
              <a:spcAft>
                <a:spcPts val="1000"/>
              </a:spcAft>
              <a:buSzPts val="1100"/>
            </a:pPr>
            <a:r>
              <a:rPr lang="es-CO" sz="1200" dirty="0">
                <a:solidFill>
                  <a:srgbClr val="404040"/>
                </a:solidFill>
                <a:latin typeface="Calibri"/>
                <a:ea typeface="Calibri"/>
                <a:cs typeface="Calibri"/>
              </a:rPr>
              <a:t>Impacto probable: Probabilidad de que sea probable el evento. =+</a:t>
            </a:r>
            <a:r>
              <a:rPr lang="es-CO" sz="1200" dirty="0" err="1">
                <a:solidFill>
                  <a:srgbClr val="404040"/>
                </a:solidFill>
                <a:latin typeface="Calibri"/>
                <a:ea typeface="Calibri"/>
                <a:cs typeface="Calibri"/>
              </a:rPr>
              <a:t>RiskTriang</a:t>
            </a:r>
            <a:r>
              <a:rPr lang="es-CO" sz="1200" dirty="0">
                <a:solidFill>
                  <a:srgbClr val="404040"/>
                </a:solidFill>
                <a:latin typeface="Calibri"/>
                <a:ea typeface="Calibri"/>
                <a:cs typeface="Calibri"/>
              </a:rPr>
              <a:t>(impacto valor mínimo; impacto medio; impacto máximo) </a:t>
            </a:r>
          </a:p>
        </p:txBody>
      </p:sp>
      <p:pic>
        <p:nvPicPr>
          <p:cNvPr id="7" name="Imagen 6"/>
          <p:cNvPicPr/>
          <p:nvPr/>
        </p:nvPicPr>
        <p:blipFill>
          <a:blip r:embed="rId2"/>
          <a:stretch>
            <a:fillRect/>
          </a:stretch>
        </p:blipFill>
        <p:spPr>
          <a:xfrm>
            <a:off x="457200" y="1346200"/>
            <a:ext cx="4077101" cy="1270000"/>
          </a:xfrm>
          <a:prstGeom prst="rect">
            <a:avLst/>
          </a:prstGeom>
        </p:spPr>
      </p:pic>
      <p:pic>
        <p:nvPicPr>
          <p:cNvPr id="8" name="Imagen 7"/>
          <p:cNvPicPr/>
          <p:nvPr/>
        </p:nvPicPr>
        <p:blipFill>
          <a:blip r:embed="rId3"/>
          <a:stretch>
            <a:fillRect/>
          </a:stretch>
        </p:blipFill>
        <p:spPr>
          <a:xfrm>
            <a:off x="457200" y="2717800"/>
            <a:ext cx="4037503" cy="1270000"/>
          </a:xfrm>
          <a:prstGeom prst="rect">
            <a:avLst/>
          </a:prstGeom>
        </p:spPr>
      </p:pic>
      <p:sp>
        <p:nvSpPr>
          <p:cNvPr id="9" name="Rectángulo 8"/>
          <p:cNvSpPr/>
          <p:nvPr/>
        </p:nvSpPr>
        <p:spPr>
          <a:xfrm>
            <a:off x="5842000" y="2743200"/>
            <a:ext cx="2844800" cy="1270000"/>
          </a:xfrm>
          <a:prstGeom prst="rect">
            <a:avLst/>
          </a:prstGeom>
          <a:solidFill>
            <a:srgbClr val="F2F5F9"/>
          </a:solidFill>
          <a:ln>
            <a:noFill/>
          </a:ln>
        </p:spPr>
        <p:txBody>
          <a:bodyPr wrap="square" anchor="ctr" anchorCtr="0">
            <a:noAutofit/>
          </a:bodyPr>
          <a:lstStyle/>
          <a:p>
            <a:pPr lvl="0" algn="just">
              <a:lnSpc>
                <a:spcPct val="115000"/>
              </a:lnSpc>
              <a:spcAft>
                <a:spcPts val="1000"/>
              </a:spcAft>
              <a:buSzPts val="1100"/>
            </a:pPr>
            <a:r>
              <a:rPr lang="es-CO" sz="1200" dirty="0">
                <a:solidFill>
                  <a:srgbClr val="404040"/>
                </a:solidFill>
                <a:latin typeface="Calibri"/>
                <a:ea typeface="Calibri"/>
                <a:cs typeface="Calibri"/>
              </a:rPr>
              <a:t>Para la columna impacto medio, se multiplica el valor de la probabilidad de que ocurra por el impacto probable:</a:t>
            </a:r>
          </a:p>
        </p:txBody>
      </p:sp>
      <p:pic>
        <p:nvPicPr>
          <p:cNvPr id="10" name="Imagen 9"/>
          <p:cNvPicPr/>
          <p:nvPr/>
        </p:nvPicPr>
        <p:blipFill>
          <a:blip r:embed="rId4"/>
          <a:stretch>
            <a:fillRect/>
          </a:stretch>
        </p:blipFill>
        <p:spPr>
          <a:xfrm>
            <a:off x="457200" y="4089400"/>
            <a:ext cx="4052079" cy="1270000"/>
          </a:xfrm>
          <a:prstGeom prst="rect">
            <a:avLst/>
          </a:prstGeom>
        </p:spPr>
      </p:pic>
      <p:sp>
        <p:nvSpPr>
          <p:cNvPr id="11" name="Rectángulo 10"/>
          <p:cNvSpPr/>
          <p:nvPr/>
        </p:nvSpPr>
        <p:spPr>
          <a:xfrm>
            <a:off x="5842000" y="4140200"/>
            <a:ext cx="2844800" cy="1270000"/>
          </a:xfrm>
          <a:prstGeom prst="rect">
            <a:avLst/>
          </a:prstGeom>
          <a:solidFill>
            <a:srgbClr val="F2F5F9"/>
          </a:solidFill>
          <a:ln>
            <a:noFill/>
          </a:ln>
        </p:spPr>
        <p:txBody>
          <a:bodyPr wrap="square" anchor="ctr" anchorCtr="0">
            <a:noAutofit/>
          </a:bodyPr>
          <a:lstStyle/>
          <a:p>
            <a:pPr lvl="0" algn="just">
              <a:lnSpc>
                <a:spcPct val="115000"/>
              </a:lnSpc>
              <a:spcAft>
                <a:spcPts val="1000"/>
              </a:spcAft>
              <a:buSzPts val="1100"/>
            </a:pPr>
            <a:r>
              <a:rPr lang="es-CO" sz="1200" dirty="0">
                <a:solidFill>
                  <a:srgbClr val="404040"/>
                </a:solidFill>
                <a:latin typeface="Calibri"/>
                <a:ea typeface="Calibri"/>
                <a:cs typeface="Calibri"/>
              </a:rPr>
              <a:t>Para la columna impacto real, se multiplica el valor de ocurre? Por el impacto probable: </a:t>
            </a:r>
          </a:p>
        </p:txBody>
      </p:sp>
      <p:sp>
        <p:nvSpPr>
          <p:cNvPr id="4" name="CuadroTexto 3">
            <a:extLst>
              <a:ext uri="{FF2B5EF4-FFF2-40B4-BE49-F238E27FC236}">
                <a16:creationId xmlns:a16="http://schemas.microsoft.com/office/drawing/2014/main" id="{9D72814B-5558-4BEE-B482-C900252CF12A}"/>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MODELO BINOMIAL-TRIANGULAR</a:t>
            </a:r>
          </a:p>
        </p:txBody>
      </p:sp>
      <p:sp>
        <p:nvSpPr>
          <p:cNvPr id="5" name="CuadroTexto 4">
            <a:extLst>
              <a:ext uri="{FF2B5EF4-FFF2-40B4-BE49-F238E27FC236}">
                <a16:creationId xmlns:a16="http://schemas.microsoft.com/office/drawing/2014/main" id="{2ECDDA20-450C-4114-858A-717CA1113533}"/>
              </a:ext>
            </a:extLst>
          </p:cNvPr>
          <p:cNvSpPr txBox="1"/>
          <p:nvPr/>
        </p:nvSpPr>
        <p:spPr>
          <a:xfrm>
            <a:off x="457200" y="533400"/>
            <a:ext cx="8229600" cy="5080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Cálculo del impacto probable y real</a:t>
            </a:r>
            <a:endParaRPr lang="es-CO" sz="2800" b="1">
              <a:solidFill>
                <a:srgbClr val="1F3864"/>
              </a:solidFill>
              <a:latin typeface="Calibri"/>
              <a:ea typeface="Calibri"/>
              <a:cs typeface="Calibri"/>
            </a:endParaRPr>
          </a:p>
        </p:txBody>
      </p:sp>
      <p:sp>
        <p:nvSpPr>
          <p:cNvPr id="12" name="Rectángulo 11">
            <a:extLst>
              <a:ext uri="{FF2B5EF4-FFF2-40B4-BE49-F238E27FC236}">
                <a16:creationId xmlns:a16="http://schemas.microsoft.com/office/drawing/2014/main" id="{6D6A7754-7A00-42A2-A7C2-5A3727AD102A}"/>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57075051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a:blip r:embed="rId2"/>
          <a:stretch>
            <a:fillRect/>
          </a:stretch>
        </p:blipFill>
        <p:spPr>
          <a:xfrm>
            <a:off x="2161461" y="1270000"/>
            <a:ext cx="4821076" cy="1309560"/>
          </a:xfrm>
          <a:prstGeom prst="rect">
            <a:avLst/>
          </a:prstGeom>
        </p:spPr>
      </p:pic>
      <p:pic>
        <p:nvPicPr>
          <p:cNvPr id="5" name="Imagen 4"/>
          <p:cNvPicPr/>
          <p:nvPr/>
        </p:nvPicPr>
        <p:blipFill>
          <a:blip r:embed="rId3"/>
          <a:stretch>
            <a:fillRect/>
          </a:stretch>
        </p:blipFill>
        <p:spPr>
          <a:xfrm>
            <a:off x="2156368" y="2681160"/>
            <a:ext cx="4831263" cy="1343177"/>
          </a:xfrm>
          <a:prstGeom prst="rect">
            <a:avLst/>
          </a:prstGeom>
        </p:spPr>
      </p:pic>
      <p:pic>
        <p:nvPicPr>
          <p:cNvPr id="6" name="Imagen 5"/>
          <p:cNvPicPr/>
          <p:nvPr/>
        </p:nvPicPr>
        <p:blipFill>
          <a:blip r:embed="rId4"/>
          <a:stretch>
            <a:fillRect/>
          </a:stretch>
        </p:blipFill>
        <p:spPr>
          <a:xfrm>
            <a:off x="2146945" y="4125937"/>
            <a:ext cx="4850109" cy="1375267"/>
          </a:xfrm>
          <a:prstGeom prst="rect">
            <a:avLst/>
          </a:prstGeom>
        </p:spPr>
      </p:pic>
      <p:sp>
        <p:nvSpPr>
          <p:cNvPr id="7" name="CuadroTexto 6">
            <a:extLst>
              <a:ext uri="{FF2B5EF4-FFF2-40B4-BE49-F238E27FC236}">
                <a16:creationId xmlns:a16="http://schemas.microsoft.com/office/drawing/2014/main" id="{16C7D073-8483-473E-8707-E900409CC098}"/>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MODELO BINOMIAL-TRIANGULAR</a:t>
            </a:r>
          </a:p>
        </p:txBody>
      </p:sp>
      <p:sp>
        <p:nvSpPr>
          <p:cNvPr id="8" name="CuadroTexto 7">
            <a:extLst>
              <a:ext uri="{FF2B5EF4-FFF2-40B4-BE49-F238E27FC236}">
                <a16:creationId xmlns:a16="http://schemas.microsoft.com/office/drawing/2014/main" id="{810D0696-3072-46F0-8CBB-33D2E5933558}"/>
              </a:ext>
            </a:extLst>
          </p:cNvPr>
          <p:cNvSpPr txBox="1"/>
          <p:nvPr/>
        </p:nvSpPr>
        <p:spPr>
          <a:xfrm>
            <a:off x="457200" y="533400"/>
            <a:ext cx="8229600" cy="5334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Matriz de cálculo del impacto</a:t>
            </a:r>
          </a:p>
        </p:txBody>
      </p:sp>
      <p:sp>
        <p:nvSpPr>
          <p:cNvPr id="9" name="Rectángulo 8">
            <a:extLst>
              <a:ext uri="{FF2B5EF4-FFF2-40B4-BE49-F238E27FC236}">
                <a16:creationId xmlns:a16="http://schemas.microsoft.com/office/drawing/2014/main" id="{1E233324-D5FE-4D1A-AB4D-62EA12030ACB}"/>
              </a:ext>
            </a:extLst>
          </p:cNvPr>
          <p:cNvSpPr/>
          <p:nvPr/>
        </p:nvSpPr>
        <p:spPr>
          <a:xfrm>
            <a:off x="457200" y="1168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39796602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a:blip r:embed="rId2"/>
          <a:stretch>
            <a:fillRect/>
          </a:stretch>
        </p:blipFill>
        <p:spPr>
          <a:xfrm>
            <a:off x="1899120" y="1270000"/>
            <a:ext cx="5345759" cy="1324087"/>
          </a:xfrm>
          <a:prstGeom prst="rect">
            <a:avLst/>
          </a:prstGeom>
        </p:spPr>
      </p:pic>
      <p:pic>
        <p:nvPicPr>
          <p:cNvPr id="5" name="Imagen 4"/>
          <p:cNvPicPr/>
          <p:nvPr/>
        </p:nvPicPr>
        <p:blipFill>
          <a:blip r:embed="rId3"/>
          <a:stretch>
            <a:fillRect/>
          </a:stretch>
        </p:blipFill>
        <p:spPr>
          <a:xfrm>
            <a:off x="1919661" y="2695687"/>
            <a:ext cx="5304676" cy="2778085"/>
          </a:xfrm>
          <a:prstGeom prst="rect">
            <a:avLst/>
          </a:prstGeom>
        </p:spPr>
      </p:pic>
      <p:sp>
        <p:nvSpPr>
          <p:cNvPr id="6" name="CuadroTexto 5">
            <a:extLst>
              <a:ext uri="{FF2B5EF4-FFF2-40B4-BE49-F238E27FC236}">
                <a16:creationId xmlns:a16="http://schemas.microsoft.com/office/drawing/2014/main" id="{A1EBB175-5163-41F3-A1BF-0A6B1F738290}"/>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MODELO BINOMIAL-TRIANGULAR</a:t>
            </a:r>
          </a:p>
        </p:txBody>
      </p:sp>
      <p:sp>
        <p:nvSpPr>
          <p:cNvPr id="7" name="CuadroTexto 6">
            <a:extLst>
              <a:ext uri="{FF2B5EF4-FFF2-40B4-BE49-F238E27FC236}">
                <a16:creationId xmlns:a16="http://schemas.microsoft.com/office/drawing/2014/main" id="{299DFC78-6E96-4E31-8E6D-F30BF0966E7A}"/>
              </a:ext>
            </a:extLst>
          </p:cNvPr>
          <p:cNvSpPr txBox="1"/>
          <p:nvPr/>
        </p:nvSpPr>
        <p:spPr>
          <a:xfrm>
            <a:off x="457200" y="533400"/>
            <a:ext cx="8229600" cy="5334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Resultados de la simulación</a:t>
            </a:r>
          </a:p>
        </p:txBody>
      </p:sp>
      <p:sp>
        <p:nvSpPr>
          <p:cNvPr id="8" name="Rectángulo 7">
            <a:extLst>
              <a:ext uri="{FF2B5EF4-FFF2-40B4-BE49-F238E27FC236}">
                <a16:creationId xmlns:a16="http://schemas.microsoft.com/office/drawing/2014/main" id="{8595AB66-B56A-4F0D-BA25-6EC465818A2F}"/>
              </a:ext>
            </a:extLst>
          </p:cNvPr>
          <p:cNvSpPr/>
          <p:nvPr/>
        </p:nvSpPr>
        <p:spPr>
          <a:xfrm>
            <a:off x="457200" y="1168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2639879772"/>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a:blip r:embed="rId2"/>
          <a:stretch>
            <a:fillRect/>
          </a:stretch>
        </p:blipFill>
        <p:spPr>
          <a:xfrm>
            <a:off x="1973744" y="1270000"/>
            <a:ext cx="5196510" cy="1267174"/>
          </a:xfrm>
          <a:prstGeom prst="rect">
            <a:avLst/>
          </a:prstGeom>
        </p:spPr>
      </p:pic>
      <p:pic>
        <p:nvPicPr>
          <p:cNvPr id="5" name="Imagen 4"/>
          <p:cNvPicPr/>
          <p:nvPr/>
        </p:nvPicPr>
        <p:blipFill>
          <a:blip r:embed="rId3"/>
          <a:stretch>
            <a:fillRect/>
          </a:stretch>
        </p:blipFill>
        <p:spPr>
          <a:xfrm>
            <a:off x="1974841" y="2638774"/>
            <a:ext cx="5194316" cy="1357686"/>
          </a:xfrm>
          <a:prstGeom prst="rect">
            <a:avLst/>
          </a:prstGeom>
        </p:spPr>
      </p:pic>
      <p:pic>
        <p:nvPicPr>
          <p:cNvPr id="6" name="Imagen 5"/>
          <p:cNvPicPr/>
          <p:nvPr/>
        </p:nvPicPr>
        <p:blipFill>
          <a:blip r:embed="rId4"/>
          <a:stretch>
            <a:fillRect/>
          </a:stretch>
        </p:blipFill>
        <p:spPr>
          <a:xfrm>
            <a:off x="1914225" y="4098060"/>
            <a:ext cx="5315548" cy="1390600"/>
          </a:xfrm>
          <a:prstGeom prst="rect">
            <a:avLst/>
          </a:prstGeom>
        </p:spPr>
      </p:pic>
      <p:sp>
        <p:nvSpPr>
          <p:cNvPr id="7" name="CuadroTexto 6">
            <a:extLst>
              <a:ext uri="{FF2B5EF4-FFF2-40B4-BE49-F238E27FC236}">
                <a16:creationId xmlns:a16="http://schemas.microsoft.com/office/drawing/2014/main" id="{FC180812-2B8D-4932-B56F-5832A465F11C}"/>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MODELO BINOMIAL-TRIANGULAR</a:t>
            </a:r>
          </a:p>
        </p:txBody>
      </p:sp>
      <p:sp>
        <p:nvSpPr>
          <p:cNvPr id="8" name="CuadroTexto 7">
            <a:extLst>
              <a:ext uri="{FF2B5EF4-FFF2-40B4-BE49-F238E27FC236}">
                <a16:creationId xmlns:a16="http://schemas.microsoft.com/office/drawing/2014/main" id="{700B615D-9205-4189-ACFB-28C21F27CAC1}"/>
              </a:ext>
            </a:extLst>
          </p:cNvPr>
          <p:cNvSpPr txBox="1"/>
          <p:nvPr/>
        </p:nvSpPr>
        <p:spPr>
          <a:xfrm>
            <a:off x="457200" y="533400"/>
            <a:ext cx="8229600" cy="5334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Flujo de caja con riesgos incorporados</a:t>
            </a:r>
            <a:endParaRPr lang="es-CO" sz="2800" b="1">
              <a:solidFill>
                <a:srgbClr val="1F3864"/>
              </a:solidFill>
              <a:latin typeface="Calibri"/>
              <a:ea typeface="Calibri"/>
              <a:cs typeface="Calibri"/>
            </a:endParaRPr>
          </a:p>
        </p:txBody>
      </p:sp>
      <p:sp>
        <p:nvSpPr>
          <p:cNvPr id="9" name="Rectángulo 8">
            <a:extLst>
              <a:ext uri="{FF2B5EF4-FFF2-40B4-BE49-F238E27FC236}">
                <a16:creationId xmlns:a16="http://schemas.microsoft.com/office/drawing/2014/main" id="{9FD93969-4E3E-4E89-A221-5BEEC0DC5102}"/>
              </a:ext>
            </a:extLst>
          </p:cNvPr>
          <p:cNvSpPr/>
          <p:nvPr/>
        </p:nvSpPr>
        <p:spPr>
          <a:xfrm>
            <a:off x="457200" y="1168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35647525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282CEC0-7919-4EDC-ABED-A751BFD5D125}"/>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MODELO BINOMIAL-TRIANGULAR</a:t>
            </a:r>
          </a:p>
        </p:txBody>
      </p:sp>
      <p:sp>
        <p:nvSpPr>
          <p:cNvPr id="5" name="CuadroTexto 4">
            <a:extLst>
              <a:ext uri="{FF2B5EF4-FFF2-40B4-BE49-F238E27FC236}">
                <a16:creationId xmlns:a16="http://schemas.microsoft.com/office/drawing/2014/main" id="{B8ABC6B9-AFC6-40F2-8DEE-D16685D96414}"/>
              </a:ext>
            </a:extLst>
          </p:cNvPr>
          <p:cNvSpPr txBox="1"/>
          <p:nvPr/>
        </p:nvSpPr>
        <p:spPr>
          <a:xfrm>
            <a:off x="457200" y="533400"/>
            <a:ext cx="8229600" cy="5334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Indicadores del proyecto con riesgo</a:t>
            </a:r>
            <a:endParaRPr lang="es-CO" sz="2800" b="1">
              <a:solidFill>
                <a:srgbClr val="1F3864"/>
              </a:solidFill>
              <a:latin typeface="Calibri"/>
              <a:ea typeface="Calibri"/>
              <a:cs typeface="Calibri"/>
            </a:endParaRPr>
          </a:p>
        </p:txBody>
      </p:sp>
      <p:sp>
        <p:nvSpPr>
          <p:cNvPr id="6" name="Rectángulo 5">
            <a:extLst>
              <a:ext uri="{FF2B5EF4-FFF2-40B4-BE49-F238E27FC236}">
                <a16:creationId xmlns:a16="http://schemas.microsoft.com/office/drawing/2014/main" id="{2BB69B7B-F1CA-46F3-8B07-414AECB9101E}"/>
              </a:ext>
            </a:extLst>
          </p:cNvPr>
          <p:cNvSpPr/>
          <p:nvPr/>
        </p:nvSpPr>
        <p:spPr>
          <a:xfrm>
            <a:off x="457200" y="1168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1726573958"/>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p:nvPr/>
        </p:nvPicPr>
        <p:blipFill>
          <a:blip r:embed="rId2"/>
          <a:stretch>
            <a:fillRect/>
          </a:stretch>
        </p:blipFill>
        <p:spPr>
          <a:xfrm>
            <a:off x="1701800" y="1457871"/>
            <a:ext cx="5740400" cy="1491158"/>
          </a:xfrm>
          <a:prstGeom prst="rect">
            <a:avLst/>
          </a:prstGeom>
        </p:spPr>
      </p:pic>
      <p:sp>
        <p:nvSpPr>
          <p:cNvPr id="5" name="Rectángulo 4"/>
          <p:cNvSpPr/>
          <p:nvPr/>
        </p:nvSpPr>
        <p:spPr>
          <a:xfrm>
            <a:off x="457200" y="3225800"/>
            <a:ext cx="8229600" cy="1905000"/>
          </a:xfrm>
          <a:prstGeom prst="rect">
            <a:avLst/>
          </a:prstGeom>
          <a:solidFill>
            <a:srgbClr val="F2F5F9"/>
          </a:solidFill>
          <a:ln>
            <a:noFill/>
          </a:ln>
        </p:spPr>
        <p:txBody>
          <a:bodyPr wrap="square" anchor="ctr" anchorCtr="0">
            <a:noAutofit/>
          </a:bodyPr>
          <a:lstStyle/>
          <a:p>
            <a:pPr lvl="0" algn="just">
              <a:lnSpc>
                <a:spcPct val="115000"/>
              </a:lnSpc>
              <a:spcAft>
                <a:spcPts val="0"/>
              </a:spcAft>
              <a:buSzPts val="1100"/>
            </a:pPr>
            <a:r>
              <a:rPr lang="es-CO" sz="1400" dirty="0">
                <a:solidFill>
                  <a:srgbClr val="404040"/>
                </a:solidFill>
                <a:latin typeface="Calibri"/>
                <a:ea typeface="Calibri"/>
                <a:cs typeface="Calibri"/>
              </a:rPr>
              <a:t>Luego te obtener cada una de las tablas que se requieren, se hallan los indicadores tales como :</a:t>
            </a:r>
          </a:p>
          <a:p>
            <a:pPr marL="342900" lvl="0" indent="-342900" algn="just">
              <a:lnSpc>
                <a:spcPct val="115000"/>
              </a:lnSpc>
              <a:spcAft>
                <a:spcPts val="0"/>
              </a:spcAft>
              <a:buFont typeface="Symbol" panose="05050102010706020507" pitchFamily="18" charset="2"/>
              <a:buChar char=""/>
            </a:pPr>
            <a:r>
              <a:rPr lang="es-CO" sz="1400" dirty="0">
                <a:solidFill>
                  <a:srgbClr val="404040"/>
                </a:solidFill>
                <a:latin typeface="Calibri"/>
                <a:ea typeface="Calibri"/>
                <a:cs typeface="Calibri"/>
              </a:rPr>
              <a:t>Tasa Interna de Retorno (TIO): La determina el proyecto.</a:t>
            </a:r>
          </a:p>
          <a:p>
            <a:pPr marL="1371600" algn="just">
              <a:lnSpc>
                <a:spcPct val="115000"/>
              </a:lnSpc>
              <a:spcAft>
                <a:spcPts val="0"/>
              </a:spcAft>
            </a:pPr>
            <a:r>
              <a:rPr lang="es-CO" sz="1400" dirty="0">
                <a:solidFill>
                  <a:srgbClr val="404040"/>
                </a:solidFill>
                <a:latin typeface="Calibri"/>
                <a:ea typeface="Calibri"/>
                <a:cs typeface="Calibri"/>
              </a:rPr>
              <a:t> </a:t>
            </a:r>
          </a:p>
          <a:p>
            <a:pPr marL="342900" lvl="0" indent="-342900" algn="just">
              <a:lnSpc>
                <a:spcPct val="115000"/>
              </a:lnSpc>
              <a:spcAft>
                <a:spcPts val="1000"/>
              </a:spcAft>
              <a:buFont typeface="Symbol" panose="05050102010706020507" pitchFamily="18" charset="2"/>
              <a:buChar char=""/>
            </a:pPr>
            <a:r>
              <a:rPr lang="es-CO" sz="1400" dirty="0">
                <a:solidFill>
                  <a:srgbClr val="404040"/>
                </a:solidFill>
                <a:latin typeface="Calibri"/>
                <a:ea typeface="Calibri"/>
                <a:cs typeface="Calibri"/>
              </a:rPr>
              <a:t>Valor Presente Neto </a:t>
            </a:r>
            <a:r>
              <a:rPr lang="es-CO" sz="1400" dirty="0" err="1">
                <a:solidFill>
                  <a:srgbClr val="404040"/>
                </a:solidFill>
                <a:latin typeface="Calibri"/>
                <a:ea typeface="Calibri"/>
                <a:cs typeface="Calibri"/>
              </a:rPr>
              <a:t>Risk</a:t>
            </a:r>
            <a:r>
              <a:rPr lang="es-CO" sz="1400" dirty="0">
                <a:solidFill>
                  <a:srgbClr val="404040"/>
                </a:solidFill>
                <a:latin typeface="Calibri"/>
                <a:ea typeface="Calibri"/>
                <a:cs typeface="Calibri"/>
              </a:rPr>
              <a:t> (VPN RISK): su cálculo se obtiene por medio de la siguiente formulación:</a:t>
            </a:r>
          </a:p>
        </p:txBody>
      </p:sp>
      <p:sp>
        <p:nvSpPr>
          <p:cNvPr id="6" name="CuadroTexto 5">
            <a:extLst>
              <a:ext uri="{FF2B5EF4-FFF2-40B4-BE49-F238E27FC236}">
                <a16:creationId xmlns:a16="http://schemas.microsoft.com/office/drawing/2014/main" id="{0790F3EB-1B82-46FC-AEF1-811B3E9A05A2}"/>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MODELO BINOMIAL-TRIANGULAR</a:t>
            </a:r>
          </a:p>
        </p:txBody>
      </p:sp>
      <p:sp>
        <p:nvSpPr>
          <p:cNvPr id="8" name="Rectángulo 7">
            <a:extLst>
              <a:ext uri="{FF2B5EF4-FFF2-40B4-BE49-F238E27FC236}">
                <a16:creationId xmlns:a16="http://schemas.microsoft.com/office/drawing/2014/main" id="{D6E58D23-DE7E-4B17-978A-DCC493913E2B}"/>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9" name="CuadroTexto 8">
            <a:extLst>
              <a:ext uri="{FF2B5EF4-FFF2-40B4-BE49-F238E27FC236}">
                <a16:creationId xmlns:a16="http://schemas.microsoft.com/office/drawing/2014/main" id="{EAE9A65D-8D27-4DD8-9BB9-6F355C0B6B09}"/>
              </a:ext>
            </a:extLst>
          </p:cNvPr>
          <p:cNvSpPr txBox="1"/>
          <p:nvPr/>
        </p:nvSpPr>
        <p:spPr>
          <a:xfrm>
            <a:off x="457200" y="533400"/>
            <a:ext cx="8229600" cy="5080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Indicadores del proyecto</a:t>
            </a:r>
          </a:p>
        </p:txBody>
      </p:sp>
    </p:spTree>
    <p:extLst>
      <p:ext uri="{BB962C8B-B14F-4D97-AF65-F5344CB8AC3E}">
        <p14:creationId xmlns:p14="http://schemas.microsoft.com/office/powerpoint/2010/main" val="66326080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457200" y="1346200"/>
            <a:ext cx="3683000" cy="584200"/>
          </a:xfrm>
          <a:prstGeom prst="rect">
            <a:avLst/>
          </a:prstGeom>
          <a:solidFill>
            <a:srgbClr val="1F3864"/>
          </a:solidFill>
          <a:ln>
            <a:noFill/>
          </a:ln>
        </p:spPr>
        <p:txBody>
          <a:bodyPr wrap="square" anchor="ctr" anchorCtr="0">
            <a:noAutofit/>
          </a:bodyPr>
          <a:lstStyle/>
          <a:p>
            <a:r>
              <a:rPr lang="es-ES" sz="1400" b="1">
                <a:solidFill>
                  <a:srgbClr val="FFFFFF"/>
                </a:solidFill>
                <a:latin typeface="Calibri"/>
                <a:ea typeface="Calibri"/>
                <a:cs typeface="Calibri"/>
              </a:rPr>
              <a:t>1. Obtener la serie de datos histórica</a:t>
            </a:r>
            <a:endParaRPr lang="es-CO" sz="1400" b="1" dirty="0">
              <a:solidFill>
                <a:srgbClr val="FFFFFF"/>
              </a:solidFill>
              <a:latin typeface="Calibri"/>
              <a:ea typeface="Calibri"/>
              <a:cs typeface="Calibri"/>
            </a:endParaRPr>
          </a:p>
        </p:txBody>
      </p:sp>
      <p:graphicFrame>
        <p:nvGraphicFramePr>
          <p:cNvPr id="4" name="Tabla 3"/>
          <p:cNvGraphicFramePr>
            <a:graphicFrameLocks noGrp="1"/>
          </p:cNvGraphicFramePr>
          <p:nvPr>
            <p:extLst>
              <p:ext uri="{D42A27DB-BD31-4B8C-83A1-F6EECF244321}">
                <p14:modId xmlns:p14="http://schemas.microsoft.com/office/powerpoint/2010/main" val="3481891165"/>
              </p:ext>
            </p:extLst>
          </p:nvPr>
        </p:nvGraphicFramePr>
        <p:xfrm>
          <a:off x="622108" y="1909273"/>
          <a:ext cx="1524000" cy="3249930"/>
        </p:xfrm>
        <a:graphic>
          <a:graphicData uri="http://schemas.openxmlformats.org/drawingml/2006/table">
            <a:tbl>
              <a:tblPr>
                <a:tableStyleId>{5C22544A-7EE6-4342-B048-85BDC9FD1C3A}</a:tableStyleId>
              </a:tblPr>
              <a:tblGrid>
                <a:gridCol w="762000">
                  <a:extLst>
                    <a:ext uri="{9D8B030D-6E8A-4147-A177-3AD203B41FA5}">
                      <a16:colId xmlns:a16="http://schemas.microsoft.com/office/drawing/2014/main" val="2869430346"/>
                    </a:ext>
                  </a:extLst>
                </a:gridCol>
                <a:gridCol w="762000">
                  <a:extLst>
                    <a:ext uri="{9D8B030D-6E8A-4147-A177-3AD203B41FA5}">
                      <a16:colId xmlns:a16="http://schemas.microsoft.com/office/drawing/2014/main" val="3199097806"/>
                    </a:ext>
                  </a:extLst>
                </a:gridCol>
              </a:tblGrid>
              <a:tr h="323850">
                <a:tc gridSpan="2">
                  <a:txBody>
                    <a:bodyPr/>
                    <a:lstStyle/>
                    <a:p>
                      <a:pPr algn="ctr" fontAlgn="b"/>
                      <a:r>
                        <a:rPr lang="es-ES" sz="1100" u="none" strike="noStrike" dirty="0">
                          <a:effectLst/>
                        </a:rPr>
                        <a:t>REGISTRO DE LOS EVENTOS DE RIESGO</a:t>
                      </a:r>
                      <a:endParaRPr lang="es-ES" sz="1100" b="1" i="0" u="none" strike="noStrike" dirty="0">
                        <a:solidFill>
                          <a:srgbClr val="000000"/>
                        </a:solidFill>
                        <a:effectLst/>
                        <a:latin typeface="Verdana" panose="020B0604030504040204" pitchFamily="34" charset="0"/>
                      </a:endParaRPr>
                    </a:p>
                  </a:txBody>
                  <a:tcPr marL="9525" marR="9525" marT="9525" marB="0" anchor="b"/>
                </a:tc>
                <a:tc hMerge="1">
                  <a:txBody>
                    <a:bodyPr/>
                    <a:lstStyle/>
                    <a:p>
                      <a:endParaRPr lang="es-CO"/>
                    </a:p>
                  </a:txBody>
                  <a:tcPr/>
                </a:tc>
                <a:extLst>
                  <a:ext uri="{0D108BD9-81ED-4DB2-BD59-A6C34878D82A}">
                    <a16:rowId xmlns:a16="http://schemas.microsoft.com/office/drawing/2014/main" val="1305510531"/>
                  </a:ext>
                </a:extLst>
              </a:tr>
              <a:tr h="381000">
                <a:tc>
                  <a:txBody>
                    <a:bodyPr/>
                    <a:lstStyle/>
                    <a:p>
                      <a:pPr algn="ctr" fontAlgn="b"/>
                      <a:r>
                        <a:rPr lang="es-CO" sz="1100" u="none" strike="noStrike">
                          <a:effectLst/>
                        </a:rPr>
                        <a:t>Fecha</a:t>
                      </a:r>
                      <a:endParaRPr lang="es-CO" sz="1100" b="1" i="0" u="none" strike="noStrike">
                        <a:solidFill>
                          <a:srgbClr val="000000"/>
                        </a:solidFill>
                        <a:effectLst/>
                        <a:latin typeface="Verdana" panose="020B0604030504040204" pitchFamily="34" charset="0"/>
                      </a:endParaRPr>
                    </a:p>
                  </a:txBody>
                  <a:tcPr marL="9525" marR="9525" marT="9525" marB="0" anchor="b"/>
                </a:tc>
                <a:tc>
                  <a:txBody>
                    <a:bodyPr/>
                    <a:lstStyle/>
                    <a:p>
                      <a:pPr algn="ctr" fontAlgn="b"/>
                      <a:r>
                        <a:rPr lang="es-CO" sz="1100" u="none" strike="noStrike">
                          <a:effectLst/>
                        </a:rPr>
                        <a:t>Pérdida</a:t>
                      </a:r>
                      <a:endParaRPr lang="es-CO" sz="1100" b="1" i="0" u="none" strike="noStrike">
                        <a:solidFill>
                          <a:srgbClr val="000000"/>
                        </a:solidFill>
                        <a:effectLst/>
                        <a:latin typeface="Verdana" panose="020B0604030504040204" pitchFamily="34" charset="0"/>
                      </a:endParaRPr>
                    </a:p>
                  </a:txBody>
                  <a:tcPr marL="9525" marR="9525" marT="9525" marB="0" anchor="b"/>
                </a:tc>
                <a:extLst>
                  <a:ext uri="{0D108BD9-81ED-4DB2-BD59-A6C34878D82A}">
                    <a16:rowId xmlns:a16="http://schemas.microsoft.com/office/drawing/2014/main" val="1876781025"/>
                  </a:ext>
                </a:extLst>
              </a:tr>
              <a:tr h="371475">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97.384</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85795900"/>
                  </a:ext>
                </a:extLst>
              </a:tr>
              <a:tr h="247650">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185.010</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19447352"/>
                  </a:ext>
                </a:extLst>
              </a:tr>
              <a:tr h="257175">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109.425</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565647825"/>
                  </a:ext>
                </a:extLst>
              </a:tr>
              <a:tr h="257175">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138.519</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8517857"/>
                  </a:ext>
                </a:extLst>
              </a:tr>
              <a:tr h="247650">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184.114</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39036609"/>
                  </a:ext>
                </a:extLst>
              </a:tr>
              <a:tr h="247650">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158.606</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15287224"/>
                  </a:ext>
                </a:extLst>
              </a:tr>
              <a:tr h="247650">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512.180</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8506565"/>
                  </a:ext>
                </a:extLst>
              </a:tr>
              <a:tr h="257175">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341.826</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91154800"/>
                  </a:ext>
                </a:extLst>
              </a:tr>
              <a:tr h="200025">
                <a:tc>
                  <a:txBody>
                    <a:bodyPr/>
                    <a:lstStyle/>
                    <a:p>
                      <a:pPr algn="r" fontAlgn="b"/>
                      <a:r>
                        <a:rPr lang="es-CO" sz="1100" u="none" strike="noStrike">
                          <a:effectLst/>
                        </a:rPr>
                        <a:t>2007</a:t>
                      </a:r>
                      <a:endParaRPr lang="es-CO" sz="11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a:effectLst/>
                        </a:rPr>
                        <a:t>162.886</a:t>
                      </a:r>
                      <a:endParaRPr lang="es-CO"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474268725"/>
                  </a:ext>
                </a:extLst>
              </a:tr>
              <a:tr h="190500">
                <a:tc>
                  <a:txBody>
                    <a:bodyPr/>
                    <a:lstStyle/>
                    <a:p>
                      <a:pPr algn="r" fontAlgn="b"/>
                      <a:r>
                        <a:rPr lang="es-CO" sz="1100" u="none" strike="noStrike" dirty="0">
                          <a:effectLst/>
                        </a:rPr>
                        <a:t>2007</a:t>
                      </a:r>
                      <a:endParaRPr lang="es-CO"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s-CO" sz="1100" u="none" strike="noStrike" dirty="0">
                          <a:effectLst/>
                        </a:rPr>
                        <a:t>57.707</a:t>
                      </a:r>
                      <a:endParaRPr lang="es-CO"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0222659"/>
                  </a:ext>
                </a:extLst>
              </a:tr>
            </a:tbl>
          </a:graphicData>
        </a:graphic>
      </p:graphicFrame>
      <p:sp>
        <p:nvSpPr>
          <p:cNvPr id="6" name="Rectángulo 5"/>
          <p:cNvSpPr/>
          <p:nvPr/>
        </p:nvSpPr>
        <p:spPr>
          <a:xfrm>
            <a:off x="4470400" y="1346200"/>
            <a:ext cx="3810000" cy="584200"/>
          </a:xfrm>
          <a:prstGeom prst="rect">
            <a:avLst/>
          </a:prstGeom>
          <a:solidFill>
            <a:srgbClr val="1F3864"/>
          </a:solidFill>
          <a:ln>
            <a:noFill/>
          </a:ln>
        </p:spPr>
        <p:txBody>
          <a:bodyPr wrap="square" anchor="ctr" anchorCtr="0">
            <a:noAutofit/>
          </a:bodyPr>
          <a:lstStyle/>
          <a:p>
            <a:r>
              <a:rPr lang="es-ES" sz="1400" b="1">
                <a:solidFill>
                  <a:srgbClr val="FFFFFF"/>
                </a:solidFill>
                <a:latin typeface="Calibri"/>
                <a:ea typeface="Calibri"/>
                <a:cs typeface="Calibri"/>
              </a:rPr>
              <a:t>2. Calcular el componente inflacionario</a:t>
            </a:r>
            <a:endParaRPr lang="es-CO" sz="1400" b="1" dirty="0">
              <a:solidFill>
                <a:srgbClr val="FFFFFF"/>
              </a:solidFill>
              <a:latin typeface="Calibri"/>
              <a:ea typeface="Calibri"/>
              <a:cs typeface="Calibri"/>
            </a:endParaRPr>
          </a:p>
        </p:txBody>
      </p:sp>
      <p:graphicFrame>
        <p:nvGraphicFramePr>
          <p:cNvPr id="7" name="Tabla 6"/>
          <p:cNvGraphicFramePr>
            <a:graphicFrameLocks noGrp="1"/>
          </p:cNvGraphicFramePr>
          <p:nvPr>
            <p:extLst>
              <p:ext uri="{D42A27DB-BD31-4B8C-83A1-F6EECF244321}">
                <p14:modId xmlns:p14="http://schemas.microsoft.com/office/powerpoint/2010/main" val="3804618235"/>
              </p:ext>
            </p:extLst>
          </p:nvPr>
        </p:nvGraphicFramePr>
        <p:xfrm>
          <a:off x="3450635" y="2186272"/>
          <a:ext cx="4838700" cy="704850"/>
        </p:xfrm>
        <a:graphic>
          <a:graphicData uri="http://schemas.openxmlformats.org/drawingml/2006/table">
            <a:tbl>
              <a:tblPr>
                <a:tableStyleId>{5C22544A-7EE6-4342-B048-85BDC9FD1C3A}</a:tableStyleId>
              </a:tblPr>
              <a:tblGrid>
                <a:gridCol w="761500">
                  <a:extLst>
                    <a:ext uri="{9D8B030D-6E8A-4147-A177-3AD203B41FA5}">
                      <a16:colId xmlns:a16="http://schemas.microsoft.com/office/drawing/2014/main" val="2814800216"/>
                    </a:ext>
                  </a:extLst>
                </a:gridCol>
                <a:gridCol w="761500">
                  <a:extLst>
                    <a:ext uri="{9D8B030D-6E8A-4147-A177-3AD203B41FA5}">
                      <a16:colId xmlns:a16="http://schemas.microsoft.com/office/drawing/2014/main" val="1126347270"/>
                    </a:ext>
                  </a:extLst>
                </a:gridCol>
                <a:gridCol w="980432">
                  <a:extLst>
                    <a:ext uri="{9D8B030D-6E8A-4147-A177-3AD203B41FA5}">
                      <a16:colId xmlns:a16="http://schemas.microsoft.com/office/drawing/2014/main" val="4027682838"/>
                    </a:ext>
                  </a:extLst>
                </a:gridCol>
                <a:gridCol w="2335268">
                  <a:extLst>
                    <a:ext uri="{9D8B030D-6E8A-4147-A177-3AD203B41FA5}">
                      <a16:colId xmlns:a16="http://schemas.microsoft.com/office/drawing/2014/main" val="3062360189"/>
                    </a:ext>
                  </a:extLst>
                </a:gridCol>
              </a:tblGrid>
              <a:tr h="323850">
                <a:tc gridSpan="4">
                  <a:txBody>
                    <a:bodyPr/>
                    <a:lstStyle/>
                    <a:p>
                      <a:pPr algn="ctr" fontAlgn="ctr"/>
                      <a:r>
                        <a:rPr lang="es-CO" sz="1100" u="none" strike="noStrike">
                          <a:effectLst/>
                        </a:rPr>
                        <a:t>INFORMACION DE MERCADO </a:t>
                      </a:r>
                      <a:endParaRPr lang="es-CO" sz="1100" b="1" i="0" u="none" strike="noStrike">
                        <a:solidFill>
                          <a:srgbClr val="000000"/>
                        </a:solidFill>
                        <a:effectLst/>
                        <a:latin typeface="Verdana" panose="020B0604030504040204" pitchFamily="34" charset="0"/>
                      </a:endParaRPr>
                    </a:p>
                  </a:txBody>
                  <a:tcPr marL="9525" marR="9525" marT="9525" marB="0" anchor="ctr"/>
                </a:tc>
                <a:tc hMerge="1">
                  <a:txBody>
                    <a:bodyPr/>
                    <a:lstStyle/>
                    <a:p>
                      <a:endParaRPr lang="es-CO"/>
                    </a:p>
                  </a:txBody>
                  <a:tcP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4218383485"/>
                  </a:ext>
                </a:extLst>
              </a:tr>
              <a:tr h="381000">
                <a:tc>
                  <a:txBody>
                    <a:bodyPr/>
                    <a:lstStyle/>
                    <a:p>
                      <a:pPr algn="ctr" fontAlgn="b"/>
                      <a:r>
                        <a:rPr lang="es-CO" sz="1000" u="none" strike="noStrike">
                          <a:effectLst/>
                        </a:rPr>
                        <a:t>Año</a:t>
                      </a:r>
                      <a:endParaRPr lang="es-CO" sz="1000" b="1" i="0" u="none" strike="noStrike">
                        <a:solidFill>
                          <a:srgbClr val="000000"/>
                        </a:solidFill>
                        <a:effectLst/>
                        <a:latin typeface="Verdana" panose="020B0604030504040204" pitchFamily="34" charset="0"/>
                      </a:endParaRPr>
                    </a:p>
                  </a:txBody>
                  <a:tcPr marL="9525" marR="9525" marT="9525" marB="0" anchor="b"/>
                </a:tc>
                <a:tc>
                  <a:txBody>
                    <a:bodyPr/>
                    <a:lstStyle/>
                    <a:p>
                      <a:pPr algn="ctr" fontAlgn="b"/>
                      <a:r>
                        <a:rPr lang="es-CO" sz="1000" u="none" strike="noStrike">
                          <a:effectLst/>
                        </a:rPr>
                        <a:t>Inflación</a:t>
                      </a:r>
                      <a:endParaRPr lang="es-CO" sz="1000" b="1" i="0" u="none" strike="noStrike">
                        <a:solidFill>
                          <a:srgbClr val="000000"/>
                        </a:solidFill>
                        <a:effectLst/>
                        <a:latin typeface="Verdana" panose="020B0604030504040204" pitchFamily="34" charset="0"/>
                      </a:endParaRPr>
                    </a:p>
                  </a:txBody>
                  <a:tcPr marL="9525" marR="9525" marT="9525" marB="0" anchor="b"/>
                </a:tc>
                <a:tc>
                  <a:txBody>
                    <a:bodyPr/>
                    <a:lstStyle/>
                    <a:p>
                      <a:pPr algn="l" fontAlgn="b"/>
                      <a:r>
                        <a:rPr lang="es-CO" sz="1100" u="none" strike="noStrike">
                          <a:effectLst/>
                        </a:rPr>
                        <a:t>1+Inflación</a:t>
                      </a:r>
                      <a:endParaRPr lang="es-CO" sz="1100" b="1" i="0" u="none" strike="noStrike">
                        <a:solidFill>
                          <a:srgbClr val="000000"/>
                        </a:solidFill>
                        <a:effectLst/>
                        <a:latin typeface="Verdana" panose="020B0604030504040204" pitchFamily="34" charset="0"/>
                      </a:endParaRPr>
                    </a:p>
                  </a:txBody>
                  <a:tcPr marL="9525" marR="9525" marT="9525" marB="0" anchor="b"/>
                </a:tc>
                <a:tc>
                  <a:txBody>
                    <a:bodyPr/>
                    <a:lstStyle/>
                    <a:p>
                      <a:pPr algn="l" fontAlgn="b"/>
                      <a:r>
                        <a:rPr lang="es-ES" sz="1100" u="none" strike="noStrike" dirty="0">
                          <a:effectLst/>
                        </a:rPr>
                        <a:t>Componente inflacionario de cada año</a:t>
                      </a:r>
                      <a:endParaRPr lang="es-ES" sz="1100" b="1" i="0" u="none" strike="noStrike" dirty="0">
                        <a:solidFill>
                          <a:srgbClr val="000000"/>
                        </a:solidFill>
                        <a:effectLst/>
                        <a:latin typeface="Verdana" panose="020B0604030504040204" pitchFamily="34" charset="0"/>
                      </a:endParaRPr>
                    </a:p>
                  </a:txBody>
                  <a:tcPr marL="9525" marR="9525" marT="9525" marB="0" anchor="b"/>
                </a:tc>
                <a:extLst>
                  <a:ext uri="{0D108BD9-81ED-4DB2-BD59-A6C34878D82A}">
                    <a16:rowId xmlns:a16="http://schemas.microsoft.com/office/drawing/2014/main" val="1238241297"/>
                  </a:ext>
                </a:extLst>
              </a:tr>
            </a:tbl>
          </a:graphicData>
        </a:graphic>
      </p:graphicFrame>
      <p:graphicFrame>
        <p:nvGraphicFramePr>
          <p:cNvPr id="9" name="Tabla 8"/>
          <p:cNvGraphicFramePr>
            <a:graphicFrameLocks noGrp="1"/>
          </p:cNvGraphicFramePr>
          <p:nvPr>
            <p:extLst>
              <p:ext uri="{D42A27DB-BD31-4B8C-83A1-F6EECF244321}">
                <p14:modId xmlns:p14="http://schemas.microsoft.com/office/powerpoint/2010/main" val="24675643"/>
              </p:ext>
            </p:extLst>
          </p:nvPr>
        </p:nvGraphicFramePr>
        <p:xfrm>
          <a:off x="4724716" y="3995903"/>
          <a:ext cx="3403600" cy="695325"/>
        </p:xfrm>
        <a:graphic>
          <a:graphicData uri="http://schemas.openxmlformats.org/drawingml/2006/table">
            <a:tbl>
              <a:tblPr>
                <a:tableStyleId>{5C22544A-7EE6-4342-B048-85BDC9FD1C3A}</a:tableStyleId>
              </a:tblPr>
              <a:tblGrid>
                <a:gridCol w="762000">
                  <a:extLst>
                    <a:ext uri="{9D8B030D-6E8A-4147-A177-3AD203B41FA5}">
                      <a16:colId xmlns:a16="http://schemas.microsoft.com/office/drawing/2014/main" val="1441640164"/>
                    </a:ext>
                  </a:extLst>
                </a:gridCol>
                <a:gridCol w="762000">
                  <a:extLst>
                    <a:ext uri="{9D8B030D-6E8A-4147-A177-3AD203B41FA5}">
                      <a16:colId xmlns:a16="http://schemas.microsoft.com/office/drawing/2014/main" val="1576162213"/>
                    </a:ext>
                  </a:extLst>
                </a:gridCol>
                <a:gridCol w="1879600">
                  <a:extLst>
                    <a:ext uri="{9D8B030D-6E8A-4147-A177-3AD203B41FA5}">
                      <a16:colId xmlns:a16="http://schemas.microsoft.com/office/drawing/2014/main" val="542847096"/>
                    </a:ext>
                  </a:extLst>
                </a:gridCol>
              </a:tblGrid>
              <a:tr h="323850">
                <a:tc gridSpan="3">
                  <a:txBody>
                    <a:bodyPr/>
                    <a:lstStyle/>
                    <a:p>
                      <a:pPr algn="ctr" fontAlgn="ctr"/>
                      <a:r>
                        <a:rPr lang="es-ES" sz="1100" u="none" strike="noStrike" dirty="0">
                          <a:effectLst/>
                        </a:rPr>
                        <a:t>ACTUALIZACIÓN DE LOS DATOS </a:t>
                      </a:r>
                      <a:endParaRPr lang="es-ES" sz="1100" b="1" i="0" u="none" strike="noStrike" dirty="0">
                        <a:solidFill>
                          <a:srgbClr val="000000"/>
                        </a:solidFill>
                        <a:effectLst/>
                        <a:latin typeface="Verdana" panose="020B0604030504040204" pitchFamily="34" charset="0"/>
                      </a:endParaRPr>
                    </a:p>
                  </a:txBody>
                  <a:tcPr marL="9525" marR="9525" marT="9525" marB="0" anchor="ctr"/>
                </a:tc>
                <a:tc hMerge="1">
                  <a:txBody>
                    <a:bodyPr/>
                    <a:lstStyle/>
                    <a:p>
                      <a:endParaRPr lang="es-CO"/>
                    </a:p>
                  </a:txBody>
                  <a:tcPr/>
                </a:tc>
                <a:tc hMerge="1">
                  <a:txBody>
                    <a:bodyPr/>
                    <a:lstStyle/>
                    <a:p>
                      <a:endParaRPr lang="es-CO"/>
                    </a:p>
                  </a:txBody>
                  <a:tcPr/>
                </a:tc>
                <a:extLst>
                  <a:ext uri="{0D108BD9-81ED-4DB2-BD59-A6C34878D82A}">
                    <a16:rowId xmlns:a16="http://schemas.microsoft.com/office/drawing/2014/main" val="75429556"/>
                  </a:ext>
                </a:extLst>
              </a:tr>
              <a:tr h="371475">
                <a:tc>
                  <a:txBody>
                    <a:bodyPr/>
                    <a:lstStyle/>
                    <a:p>
                      <a:pPr algn="ctr" fontAlgn="b"/>
                      <a:r>
                        <a:rPr lang="es-CO" sz="1100" u="none" strike="noStrike">
                          <a:effectLst/>
                        </a:rPr>
                        <a:t>Fecha</a:t>
                      </a:r>
                      <a:endParaRPr lang="es-CO" sz="1100" b="1" i="0" u="none" strike="noStrike">
                        <a:solidFill>
                          <a:srgbClr val="000000"/>
                        </a:solidFill>
                        <a:effectLst/>
                        <a:latin typeface="Verdana" panose="020B0604030504040204" pitchFamily="34" charset="0"/>
                      </a:endParaRPr>
                    </a:p>
                  </a:txBody>
                  <a:tcPr marL="9525" marR="9525" marT="9525" marB="0" anchor="b"/>
                </a:tc>
                <a:tc>
                  <a:txBody>
                    <a:bodyPr/>
                    <a:lstStyle/>
                    <a:p>
                      <a:pPr algn="ctr" fontAlgn="b"/>
                      <a:r>
                        <a:rPr lang="es-CO" sz="1100" u="none" strike="noStrike">
                          <a:effectLst/>
                        </a:rPr>
                        <a:t>Pérdida</a:t>
                      </a:r>
                      <a:endParaRPr lang="es-CO" sz="1100" b="1" i="0" u="none" strike="noStrike">
                        <a:solidFill>
                          <a:srgbClr val="000000"/>
                        </a:solidFill>
                        <a:effectLst/>
                        <a:latin typeface="Verdana" panose="020B0604030504040204" pitchFamily="34" charset="0"/>
                      </a:endParaRPr>
                    </a:p>
                  </a:txBody>
                  <a:tcPr marL="9525" marR="9525" marT="9525" marB="0" anchor="b"/>
                </a:tc>
                <a:tc>
                  <a:txBody>
                    <a:bodyPr/>
                    <a:lstStyle/>
                    <a:p>
                      <a:pPr algn="ctr" fontAlgn="b"/>
                      <a:r>
                        <a:rPr lang="es-ES" sz="1100" u="none" strike="noStrike" dirty="0">
                          <a:effectLst/>
                        </a:rPr>
                        <a:t> Valor de la pérdida Actual </a:t>
                      </a:r>
                      <a:endParaRPr lang="es-ES" sz="1100" b="1" i="0" u="none" strike="noStrike" dirty="0">
                        <a:solidFill>
                          <a:srgbClr val="000000"/>
                        </a:solidFill>
                        <a:effectLst/>
                        <a:latin typeface="Verdana" panose="020B0604030504040204" pitchFamily="34" charset="0"/>
                      </a:endParaRPr>
                    </a:p>
                  </a:txBody>
                  <a:tcPr marL="9525" marR="9525" marT="9525" marB="0" anchor="b"/>
                </a:tc>
                <a:extLst>
                  <a:ext uri="{0D108BD9-81ED-4DB2-BD59-A6C34878D82A}">
                    <a16:rowId xmlns:a16="http://schemas.microsoft.com/office/drawing/2014/main" val="1284246274"/>
                  </a:ext>
                </a:extLst>
              </a:tr>
            </a:tbl>
          </a:graphicData>
        </a:graphic>
      </p:graphicFrame>
      <p:sp>
        <p:nvSpPr>
          <p:cNvPr id="10" name="Rectángulo 9"/>
          <p:cNvSpPr/>
          <p:nvPr/>
        </p:nvSpPr>
        <p:spPr>
          <a:xfrm>
            <a:off x="4470400" y="3073400"/>
            <a:ext cx="3810000" cy="584200"/>
          </a:xfrm>
          <a:prstGeom prst="rect">
            <a:avLst/>
          </a:prstGeom>
          <a:solidFill>
            <a:srgbClr val="1F3864"/>
          </a:solidFill>
          <a:ln>
            <a:noFill/>
          </a:ln>
        </p:spPr>
        <p:txBody>
          <a:bodyPr wrap="square" anchor="ctr" anchorCtr="0">
            <a:noAutofit/>
          </a:bodyPr>
          <a:lstStyle/>
          <a:p>
            <a:r>
              <a:rPr lang="es-ES" sz="1400" b="1">
                <a:solidFill>
                  <a:srgbClr val="FFFFFF"/>
                </a:solidFill>
                <a:latin typeface="Calibri"/>
                <a:ea typeface="Calibri"/>
                <a:cs typeface="Calibri"/>
              </a:rPr>
              <a:t>3. Actualizar el valor de la pérdida</a:t>
            </a:r>
            <a:endParaRPr lang="es-CO" sz="1400" b="1" dirty="0">
              <a:solidFill>
                <a:srgbClr val="FFFFFF"/>
              </a:solidFill>
              <a:latin typeface="Calibri"/>
              <a:ea typeface="Calibri"/>
              <a:cs typeface="Calibri"/>
            </a:endParaRPr>
          </a:p>
        </p:txBody>
      </p:sp>
      <p:sp>
        <p:nvSpPr>
          <p:cNvPr id="11" name="CuadroTexto 10">
            <a:extLst>
              <a:ext uri="{FF2B5EF4-FFF2-40B4-BE49-F238E27FC236}">
                <a16:creationId xmlns:a16="http://schemas.microsoft.com/office/drawing/2014/main" id="{DECAFBE2-4CB1-4A62-9497-1F4324EC6029}"/>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ES" sz="1200" b="1">
                <a:solidFill>
                  <a:srgbClr val="ED7D31"/>
                </a:solidFill>
                <a:latin typeface="Calibri"/>
                <a:ea typeface="Calibri"/>
                <a:cs typeface="Calibri"/>
              </a:rPr>
              <a:t>DATOS HISTÓRICOS · PASOS 1 A 3</a:t>
            </a:r>
            <a:endParaRPr lang="es-CO" sz="1200" b="1">
              <a:solidFill>
                <a:srgbClr val="ED7D31"/>
              </a:solidFill>
              <a:latin typeface="Calibri"/>
              <a:ea typeface="Calibri"/>
              <a:cs typeface="Calibri"/>
            </a:endParaRPr>
          </a:p>
        </p:txBody>
      </p:sp>
      <p:sp>
        <p:nvSpPr>
          <p:cNvPr id="12" name="Rectángulo 11">
            <a:extLst>
              <a:ext uri="{FF2B5EF4-FFF2-40B4-BE49-F238E27FC236}">
                <a16:creationId xmlns:a16="http://schemas.microsoft.com/office/drawing/2014/main" id="{571A367C-FFC9-4105-B29F-60B488D388F7}"/>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3" name="CuadroTexto 12">
            <a:extLst>
              <a:ext uri="{FF2B5EF4-FFF2-40B4-BE49-F238E27FC236}">
                <a16:creationId xmlns:a16="http://schemas.microsoft.com/office/drawing/2014/main" id="{A8A4E477-08DA-4AED-88B0-2F503442F9B2}"/>
              </a:ext>
            </a:extLst>
          </p:cNvPr>
          <p:cNvSpPr txBox="1"/>
          <p:nvPr/>
        </p:nvSpPr>
        <p:spPr>
          <a:xfrm>
            <a:off x="457200" y="533400"/>
            <a:ext cx="8229600" cy="5080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Cuantificación con datos históricos</a:t>
            </a:r>
          </a:p>
        </p:txBody>
      </p:sp>
    </p:spTree>
    <p:extLst>
      <p:ext uri="{BB962C8B-B14F-4D97-AF65-F5344CB8AC3E}">
        <p14:creationId xmlns:p14="http://schemas.microsoft.com/office/powerpoint/2010/main" val="92850926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320800"/>
            <a:ext cx="8229600" cy="3605287"/>
          </a:xfrm>
          <a:prstGeom prst="rect">
            <a:avLst/>
          </a:prstGeom>
        </p:spPr>
      </p:pic>
      <p:sp>
        <p:nvSpPr>
          <p:cNvPr id="6" name="CuadroTexto 5">
            <a:extLst>
              <a:ext uri="{FF2B5EF4-FFF2-40B4-BE49-F238E27FC236}">
                <a16:creationId xmlns:a16="http://schemas.microsoft.com/office/drawing/2014/main" id="{D946A5CB-CE66-4807-85A6-74664372276E}"/>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DATOS HISTÓRICOS · PASO 4</a:t>
            </a:r>
          </a:p>
        </p:txBody>
      </p:sp>
      <p:sp>
        <p:nvSpPr>
          <p:cNvPr id="7" name="Rectángulo 6">
            <a:extLst>
              <a:ext uri="{FF2B5EF4-FFF2-40B4-BE49-F238E27FC236}">
                <a16:creationId xmlns:a16="http://schemas.microsoft.com/office/drawing/2014/main" id="{3FC103BE-741C-46D8-9897-6EAEDE58B98A}"/>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CuadroTexto 7">
            <a:extLst>
              <a:ext uri="{FF2B5EF4-FFF2-40B4-BE49-F238E27FC236}">
                <a16:creationId xmlns:a16="http://schemas.microsoft.com/office/drawing/2014/main" id="{A31C0EF1-1BBE-46BE-B9D3-9DA4F9E74E80}"/>
              </a:ext>
            </a:extLst>
          </p:cNvPr>
          <p:cNvSpPr txBox="1"/>
          <p:nvPr/>
        </p:nvSpPr>
        <p:spPr>
          <a:xfrm>
            <a:off x="457200" y="533400"/>
            <a:ext cx="8229600" cy="5080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Ajuste de distribución para la severidad</a:t>
            </a:r>
            <a:endParaRPr lang="es-CO" sz="2800" b="1">
              <a:solidFill>
                <a:srgbClr val="1F3864"/>
              </a:solidFill>
              <a:latin typeface="Calibri"/>
              <a:ea typeface="Calibri"/>
              <a:cs typeface="Calibri"/>
            </a:endParaRPr>
          </a:p>
        </p:txBody>
      </p:sp>
    </p:spTree>
    <p:extLst>
      <p:ext uri="{BB962C8B-B14F-4D97-AF65-F5344CB8AC3E}">
        <p14:creationId xmlns:p14="http://schemas.microsoft.com/office/powerpoint/2010/main" val="90304068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320800"/>
            <a:ext cx="8229600" cy="3615039"/>
          </a:xfrm>
          <a:prstGeom prst="rect">
            <a:avLst/>
          </a:prstGeom>
        </p:spPr>
      </p:pic>
      <p:sp>
        <p:nvSpPr>
          <p:cNvPr id="6" name="CuadroTexto 5">
            <a:extLst>
              <a:ext uri="{FF2B5EF4-FFF2-40B4-BE49-F238E27FC236}">
                <a16:creationId xmlns:a16="http://schemas.microsoft.com/office/drawing/2014/main" id="{06ABC664-E376-43C9-9CE2-63746133BBF3}"/>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DATOS HISTÓRICOS · PASO 5</a:t>
            </a:r>
          </a:p>
        </p:txBody>
      </p:sp>
      <p:sp>
        <p:nvSpPr>
          <p:cNvPr id="7" name="Rectángulo 6">
            <a:extLst>
              <a:ext uri="{FF2B5EF4-FFF2-40B4-BE49-F238E27FC236}">
                <a16:creationId xmlns:a16="http://schemas.microsoft.com/office/drawing/2014/main" id="{ABDF0B32-A492-4D6E-B6A2-1AEF5EAA87C5}"/>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CuadroTexto 7">
            <a:extLst>
              <a:ext uri="{FF2B5EF4-FFF2-40B4-BE49-F238E27FC236}">
                <a16:creationId xmlns:a16="http://schemas.microsoft.com/office/drawing/2014/main" id="{43748F18-AB2C-495E-AAED-170F5710D594}"/>
              </a:ext>
            </a:extLst>
          </p:cNvPr>
          <p:cNvSpPr txBox="1"/>
          <p:nvPr/>
        </p:nvSpPr>
        <p:spPr>
          <a:xfrm>
            <a:off x="457200" y="533400"/>
            <a:ext cx="8229600" cy="508000"/>
          </a:xfrm>
          <a:prstGeom prst="rect">
            <a:avLst/>
          </a:prstGeom>
          <a:noFill/>
        </p:spPr>
        <p:txBody>
          <a:bodyPr vertOverflow="overflow" vert="horz" wrap="square" rtlCol="0" anchor="ctr" anchorCtr="0">
            <a:noAutofit/>
          </a:bodyPr>
          <a:lstStyle/>
          <a:p>
            <a:pPr algn="l"/>
            <a:r>
              <a:rPr lang="es-ES" sz="2800" b="1">
                <a:solidFill>
                  <a:srgbClr val="1F3864"/>
                </a:solidFill>
                <a:latin typeface="Calibri"/>
                <a:ea typeface="Calibri"/>
                <a:cs typeface="Calibri"/>
              </a:rPr>
              <a:t>Ajuste de distribución para la frecuencia</a:t>
            </a:r>
            <a:endParaRPr lang="es-CO" sz="2800" b="1">
              <a:solidFill>
                <a:srgbClr val="1F3864"/>
              </a:solidFill>
              <a:latin typeface="Calibri"/>
              <a:ea typeface="Calibri"/>
              <a:cs typeface="Calibri"/>
            </a:endParaRPr>
          </a:p>
        </p:txBody>
      </p:sp>
    </p:spTree>
    <p:extLst>
      <p:ext uri="{BB962C8B-B14F-4D97-AF65-F5344CB8AC3E}">
        <p14:creationId xmlns:p14="http://schemas.microsoft.com/office/powerpoint/2010/main" val="157127220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320800"/>
            <a:ext cx="8229600" cy="3871040"/>
          </a:xfrm>
          <a:prstGeom prst="rect">
            <a:avLst/>
          </a:prstGeom>
        </p:spPr>
      </p:pic>
      <p:sp>
        <p:nvSpPr>
          <p:cNvPr id="6" name="CuadroTexto 5">
            <a:extLst>
              <a:ext uri="{FF2B5EF4-FFF2-40B4-BE49-F238E27FC236}">
                <a16:creationId xmlns:a16="http://schemas.microsoft.com/office/drawing/2014/main" id="{226F23C7-040D-4580-B829-78257D4AE3F0}"/>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DATOS HISTÓRICOS · PASO 6</a:t>
            </a:r>
          </a:p>
        </p:txBody>
      </p:sp>
      <p:sp>
        <p:nvSpPr>
          <p:cNvPr id="7" name="Rectángulo 6">
            <a:extLst>
              <a:ext uri="{FF2B5EF4-FFF2-40B4-BE49-F238E27FC236}">
                <a16:creationId xmlns:a16="http://schemas.microsoft.com/office/drawing/2014/main" id="{3E43A8E9-9216-4A71-A44C-A0E14E75CBEB}"/>
              </a:ext>
            </a:extLst>
          </p:cNvPr>
          <p:cNvSpPr/>
          <p:nvPr/>
        </p:nvSpPr>
        <p:spPr>
          <a:xfrm>
            <a:off x="457200" y="11176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8" name="CuadroTexto 7">
            <a:extLst>
              <a:ext uri="{FF2B5EF4-FFF2-40B4-BE49-F238E27FC236}">
                <a16:creationId xmlns:a16="http://schemas.microsoft.com/office/drawing/2014/main" id="{2DEBBC17-81B3-4CF0-BE1C-6773F3A8C6B4}"/>
              </a:ext>
            </a:extLst>
          </p:cNvPr>
          <p:cNvSpPr txBox="1"/>
          <p:nvPr/>
        </p:nvSpPr>
        <p:spPr>
          <a:xfrm>
            <a:off x="457200" y="533400"/>
            <a:ext cx="8229600" cy="5080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Modelo de pérdidas agregadas</a:t>
            </a:r>
          </a:p>
        </p:txBody>
      </p:sp>
    </p:spTree>
    <p:extLst>
      <p:ext uri="{BB962C8B-B14F-4D97-AF65-F5344CB8AC3E}">
        <p14:creationId xmlns:p14="http://schemas.microsoft.com/office/powerpoint/2010/main" val="1938078993"/>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p:cNvPicPr>
            <a:picLocks noChangeAspect="1"/>
          </p:cNvPicPr>
          <p:nvPr/>
        </p:nvPicPr>
        <p:blipFill>
          <a:blip r:embed="rId2"/>
          <a:stretch>
            <a:fillRect/>
          </a:stretch>
        </p:blipFill>
        <p:spPr>
          <a:xfrm>
            <a:off x="1231779" y="1270000"/>
            <a:ext cx="6680441" cy="4191000"/>
          </a:xfrm>
          <a:prstGeom prst="rect">
            <a:avLst/>
          </a:prstGeom>
        </p:spPr>
      </p:pic>
      <p:sp>
        <p:nvSpPr>
          <p:cNvPr id="5" name="CuadroTexto 4">
            <a:extLst>
              <a:ext uri="{FF2B5EF4-FFF2-40B4-BE49-F238E27FC236}">
                <a16:creationId xmlns:a16="http://schemas.microsoft.com/office/drawing/2014/main" id="{38B49377-229C-435D-BFA3-D1E439173035}"/>
              </a:ext>
            </a:extLst>
          </p:cNvPr>
          <p:cNvSpPr txBox="1"/>
          <p:nvPr/>
        </p:nvSpPr>
        <p:spPr>
          <a:xfrm>
            <a:off x="457200" y="279400"/>
            <a:ext cx="5842000" cy="203200"/>
          </a:xfrm>
          <a:prstGeom prst="rect">
            <a:avLst/>
          </a:prstGeom>
          <a:noFill/>
        </p:spPr>
        <p:txBody>
          <a:bodyPr vertOverflow="overflow" vert="horz" wrap="square" rtlCol="0" anchor="t">
            <a:noAutofit/>
          </a:bodyPr>
          <a:lstStyle/>
          <a:p>
            <a:pPr algn="l"/>
            <a:r>
              <a:rPr lang="es-CO" sz="1200" b="1">
                <a:solidFill>
                  <a:srgbClr val="ED7D31"/>
                </a:solidFill>
                <a:latin typeface="Calibri"/>
                <a:ea typeface="Calibri"/>
                <a:cs typeface="Calibri"/>
              </a:rPr>
              <a:t>DATOS HISTÓRICOS</a:t>
            </a:r>
          </a:p>
        </p:txBody>
      </p:sp>
      <p:sp>
        <p:nvSpPr>
          <p:cNvPr id="6" name="CuadroTexto 5">
            <a:extLst>
              <a:ext uri="{FF2B5EF4-FFF2-40B4-BE49-F238E27FC236}">
                <a16:creationId xmlns:a16="http://schemas.microsoft.com/office/drawing/2014/main" id="{497555B0-152B-4FB4-A07F-71E6809832A1}"/>
              </a:ext>
            </a:extLst>
          </p:cNvPr>
          <p:cNvSpPr txBox="1"/>
          <p:nvPr/>
        </p:nvSpPr>
        <p:spPr>
          <a:xfrm>
            <a:off x="457200" y="533400"/>
            <a:ext cx="8229600" cy="533400"/>
          </a:xfrm>
          <a:prstGeom prst="rect">
            <a:avLst/>
          </a:prstGeom>
          <a:noFill/>
        </p:spPr>
        <p:txBody>
          <a:bodyPr vertOverflow="overflow" vert="horz" wrap="square" rtlCol="0" anchor="ctr" anchorCtr="0">
            <a:noAutofit/>
          </a:bodyPr>
          <a:lstStyle/>
          <a:p>
            <a:pPr algn="l"/>
            <a:r>
              <a:rPr lang="es-CO" sz="2800" b="1">
                <a:solidFill>
                  <a:srgbClr val="1F3864"/>
                </a:solidFill>
                <a:latin typeface="Calibri"/>
                <a:ea typeface="Calibri"/>
                <a:cs typeface="Calibri"/>
              </a:rPr>
              <a:t>Modelo de pérdidas agregadas</a:t>
            </a:r>
          </a:p>
        </p:txBody>
      </p:sp>
      <p:sp>
        <p:nvSpPr>
          <p:cNvPr id="7" name="Rectángulo 6">
            <a:extLst>
              <a:ext uri="{FF2B5EF4-FFF2-40B4-BE49-F238E27FC236}">
                <a16:creationId xmlns:a16="http://schemas.microsoft.com/office/drawing/2014/main" id="{E4DEB412-7A57-4743-BEED-8E1BBA174E81}"/>
              </a:ext>
            </a:extLst>
          </p:cNvPr>
          <p:cNvSpPr/>
          <p:nvPr/>
        </p:nvSpPr>
        <p:spPr>
          <a:xfrm>
            <a:off x="457200" y="1168400"/>
            <a:ext cx="1219200" cy="50800"/>
          </a:xfrm>
          <a:prstGeom prst="rect">
            <a:avLst/>
          </a:prstGeom>
          <a:solidFill>
            <a:srgbClr val="ED7D31"/>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Tree>
    <p:extLst>
      <p:ext uri="{BB962C8B-B14F-4D97-AF65-F5344CB8AC3E}">
        <p14:creationId xmlns:p14="http://schemas.microsoft.com/office/powerpoint/2010/main" val="265480206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noChangeArrowheads="1"/>
          </p:cNvSpPr>
          <p:nvPr>
            <p:ph type="title"/>
          </p:nvPr>
        </p:nvSpPr>
        <p:spPr>
          <a:xfrm>
            <a:off x="635000" y="330200"/>
            <a:ext cx="7886700" cy="1325563"/>
          </a:xfrm>
        </p:spPr>
        <p:txBody>
          <a:bodyPr>
            <a:normAutofit/>
          </a:bodyPr>
          <a:lstStyle/>
          <a:p>
            <a:pPr eaLnBrk="1" hangingPunct="1"/>
            <a:r>
              <a:rPr lang="es-ES" sz="3200" b="1" dirty="0">
                <a:solidFill>
                  <a:schemeClr val="accent5">
                    <a:lumMod val="75000"/>
                  </a:schemeClr>
                </a:solidFill>
                <a:latin typeface="Helvetica" panose="020B0604020202030204" pitchFamily="34" charset="0"/>
                <a:ea typeface="+mn-ea"/>
                <a:cs typeface="+mn-cs"/>
              </a:rPr>
              <a:t>Bibliografía</a:t>
            </a:r>
          </a:p>
        </p:txBody>
      </p:sp>
      <p:sp>
        <p:nvSpPr>
          <p:cNvPr id="135170" name="Rectangle 3"/>
          <p:cNvSpPr>
            <a:spLocks noGrp="1" noChangeArrowheads="1"/>
          </p:cNvSpPr>
          <p:nvPr>
            <p:ph idx="1"/>
          </p:nvPr>
        </p:nvSpPr>
        <p:spPr>
          <a:xfrm>
            <a:off x="635000" y="1287461"/>
            <a:ext cx="7886700" cy="4351338"/>
          </a:xfrm>
        </p:spPr>
        <p:txBody>
          <a:bodyPr>
            <a:normAutofit fontScale="62500" lnSpcReduction="20000"/>
          </a:bodyPr>
          <a:lstStyle/>
          <a:p>
            <a:r>
              <a:rPr lang="es-CO" dirty="0"/>
              <a:t>Gómez, Elkin; Uribe, Ricardo; Mora, Andrés. </a:t>
            </a:r>
            <a:r>
              <a:rPr lang="es-CO" i="1" dirty="0"/>
              <a:t>Análisis de Riesgo en Proyectos</a:t>
            </a:r>
            <a:r>
              <a:rPr lang="es-CO" dirty="0"/>
              <a:t>. Ed. Portafolio, 2015.</a:t>
            </a:r>
          </a:p>
          <a:p>
            <a:r>
              <a:rPr lang="es-CO" dirty="0"/>
              <a:t>Project Management Institute (PMI). </a:t>
            </a:r>
            <a:r>
              <a:rPr lang="es-CO" i="1" dirty="0"/>
              <a:t>A Guide to the Project Management </a:t>
            </a:r>
            <a:r>
              <a:rPr lang="es-CO" i="1" dirty="0" err="1"/>
              <a:t>Body</a:t>
            </a:r>
            <a:r>
              <a:rPr lang="es-CO" i="1" dirty="0"/>
              <a:t> of </a:t>
            </a:r>
            <a:r>
              <a:rPr lang="es-CO" i="1" dirty="0" err="1"/>
              <a:t>Knowledge</a:t>
            </a:r>
            <a:r>
              <a:rPr lang="es-CO" i="1" dirty="0"/>
              <a:t> (PMBOK Guide</a:t>
            </a:r>
            <a:r>
              <a:rPr lang="es-CO" i="1"/>
              <a:t>)</a:t>
            </a:r>
            <a:r>
              <a:rPr lang="es-CO"/>
              <a:t>. </a:t>
            </a:r>
          </a:p>
          <a:p>
            <a:r>
              <a:rPr lang="es-CO"/>
              <a:t>Jack </a:t>
            </a:r>
            <a:r>
              <a:rPr lang="es-CO" dirty="0"/>
              <a:t>Ferraro. </a:t>
            </a:r>
            <a:r>
              <a:rPr lang="es-CO" i="1" dirty="0"/>
              <a:t>Project Manager Absolute </a:t>
            </a:r>
            <a:r>
              <a:rPr lang="es-CO" i="1" dirty="0" err="1"/>
              <a:t>Beginner’s</a:t>
            </a:r>
            <a:r>
              <a:rPr lang="es-CO" i="1" dirty="0"/>
              <a:t> Guide</a:t>
            </a:r>
            <a:r>
              <a:rPr lang="es-CO" dirty="0"/>
              <a:t>. Pearson, 2024.</a:t>
            </a:r>
          </a:p>
          <a:p>
            <a:r>
              <a:rPr lang="es-CO" dirty="0" err="1"/>
              <a:t>Pirani</a:t>
            </a:r>
            <a:r>
              <a:rPr lang="es-CO" dirty="0"/>
              <a:t>. </a:t>
            </a:r>
            <a:r>
              <a:rPr lang="es-CO" i="1" dirty="0"/>
              <a:t>Estudio de Gestión de Riesgos 2025</a:t>
            </a:r>
            <a:r>
              <a:rPr lang="es-CO" dirty="0"/>
              <a:t> sobre tendencias en Latinoamérica. 2024.</a:t>
            </a:r>
          </a:p>
          <a:p>
            <a:r>
              <a:rPr lang="es-CO" dirty="0"/>
              <a:t>Yacila Espinoza, M.M. </a:t>
            </a:r>
            <a:r>
              <a:rPr lang="es-CO" i="1" dirty="0"/>
              <a:t>Impacto de la gestión de riesgos en los resultados de proyectos de inversión pública</a:t>
            </a:r>
            <a:r>
              <a:rPr lang="es-CO" dirty="0"/>
              <a:t>. SciELO Bolivia, 2025.</a:t>
            </a:r>
          </a:p>
          <a:p>
            <a:r>
              <a:rPr lang="es-CO" dirty="0"/>
              <a:t>Función Pública Colombia. </a:t>
            </a:r>
            <a:r>
              <a:rPr lang="es-CO" i="1" dirty="0"/>
              <a:t>Guía para la Gestión Integral del Riesgo en Entidades Públicas</a:t>
            </a:r>
            <a:r>
              <a:rPr lang="es-CO" dirty="0"/>
              <a:t>. Actualización 2025.</a:t>
            </a:r>
          </a:p>
          <a:p>
            <a:r>
              <a:rPr lang="es-CO" dirty="0"/>
              <a:t>Terry Schmidt. </a:t>
            </a:r>
            <a:r>
              <a:rPr lang="es-CO" i="1" dirty="0" err="1"/>
              <a:t>Strategic</a:t>
            </a:r>
            <a:r>
              <a:rPr lang="es-CO" i="1" dirty="0"/>
              <a:t> Project Management </a:t>
            </a:r>
            <a:r>
              <a:rPr lang="es-CO" i="1" dirty="0" err="1"/>
              <a:t>Made</a:t>
            </a:r>
            <a:r>
              <a:rPr lang="es-CO" i="1" dirty="0"/>
              <a:t> Simple</a:t>
            </a:r>
            <a:r>
              <a:rPr lang="es-CO" dirty="0"/>
              <a:t>. Ed. Wiley, 2024.</a:t>
            </a:r>
          </a:p>
          <a:p>
            <a:r>
              <a:rPr lang="es-CO" dirty="0"/>
              <a:t>Sánchez Módena, C.A. </a:t>
            </a:r>
            <a:r>
              <a:rPr lang="es-CO" i="1" dirty="0"/>
              <a:t>Análisis de riesgos de ejecución en proyectos de desarrollo institucional</a:t>
            </a:r>
            <a:r>
              <a:rPr lang="es-CO" dirty="0"/>
              <a:t>. SciELO Venezuela, 2025.</a:t>
            </a:r>
          </a:p>
          <a:p>
            <a:r>
              <a:rPr lang="es-CO" dirty="0"/>
              <a:t>Fasecolda. </a:t>
            </a:r>
            <a:r>
              <a:rPr lang="es-CO" i="1" dirty="0"/>
              <a:t>Reporte de riesgos y oportunidades emergentes</a:t>
            </a:r>
            <a:r>
              <a:rPr lang="es-CO" dirty="0"/>
              <a:t>. 2025.</a:t>
            </a:r>
          </a:p>
          <a:p>
            <a:r>
              <a:rPr lang="es-CO" dirty="0"/>
              <a:t>Peter L. Bernstein. </a:t>
            </a:r>
            <a:r>
              <a:rPr lang="es-CO" i="1" dirty="0"/>
              <a:t>Contra los dioses: La notable historia del riesgo</a:t>
            </a:r>
            <a:r>
              <a:rPr lang="es-CO" dirty="0"/>
              <a:t>. Edición 2024.</a:t>
            </a:r>
          </a:p>
        </p:txBody>
      </p:sp>
    </p:spTree>
    <p:extLst>
      <p:ext uri="{BB962C8B-B14F-4D97-AF65-F5344CB8AC3E}">
        <p14:creationId xmlns:p14="http://schemas.microsoft.com/office/powerpoint/2010/main" val="372125377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POS" val="2"/>
  <p:tag name="TPPRESENTATIONGUID" val="830a4b63-1223-4e5b-8b25-9ae773ec9cff"/>
  <p:tag name="TPVERSION" val="8"/>
  <p:tag name="TPFULLVERSION" val="9.0.7.7"/>
  <p:tag name="PPTVERSION" val="16"/>
  <p:tag name="TPLASTSAVEVERSION" val="6.4 PC"/>
</p:tagLst>
</file>

<file path=ppt/theme/theme1.xml><?xml version="1.0" encoding="utf-8"?>
<a:theme xmlns:a="http://schemas.openxmlformats.org/drawingml/2006/main" name="Tema de Office [1788543423356]">
  <a:themeElements>
    <a:clrScheme name="Tema de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Tema de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64D678A-F5CB-4273-BA60-D64B6A457B78}">
  <we:reference id="WA200010725" version="1.0.0.1" store="Omex" storeType="OMEX"/>
  <we:alternateReferences>
    <we:reference id="WA200010725" version="1.0.0.1" store="WA200010725" storeType="OMEX"/>
  </we:alternateReferences>
  <we:properties>
    <we:property name="claude.fileId" value="&quot;4116d59d-3d9a-45a4-988c-fbfb1ef7d8b0&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715917811DA3BE429B694EB7A5BC53A2" ma:contentTypeVersion="0" ma:contentTypeDescription="Crear nuevo documento." ma:contentTypeScope="" ma:versionID="f8ca4cfb092ddfb1aed4d8b3637e1628">
  <xsd:schema xmlns:xsd="http://www.w3.org/2001/XMLSchema" xmlns:xs="http://www.w3.org/2001/XMLSchema" xmlns:p="http://schemas.microsoft.com/office/2006/metadata/properties" targetNamespace="http://schemas.microsoft.com/office/2006/metadata/properties" ma:root="true" ma:fieldsID="ebba8a198e9bb40c3eeca6d0bd4125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0F96B63-6CA0-4BAE-B7A3-CB5D9F3EF43C}">
  <ds:schemaRefs>
    <ds:schemaRef ds:uri="http://schemas.microsoft.com/sharepoint/v3/contenttype/forms"/>
  </ds:schemaRefs>
</ds:datastoreItem>
</file>

<file path=customXml/itemProps2.xml><?xml version="1.0" encoding="utf-8"?>
<ds:datastoreItem xmlns:ds="http://schemas.openxmlformats.org/officeDocument/2006/customXml" ds:itemID="{2231D0C5-0CEC-4280-87CA-DF12A40267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92CC2F8-0011-4F85-A090-98897AFED4B1}">
  <ds:schemaRefs>
    <ds:schemaRef ds:uri="http://www.w3.org/XML/1998/namespace"/>
    <ds:schemaRef ds:uri="http://schemas.microsoft.com/office/2006/metadata/properties"/>
    <ds:schemaRef ds:uri="http://purl.org/dc/elements/1.1/"/>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6961</TotalTime>
  <Words>10157</Words>
  <Application>Microsoft Office PowerPoint</Application>
  <PresentationFormat>Presentación en pantalla (4:3)</PresentationFormat>
  <Paragraphs>1578</Paragraphs>
  <Slides>168</Slides>
  <Notes>2</Notes>
  <HiddenSlides>0</HiddenSlides>
  <MMClips>0</MMClips>
  <ScaleCrop>false</ScaleCrop>
  <HeadingPairs>
    <vt:vector size="6" baseType="variant">
      <vt:variant>
        <vt:lpstr>Fuentes usadas</vt:lpstr>
      </vt:variant>
      <vt:variant>
        <vt:i4>12</vt:i4>
      </vt:variant>
      <vt:variant>
        <vt:lpstr>Tema</vt:lpstr>
      </vt:variant>
      <vt:variant>
        <vt:i4>1</vt:i4>
      </vt:variant>
      <vt:variant>
        <vt:lpstr>Títulos de diapositiva</vt:lpstr>
      </vt:variant>
      <vt:variant>
        <vt:i4>168</vt:i4>
      </vt:variant>
    </vt:vector>
  </HeadingPairs>
  <TitlesOfParts>
    <vt:vector size="181" baseType="lpstr">
      <vt:lpstr>ＭＳ Ｐゴシック</vt:lpstr>
      <vt:lpstr>Arial</vt:lpstr>
      <vt:lpstr>Arial Black</vt:lpstr>
      <vt:lpstr>Calibri</vt:lpstr>
      <vt:lpstr>Calibri Light</vt:lpstr>
      <vt:lpstr>Helvetica</vt:lpstr>
      <vt:lpstr>Helvetica-Bold</vt:lpstr>
      <vt:lpstr>Kanit Light</vt:lpstr>
      <vt:lpstr>Martel Sans</vt:lpstr>
      <vt:lpstr>Symbol</vt:lpstr>
      <vt:lpstr>Verdana</vt:lpstr>
      <vt:lpstr>Wingdings</vt:lpstr>
      <vt:lpstr>Tema de Office [1788543423356]</vt:lpstr>
      <vt:lpstr>Presentación de PowerPoint</vt:lpstr>
      <vt:lpstr>Presentación de PowerPoint</vt:lpstr>
      <vt:lpstr>Presentación de PowerPoint</vt:lpstr>
      <vt:lpstr>Presentación de PowerPoint</vt:lpstr>
      <vt:lpstr>Presentación de PowerPoint</vt:lpstr>
      <vt:lpstr>Presentación de PowerPoint</vt:lpstr>
      <vt:lpstr>Metodología ONUDI</vt:lpstr>
      <vt:lpstr>Fase de preinversión</vt:lpstr>
      <vt:lpstr>Presentación de PowerPoint</vt:lpstr>
      <vt:lpstr>Estudios de apoyo</vt:lpstr>
      <vt:lpstr>Evaluación financiera</vt:lpstr>
      <vt:lpstr>Análisis de factibilidad ONUDI</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Identificación de riesgos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¿Qué son los riesgos financieros?</vt:lpstr>
      <vt:lpstr>Presentación de PowerPoint</vt:lpstr>
      <vt:lpstr>Presentación de PowerPoint</vt:lpstr>
      <vt:lpstr>Presentación de PowerPoint</vt:lpstr>
      <vt:lpstr>Presentación de PowerPoint</vt:lpstr>
      <vt:lpstr>Riesgo en proyectos</vt:lpstr>
      <vt:lpstr>Presentación de PowerPoint</vt:lpstr>
      <vt:lpstr>Presentación de PowerPoint</vt:lpstr>
      <vt:lpstr>Presentación de PowerPoint</vt:lpstr>
      <vt:lpstr>Presentación de PowerPoint</vt:lpstr>
      <vt:lpstr>Presentación de PowerPoint</vt:lpstr>
      <vt:lpstr>Etapa 1. Identificación</vt:lpstr>
      <vt:lpstr>Técnicas de identificación de riesgos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Medición de riesgos</vt:lpstr>
      <vt:lpstr>Presentación de PowerPoint</vt:lpstr>
      <vt:lpstr>Tratamiento del riesgo cualitativo</vt:lpstr>
      <vt:lpstr>Presentación de PowerPoint</vt:lpstr>
      <vt:lpstr>Presentación de PowerPoint</vt:lpstr>
      <vt:lpstr>Presentación de PowerPoint</vt:lpstr>
      <vt:lpstr>Presentación de PowerPoint</vt:lpstr>
      <vt:lpstr>Presentación de PowerPoint</vt:lpstr>
      <vt:lpstr>Presentación de PowerPoint</vt:lpstr>
      <vt:lpstr>Tratamiento del riesgo cuantitativo</vt:lpstr>
      <vt:lpstr>Calibración del modelo y limitaciones</vt:lpstr>
      <vt:lpstr>Monitoreo</vt:lpstr>
      <vt:lpstr>Presentación de PowerPoint</vt:lpstr>
      <vt:lpstr>Revelación de la información</vt:lpstr>
      <vt:lpstr>Control del riesgo</vt:lpstr>
      <vt:lpstr>Presentación de PowerPoint</vt:lpstr>
      <vt:lpstr>¿Cuándo debemos enfrentarnos a los riesgos?</vt:lpstr>
      <vt:lpstr>Presentación de PowerPoint</vt:lpstr>
      <vt:lpstr>Conectividad de riesgos</vt:lpstr>
      <vt:lpstr>Presentación de PowerPoint</vt:lpstr>
      <vt:lpstr>¿Qué se hace con los riesgos?</vt:lpstr>
      <vt:lpstr>Presentación de PowerPoint</vt:lpstr>
      <vt:lpstr>Presentación de PowerPoint</vt:lpstr>
      <vt:lpstr>Presentación de PowerPoint</vt:lpstr>
      <vt:lpstr>Presentación de PowerPoint</vt:lpstr>
      <vt:lpstr>Identificación de riesgos en el proyecto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Identificación de riesgos</vt:lpstr>
      <vt:lpstr>Matriz de identificación de riesgos</vt:lpstr>
      <vt:lpstr>Matriz de impacto</vt:lpstr>
      <vt:lpstr>Clasificación de las medidas de riesgo financiero</vt:lpstr>
      <vt:lpstr>Análisis de riesgo en proyectos</vt:lpstr>
      <vt:lpstr>Presentación de PowerPoint</vt:lpstr>
      <vt:lpstr>Flujos de caja a partir de proyecciones probabilísticas</vt:lpstr>
      <vt:lpstr>Caracterización probabilística de variables</vt:lpstr>
      <vt:lpstr>Presentación de PowerPoint</vt:lpstr>
      <vt:lpstr>Presentación de PowerPoint</vt:lpstr>
      <vt:lpstr>Presentación de PowerPoint</vt:lpstr>
      <vt:lpstr>La herramienta @Risk</vt:lpstr>
      <vt:lpstr>Distribución de probabilidad</vt:lpstr>
      <vt:lpstr>Presentación de PowerPoint</vt:lpstr>
      <vt:lpstr>Presentación de PowerPoint</vt:lpstr>
      <vt:lpstr>Presentación de PowerPoint</vt:lpstr>
      <vt:lpstr>Presentación de PowerPoint</vt:lpstr>
      <vt:lpstr>Distribuciones de probabilidad</vt:lpstr>
      <vt:lpstr>Distribuciones más usadas en simulación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Claudia Patricia Giraldo Ramirez</dc:creator>
  <cp:lastModifiedBy>Elkin Arcesio Gomez Salazar</cp:lastModifiedBy>
  <cp:revision>325</cp:revision>
  <dcterms:created xsi:type="dcterms:W3CDTF">2015-01-20T20:40:07Z</dcterms:created>
  <dcterms:modified xsi:type="dcterms:W3CDTF">2026-09-07T23:19:40Z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0x010100715917811DA3BE429B694EB7A5BC53A2</vt:lpwstr>
  </property>
</Properties>
</file>