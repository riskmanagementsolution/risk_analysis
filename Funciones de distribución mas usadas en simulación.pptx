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691" r:id="rId3"/>
    <p:sldId id="698" r:id="rId4"/>
    <p:sldId id="693" r:id="rId5"/>
    <p:sldId id="570" r:id="rId6"/>
    <p:sldId id="695" r:id="rId7"/>
    <p:sldId id="696" r:id="rId8"/>
    <p:sldId id="692" r:id="rId9"/>
    <p:sldId id="701" r:id="rId10"/>
    <p:sldId id="699" r:id="rId11"/>
    <p:sldId id="702" r:id="rId12"/>
    <p:sldId id="700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17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kin Arcesio Gomez Salazar" userId="27a570b2-573c-4fa8-9c2f-75a87db469b0" providerId="ADAL" clId="{9B6D98E6-E535-41DA-A8D1-72271FE5EE45}"/>
    <pc:docChg chg="custSel modSld">
      <pc:chgData name="Elkin Arcesio Gomez Salazar" userId="27a570b2-573c-4fa8-9c2f-75a87db469b0" providerId="ADAL" clId="{9B6D98E6-E535-41DA-A8D1-72271FE5EE45}" dt="2023-11-20T23:26:00.521" v="6" actId="313"/>
      <pc:docMkLst>
        <pc:docMk/>
      </pc:docMkLst>
      <pc:sldChg chg="modSp mod">
        <pc:chgData name="Elkin Arcesio Gomez Salazar" userId="27a570b2-573c-4fa8-9c2f-75a87db469b0" providerId="ADAL" clId="{9B6D98E6-E535-41DA-A8D1-72271FE5EE45}" dt="2023-11-04T16:46:16.151" v="4" actId="33524"/>
        <pc:sldMkLst>
          <pc:docMk/>
          <pc:sldMk cId="2153878959" sldId="256"/>
        </pc:sldMkLst>
        <pc:spChg chg="mod">
          <ac:chgData name="Elkin Arcesio Gomez Salazar" userId="27a570b2-573c-4fa8-9c2f-75a87db469b0" providerId="ADAL" clId="{9B6D98E6-E535-41DA-A8D1-72271FE5EE45}" dt="2023-11-04T16:46:16.151" v="4" actId="33524"/>
          <ac:spMkLst>
            <pc:docMk/>
            <pc:sldMk cId="2153878959" sldId="256"/>
            <ac:spMk id="2" creationId="{75DB3A8F-3CDF-4B72-8221-8A44116E3642}"/>
          </ac:spMkLst>
        </pc:spChg>
      </pc:sldChg>
      <pc:sldChg chg="modSp mod">
        <pc:chgData name="Elkin Arcesio Gomez Salazar" userId="27a570b2-573c-4fa8-9c2f-75a87db469b0" providerId="ADAL" clId="{9B6D98E6-E535-41DA-A8D1-72271FE5EE45}" dt="2023-11-20T23:26:00.521" v="6" actId="313"/>
        <pc:sldMkLst>
          <pc:docMk/>
          <pc:sldMk cId="2326297790" sldId="693"/>
        </pc:sldMkLst>
        <pc:spChg chg="mod">
          <ac:chgData name="Elkin Arcesio Gomez Salazar" userId="27a570b2-573c-4fa8-9c2f-75a87db469b0" providerId="ADAL" clId="{9B6D98E6-E535-41DA-A8D1-72271FE5EE45}" dt="2023-11-20T23:26:00.521" v="6" actId="313"/>
          <ac:spMkLst>
            <pc:docMk/>
            <pc:sldMk cId="2326297790" sldId="693"/>
            <ac:spMk id="3" creationId="{7CE951CE-18F0-4CD6-9870-7FDF781A001A}"/>
          </ac:spMkLst>
        </pc:spChg>
        <pc:spChg chg="mod">
          <ac:chgData name="Elkin Arcesio Gomez Salazar" userId="27a570b2-573c-4fa8-9c2f-75a87db469b0" providerId="ADAL" clId="{9B6D98E6-E535-41DA-A8D1-72271FE5EE45}" dt="2023-11-01T02:12:18.205" v="2" actId="20577"/>
          <ac:spMkLst>
            <pc:docMk/>
            <pc:sldMk cId="2326297790" sldId="693"/>
            <ac:spMk id="4" creationId="{3DDA3E76-174C-49E5-AEB7-B4389767323F}"/>
          </ac:spMkLst>
        </pc:spChg>
        <pc:spChg chg="mod">
          <ac:chgData name="Elkin Arcesio Gomez Salazar" userId="27a570b2-573c-4fa8-9c2f-75a87db469b0" providerId="ADAL" clId="{9B6D98E6-E535-41DA-A8D1-72271FE5EE45}" dt="2023-11-20T23:25:57.594" v="5" actId="33524"/>
          <ac:spMkLst>
            <pc:docMk/>
            <pc:sldMk cId="2326297790" sldId="693"/>
            <ac:spMk id="6" creationId="{D00D1E8C-A15F-4BBA-B47C-58EDD74A765B}"/>
          </ac:spMkLst>
        </pc:spChg>
      </pc:sldChg>
      <pc:sldChg chg="modSp mod">
        <pc:chgData name="Elkin Arcesio Gomez Salazar" userId="27a570b2-573c-4fa8-9c2f-75a87db469b0" providerId="ADAL" clId="{9B6D98E6-E535-41DA-A8D1-72271FE5EE45}" dt="2023-11-04T15:44:24.858" v="3" actId="33524"/>
        <pc:sldMkLst>
          <pc:docMk/>
          <pc:sldMk cId="3267652298" sldId="698"/>
        </pc:sldMkLst>
        <pc:spChg chg="mod">
          <ac:chgData name="Elkin Arcesio Gomez Salazar" userId="27a570b2-573c-4fa8-9c2f-75a87db469b0" providerId="ADAL" clId="{9B6D98E6-E535-41DA-A8D1-72271FE5EE45}" dt="2023-11-04T15:44:24.858" v="3" actId="33524"/>
          <ac:spMkLst>
            <pc:docMk/>
            <pc:sldMk cId="3267652298" sldId="698"/>
            <ac:spMk id="2" creationId="{00000000-0000-0000-0000-000000000000}"/>
          </ac:spMkLst>
        </pc:spChg>
      </pc:sldChg>
      <pc:sldChg chg="modSp mod">
        <pc:chgData name="Elkin Arcesio Gomez Salazar" userId="27a570b2-573c-4fa8-9c2f-75a87db469b0" providerId="ADAL" clId="{9B6D98E6-E535-41DA-A8D1-72271FE5EE45}" dt="2023-11-01T01:26:21.021" v="0" actId="6549"/>
        <pc:sldMkLst>
          <pc:docMk/>
          <pc:sldMk cId="1011901194" sldId="702"/>
        </pc:sldMkLst>
        <pc:spChg chg="mod">
          <ac:chgData name="Elkin Arcesio Gomez Salazar" userId="27a570b2-573c-4fa8-9c2f-75a87db469b0" providerId="ADAL" clId="{9B6D98E6-E535-41DA-A8D1-72271FE5EE45}" dt="2023-11-01T01:26:21.021" v="0" actId="6549"/>
          <ac:spMkLst>
            <pc:docMk/>
            <pc:sldMk cId="1011901194" sldId="702"/>
            <ac:spMk id="16" creationId="{919E9FC1-B684-406A-BEC6-2A582F22FDD5}"/>
          </ac:spMkLst>
        </pc:spChg>
      </pc:sldChg>
    </pc:docChg>
  </pc:docChgLst>
  <pc:docChgLst>
    <pc:chgData name="Elkin Arcesio Gomez Salazar" userId="27a570b2-573c-4fa8-9c2f-75a87db469b0" providerId="ADAL" clId="{346C9D9C-ACF7-47A9-8D9B-57D72C0462A3}"/>
    <pc:docChg chg="custSel modSld">
      <pc:chgData name="Elkin Arcesio Gomez Salazar" userId="27a570b2-573c-4fa8-9c2f-75a87db469b0" providerId="ADAL" clId="{346C9D9C-ACF7-47A9-8D9B-57D72C0462A3}" dt="2022-09-24T14:15:36.990" v="8" actId="478"/>
      <pc:docMkLst>
        <pc:docMk/>
      </pc:docMkLst>
      <pc:sldChg chg="addSp delSp mod">
        <pc:chgData name="Elkin Arcesio Gomez Salazar" userId="27a570b2-573c-4fa8-9c2f-75a87db469b0" providerId="ADAL" clId="{346C9D9C-ACF7-47A9-8D9B-57D72C0462A3}" dt="2022-09-24T14:14:57.174" v="3" actId="478"/>
        <pc:sldMkLst>
          <pc:docMk/>
          <pc:sldMk cId="622083027" sldId="570"/>
        </pc:sldMkLst>
        <pc:inkChg chg="add del">
          <ac:chgData name="Elkin Arcesio Gomez Salazar" userId="27a570b2-573c-4fa8-9c2f-75a87db469b0" providerId="ADAL" clId="{346C9D9C-ACF7-47A9-8D9B-57D72C0462A3}" dt="2022-09-24T14:14:57.174" v="3" actId="478"/>
          <ac:inkMkLst>
            <pc:docMk/>
            <pc:sldMk cId="622083027" sldId="570"/>
            <ac:inkMk id="3" creationId="{F8D404D4-17FE-6F2D-29E2-E86A045836FE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4:27.200" v="1" actId="478"/>
        <pc:sldMkLst>
          <pc:docMk/>
          <pc:sldMk cId="3994277428" sldId="691"/>
        </pc:sldMkLst>
        <pc:inkChg chg="add del">
          <ac:chgData name="Elkin Arcesio Gomez Salazar" userId="27a570b2-573c-4fa8-9c2f-75a87db469b0" providerId="ADAL" clId="{346C9D9C-ACF7-47A9-8D9B-57D72C0462A3}" dt="2022-09-24T14:14:27.200" v="1" actId="478"/>
          <ac:inkMkLst>
            <pc:docMk/>
            <pc:sldMk cId="3994277428" sldId="691"/>
            <ac:inkMk id="7" creationId="{1F2804A5-99DE-87F0-03AA-9670D5401FFA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5:14.591" v="5" actId="478"/>
        <pc:sldMkLst>
          <pc:docMk/>
          <pc:sldMk cId="463145610" sldId="692"/>
        </pc:sldMkLst>
        <pc:inkChg chg="add del">
          <ac:chgData name="Elkin Arcesio Gomez Salazar" userId="27a570b2-573c-4fa8-9c2f-75a87db469b0" providerId="ADAL" clId="{346C9D9C-ACF7-47A9-8D9B-57D72C0462A3}" dt="2022-09-24T14:15:14.591" v="5" actId="478"/>
          <ac:inkMkLst>
            <pc:docMk/>
            <pc:sldMk cId="463145610" sldId="692"/>
            <ac:inkMk id="4" creationId="{A6F90192-0D9E-789B-62C3-58688188FD62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4:32.478" v="2" actId="478"/>
        <pc:sldMkLst>
          <pc:docMk/>
          <pc:sldMk cId="2326297790" sldId="693"/>
        </pc:sldMkLst>
        <pc:inkChg chg="add del">
          <ac:chgData name="Elkin Arcesio Gomez Salazar" userId="27a570b2-573c-4fa8-9c2f-75a87db469b0" providerId="ADAL" clId="{346C9D9C-ACF7-47A9-8D9B-57D72C0462A3}" dt="2022-09-24T14:14:32.478" v="2" actId="478"/>
          <ac:inkMkLst>
            <pc:docMk/>
            <pc:sldMk cId="2326297790" sldId="693"/>
            <ac:inkMk id="8" creationId="{B34EF381-DA5D-EC09-D3E3-81E04FC78554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5:04.084" v="4" actId="478"/>
        <pc:sldMkLst>
          <pc:docMk/>
          <pc:sldMk cId="3680472030" sldId="696"/>
        </pc:sldMkLst>
        <pc:inkChg chg="add del">
          <ac:chgData name="Elkin Arcesio Gomez Salazar" userId="27a570b2-573c-4fa8-9c2f-75a87db469b0" providerId="ADAL" clId="{346C9D9C-ACF7-47A9-8D9B-57D72C0462A3}" dt="2022-09-24T14:15:04.084" v="4" actId="478"/>
          <ac:inkMkLst>
            <pc:docMk/>
            <pc:sldMk cId="3680472030" sldId="696"/>
            <ac:inkMk id="3" creationId="{0A360635-88D0-1BE7-3984-BC314A8D1675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5:22.885" v="7" actId="478"/>
        <pc:sldMkLst>
          <pc:docMk/>
          <pc:sldMk cId="660628251" sldId="699"/>
        </pc:sldMkLst>
        <pc:inkChg chg="add del">
          <ac:chgData name="Elkin Arcesio Gomez Salazar" userId="27a570b2-573c-4fa8-9c2f-75a87db469b0" providerId="ADAL" clId="{346C9D9C-ACF7-47A9-8D9B-57D72C0462A3}" dt="2022-09-24T14:15:22.885" v="7" actId="478"/>
          <ac:inkMkLst>
            <pc:docMk/>
            <pc:sldMk cId="660628251" sldId="699"/>
            <ac:inkMk id="6" creationId="{CDDD4926-D543-3F67-6F17-ECE2BF88DA3C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5:18.235" v="6" actId="478"/>
        <pc:sldMkLst>
          <pc:docMk/>
          <pc:sldMk cId="2349281712" sldId="701"/>
        </pc:sldMkLst>
        <pc:inkChg chg="add del">
          <ac:chgData name="Elkin Arcesio Gomez Salazar" userId="27a570b2-573c-4fa8-9c2f-75a87db469b0" providerId="ADAL" clId="{346C9D9C-ACF7-47A9-8D9B-57D72C0462A3}" dt="2022-09-24T14:15:18.235" v="6" actId="478"/>
          <ac:inkMkLst>
            <pc:docMk/>
            <pc:sldMk cId="2349281712" sldId="701"/>
            <ac:inkMk id="3" creationId="{E4117E7A-6C7A-6686-2EC1-452F2DCF2EC2}"/>
          </ac:inkMkLst>
        </pc:inkChg>
      </pc:sldChg>
      <pc:sldChg chg="addSp delSp mod">
        <pc:chgData name="Elkin Arcesio Gomez Salazar" userId="27a570b2-573c-4fa8-9c2f-75a87db469b0" providerId="ADAL" clId="{346C9D9C-ACF7-47A9-8D9B-57D72C0462A3}" dt="2022-09-24T14:15:36.990" v="8" actId="478"/>
        <pc:sldMkLst>
          <pc:docMk/>
          <pc:sldMk cId="1011901194" sldId="702"/>
        </pc:sldMkLst>
        <pc:inkChg chg="add del">
          <ac:chgData name="Elkin Arcesio Gomez Salazar" userId="27a570b2-573c-4fa8-9c2f-75a87db469b0" providerId="ADAL" clId="{346C9D9C-ACF7-47A9-8D9B-57D72C0462A3}" dt="2022-09-24T14:15:36.990" v="8" actId="478"/>
          <ac:inkMkLst>
            <pc:docMk/>
            <pc:sldMk cId="1011901194" sldId="702"/>
            <ac:inkMk id="4" creationId="{080504CD-5195-4C75-3245-22E7D910E20B}"/>
          </ac:inkMkLst>
        </pc:ink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Libro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Ventas 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strRef>
              <c:f>Hoja1!$N$5</c:f>
              <c:strCache>
                <c:ptCount val="1"/>
                <c:pt idx="0">
                  <c:v>Probabilidad Relativa</c:v>
                </c:pt>
              </c:strCache>
            </c:strRef>
          </c:tx>
          <c:invertIfNegative val="0"/>
          <c:cat>
            <c:numRef>
              <c:f>Hoja1!$M$6:$M$14</c:f>
              <c:numCache>
                <c:formatCode>General</c:formatCode>
                <c:ptCount val="9"/>
                <c:pt idx="0">
                  <c:v>4000</c:v>
                </c:pt>
                <c:pt idx="1">
                  <c:v>4500</c:v>
                </c:pt>
                <c:pt idx="2">
                  <c:v>5200</c:v>
                </c:pt>
                <c:pt idx="3">
                  <c:v>6700</c:v>
                </c:pt>
                <c:pt idx="4">
                  <c:v>8000</c:v>
                </c:pt>
                <c:pt idx="5">
                  <c:v>9500</c:v>
                </c:pt>
                <c:pt idx="6">
                  <c:v>10000</c:v>
                </c:pt>
                <c:pt idx="7">
                  <c:v>13000</c:v>
                </c:pt>
                <c:pt idx="8">
                  <c:v>15000</c:v>
                </c:pt>
              </c:numCache>
            </c:numRef>
          </c:cat>
          <c:val>
            <c:numRef>
              <c:f>Hoja1!$N$6:$N$14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49-4D6E-9C37-A2B4E74637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664146815"/>
        <c:axId val="1597326399"/>
      </c:barChart>
      <c:lineChart>
        <c:grouping val="standard"/>
        <c:varyColors val="0"/>
        <c:ser>
          <c:idx val="0"/>
          <c:order val="1"/>
          <c:tx>
            <c:strRef>
              <c:f>Hoja1!$N$5</c:f>
              <c:strCache>
                <c:ptCount val="1"/>
                <c:pt idx="0">
                  <c:v>Probabilidad Relativa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Hoja1!$M$6:$M$14</c:f>
              <c:numCache>
                <c:formatCode>General</c:formatCode>
                <c:ptCount val="9"/>
                <c:pt idx="0">
                  <c:v>4000</c:v>
                </c:pt>
                <c:pt idx="1">
                  <c:v>4500</c:v>
                </c:pt>
                <c:pt idx="2">
                  <c:v>5200</c:v>
                </c:pt>
                <c:pt idx="3">
                  <c:v>6700</c:v>
                </c:pt>
                <c:pt idx="4">
                  <c:v>8000</c:v>
                </c:pt>
                <c:pt idx="5">
                  <c:v>9500</c:v>
                </c:pt>
                <c:pt idx="6">
                  <c:v>10000</c:v>
                </c:pt>
                <c:pt idx="7">
                  <c:v>13000</c:v>
                </c:pt>
                <c:pt idx="8">
                  <c:v>15000</c:v>
                </c:pt>
              </c:numCache>
            </c:numRef>
          </c:cat>
          <c:val>
            <c:numRef>
              <c:f>Hoja1!$N$6:$N$14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  <c:pt idx="6">
                  <c:v>5</c:v>
                </c:pt>
                <c:pt idx="7">
                  <c:v>3</c:v>
                </c:pt>
                <c:pt idx="8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549-4D6E-9C37-A2B4E746370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9987023"/>
        <c:axId val="1597363007"/>
      </c:lineChart>
      <c:catAx>
        <c:axId val="16641468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7326399"/>
        <c:crosses val="autoZero"/>
        <c:auto val="1"/>
        <c:lblAlgn val="ctr"/>
        <c:lblOffset val="100"/>
        <c:noMultiLvlLbl val="0"/>
      </c:catAx>
      <c:valAx>
        <c:axId val="1597326399"/>
        <c:scaling>
          <c:orientation val="minMax"/>
          <c:max val="11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664146815"/>
        <c:crosses val="autoZero"/>
        <c:crossBetween val="between"/>
        <c:majorUnit val="1"/>
      </c:valAx>
      <c:valAx>
        <c:axId val="1597363007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669987023"/>
        <c:crosses val="max"/>
        <c:crossBetween val="between"/>
      </c:valAx>
      <c:catAx>
        <c:axId val="16699870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97363007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</c:spPr>
    </c:plotArea>
    <c:plotVisOnly val="1"/>
    <c:dispBlanksAs val="gap"/>
    <c:showDLblsOverMax val="0"/>
    <c:extLst/>
  </c:chart>
  <c:txPr>
    <a:bodyPr/>
    <a:lstStyle/>
    <a:p>
      <a:pPr>
        <a:defRPr/>
      </a:pPr>
      <a:endParaRPr lang="es-CO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06BDB-3DEE-422A-A0FE-E853D32D5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3A721F-ED1B-4730-92FE-D56F9E22F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6819E2-1E48-4B09-B123-BB725E2B3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1194B9-6CFC-44C9-A2C5-E94EEAFD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506484-806B-48E7-B2C9-9946E92F4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068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AB137B-C4BB-490F-A9FE-A9EA44D09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9775CB-E367-4BB9-A207-232C9803B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D29178-D5D5-481F-9260-BB7A22D3B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A307BD-6DEE-40F3-BE4F-DF65F5CDD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2B4EBF-03B0-4B1A-81D8-8A1BE1E16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5071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1EC8C-B026-4866-8BE8-004062880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8FEA669-BEB1-499D-B440-25BF53DBB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3B5CA3-7B8D-4BB8-8457-3A97FB15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42D609C-A78F-40CE-8C22-62F8547E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42770B5-A1FA-4DA6-A98D-C92A8FA1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389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EE3A96-6F93-4DDC-BD6D-B5F5356A9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2F4765-BCCE-441F-BF9A-F7FA98A934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15205D-1ECC-4241-8188-AAB0E7971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57BC302-13A3-4AC9-9222-49DC15A01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289FAC-247F-4A11-864B-FC174698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FEED66C-B897-40F1-85B7-EAE02B19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71763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B7436-615D-4B0E-9954-B2C34B505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31564E-BCD6-48E4-9D52-31F1C8937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6B0AC9-B8FD-404E-9759-BE20CCD52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8F39A1-C6E4-4DA4-88F1-FB75964CF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154C21F-B7BC-4B3A-93D3-FF3021EB65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0BFD143-FFC7-4A30-A8DB-B318797A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22DB88E-452C-4254-A607-AC08F3D3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42B6B8-3704-486B-BE61-7B69C220C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010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BDF7C-7549-4D69-B1B5-FC7348F3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3358FEB-0375-473D-8F93-204D82B2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4F364F4-C78D-4394-8FA9-3796559B7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5E08A7E-61B3-432A-95BC-3132B95FC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3495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FF4F97-59E8-4DA1-9BBE-6D340332E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698097-BA68-4B6C-A593-4073F613F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5296492-79E8-4E51-A801-B696A7A1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37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91D6A-C2A5-4E4E-B5AD-1FCE2CB7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34A342-7EA1-44FA-A65F-52BB3C7B33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F41199-3610-40C3-8301-4AA9979FC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220EFC-ECC4-4F18-8F32-DDA2C793B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8EE33B1-062A-4882-A4FA-9FA88479F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85A9B2-BCF9-44EF-9E3E-9973F2239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1001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78B62B-D0C1-4E51-94A6-F35B85A9F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F624263-CF93-425B-9A33-C5AB1ABC7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6419E6B-B05F-41DE-B50D-3BE2D166D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C4EF7F-C57B-475D-B6B3-EE44A650A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946E72A-6D59-40F3-890C-371404FBE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993060-7B18-4C61-A8AF-3806DEA59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285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D0C8CC-4749-4796-ABFF-2C069590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F4ED068-63E6-40DC-BE45-4E9F10F88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DFAACA-73CF-4BC8-9823-8E6C7405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DD15D3-4506-4471-864D-86CA521D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17C20D-B5A7-4B76-BC69-7C7E35CF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3238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3ABD6F-76C0-4A13-AA5B-189D51D195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59958C6-C201-4640-8E98-932D1CA7D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14D9A5-5F13-408E-A1AA-E192A19C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1218F9-12E2-4EDE-987C-D4ABCB049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E9EF6-86D0-4922-9170-89C2EABEC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177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5311475-8AD0-4850-9430-4CCB09CD0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F8D889-D144-4A80-AEE1-6DBA4C807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E5CF1B-B524-43AB-A0A2-8A60FD2CB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63735-7C79-4C25-978B-7383024E59A5}" type="datetimeFigureOut">
              <a:rPr lang="es-ES" smtClean="0"/>
              <a:t>20/11/2023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E909FE-0236-4E3C-BBBD-E1F471B87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CE8C02-1268-42A6-8956-4559662C3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501E0-BC9D-47F5-A073-90BB6BAC2E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6708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DB3A8F-3CDF-4B72-8221-8A44116E36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Funciones de distribución más usadas en simulación</a:t>
            </a:r>
          </a:p>
        </p:txBody>
      </p:sp>
    </p:spTree>
    <p:extLst>
      <p:ext uri="{BB962C8B-B14F-4D97-AF65-F5344CB8AC3E}">
        <p14:creationId xmlns:p14="http://schemas.microsoft.com/office/powerpoint/2010/main" val="2153878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/>
          <p:cNvSpPr/>
          <p:nvPr/>
        </p:nvSpPr>
        <p:spPr>
          <a:xfrm>
            <a:off x="2913139" y="279761"/>
            <a:ext cx="6365722" cy="626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ts val="4500"/>
              </a:lnSpc>
              <a:defRPr/>
            </a:pPr>
            <a:r>
              <a:rPr lang="es-CO" sz="2400" b="1" dirty="0">
                <a:solidFill>
                  <a:srgbClr val="6F6F6F"/>
                </a:solidFill>
              </a:rPr>
              <a:t>Funciones de distribución según su Clasificación</a:t>
            </a:r>
            <a:r>
              <a:rPr lang="es-CO" sz="3000" b="1" dirty="0">
                <a:solidFill>
                  <a:srgbClr val="6F6F6F"/>
                </a:solidFill>
              </a:rPr>
              <a:t>.  </a:t>
            </a:r>
          </a:p>
        </p:txBody>
      </p:sp>
      <p:sp>
        <p:nvSpPr>
          <p:cNvPr id="2" name="1 Rectángulo"/>
          <p:cNvSpPr/>
          <p:nvPr/>
        </p:nvSpPr>
        <p:spPr>
          <a:xfrm>
            <a:off x="8785213" y="4507878"/>
            <a:ext cx="21406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Ejemplos: Binomial, Geométrica, Poisson, Discreta. </a:t>
            </a:r>
          </a:p>
        </p:txBody>
      </p:sp>
      <p:sp>
        <p:nvSpPr>
          <p:cNvPr id="3" name="2 Rectángulo"/>
          <p:cNvSpPr/>
          <p:nvPr/>
        </p:nvSpPr>
        <p:spPr>
          <a:xfrm>
            <a:off x="8699783" y="1426792"/>
            <a:ext cx="256829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Distribución de probabilidad discreta: Se usan para modelar variables cualitativas del flujo de caja </a:t>
            </a:r>
          </a:p>
        </p:txBody>
      </p:sp>
      <p:sp>
        <p:nvSpPr>
          <p:cNvPr id="4" name="3 Rectángulo"/>
          <p:cNvSpPr/>
          <p:nvPr/>
        </p:nvSpPr>
        <p:spPr>
          <a:xfrm>
            <a:off x="558099" y="1604805"/>
            <a:ext cx="298011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Distribución de probabilidad continua: Se usan para modelar variables cuantitativas del flujo de caja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9308" y="1612062"/>
            <a:ext cx="4278596" cy="3989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2" descr="Image result for variables discreta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b="13856"/>
          <a:stretch/>
        </p:blipFill>
        <p:spPr bwMode="auto">
          <a:xfrm>
            <a:off x="8872724" y="3305368"/>
            <a:ext cx="1594961" cy="1011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Image result for variables discret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128" y="2996452"/>
            <a:ext cx="1247580" cy="1355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4 Rectángulo"/>
          <p:cNvSpPr/>
          <p:nvPr/>
        </p:nvSpPr>
        <p:spPr>
          <a:xfrm>
            <a:off x="924311" y="4543631"/>
            <a:ext cx="29801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b="1" dirty="0"/>
              <a:t>Ejemplos: Normal, </a:t>
            </a:r>
            <a:r>
              <a:rPr lang="es-CO" b="1" dirty="0" err="1"/>
              <a:t>Lognormal</a:t>
            </a:r>
            <a:r>
              <a:rPr lang="es-CO" b="1" dirty="0"/>
              <a:t>, Uniforme, Triangular, Pert.</a:t>
            </a:r>
          </a:p>
        </p:txBody>
      </p:sp>
    </p:spTree>
    <p:extLst>
      <p:ext uri="{BB962C8B-B14F-4D97-AF65-F5344CB8AC3E}">
        <p14:creationId xmlns:p14="http://schemas.microsoft.com/office/powerpoint/2010/main" val="3994277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más usadas en simulación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76799D-0B88-4A4B-AB60-2CBF0E949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" y="1990143"/>
            <a:ext cx="4670274" cy="262929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0FE28AD-33DB-428B-AC39-47DC623BC1B3}"/>
              </a:ext>
            </a:extLst>
          </p:cNvPr>
          <p:cNvSpPr txBox="1"/>
          <p:nvPr/>
        </p:nvSpPr>
        <p:spPr>
          <a:xfrm>
            <a:off x="3724603" y="1210250"/>
            <a:ext cx="4581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Cono de Riesgo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5C0670-1273-4220-B57E-C8B86AEFB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268" y="2483123"/>
            <a:ext cx="5276307" cy="316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652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4459" y="397883"/>
            <a:ext cx="9293564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576819" y="2467422"/>
            <a:ext cx="2603022" cy="1570962"/>
            <a:chOff x="7464152" y="1227575"/>
            <a:chExt cx="2365382" cy="1353586"/>
          </a:xfrm>
        </p:grpSpPr>
        <p:pic>
          <p:nvPicPr>
            <p:cNvPr id="7" name="Imagen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64152" y="1474209"/>
              <a:ext cx="2365382" cy="1106952"/>
            </a:xfrm>
            <a:prstGeom prst="rect">
              <a:avLst/>
            </a:prstGeom>
          </p:spPr>
        </p:pic>
        <p:sp>
          <p:nvSpPr>
            <p:cNvPr id="10" name="CuadroTexto 9"/>
            <p:cNvSpPr txBox="1"/>
            <p:nvPr/>
          </p:nvSpPr>
          <p:spPr>
            <a:xfrm>
              <a:off x="8089186" y="1227575"/>
              <a:ext cx="1224136" cy="4508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solidFill>
                    <a:srgbClr val="0033CC"/>
                  </a:solidFill>
                </a:defRPr>
              </a:lvl1pPr>
            </a:lstStyle>
            <a:p>
              <a:r>
                <a:rPr lang="es-CO" sz="2800" dirty="0"/>
                <a:t>Normal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79F3E0-D254-40F8-A0ED-FCFA9FEC3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1954" y="1329831"/>
            <a:ext cx="4220198" cy="4617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CE951CE-18F0-4CD6-9870-7FDF781A001A}"/>
              </a:ext>
            </a:extLst>
          </p:cNvPr>
          <p:cNvSpPr txBox="1"/>
          <p:nvPr/>
        </p:nvSpPr>
        <p:spPr>
          <a:xfrm>
            <a:off x="8246207" y="1509942"/>
            <a:ext cx="3231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=RiskNormal(Media; Desviación)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DA3E76-174C-49E5-AEB7-B4389767323F}"/>
              </a:ext>
            </a:extLst>
          </p:cNvPr>
          <p:cNvSpPr txBox="1"/>
          <p:nvPr/>
        </p:nvSpPr>
        <p:spPr>
          <a:xfrm>
            <a:off x="8279934" y="4408530"/>
            <a:ext cx="31450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dirty="0"/>
              <a:t>Prueba para variables positivas:</a:t>
            </a:r>
          </a:p>
          <a:p>
            <a:r>
              <a:rPr lang="es-ES" dirty="0"/>
              <a:t>Media – 4 Desviaciones &gt;=0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00D1E8C-A15F-4BBA-B47C-58EDD74A765B}"/>
              </a:ext>
            </a:extLst>
          </p:cNvPr>
          <p:cNvSpPr txBox="1"/>
          <p:nvPr/>
        </p:nvSpPr>
        <p:spPr>
          <a:xfrm>
            <a:off x="8279934" y="2238705"/>
            <a:ext cx="32229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¿Que variables necesitarían truncamiento?</a:t>
            </a:r>
          </a:p>
          <a:p>
            <a:r>
              <a:rPr lang="es-ES" dirty="0"/>
              <a:t>VPN</a:t>
            </a:r>
          </a:p>
          <a:p>
            <a:r>
              <a:rPr lang="es-ES" dirty="0"/>
              <a:t>TIR</a:t>
            </a:r>
          </a:p>
          <a:p>
            <a:r>
              <a:rPr lang="es-ES" dirty="0"/>
              <a:t>Precios de Venta</a:t>
            </a:r>
          </a:p>
          <a:p>
            <a:r>
              <a:rPr lang="es-ES" dirty="0"/>
              <a:t>Cantidades Vendidas</a:t>
            </a:r>
          </a:p>
          <a:p>
            <a:r>
              <a:rPr lang="es-ES" dirty="0"/>
              <a:t>Costos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0D7E330-958C-4CB7-8DB1-AB8370342699}"/>
              </a:ext>
            </a:extLst>
          </p:cNvPr>
          <p:cNvSpPr txBox="1"/>
          <p:nvPr/>
        </p:nvSpPr>
        <p:spPr>
          <a:xfrm>
            <a:off x="354567" y="4270030"/>
            <a:ext cx="3013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Muy Buen </a:t>
            </a:r>
            <a:r>
              <a:rPr lang="es-ES" dirty="0"/>
              <a:t>conocimiento del comportamiento de la variable</a:t>
            </a:r>
          </a:p>
        </p:txBody>
      </p:sp>
    </p:spTree>
    <p:extLst>
      <p:ext uri="{BB962C8B-B14F-4D97-AF65-F5344CB8AC3E}">
        <p14:creationId xmlns:p14="http://schemas.microsoft.com/office/powerpoint/2010/main" val="2326297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21" name="Grupo 20"/>
          <p:cNvGrpSpPr/>
          <p:nvPr/>
        </p:nvGrpSpPr>
        <p:grpSpPr>
          <a:xfrm>
            <a:off x="473654" y="2497954"/>
            <a:ext cx="1150000" cy="1332917"/>
            <a:chOff x="5483932" y="2581591"/>
            <a:chExt cx="1533333" cy="1777222"/>
          </a:xfrm>
        </p:grpSpPr>
        <p:pic>
          <p:nvPicPr>
            <p:cNvPr id="13" name="Imagen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3932" y="3254051"/>
              <a:ext cx="1533333" cy="1104762"/>
            </a:xfrm>
            <a:prstGeom prst="rect">
              <a:avLst/>
            </a:prstGeom>
          </p:spPr>
        </p:pic>
        <p:sp>
          <p:nvSpPr>
            <p:cNvPr id="14" name="CuadroTexto 13"/>
            <p:cNvSpPr txBox="1"/>
            <p:nvPr/>
          </p:nvSpPr>
          <p:spPr>
            <a:xfrm>
              <a:off x="5662741" y="2581591"/>
              <a:ext cx="1224136" cy="6976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solidFill>
                    <a:srgbClr val="0033CC"/>
                  </a:solidFill>
                </a:defRPr>
              </a:lvl1pPr>
            </a:lstStyle>
            <a:p>
              <a:r>
                <a:rPr lang="es-CO" sz="2800" dirty="0"/>
                <a:t>Pert</a:t>
              </a:r>
            </a:p>
          </p:txBody>
        </p:sp>
      </p:grpSp>
      <p:pic>
        <p:nvPicPr>
          <p:cNvPr id="28" name="Imagen 27">
            <a:extLst>
              <a:ext uri="{FF2B5EF4-FFF2-40B4-BE49-F238E27FC236}">
                <a16:creationId xmlns:a16="http://schemas.microsoft.com/office/drawing/2014/main" id="{648E5906-B90F-48E6-93AC-F37669FFCD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655" y="1628689"/>
            <a:ext cx="4729520" cy="2784971"/>
          </a:xfrm>
          <a:prstGeom prst="rect">
            <a:avLst/>
          </a:prstGeom>
        </p:spPr>
      </p:pic>
      <p:sp>
        <p:nvSpPr>
          <p:cNvPr id="31" name="CuadroTexto 30">
            <a:extLst>
              <a:ext uri="{FF2B5EF4-FFF2-40B4-BE49-F238E27FC236}">
                <a16:creationId xmlns:a16="http://schemas.microsoft.com/office/drawing/2014/main" id="{7D512A6D-3A62-4F03-9726-82BACE724315}"/>
              </a:ext>
            </a:extLst>
          </p:cNvPr>
          <p:cNvSpPr txBox="1"/>
          <p:nvPr/>
        </p:nvSpPr>
        <p:spPr>
          <a:xfrm>
            <a:off x="4091797" y="2229883"/>
            <a:ext cx="2655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RiskPert</a:t>
            </a:r>
            <a:r>
              <a:rPr lang="es-ES" dirty="0"/>
              <a:t>(</a:t>
            </a:r>
            <a:r>
              <a:rPr lang="es-ES" dirty="0" err="1"/>
              <a:t>Opt;Medio;Pes</a:t>
            </a:r>
            <a:r>
              <a:rPr lang="es-ES" dirty="0"/>
              <a:t>)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E1982042-DE49-4746-9F03-EAFF5387BF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073" y="3807034"/>
            <a:ext cx="4339178" cy="2342336"/>
          </a:xfrm>
          <a:prstGeom prst="rect">
            <a:avLst/>
          </a:prstGeom>
        </p:spPr>
      </p:pic>
      <p:sp>
        <p:nvSpPr>
          <p:cNvPr id="34" name="CuadroTexto 33">
            <a:extLst>
              <a:ext uri="{FF2B5EF4-FFF2-40B4-BE49-F238E27FC236}">
                <a16:creationId xmlns:a16="http://schemas.microsoft.com/office/drawing/2014/main" id="{F13CF8BA-A137-49D2-9874-27E082A3E97F}"/>
              </a:ext>
            </a:extLst>
          </p:cNvPr>
          <p:cNvSpPr txBox="1"/>
          <p:nvPr/>
        </p:nvSpPr>
        <p:spPr>
          <a:xfrm>
            <a:off x="9029466" y="4228994"/>
            <a:ext cx="2655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RiskPert</a:t>
            </a:r>
            <a:r>
              <a:rPr lang="es-ES" dirty="0"/>
              <a:t>(</a:t>
            </a:r>
            <a:r>
              <a:rPr lang="es-ES" dirty="0" err="1"/>
              <a:t>Pes;Medio</a:t>
            </a:r>
            <a:r>
              <a:rPr lang="es-ES" dirty="0"/>
              <a:t>; </a:t>
            </a:r>
            <a:r>
              <a:rPr lang="es-ES" dirty="0" err="1"/>
              <a:t>Opt</a:t>
            </a:r>
            <a:r>
              <a:rPr lang="es-ES" dirty="0"/>
              <a:t>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62C66D94-6BC1-4D70-A166-C6AC9DBFD91D}"/>
              </a:ext>
            </a:extLst>
          </p:cNvPr>
          <p:cNvSpPr txBox="1"/>
          <p:nvPr/>
        </p:nvSpPr>
        <p:spPr>
          <a:xfrm>
            <a:off x="7604306" y="2249703"/>
            <a:ext cx="3222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¿Cuál función corresponde un VPN y cual costos?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04F6B48-0C3A-498F-984E-F436CAA7A351}"/>
              </a:ext>
            </a:extLst>
          </p:cNvPr>
          <p:cNvSpPr txBox="1"/>
          <p:nvPr/>
        </p:nvSpPr>
        <p:spPr>
          <a:xfrm>
            <a:off x="1948171" y="4859217"/>
            <a:ext cx="3013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Buen </a:t>
            </a:r>
            <a:r>
              <a:rPr lang="es-ES" dirty="0"/>
              <a:t>conocimiento del comportamiento de la variable</a:t>
            </a:r>
          </a:p>
        </p:txBody>
      </p:sp>
    </p:spTree>
    <p:extLst>
      <p:ext uri="{BB962C8B-B14F-4D97-AF65-F5344CB8AC3E}">
        <p14:creationId xmlns:p14="http://schemas.microsoft.com/office/powerpoint/2010/main" val="62208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57BF7894-DE09-4B9C-9F38-677304095CE1}"/>
              </a:ext>
            </a:extLst>
          </p:cNvPr>
          <p:cNvSpPr/>
          <p:nvPr/>
        </p:nvSpPr>
        <p:spPr>
          <a:xfrm>
            <a:off x="3419476" y="3851594"/>
            <a:ext cx="6457950" cy="258191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529538" y="2530740"/>
            <a:ext cx="2183160" cy="1320853"/>
            <a:chOff x="2066174" y="2586033"/>
            <a:chExt cx="2910880" cy="1761138"/>
          </a:xfrm>
        </p:grpSpPr>
        <p:pic>
          <p:nvPicPr>
            <p:cNvPr id="11" name="Imagen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66174" y="3327388"/>
              <a:ext cx="2890664" cy="1019783"/>
            </a:xfrm>
            <a:prstGeom prst="rect">
              <a:avLst/>
            </a:prstGeom>
          </p:spPr>
        </p:pic>
        <p:sp>
          <p:nvSpPr>
            <p:cNvPr id="12" name="CuadroTexto 11"/>
            <p:cNvSpPr txBox="1"/>
            <p:nvPr/>
          </p:nvSpPr>
          <p:spPr>
            <a:xfrm>
              <a:off x="2627822" y="2586033"/>
              <a:ext cx="2349232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solidFill>
                    <a:srgbClr val="0033CC"/>
                  </a:solidFill>
                </a:defRPr>
              </a:lvl1pPr>
            </a:lstStyle>
            <a:p>
              <a:r>
                <a:rPr lang="es-CO" sz="2800" dirty="0"/>
                <a:t>Triangular</a:t>
              </a: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D229AB79-F7F6-4834-B478-138E1BC44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0855" y="1326050"/>
            <a:ext cx="2628900" cy="19240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E58DD56-65AE-470C-AE16-FD1FF06B9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397" y="1421299"/>
            <a:ext cx="2171700" cy="185737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AFE1695-AC60-4106-B908-67FC06EDEB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39" y="1478449"/>
            <a:ext cx="2295525" cy="1800225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7A569EE3-F386-4C64-A720-2F11BB6C2ACC}"/>
              </a:ext>
            </a:extLst>
          </p:cNvPr>
          <p:cNvSpPr txBox="1"/>
          <p:nvPr/>
        </p:nvSpPr>
        <p:spPr>
          <a:xfrm>
            <a:off x="5144142" y="3324319"/>
            <a:ext cx="2990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=RiskTriang(</a:t>
            </a:r>
            <a:r>
              <a:rPr lang="es-ES" dirty="0" err="1"/>
              <a:t>Min;Medio;Max</a:t>
            </a:r>
            <a:r>
              <a:rPr lang="es-ES" dirty="0"/>
              <a:t>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D27B7EC-36BD-449A-BCBA-FE62AA323F9A}"/>
              </a:ext>
            </a:extLst>
          </p:cNvPr>
          <p:cNvSpPr txBox="1"/>
          <p:nvPr/>
        </p:nvSpPr>
        <p:spPr>
          <a:xfrm>
            <a:off x="4710923" y="3925813"/>
            <a:ext cx="3856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Diferencias entre PERT y TRIANGULAR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1FD0606-5131-4E26-AE1A-64DF6F6FFF66}"/>
              </a:ext>
            </a:extLst>
          </p:cNvPr>
          <p:cNvSpPr txBox="1"/>
          <p:nvPr/>
        </p:nvSpPr>
        <p:spPr>
          <a:xfrm>
            <a:off x="7276641" y="4442932"/>
            <a:ext cx="1526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TRIANGULAR</a:t>
            </a:r>
          </a:p>
          <a:p>
            <a:r>
              <a:rPr lang="es-ES" dirty="0"/>
              <a:t>Mínimo</a:t>
            </a:r>
          </a:p>
          <a:p>
            <a:r>
              <a:rPr lang="es-ES" dirty="0"/>
              <a:t>Medio </a:t>
            </a:r>
          </a:p>
          <a:p>
            <a:r>
              <a:rPr lang="es-ES" dirty="0"/>
              <a:t>Máximo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6C6A6C1-605B-42ED-96BD-FEA0FECD8F98}"/>
              </a:ext>
            </a:extLst>
          </p:cNvPr>
          <p:cNvSpPr txBox="1"/>
          <p:nvPr/>
        </p:nvSpPr>
        <p:spPr>
          <a:xfrm>
            <a:off x="4716451" y="4442932"/>
            <a:ext cx="1297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PERT</a:t>
            </a:r>
          </a:p>
          <a:p>
            <a:r>
              <a:rPr lang="es-ES" dirty="0"/>
              <a:t>Optimista</a:t>
            </a:r>
          </a:p>
          <a:p>
            <a:r>
              <a:rPr lang="es-ES" dirty="0"/>
              <a:t>Medio </a:t>
            </a:r>
          </a:p>
          <a:p>
            <a:r>
              <a:rPr lang="es-ES" dirty="0"/>
              <a:t>Pesimista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66663779-8A11-4FE6-9F69-126C51BF9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373" y="4743020"/>
            <a:ext cx="671741" cy="79906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50F18B47-45CC-415C-9669-5545DF90AF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4649" y="5655193"/>
            <a:ext cx="782428" cy="560987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CFF2B7F-3BA0-4E5F-BCC0-B625129CE63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900" y="5791048"/>
            <a:ext cx="380782" cy="273014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A48B3DC-E1D0-4610-871C-3BD608F474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0800000">
            <a:off x="6465261" y="5736854"/>
            <a:ext cx="347964" cy="305854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5951DE86-CC4C-42EA-BE44-89481CF7BFC5}"/>
              </a:ext>
            </a:extLst>
          </p:cNvPr>
          <p:cNvSpPr txBox="1"/>
          <p:nvPr/>
        </p:nvSpPr>
        <p:spPr>
          <a:xfrm>
            <a:off x="257894" y="4774518"/>
            <a:ext cx="3013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Poco </a:t>
            </a:r>
            <a:r>
              <a:rPr lang="es-ES" dirty="0"/>
              <a:t>conocimiento del comportamiento de la variable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FBB47E4-DC23-48E6-B718-D1C8623C56EA}"/>
              </a:ext>
            </a:extLst>
          </p:cNvPr>
          <p:cNvSpPr txBox="1"/>
          <p:nvPr/>
        </p:nvSpPr>
        <p:spPr>
          <a:xfrm>
            <a:off x="271490" y="4209046"/>
            <a:ext cx="3129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Función de distribución Natural</a:t>
            </a:r>
          </a:p>
        </p:txBody>
      </p:sp>
    </p:spTree>
    <p:extLst>
      <p:ext uri="{BB962C8B-B14F-4D97-AF65-F5344CB8AC3E}">
        <p14:creationId xmlns:p14="http://schemas.microsoft.com/office/powerpoint/2010/main" val="2796905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22" name="Grupo 21"/>
          <p:cNvGrpSpPr/>
          <p:nvPr/>
        </p:nvGrpSpPr>
        <p:grpSpPr>
          <a:xfrm>
            <a:off x="2169627" y="2774118"/>
            <a:ext cx="2049948" cy="1588332"/>
            <a:chOff x="7184044" y="2562191"/>
            <a:chExt cx="2517364" cy="1841876"/>
          </a:xfrm>
        </p:grpSpPr>
        <p:pic>
          <p:nvPicPr>
            <p:cNvPr id="15" name="Imagen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84044" y="3345542"/>
              <a:ext cx="2132172" cy="1058525"/>
            </a:xfrm>
            <a:prstGeom prst="rect">
              <a:avLst/>
            </a:prstGeom>
          </p:spPr>
        </p:pic>
        <p:sp>
          <p:nvSpPr>
            <p:cNvPr id="16" name="CuadroTexto 15"/>
            <p:cNvSpPr txBox="1"/>
            <p:nvPr/>
          </p:nvSpPr>
          <p:spPr>
            <a:xfrm>
              <a:off x="7422163" y="2562191"/>
              <a:ext cx="2279245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solidFill>
                    <a:srgbClr val="0033CC"/>
                  </a:solidFill>
                </a:defRPr>
              </a:lvl1pPr>
            </a:lstStyle>
            <a:p>
              <a:r>
                <a:rPr lang="es-CO" sz="2800" dirty="0"/>
                <a:t>Uniforme</a:t>
              </a:r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E3017764-FC00-4765-89DB-F800B6C58247}"/>
              </a:ext>
            </a:extLst>
          </p:cNvPr>
          <p:cNvGrpSpPr/>
          <p:nvPr/>
        </p:nvGrpSpPr>
        <p:grpSpPr>
          <a:xfrm>
            <a:off x="5191125" y="2229529"/>
            <a:ext cx="4029075" cy="2578453"/>
            <a:chOff x="3686175" y="2172379"/>
            <a:chExt cx="4029075" cy="2578453"/>
          </a:xfrm>
        </p:grpSpPr>
        <p:cxnSp>
          <p:nvCxnSpPr>
            <p:cNvPr id="4" name="Conector recto de flecha 3">
              <a:extLst>
                <a:ext uri="{FF2B5EF4-FFF2-40B4-BE49-F238E27FC236}">
                  <a16:creationId xmlns:a16="http://schemas.microsoft.com/office/drawing/2014/main" id="{6436BDC5-8C5E-4BEB-85F7-6887B21AEF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175" y="2172379"/>
              <a:ext cx="0" cy="21329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ector recto de flecha 18">
              <a:extLst>
                <a:ext uri="{FF2B5EF4-FFF2-40B4-BE49-F238E27FC236}">
                  <a16:creationId xmlns:a16="http://schemas.microsoft.com/office/drawing/2014/main" id="{FFD869F2-A6B9-4844-9E72-66E85F1D31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6175" y="4305300"/>
              <a:ext cx="402907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CEBBE01-7A56-4FC8-A8DF-079E84CF6CC7}"/>
                </a:ext>
              </a:extLst>
            </p:cNvPr>
            <p:cNvCxnSpPr/>
            <p:nvPr/>
          </p:nvCxnSpPr>
          <p:spPr>
            <a:xfrm flipV="1">
              <a:off x="4505325" y="3238839"/>
              <a:ext cx="0" cy="10664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C06F9F62-C718-4D9F-97A1-78AF8E3F20DC}"/>
                </a:ext>
              </a:extLst>
            </p:cNvPr>
            <p:cNvCxnSpPr/>
            <p:nvPr/>
          </p:nvCxnSpPr>
          <p:spPr>
            <a:xfrm>
              <a:off x="4505325" y="3238839"/>
              <a:ext cx="2419350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6F5613E0-8B1D-41B3-AB0C-9DEBBAA18E4C}"/>
                </a:ext>
              </a:extLst>
            </p:cNvPr>
            <p:cNvCxnSpPr/>
            <p:nvPr/>
          </p:nvCxnSpPr>
          <p:spPr>
            <a:xfrm flipV="1">
              <a:off x="6924675" y="3238838"/>
              <a:ext cx="0" cy="106646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97FDD819-B914-4EAB-9E1E-564BFF840D52}"/>
                </a:ext>
              </a:extLst>
            </p:cNvPr>
            <p:cNvSpPr txBox="1"/>
            <p:nvPr/>
          </p:nvSpPr>
          <p:spPr>
            <a:xfrm>
              <a:off x="4227043" y="4381500"/>
              <a:ext cx="5565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Min</a:t>
              </a: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FB5FC3BE-5524-4556-A002-276857D53C83}"/>
                </a:ext>
              </a:extLst>
            </p:cNvPr>
            <p:cNvSpPr txBox="1"/>
            <p:nvPr/>
          </p:nvSpPr>
          <p:spPr>
            <a:xfrm>
              <a:off x="6629818" y="4381500"/>
              <a:ext cx="5897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Max</a:t>
              </a:r>
            </a:p>
          </p:txBody>
        </p:sp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D4B1699C-8783-4304-B8AD-9B2CB8DBA294}"/>
              </a:ext>
            </a:extLst>
          </p:cNvPr>
          <p:cNvSpPr txBox="1"/>
          <p:nvPr/>
        </p:nvSpPr>
        <p:spPr>
          <a:xfrm>
            <a:off x="6010274" y="2393426"/>
            <a:ext cx="2490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RiskUniform</a:t>
            </a:r>
            <a:r>
              <a:rPr lang="es-ES" dirty="0"/>
              <a:t>(</a:t>
            </a:r>
            <a:r>
              <a:rPr lang="es-ES" dirty="0" err="1"/>
              <a:t>Min;Max</a:t>
            </a:r>
            <a:r>
              <a:rPr lang="es-ES" dirty="0"/>
              <a:t>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A7CAD6-838E-46A2-BF6D-A049685F5E63}"/>
              </a:ext>
            </a:extLst>
          </p:cNvPr>
          <p:cNvSpPr txBox="1"/>
          <p:nvPr/>
        </p:nvSpPr>
        <p:spPr>
          <a:xfrm>
            <a:off x="1994415" y="4895698"/>
            <a:ext cx="3013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FF0000"/>
                </a:solidFill>
              </a:rPr>
              <a:t>Escaso o nulo </a:t>
            </a:r>
            <a:r>
              <a:rPr lang="es-ES" dirty="0"/>
              <a:t>conocimiento del comportamiento de la variable</a:t>
            </a:r>
          </a:p>
        </p:txBody>
      </p:sp>
    </p:spTree>
    <p:extLst>
      <p:ext uri="{BB962C8B-B14F-4D97-AF65-F5344CB8AC3E}">
        <p14:creationId xmlns:p14="http://schemas.microsoft.com/office/powerpoint/2010/main" val="368047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222699" y="1926048"/>
            <a:ext cx="2232712" cy="1529664"/>
            <a:chOff x="2135560" y="1002705"/>
            <a:chExt cx="2520280" cy="1515036"/>
          </a:xfrm>
        </p:grpSpPr>
        <p:pic>
          <p:nvPicPr>
            <p:cNvPr id="6" name="Imagen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35560" y="1537632"/>
              <a:ext cx="2520280" cy="980109"/>
            </a:xfrm>
            <a:prstGeom prst="rect">
              <a:avLst/>
            </a:prstGeom>
          </p:spPr>
        </p:pic>
        <p:sp>
          <p:nvSpPr>
            <p:cNvPr id="8" name="CuadroTexto 7"/>
            <p:cNvSpPr txBox="1"/>
            <p:nvPr/>
          </p:nvSpPr>
          <p:spPr>
            <a:xfrm>
              <a:off x="2538262" y="1002705"/>
              <a:ext cx="1714876" cy="5182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2800" b="1" dirty="0">
                  <a:solidFill>
                    <a:srgbClr val="0033CC"/>
                  </a:solidFill>
                </a:rPr>
                <a:t>Binomial</a:t>
              </a: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9AB38BB0-049D-43E9-88BA-F5F33B72974F}"/>
              </a:ext>
            </a:extLst>
          </p:cNvPr>
          <p:cNvSpPr txBox="1"/>
          <p:nvPr/>
        </p:nvSpPr>
        <p:spPr>
          <a:xfrm>
            <a:off x="1121786" y="3759707"/>
            <a:ext cx="2714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usa para modelar éxito o fracaso de un evento o problemas el tipo si / no</a:t>
            </a:r>
          </a:p>
        </p:txBody>
      </p: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8AA8720F-4AA3-4CCD-828D-41D20FC1A842}"/>
              </a:ext>
            </a:extLst>
          </p:cNvPr>
          <p:cNvCxnSpPr>
            <a:cxnSpLocks/>
          </p:cNvCxnSpPr>
          <p:nvPr/>
        </p:nvCxnSpPr>
        <p:spPr>
          <a:xfrm flipV="1">
            <a:off x="4583691" y="2176009"/>
            <a:ext cx="0" cy="21329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FC80135F-AA4A-4737-9C27-26DC915BDF3A}"/>
              </a:ext>
            </a:extLst>
          </p:cNvPr>
          <p:cNvCxnSpPr>
            <a:cxnSpLocks/>
          </p:cNvCxnSpPr>
          <p:nvPr/>
        </p:nvCxnSpPr>
        <p:spPr>
          <a:xfrm flipV="1">
            <a:off x="4583691" y="4302462"/>
            <a:ext cx="2705100" cy="6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1CA605EB-D858-4F78-B1FF-B933679D3505}"/>
              </a:ext>
            </a:extLst>
          </p:cNvPr>
          <p:cNvCxnSpPr>
            <a:cxnSpLocks/>
          </p:cNvCxnSpPr>
          <p:nvPr/>
        </p:nvCxnSpPr>
        <p:spPr>
          <a:xfrm flipV="1">
            <a:off x="5402841" y="2475664"/>
            <a:ext cx="0" cy="183326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Conector recto 34">
            <a:extLst>
              <a:ext uri="{FF2B5EF4-FFF2-40B4-BE49-F238E27FC236}">
                <a16:creationId xmlns:a16="http://schemas.microsoft.com/office/drawing/2014/main" id="{65353194-2684-4039-A917-F5F4986A697D}"/>
              </a:ext>
            </a:extLst>
          </p:cNvPr>
          <p:cNvCxnSpPr/>
          <p:nvPr/>
        </p:nvCxnSpPr>
        <p:spPr>
          <a:xfrm flipV="1">
            <a:off x="6336291" y="3236001"/>
            <a:ext cx="0" cy="106646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5C5F382C-28F4-4967-AF77-3ECA378D90D8}"/>
              </a:ext>
            </a:extLst>
          </p:cNvPr>
          <p:cNvSpPr txBox="1"/>
          <p:nvPr/>
        </p:nvSpPr>
        <p:spPr>
          <a:xfrm>
            <a:off x="5124559" y="4385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84F2CAA-A39F-48A8-88CC-C6CDC7BD03A2}"/>
              </a:ext>
            </a:extLst>
          </p:cNvPr>
          <p:cNvSpPr txBox="1"/>
          <p:nvPr/>
        </p:nvSpPr>
        <p:spPr>
          <a:xfrm>
            <a:off x="6185448" y="438513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</a:t>
            </a:r>
          </a:p>
        </p:txBody>
      </p: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6FEA2AAC-E07F-45A6-AEC6-377E3EF6640E}"/>
              </a:ext>
            </a:extLst>
          </p:cNvPr>
          <p:cNvCxnSpPr>
            <a:cxnSpLocks/>
          </p:cNvCxnSpPr>
          <p:nvPr/>
        </p:nvCxnSpPr>
        <p:spPr>
          <a:xfrm>
            <a:off x="4583691" y="2475664"/>
            <a:ext cx="819150" cy="781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DF7FDA3-4FA5-4BDD-87A2-CE64BF04674D}"/>
              </a:ext>
            </a:extLst>
          </p:cNvPr>
          <p:cNvCxnSpPr>
            <a:cxnSpLocks/>
          </p:cNvCxnSpPr>
          <p:nvPr/>
        </p:nvCxnSpPr>
        <p:spPr>
          <a:xfrm>
            <a:off x="4583691" y="3250280"/>
            <a:ext cx="1752600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7F2B6A07-625C-449C-98F4-8B1A41FCA479}"/>
              </a:ext>
            </a:extLst>
          </p:cNvPr>
          <p:cNvSpPr txBox="1"/>
          <p:nvPr/>
        </p:nvSpPr>
        <p:spPr>
          <a:xfrm>
            <a:off x="4009565" y="2289515"/>
            <a:ext cx="57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70%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6615CCEB-E4A7-498A-B20A-8F55211C67E5}"/>
              </a:ext>
            </a:extLst>
          </p:cNvPr>
          <p:cNvSpPr txBox="1"/>
          <p:nvPr/>
        </p:nvSpPr>
        <p:spPr>
          <a:xfrm>
            <a:off x="4035513" y="3032965"/>
            <a:ext cx="57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30%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58EFA4B3-E71D-4595-87EC-0BF997DBCEB0}"/>
              </a:ext>
            </a:extLst>
          </p:cNvPr>
          <p:cNvSpPr txBox="1"/>
          <p:nvPr/>
        </p:nvSpPr>
        <p:spPr>
          <a:xfrm>
            <a:off x="6627235" y="2663633"/>
            <a:ext cx="4438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=RiskBinomial(1;Probabilidad de ocurrencia)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8F5E7EB5-D8F9-48E7-8E1D-1D147977B616}"/>
              </a:ext>
            </a:extLst>
          </p:cNvPr>
          <p:cNvSpPr txBox="1"/>
          <p:nvPr/>
        </p:nvSpPr>
        <p:spPr>
          <a:xfrm>
            <a:off x="6983899" y="4385130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674FE713-63FF-4B85-8767-C7C029198681}"/>
              </a:ext>
            </a:extLst>
          </p:cNvPr>
          <p:cNvSpPr txBox="1"/>
          <p:nvPr/>
        </p:nvSpPr>
        <p:spPr>
          <a:xfrm>
            <a:off x="3689792" y="1716598"/>
            <a:ext cx="2246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Probabilidad Absoluta</a:t>
            </a:r>
          </a:p>
        </p:txBody>
      </p:sp>
    </p:spTree>
    <p:extLst>
      <p:ext uri="{BB962C8B-B14F-4D97-AF65-F5344CB8AC3E}">
        <p14:creationId xmlns:p14="http://schemas.microsoft.com/office/powerpoint/2010/main" val="46314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27" name="Grupo 26"/>
          <p:cNvGrpSpPr/>
          <p:nvPr/>
        </p:nvGrpSpPr>
        <p:grpSpPr>
          <a:xfrm>
            <a:off x="775606" y="2176009"/>
            <a:ext cx="1394549" cy="1216288"/>
            <a:chOff x="8985051" y="1930141"/>
            <a:chExt cx="1859399" cy="1621718"/>
          </a:xfrm>
        </p:grpSpPr>
        <p:pic>
          <p:nvPicPr>
            <p:cNvPr id="25" name="Imagen 24" descr="Recorte de pantalla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5051" y="2926508"/>
              <a:ext cx="1634143" cy="625351"/>
            </a:xfrm>
            <a:prstGeom prst="rect">
              <a:avLst/>
            </a:prstGeom>
          </p:spPr>
        </p:pic>
        <p:sp>
          <p:nvSpPr>
            <p:cNvPr id="26" name="Rectángulo 25"/>
            <p:cNvSpPr/>
            <p:nvPr/>
          </p:nvSpPr>
          <p:spPr>
            <a:xfrm>
              <a:off x="8985051" y="1930141"/>
              <a:ext cx="1859399" cy="6976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CO" sz="2800" b="1" dirty="0">
                  <a:solidFill>
                    <a:srgbClr val="0033CC"/>
                  </a:solidFill>
                </a:rPr>
                <a:t>Discreta</a:t>
              </a:r>
            </a:p>
          </p:txBody>
        </p:sp>
      </p:grp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6C6A30F1-2B50-486B-9B5A-55A80C08E000}"/>
              </a:ext>
            </a:extLst>
          </p:cNvPr>
          <p:cNvCxnSpPr>
            <a:cxnSpLocks/>
          </p:cNvCxnSpPr>
          <p:nvPr/>
        </p:nvCxnSpPr>
        <p:spPr>
          <a:xfrm flipV="1">
            <a:off x="4091077" y="2166484"/>
            <a:ext cx="0" cy="213292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D8AF0FCB-176B-4726-9669-3C82F6C8FA68}"/>
              </a:ext>
            </a:extLst>
          </p:cNvPr>
          <p:cNvCxnSpPr>
            <a:cxnSpLocks/>
          </p:cNvCxnSpPr>
          <p:nvPr/>
        </p:nvCxnSpPr>
        <p:spPr>
          <a:xfrm flipV="1">
            <a:off x="4091077" y="4292937"/>
            <a:ext cx="2705100" cy="647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04B125B-DFE0-43AF-BFB4-0C042FD703EA}"/>
              </a:ext>
            </a:extLst>
          </p:cNvPr>
          <p:cNvCxnSpPr>
            <a:cxnSpLocks/>
          </p:cNvCxnSpPr>
          <p:nvPr/>
        </p:nvCxnSpPr>
        <p:spPr>
          <a:xfrm flipV="1">
            <a:off x="4665372" y="2475663"/>
            <a:ext cx="0" cy="1833267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0AEDB60-FC3C-4645-A5AB-BC575CE38341}"/>
              </a:ext>
            </a:extLst>
          </p:cNvPr>
          <p:cNvCxnSpPr/>
          <p:nvPr/>
        </p:nvCxnSpPr>
        <p:spPr>
          <a:xfrm flipV="1">
            <a:off x="5281702" y="3242469"/>
            <a:ext cx="0" cy="106646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9098C60-9736-43A6-9F6E-7875D0C43504}"/>
              </a:ext>
            </a:extLst>
          </p:cNvPr>
          <p:cNvSpPr txBox="1"/>
          <p:nvPr/>
        </p:nvSpPr>
        <p:spPr>
          <a:xfrm>
            <a:off x="4513292" y="43118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0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FCD87AC-D79D-43D0-803F-2C6EC06785B8}"/>
              </a:ext>
            </a:extLst>
          </p:cNvPr>
          <p:cNvSpPr txBox="1"/>
          <p:nvPr/>
        </p:nvSpPr>
        <p:spPr>
          <a:xfrm>
            <a:off x="5692834" y="43316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2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1011840-AE71-4576-9A12-EFD336BF08D7}"/>
              </a:ext>
            </a:extLst>
          </p:cNvPr>
          <p:cNvCxnSpPr>
            <a:cxnSpLocks/>
          </p:cNvCxnSpPr>
          <p:nvPr/>
        </p:nvCxnSpPr>
        <p:spPr>
          <a:xfrm>
            <a:off x="4091077" y="2466139"/>
            <a:ext cx="574295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BD4EF59-59CA-4D74-B8DB-D8D8511E0002}"/>
              </a:ext>
            </a:extLst>
          </p:cNvPr>
          <p:cNvCxnSpPr>
            <a:cxnSpLocks/>
          </p:cNvCxnSpPr>
          <p:nvPr/>
        </p:nvCxnSpPr>
        <p:spPr>
          <a:xfrm>
            <a:off x="4119333" y="3232944"/>
            <a:ext cx="1162369" cy="952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83D5F63-60F2-448C-9C63-E53ACC15E6E5}"/>
              </a:ext>
            </a:extLst>
          </p:cNvPr>
          <p:cNvSpPr txBox="1"/>
          <p:nvPr/>
        </p:nvSpPr>
        <p:spPr>
          <a:xfrm>
            <a:off x="3516951" y="2279990"/>
            <a:ext cx="57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50%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BACC55F-DAFF-45A4-9363-C0C7A1C734B8}"/>
              </a:ext>
            </a:extLst>
          </p:cNvPr>
          <p:cNvSpPr txBox="1"/>
          <p:nvPr/>
        </p:nvSpPr>
        <p:spPr>
          <a:xfrm>
            <a:off x="3542899" y="3023440"/>
            <a:ext cx="57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30%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F3759AF-1603-46D2-BCCC-65894FF6F800}"/>
              </a:ext>
            </a:extLst>
          </p:cNvPr>
          <p:cNvSpPr txBox="1"/>
          <p:nvPr/>
        </p:nvSpPr>
        <p:spPr>
          <a:xfrm>
            <a:off x="7503535" y="2804317"/>
            <a:ext cx="2907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RiskDiscrete</a:t>
            </a:r>
            <a:r>
              <a:rPr lang="es-ES" dirty="0"/>
              <a:t>([X];[PA])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F82C6FD-85B3-4173-921B-F553419DC02E}"/>
              </a:ext>
            </a:extLst>
          </p:cNvPr>
          <p:cNvSpPr txBox="1"/>
          <p:nvPr/>
        </p:nvSpPr>
        <p:spPr>
          <a:xfrm>
            <a:off x="550003" y="3616352"/>
            <a:ext cx="2714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Se usa para modelar la ocurrencia de varios eventos </a:t>
            </a:r>
            <a:r>
              <a:rPr lang="es-ES" b="1" dirty="0">
                <a:solidFill>
                  <a:srgbClr val="FF0000"/>
                </a:solidFill>
              </a:rPr>
              <a:t>independientes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02971097-A1F7-40BF-8225-5068369A8A38}"/>
              </a:ext>
            </a:extLst>
          </p:cNvPr>
          <p:cNvCxnSpPr>
            <a:cxnSpLocks/>
          </p:cNvCxnSpPr>
          <p:nvPr/>
        </p:nvCxnSpPr>
        <p:spPr>
          <a:xfrm flipV="1">
            <a:off x="5805577" y="3635492"/>
            <a:ext cx="0" cy="673438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686EB34F-23DB-4262-88A3-CFB835C22592}"/>
              </a:ext>
            </a:extLst>
          </p:cNvPr>
          <p:cNvCxnSpPr>
            <a:cxnSpLocks/>
          </p:cNvCxnSpPr>
          <p:nvPr/>
        </p:nvCxnSpPr>
        <p:spPr>
          <a:xfrm>
            <a:off x="4088449" y="3658189"/>
            <a:ext cx="1755228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BCD525DF-C25F-40C3-8720-5B89860FD541}"/>
              </a:ext>
            </a:extLst>
          </p:cNvPr>
          <p:cNvSpPr txBox="1"/>
          <p:nvPr/>
        </p:nvSpPr>
        <p:spPr>
          <a:xfrm>
            <a:off x="5162389" y="433162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1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E3B0FE5-F6EC-4E77-9D73-67024AAADD03}"/>
              </a:ext>
            </a:extLst>
          </p:cNvPr>
          <p:cNvSpPr txBox="1"/>
          <p:nvPr/>
        </p:nvSpPr>
        <p:spPr>
          <a:xfrm>
            <a:off x="6491285" y="4331627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X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15CE0F0-6A42-4354-B2F2-BE999FFF4AE4}"/>
              </a:ext>
            </a:extLst>
          </p:cNvPr>
          <p:cNvSpPr txBox="1"/>
          <p:nvPr/>
        </p:nvSpPr>
        <p:spPr>
          <a:xfrm>
            <a:off x="3676202" y="1757339"/>
            <a:ext cx="419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F57C497-A266-4337-A7F7-E3956FA94170}"/>
              </a:ext>
            </a:extLst>
          </p:cNvPr>
          <p:cNvSpPr txBox="1"/>
          <p:nvPr/>
        </p:nvSpPr>
        <p:spPr>
          <a:xfrm>
            <a:off x="3962060" y="5095310"/>
            <a:ext cx="27023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 = Probabilidad Absoluta</a:t>
            </a:r>
          </a:p>
          <a:p>
            <a:r>
              <a:rPr lang="es-ES" dirty="0"/>
              <a:t>X= Variable de análisis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A0CDB1A-BA2C-4362-B766-43508CCC1886}"/>
              </a:ext>
            </a:extLst>
          </p:cNvPr>
          <p:cNvSpPr txBox="1"/>
          <p:nvPr/>
        </p:nvSpPr>
        <p:spPr>
          <a:xfrm>
            <a:off x="7167652" y="3392297"/>
            <a:ext cx="3840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RiskDiscrete</a:t>
            </a:r>
            <a:r>
              <a:rPr lang="es-ES" dirty="0"/>
              <a:t>([0;1;2];[50%;30%;20%])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82AC866-60BF-4EFF-B267-2BA3B30B7EBE}"/>
              </a:ext>
            </a:extLst>
          </p:cNvPr>
          <p:cNvSpPr txBox="1"/>
          <p:nvPr/>
        </p:nvSpPr>
        <p:spPr>
          <a:xfrm>
            <a:off x="3542899" y="3488911"/>
            <a:ext cx="57149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2349281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grpSp>
        <p:nvGrpSpPr>
          <p:cNvPr id="4" name="Grupo 3"/>
          <p:cNvGrpSpPr/>
          <p:nvPr/>
        </p:nvGrpSpPr>
        <p:grpSpPr>
          <a:xfrm>
            <a:off x="1092204" y="2286677"/>
            <a:ext cx="1692461" cy="1056615"/>
            <a:chOff x="5343678" y="974888"/>
            <a:chExt cx="2211038" cy="1408821"/>
          </a:xfrm>
        </p:grpSpPr>
        <p:pic>
          <p:nvPicPr>
            <p:cNvPr id="5" name="Imagen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3678" y="1555617"/>
              <a:ext cx="2160239" cy="828092"/>
            </a:xfrm>
            <a:prstGeom prst="rect">
              <a:avLst/>
            </a:prstGeom>
          </p:spPr>
        </p:pic>
        <p:sp>
          <p:nvSpPr>
            <p:cNvPr id="9" name="CuadroTexto 8"/>
            <p:cNvSpPr txBox="1"/>
            <p:nvPr/>
          </p:nvSpPr>
          <p:spPr>
            <a:xfrm>
              <a:off x="5394477" y="974888"/>
              <a:ext cx="2160239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s-MX"/>
              </a:defPPr>
              <a:lvl1pPr algn="ctr">
                <a:defRPr b="1">
                  <a:solidFill>
                    <a:srgbClr val="0033CC"/>
                  </a:solidFill>
                </a:defRPr>
              </a:lvl1pPr>
            </a:lstStyle>
            <a:p>
              <a:r>
                <a:rPr lang="es-CO" sz="2800" dirty="0"/>
                <a:t>Poisson</a:t>
              </a:r>
            </a:p>
          </p:txBody>
        </p:sp>
      </p:grp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03D0933-84E6-417F-A1F6-CAC90D1E07B7}"/>
              </a:ext>
            </a:extLst>
          </p:cNvPr>
          <p:cNvSpPr txBox="1"/>
          <p:nvPr/>
        </p:nvSpPr>
        <p:spPr>
          <a:xfrm>
            <a:off x="648360" y="3351588"/>
            <a:ext cx="27705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Su propiedad fundamental es que convierte probabilidad en frecuencia en un periodo determinado de tiempo</a:t>
            </a:r>
            <a:endParaRPr lang="es-ES" b="1" dirty="0">
              <a:solidFill>
                <a:srgbClr val="FF0000"/>
              </a:solidFill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8F95D438-72A0-4E54-826F-076077F7B4AD}"/>
              </a:ext>
            </a:extLst>
          </p:cNvPr>
          <p:cNvSpPr txBox="1"/>
          <p:nvPr/>
        </p:nvSpPr>
        <p:spPr>
          <a:xfrm>
            <a:off x="6748460" y="3071616"/>
            <a:ext cx="409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=RiskPoisson(Probabilidad de ocurrencia)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C573D2C-88D0-498F-A4D7-CC2538067D4F}"/>
              </a:ext>
            </a:extLst>
          </p:cNvPr>
          <p:cNvSpPr txBox="1"/>
          <p:nvPr/>
        </p:nvSpPr>
        <p:spPr>
          <a:xfrm>
            <a:off x="6748460" y="3454316"/>
            <a:ext cx="40979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=RiskPoisson(70%)</a:t>
            </a: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302C9ADE-61CB-4C3A-A1C5-B61398F59B5C}"/>
              </a:ext>
            </a:extLst>
          </p:cNvPr>
          <p:cNvGrpSpPr/>
          <p:nvPr/>
        </p:nvGrpSpPr>
        <p:grpSpPr>
          <a:xfrm>
            <a:off x="3578453" y="1847793"/>
            <a:ext cx="3842567" cy="2967009"/>
            <a:chOff x="3531844" y="1945495"/>
            <a:chExt cx="3842567" cy="2967009"/>
          </a:xfrm>
        </p:grpSpPr>
        <p:cxnSp>
          <p:nvCxnSpPr>
            <p:cNvPr id="14" name="Conector recto de flecha 13">
              <a:extLst>
                <a:ext uri="{FF2B5EF4-FFF2-40B4-BE49-F238E27FC236}">
                  <a16:creationId xmlns:a16="http://schemas.microsoft.com/office/drawing/2014/main" id="{2FC1962A-81FB-4F26-B8F7-AEBEC1A9BF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4372" y="2354640"/>
              <a:ext cx="0" cy="2132921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Conector recto de flecha 14">
              <a:extLst>
                <a:ext uri="{FF2B5EF4-FFF2-40B4-BE49-F238E27FC236}">
                  <a16:creationId xmlns:a16="http://schemas.microsoft.com/office/drawing/2014/main" id="{AC30B5B8-91A4-4323-90AD-1E9AEA12F1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4372" y="4464197"/>
              <a:ext cx="2988928" cy="23366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88FF20E3-EE98-4687-8DEE-C00DC6E6D1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8667" y="2663819"/>
              <a:ext cx="0" cy="183326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669E0CAE-7861-4CD6-8A2B-26B0F774CB8B}"/>
                </a:ext>
              </a:extLst>
            </p:cNvPr>
            <p:cNvCxnSpPr/>
            <p:nvPr/>
          </p:nvCxnSpPr>
          <p:spPr>
            <a:xfrm flipV="1">
              <a:off x="5437606" y="3430625"/>
              <a:ext cx="0" cy="106646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FC2E911E-F760-4397-838B-CD85CB9A07A9}"/>
                </a:ext>
              </a:extLst>
            </p:cNvPr>
            <p:cNvSpPr txBox="1"/>
            <p:nvPr/>
          </p:nvSpPr>
          <p:spPr>
            <a:xfrm>
              <a:off x="4787824" y="454317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0</a:t>
              </a: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95F46DB-8BA7-4500-A7C8-920FB7CC5ACA}"/>
                </a:ext>
              </a:extLst>
            </p:cNvPr>
            <p:cNvSpPr txBox="1"/>
            <p:nvPr/>
          </p:nvSpPr>
          <p:spPr>
            <a:xfrm>
              <a:off x="5724946" y="45197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2</a:t>
              </a:r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B37DFD7-68B1-45F0-8030-E7E142BA39CA}"/>
                </a:ext>
              </a:extLst>
            </p:cNvPr>
            <p:cNvCxnSpPr>
              <a:cxnSpLocks/>
            </p:cNvCxnSpPr>
            <p:nvPr/>
          </p:nvCxnSpPr>
          <p:spPr>
            <a:xfrm>
              <a:off x="4364372" y="2654295"/>
              <a:ext cx="574295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7058FB15-4B99-4492-AEBA-F2A76E60D3A6}"/>
                </a:ext>
              </a:extLst>
            </p:cNvPr>
            <p:cNvCxnSpPr>
              <a:cxnSpLocks/>
            </p:cNvCxnSpPr>
            <p:nvPr/>
          </p:nvCxnSpPr>
          <p:spPr>
            <a:xfrm>
              <a:off x="4392628" y="3421100"/>
              <a:ext cx="1043056" cy="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92CE0C63-57C8-4B05-8776-EDE170475750}"/>
                </a:ext>
              </a:extLst>
            </p:cNvPr>
            <p:cNvSpPr txBox="1"/>
            <p:nvPr/>
          </p:nvSpPr>
          <p:spPr>
            <a:xfrm>
              <a:off x="3790246" y="2468146"/>
              <a:ext cx="571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30%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60BCB75-567E-4879-8EEB-227F635D25A6}"/>
                </a:ext>
              </a:extLst>
            </p:cNvPr>
            <p:cNvSpPr txBox="1"/>
            <p:nvPr/>
          </p:nvSpPr>
          <p:spPr>
            <a:xfrm>
              <a:off x="3531844" y="3736684"/>
              <a:ext cx="5714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600" dirty="0"/>
                <a:t>70%</a:t>
              </a:r>
            </a:p>
          </p:txBody>
        </p: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99DD2CA-9F31-44F0-ABFA-FDF2A7137B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9322" y="3802442"/>
              <a:ext cx="0" cy="67343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A1DA43BC-92D8-4A42-84A4-153B01F5E2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1258" y="3828952"/>
              <a:ext cx="1507578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82055A63-F26C-4436-B305-8DC46F4A6985}"/>
                </a:ext>
              </a:extLst>
            </p:cNvPr>
            <p:cNvSpPr txBox="1"/>
            <p:nvPr/>
          </p:nvSpPr>
          <p:spPr>
            <a:xfrm>
              <a:off x="5284841" y="45212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1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3C5B9B5F-DFAD-4A0C-A80A-A1358784CA3D}"/>
                </a:ext>
              </a:extLst>
            </p:cNvPr>
            <p:cNvSpPr txBox="1"/>
            <p:nvPr/>
          </p:nvSpPr>
          <p:spPr>
            <a:xfrm>
              <a:off x="7069519" y="4499209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X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3DCF8656-BD86-4EEA-A75F-E3D6C4BED3CD}"/>
                </a:ext>
              </a:extLst>
            </p:cNvPr>
            <p:cNvSpPr txBox="1"/>
            <p:nvPr/>
          </p:nvSpPr>
          <p:spPr>
            <a:xfrm>
              <a:off x="3949497" y="1945495"/>
              <a:ext cx="4193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PA</a:t>
              </a:r>
            </a:p>
          </p:txBody>
        </p: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6AD80E4E-93F0-4FA0-B475-5B5D4AC0F3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44890" y="4289136"/>
              <a:ext cx="512187" cy="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351CDC4D-2E1A-4584-B2F7-893EBF429AAD}"/>
                </a:ext>
              </a:extLst>
            </p:cNvPr>
            <p:cNvSpPr txBox="1"/>
            <p:nvPr/>
          </p:nvSpPr>
          <p:spPr>
            <a:xfrm>
              <a:off x="6557077" y="4519783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" dirty="0"/>
                <a:t>n</a:t>
              </a:r>
            </a:p>
          </p:txBody>
        </p: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6A12237C-B19A-42E0-9C33-A60D20FC57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0324" y="4147429"/>
              <a:ext cx="0" cy="328451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" name="Cerrar llave 2">
            <a:extLst>
              <a:ext uri="{FF2B5EF4-FFF2-40B4-BE49-F238E27FC236}">
                <a16:creationId xmlns:a16="http://schemas.microsoft.com/office/drawing/2014/main" id="{96DF87EA-E388-4880-B500-7BD5E9282AF2}"/>
              </a:ext>
            </a:extLst>
          </p:cNvPr>
          <p:cNvSpPr/>
          <p:nvPr/>
        </p:nvSpPr>
        <p:spPr>
          <a:xfrm>
            <a:off x="4060272" y="3351588"/>
            <a:ext cx="174619" cy="1070493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0628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pic>
        <p:nvPicPr>
          <p:cNvPr id="37" name="Imagen 36" descr="Recorte de pantall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71" y="2783130"/>
            <a:ext cx="1938141" cy="1103070"/>
          </a:xfrm>
          <a:prstGeom prst="rect">
            <a:avLst/>
          </a:prstGeom>
        </p:spPr>
      </p:pic>
      <p:sp>
        <p:nvSpPr>
          <p:cNvPr id="38" name="Rectángulo 37"/>
          <p:cNvSpPr/>
          <p:nvPr/>
        </p:nvSpPr>
        <p:spPr>
          <a:xfrm>
            <a:off x="657249" y="2259910"/>
            <a:ext cx="13549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800" b="1" dirty="0">
                <a:solidFill>
                  <a:srgbClr val="0033CC"/>
                </a:solidFill>
              </a:rPr>
              <a:t>General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4C50899-9CEF-4D5C-AB04-E04D1FE24E08}"/>
              </a:ext>
            </a:extLst>
          </p:cNvPr>
          <p:cNvSpPr/>
          <p:nvPr/>
        </p:nvSpPr>
        <p:spPr>
          <a:xfrm>
            <a:off x="276225" y="3971925"/>
            <a:ext cx="2924175" cy="1485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Se usa para modelar el resultado de un panel de expertos cuando se hace una metodología cualitativa por puntos </a:t>
            </a:r>
            <a:r>
              <a:rPr lang="es-ES" dirty="0">
                <a:solidFill>
                  <a:srgbClr val="FF0000"/>
                </a:solidFill>
              </a:rPr>
              <a:t>(Agrupa)</a:t>
            </a:r>
            <a:endParaRPr lang="es-ES" b="1" dirty="0">
              <a:solidFill>
                <a:srgbClr val="FF0000"/>
              </a:solidFill>
            </a:endParaRP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B800B7A7-F202-4D1A-B1BE-0322C6DB6D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4474886"/>
              </p:ext>
            </p:extLst>
          </p:nvPr>
        </p:nvGraphicFramePr>
        <p:xfrm>
          <a:off x="6015268" y="1432779"/>
          <a:ext cx="5548313" cy="34971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FD5386A0-D1ED-49EE-9C65-FA744D661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571922"/>
              </p:ext>
            </p:extLst>
          </p:nvPr>
        </p:nvGraphicFramePr>
        <p:xfrm>
          <a:off x="3409421" y="2114550"/>
          <a:ext cx="2306115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8587">
                  <a:extLst>
                    <a:ext uri="{9D8B030D-6E8A-4147-A177-3AD203B41FA5}">
                      <a16:colId xmlns:a16="http://schemas.microsoft.com/office/drawing/2014/main" val="3286431447"/>
                    </a:ext>
                  </a:extLst>
                </a:gridCol>
                <a:gridCol w="1467528">
                  <a:extLst>
                    <a:ext uri="{9D8B030D-6E8A-4147-A177-3AD203B41FA5}">
                      <a16:colId xmlns:a16="http://schemas.microsoft.com/office/drawing/2014/main" val="341906546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Ventas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>
                          <a:effectLst/>
                        </a:rPr>
                        <a:t>Probabilidad Relativa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2870678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4000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48213200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4500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2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959202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>
                          <a:effectLst/>
                        </a:rPr>
                        <a:t>5200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204763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6700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10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18204091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8000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10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983520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>
                          <a:effectLst/>
                        </a:rPr>
                        <a:t>9500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79425273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>
                          <a:effectLst/>
                        </a:rPr>
                        <a:t>10000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98191057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>
                          <a:effectLst/>
                        </a:rPr>
                        <a:t>13000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3257465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b="1" u="none" strike="noStrike" dirty="0">
                          <a:effectLst/>
                        </a:rPr>
                        <a:t>15000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100" u="none" strike="noStrike" dirty="0">
                          <a:effectLst/>
                        </a:rPr>
                        <a:t>3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536126"/>
                  </a:ext>
                </a:extLst>
              </a:tr>
            </a:tbl>
          </a:graphicData>
        </a:graphic>
      </p:graphicFrame>
      <p:sp>
        <p:nvSpPr>
          <p:cNvPr id="16" name="CuadroTexto 15">
            <a:extLst>
              <a:ext uri="{FF2B5EF4-FFF2-40B4-BE49-F238E27FC236}">
                <a16:creationId xmlns:a16="http://schemas.microsoft.com/office/drawing/2014/main" id="{919E9FC1-B684-406A-BEC6-2A582F22FDD5}"/>
              </a:ext>
            </a:extLst>
          </p:cNvPr>
          <p:cNvSpPr txBox="1"/>
          <p:nvPr/>
        </p:nvSpPr>
        <p:spPr>
          <a:xfrm>
            <a:off x="3409421" y="5814177"/>
            <a:ext cx="3686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RiskGeneral</a:t>
            </a:r>
            <a:r>
              <a:rPr lang="es-ES" dirty="0"/>
              <a:t>(4000; 15000 ;[X];[PR]))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FCAD8DC-3965-4FD6-B06A-B5C2FEE98A82}"/>
              </a:ext>
            </a:extLst>
          </p:cNvPr>
          <p:cNvSpPr txBox="1"/>
          <p:nvPr/>
        </p:nvSpPr>
        <p:spPr>
          <a:xfrm>
            <a:off x="3409421" y="5356378"/>
            <a:ext cx="4020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=</a:t>
            </a:r>
            <a:r>
              <a:rPr lang="es-ES" dirty="0" err="1"/>
              <a:t>RiskGeneral</a:t>
            </a:r>
            <a:r>
              <a:rPr lang="es-ES" dirty="0"/>
              <a:t> (Min X, Max X;[X];[PR])</a:t>
            </a:r>
          </a:p>
        </p:txBody>
      </p:sp>
    </p:spTree>
    <p:extLst>
      <p:ext uri="{BB962C8B-B14F-4D97-AF65-F5344CB8AC3E}">
        <p14:creationId xmlns:p14="http://schemas.microsoft.com/office/powerpoint/2010/main" val="1011901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98074" y="424488"/>
            <a:ext cx="8234389" cy="5818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s-CO" sz="2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Funciones de distribución estadística mas usadas en simulación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4EF7434-324C-4C4E-A046-A64DF3174F2D}"/>
              </a:ext>
            </a:extLst>
          </p:cNvPr>
          <p:cNvSpPr txBox="1"/>
          <p:nvPr/>
        </p:nvSpPr>
        <p:spPr>
          <a:xfrm>
            <a:off x="1199538" y="1528369"/>
            <a:ext cx="2059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NOTA ACLARATORIA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675E038E-EC39-477B-ABEC-F097C2437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1913155"/>
              </p:ext>
            </p:extLst>
          </p:nvPr>
        </p:nvGraphicFramePr>
        <p:xfrm>
          <a:off x="1568741" y="2419748"/>
          <a:ext cx="9141960" cy="2343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9771">
                  <a:extLst>
                    <a:ext uri="{9D8B030D-6E8A-4147-A177-3AD203B41FA5}">
                      <a16:colId xmlns:a16="http://schemas.microsoft.com/office/drawing/2014/main" val="1434864801"/>
                    </a:ext>
                  </a:extLst>
                </a:gridCol>
                <a:gridCol w="1932213">
                  <a:extLst>
                    <a:ext uri="{9D8B030D-6E8A-4147-A177-3AD203B41FA5}">
                      <a16:colId xmlns:a16="http://schemas.microsoft.com/office/drawing/2014/main" val="1130354259"/>
                    </a:ext>
                  </a:extLst>
                </a:gridCol>
                <a:gridCol w="513887">
                  <a:extLst>
                    <a:ext uri="{9D8B030D-6E8A-4147-A177-3AD203B41FA5}">
                      <a16:colId xmlns:a16="http://schemas.microsoft.com/office/drawing/2014/main" val="1917682716"/>
                    </a:ext>
                  </a:extLst>
                </a:gridCol>
                <a:gridCol w="1615421">
                  <a:extLst>
                    <a:ext uri="{9D8B030D-6E8A-4147-A177-3AD203B41FA5}">
                      <a16:colId xmlns:a16="http://schemas.microsoft.com/office/drawing/2014/main" val="4079676238"/>
                    </a:ext>
                  </a:extLst>
                </a:gridCol>
                <a:gridCol w="1241788">
                  <a:extLst>
                    <a:ext uri="{9D8B030D-6E8A-4147-A177-3AD203B41FA5}">
                      <a16:colId xmlns:a16="http://schemas.microsoft.com/office/drawing/2014/main" val="2103335012"/>
                    </a:ext>
                  </a:extLst>
                </a:gridCol>
                <a:gridCol w="2178880">
                  <a:extLst>
                    <a:ext uri="{9D8B030D-6E8A-4147-A177-3AD203B41FA5}">
                      <a16:colId xmlns:a16="http://schemas.microsoft.com/office/drawing/2014/main" val="2000852405"/>
                    </a:ext>
                  </a:extLst>
                </a:gridCol>
              </a:tblGrid>
              <a:tr h="48656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s-ES" sz="2000" u="none" strike="noStrike" dirty="0">
                          <a:effectLst/>
                        </a:rPr>
                        <a:t>Identificación de función a utilizar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528689"/>
                  </a:ext>
                </a:extLst>
              </a:tr>
              <a:tr h="486561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Discreta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Función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%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Probabilidad Absoluta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Suma 100%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Independientes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0677814"/>
                  </a:ext>
                </a:extLst>
              </a:tr>
              <a:tr h="486561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General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Función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#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Probabilidad Relativa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No suma 100%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Agrupar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3122221"/>
                  </a:ext>
                </a:extLst>
              </a:tr>
              <a:tr h="486561"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Ponderación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No es Función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%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Pesos o ponderaciones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Suma 100%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2000" u="none" strike="noStrike" dirty="0">
                          <a:effectLst/>
                        </a:rPr>
                        <a:t>Agrupar</a:t>
                      </a:r>
                      <a:endParaRPr lang="es-E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7450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9021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509</Words>
  <Application>Microsoft Office PowerPoint</Application>
  <PresentationFormat>Panorámica</PresentationFormat>
  <Paragraphs>131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de Office</vt:lpstr>
      <vt:lpstr>Funciones de distribución más usadas en simulación</vt:lpstr>
      <vt:lpstr>Presentación de PowerPoint</vt:lpstr>
      <vt:lpstr>Funciones de distribución estadística más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  <vt:lpstr>Funciones de distribución estadística mas usadas en simulación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Funciones de distribución mas usadas en simulación</dc:title>
  <dc:creator>Elkin Gómez</dc:creator>
  <cp:lastModifiedBy>Elkin Gómez</cp:lastModifiedBy>
  <cp:revision>44</cp:revision>
  <dcterms:created xsi:type="dcterms:W3CDTF">2020-04-02T20:23:18Z</dcterms:created>
  <dcterms:modified xsi:type="dcterms:W3CDTF">2023-11-20T23:26:03Z</dcterms:modified>
</cp:coreProperties>
</file>